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19ea7085294488" /><Relationship Type="http://schemas.openxmlformats.org/officeDocument/2006/relationships/extended-properties" Target="/docProps/app.xml" Id="R8782ae02abc74ffd" /><Relationship Type="http://schemas.openxmlformats.org/officeDocument/2006/relationships/officeDocument" Target="/ppt/presentation.xml" Id="Re6865df4e9354d20" /></Relationships>
</file>

<file path=ppt/presentation.xml><?xml version="1.0" encoding="utf-8"?>
<p:presentation xmlns:p="http://schemas.openxmlformats.org/presentationml/2006/main">
  <p:sldMasterIdLst>
    <p:sldMasterId xmlns:r="http://schemas.openxmlformats.org/officeDocument/2006/relationships" id="2147483648" r:id="Rb6b7fe972750461c"/>
  </p:sldMasterIdLst>
  <p:notesMasterIdLst>
    <p:notesMasterId xmlns:r="http://schemas.openxmlformats.org/officeDocument/2006/relationships" r:id="Rbf1f8f9c929e4143"/>
  </p:notesMasterIdLst>
  <p:sldIdLst>
    <p:sldId xmlns:r="http://schemas.openxmlformats.org/officeDocument/2006/relationships" id="256" r:id="R17d7fdb9639e4acb"/>
    <p:sldId xmlns:r="http://schemas.openxmlformats.org/officeDocument/2006/relationships" id="257" r:id="Rce93a552105b4a5f"/>
    <p:sldId xmlns:r="http://schemas.openxmlformats.org/officeDocument/2006/relationships" id="258" r:id="R37ad718aca1e4259"/>
    <p:sldId xmlns:r="http://schemas.openxmlformats.org/officeDocument/2006/relationships" id="259" r:id="R5141f3af1cdc46dc"/>
    <p:sldId xmlns:r="http://schemas.openxmlformats.org/officeDocument/2006/relationships" id="260" r:id="R07ea60c9d977443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a01c317cfd4565" /><Relationship Type="http://schemas.openxmlformats.org/officeDocument/2006/relationships/slideMaster" Target="/ppt/slideMasters/slideMaster1.xml" Id="Rb6b7fe972750461c" /><Relationship Type="http://schemas.openxmlformats.org/officeDocument/2006/relationships/notesMaster" Target="/ppt/notesMasters/notesMaster1.xml" Id="Rbf1f8f9c929e4143" /><Relationship Type="http://schemas.openxmlformats.org/officeDocument/2006/relationships/presProps" Target="/ppt/presProps.xml" Id="R58a10b3491c74af4" /><Relationship Type="http://schemas.openxmlformats.org/officeDocument/2006/relationships/tableStyles" Target="/ppt/tableStyles.xml" Id="Rc722962908aa4e41" /><Relationship Type="http://schemas.openxmlformats.org/officeDocument/2006/relationships/slide" Target="/ppt/slides/slide1.xml" Id="R17d7fdb9639e4acb" /><Relationship Type="http://schemas.openxmlformats.org/officeDocument/2006/relationships/slide" Target="/ppt/slides/slide2.xml" Id="Rce93a552105b4a5f" /><Relationship Type="http://schemas.openxmlformats.org/officeDocument/2006/relationships/slide" Target="/ppt/slides/slide3.xml" Id="R37ad718aca1e4259" /><Relationship Type="http://schemas.openxmlformats.org/officeDocument/2006/relationships/slide" Target="/ppt/slides/slide4.xml" Id="R5141f3af1cdc46dc" /><Relationship Type="http://schemas.openxmlformats.org/officeDocument/2006/relationships/slide" Target="/ppt/slides/slide5.xml" Id="R07ea60c9d97744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4218a2268842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632b0ba32e408b" /><Relationship Type="http://schemas.openxmlformats.org/officeDocument/2006/relationships/notesMaster" Target="/ppt/notesMasters/notesMaster1.xml" Id="R6a6bf4bf746f44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ccc2082a244986" /><Relationship Type="http://schemas.openxmlformats.org/officeDocument/2006/relationships/notesMaster" Target="/ppt/notesMasters/notesMaster1.xml" Id="R379879fab73248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a1ff521f924fb5" /><Relationship Type="http://schemas.openxmlformats.org/officeDocument/2006/relationships/notesMaster" Target="/ppt/notesMasters/notesMaster1.xml" Id="R44ad1060f60643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7f6910dbbc4ed5" /><Relationship Type="http://schemas.openxmlformats.org/officeDocument/2006/relationships/notesMaster" Target="/ppt/notesMasters/notesMaster1.xml" Id="R914f550356ee4f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ed9574aefa4ad6" /><Relationship Type="http://schemas.openxmlformats.org/officeDocument/2006/relationships/notesMaster" Target="/ppt/notesMasters/notesMaster1.xml" Id="R1eb6e68deaba4a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customer is Stratos Silicon, a fictional custom-silicon supplier. The main user is the program operator, supported by a validation tester, an engineering approver, and a Program Owner. Requirements evolve through the program as workloads and operating constraints change. Public chip release cadence is not evidence of a universal customer change-request frequency. The pain is fragmented evidence and execution across the program, and decisions that arrive too late to protect schedule and output.</a:t>
            </a:r>
          </a:p>
          <a:p xmlns:a="http://schemas.openxmlformats.org/drawingml/2006/main">
            <a:r>
              <a:t/>
            </a:r>
          </a:p>
          <a:p xmlns:a="http://schemas.openxmlformats.org/drawingml/2006/main">
            <a:r>
              <a:t>Detailed source content</a:t>
            </a:r>
          </a:p>
          <a:p xmlns:a="http://schemas.openxmlformats.org/drawingml/2006/main">
            <a:r>
              <a:t>Custom Silicon Programs are Inherently Difficult to Operate</a:t>
            </a:r>
          </a:p>
          <a:p xmlns:a="http://schemas.openxmlformats.org/drawingml/2006/main">
            <a:r>
              <a:t>Industry context</a:t>
            </a:r>
          </a:p>
          <a:p xmlns:a="http://schemas.openxmlformats.org/drawingml/2006/main">
            <a:r>
              <a:t>As AI models become more compute-intensive, high-compute companies are increasingly investing in custom silicon tailored to their training and inference workloads. Delivering these chips requires close coordination with semiconductor partners across design, testing, validation, and manufacturing.</a:t>
            </a:r>
          </a:p>
          <a:p xmlns:a="http://schemas.openxmlformats.org/drawingml/2006/main">
            <a:r>
              <a:t>Target persona</a:t>
            </a:r>
          </a:p>
          <a:p xmlns:a="http://schemas.openxmlformats.org/drawingml/2006/main">
            <a:r>
              <a:t>Semiconductor companies </a:t>
            </a:r>
          </a:p>
          <a:p xmlns:a="http://schemas.openxmlformats.org/drawingml/2006/main">
            <a:r>
              <a:t>running custom-silicon programs for high-compute customers, such as Broadcom, Micron, and Intel.</a:t>
            </a:r>
          </a:p>
          <a:p xmlns:a="http://schemas.openxmlformats.org/drawingml/2006/main">
            <a:r>
              <a:t>Business problem</a:t>
            </a:r>
          </a:p>
          <a:p xmlns:a="http://schemas.openxmlformats.org/drawingml/2006/main">
            <a:r>
              <a:t>Requirement changes and yield excursions ripple quickly across validation, supply, schedule, and customer commitments. Teams must reconcile fragmented evidence across multiple systems to understand impact, protect yield, and decide how to respond.</a:t>
            </a:r>
          </a:p>
          <a:p xmlns:a="http://schemas.openxmlformats.org/drawingml/2006/main">
            <a:r>
              <a:t>Current challenges</a:t>
            </a:r>
          </a:p>
          <a:p xmlns:a="http://schemas.openxmlformats.org/drawingml/2006/main">
            <a:r>
              <a:t>Requirements evolve throughout the program. </a:t>
            </a:r>
          </a:p>
          <a:p xmlns:a="http://schemas.openxmlformats.org/drawingml/2006/main">
            <a:r>
              <a:t>As model sizes, context windows, throughput targets, and other requirements change, customers ask the program to support new or updated workloads.</a:t>
            </a:r>
          </a:p>
          <a:p xmlns:a="http://schemas.openxmlformats.org/drawingml/2006/main">
            <a:r>
              <a:t>Impact assessment is fragmented. </a:t>
            </a:r>
          </a:p>
          <a:p xmlns:a="http://schemas.openxmlformats.org/drawingml/2006/main">
            <a:r>
              <a:t>The evidence needed to understand a change is spread across engineering, validation, manufacturing, planning, and commercial systems, slowing confident decisions.</a:t>
            </a:r>
          </a:p>
          <a:p xmlns:a="http://schemas.openxmlformats.org/drawingml/2006/main">
            <a:r>
              <a:t>Execution is fragmented across systems. </a:t>
            </a:r>
          </a:p>
          <a:p xmlns:a="http://schemas.openxmlformats.org/drawingml/2006/main">
            <a:r>
              <a:t>Once a decision is made, the required actions span multiple systems making coordination, follow-through, and verification difficult.</a:t>
            </a:r>
          </a:p>
          <a:p xmlns:a="http://schemas.openxmlformats.org/drawingml/2006/main">
            <a:r>
              <a:t>Program exposure grows. </a:t>
            </a:r>
          </a:p>
          <a:p xmlns:a="http://schemas.openxmlformats.org/drawingml/2006/main">
            <a:r>
              <a:t>Slow impact assessment leads to missed milestones, unnecessary validation, inventory exposure, unreliable commitments, and revenue at risk.</a:t>
            </a:r>
          </a:p>
          <a:p xmlns:a="http://schemas.openxmlformats.org/drawingml/2006/main">
            <a:r>
              <a:t>$2M</a:t>
            </a:r>
          </a:p>
          <a:p xmlns:a="http://schemas.openxmlformats.org/drawingml/2006/main">
            <a:r>
              <a:t>Per day of market opportunity at risk if deadlines are missed</a:t>
            </a:r>
          </a:p>
          <a:p xmlns:a="http://schemas.openxmlformats.org/drawingml/2006/main">
            <a:r>
              <a:t>$203.6B</a:t>
            </a:r>
          </a:p>
          <a:p xmlns:a="http://schemas.openxmlformats.org/drawingml/2006/main">
            <a:r>
              <a:t>Total market for custom semiconductor ASIC market by 2030</a:t>
            </a:r>
          </a:p>
          <a:p xmlns:a="http://schemas.openxmlformats.org/drawingml/2006/main">
            <a:r>
              <a:t>$10M+</a:t>
            </a:r>
          </a:p>
          <a:p xmlns:a="http://schemas.openxmlformats.org/drawingml/2006/main">
            <a:r>
              <a:t>1% drop in yield percentage causes tens of millions of dollars in revenue loss</a:t>
            </a:r>
          </a:p>
          <a:p xmlns:a="http://schemas.openxmlformats.org/drawingml/2006/main">
            <a:r>
              <a:t>As-is: manual, time-consuming, and error-prone</a:t>
            </a:r>
          </a:p>
          <a:p xmlns:a="http://schemas.openxmlformats.org/drawingml/2006/main">
            <a:r>
              <a:t>Program operator </a:t>
            </a:r>
          </a:p>
          <a:p xmlns:a="http://schemas.openxmlformats.org/drawingml/2006/main">
            <a:r>
              <a:t>chases every stage by hand: emails, portals, and spreadsheets to learn what changed, what is ready, and who must approve next</a:t>
            </a:r>
          </a:p>
          <a:p xmlns:a="http://schemas.openxmlformats.org/drawingml/2006/main">
            <a:r>
              <a:t>Requirements</a:t>
            </a:r>
          </a:p>
          <a:p xmlns:a="http://schemas.openxmlformats.org/drawingml/2006/main">
            <a:r>
              <a:t>Engineering</a:t>
            </a:r>
          </a:p>
          <a:p xmlns:a="http://schemas.openxmlformats.org/drawingml/2006/main">
            <a:r>
              <a:t>Requirement and impact analyzed manually across different systems</a:t>
            </a:r>
          </a:p>
          <a:p xmlns:a="http://schemas.openxmlformats.org/drawingml/2006/main">
            <a:r>
              <a:t>Validation</a:t>
            </a:r>
          </a:p>
          <a:p xmlns:a="http://schemas.openxmlformats.org/drawingml/2006/main">
            <a:r>
              <a:t>Validation lab</a:t>
            </a:r>
          </a:p>
          <a:p xmlns:a="http://schemas.openxmlformats.org/drawingml/2006/main">
            <a:r>
              <a:t>Tester receives updated chip design specs and  perform testing</a:t>
            </a:r>
          </a:p>
          <a:p xmlns:a="http://schemas.openxmlformats.org/drawingml/2006/main">
            <a:r>
              <a:t>Quality and supply</a:t>
            </a:r>
          </a:p>
          <a:p xmlns:a="http://schemas.openxmlformats.org/drawingml/2006/main">
            <a:r>
              <a:t>Manufacturing</a:t>
            </a:r>
          </a:p>
          <a:p xmlns:a="http://schemas.openxmlformats.org/drawingml/2006/main">
            <a:r>
              <a:t>Yield alerts are analyzed and actions still need to be performed manually</a:t>
            </a:r>
          </a:p>
          <a:p xmlns:a="http://schemas.openxmlformats.org/drawingml/2006/main">
            <a:r>
              <a:t>Delivery</a:t>
            </a:r>
          </a:p>
          <a:p xmlns:a="http://schemas.openxmlformats.org/drawingml/2006/main">
            <a:r>
              <a:t>Commercial</a:t>
            </a:r>
          </a:p>
          <a:p xmlns:a="http://schemas.openxmlformats.org/drawingml/2006/main">
            <a:r>
              <a:t>Delivery data needs to be managed and updated</a:t>
            </a:r>
          </a:p>
          <a:p xmlns:a="http://schemas.openxmlformats.org/drawingml/2006/main">
            <a:r>
              <a:t>Engineering approver </a:t>
            </a:r>
          </a:p>
          <a:p xmlns:a="http://schemas.openxmlformats.org/drawingml/2006/main">
            <a:r>
              <a:t>signs off test plans and evidence that were gathered manually</a:t>
            </a:r>
          </a:p>
          <a:p xmlns:a="http://schemas.openxmlformats.org/drawingml/2006/main">
            <a:r>
              <a:t>Program owner </a:t>
            </a:r>
          </a:p>
          <a:p xmlns:a="http://schemas.openxmlformats.org/drawingml/2006/main">
            <a:r>
              <a:t>approves recovery plans and delivery dates</a:t>
            </a:r>
          </a:p>
          <a:p xmlns:a="http://schemas.openxmlformats.org/drawingml/2006/main">
            <a:r>
              <a:t>Sources: Meta, ISCA 2025, §6. Marvell, Jun 2025.</a:t>
            </a:r>
          </a:p>
          <a:p xmlns:a="http://schemas.openxmlformats.org/drawingml/2006/main">
            <a:r>
              <a:t>Gartner, "Forecasting the $204 Billion Opportunity in Custom Semiconductor Chips (ASIC)," 26 Aug 2026</a:t>
            </a:r>
          </a:p>
          <a:p xmlns:a="http://schemas.openxmlformats.org/drawingml/2006/main">
            <a:r>
              <a:t/>
            </a:r>
          </a:p>
          <a:p xmlns:a="http://schemas.openxmlformats.org/drawingml/2006/main">
            <a:r>
              <a:t>Gartner market context: https://www.gartner.com/en/documents/8307253 (26 Aug 2026), custom ASIC market forecast $203.6B in 2030. This is semiconductor market context, not the serviceable software market.</a:t>
            </a:r>
          </a:p>
          <a:p xmlns:a="http://schemas.openxmlformats.org/drawingml/2006/main">
            <a:r>
              <a:t>Yield example: 7,500 wafers/year × 45 gross dies/wafer × $6,000/die × 0.01 = $20.25M/year in potential saleable output value per percentage point. This supports the source slide’s $10M+ example. It is not realized revenue loss or a claim the workspace physically restores yield.</a:t>
            </a:r>
          </a:p>
          <a:p xmlns:a="http://schemas.openxmlformats.org/drawingml/2006/main">
            <a:r>
              <a:t>Delay example: $500M annual shipment run rate / 250 assumed business days = $2M/business day of shipment timing exposure. The 250-day convention is an illustrative modeling assumption, not a reported program fact.</a:t>
            </a:r>
          </a:p>
          <a:p xmlns:a="http://schemas.openxmlformats.org/drawingml/2006/main">
            <a:r>
              <a:t>Additional context: https://about.fb.com/news/2026/03/expanding-metas-custom-silicon-to-power-our-ai-workloads/ . Meta generation cadence does not establish change-request frequency.</a:t>
            </a:r>
          </a:p>
          <a:p xmlns:a="http://schemas.openxmlformats.org/drawingml/2006/main">
            <a:r>
              <a:t/>
            </a:r>
          </a:p>
          <a:p xmlns:a="http://schemas.openxmlformats.org/drawingml/2006/main">
            <a:r>
              <a: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Platform and APIs are the single product surface demonstrated at runtime. Codex was the development tool. The Stratos front end calls a host API that operates the existing Agents SDK manager-and-specialists runtime. The Coordinator retains ownership and makes bounded specialist delegations and consultations; these are not SDK transfer-of-control handoffs. Source data remains authoritative. Blue indicates scoped MCP/read-API access; purple indicates shared document retrieval with exact-source verification; green indicates deterministic host/source updates under policy or exact human approval.</a:t>
            </a:r>
          </a:p>
          <a:p xmlns:a="http://schemas.openxmlformats.org/drawingml/2006/main">
            <a:r>
              <a:t/>
            </a:r>
          </a:p>
          <a:p xmlns:a="http://schemas.openxmlformats.org/drawingml/2006/main">
            <a:r>
              <a:t>Detailed source content</a:t>
            </a:r>
          </a:p>
          <a:p xmlns:a="http://schemas.openxmlformats.org/drawingml/2006/main">
            <a:r>
              <a:t>The Solution Architecture</a:t>
            </a:r>
          </a:p>
          <a:p xmlns:a="http://schemas.openxmlformats.org/drawingml/2006/main">
            <a:r>
              <a:t>Stratos agentic system</a:t>
            </a:r>
          </a:p>
          <a:p xmlns:a="http://schemas.openxmlformats.org/drawingml/2006/main">
            <a:r>
              <a:t>Built on OpenAI API Platform &amp; Codex</a:t>
            </a:r>
          </a:p>
          <a:p xmlns:a="http://schemas.openxmlformats.org/drawingml/2006/main">
            <a:r>
              <a:t>Front end UI</a:t>
            </a:r>
          </a:p>
          <a:p xmlns:a="http://schemas.openxmlformats.org/drawingml/2006/main">
            <a:r>
              <a:t>Stratos workspace</a:t>
            </a:r>
          </a:p>
          <a:p xmlns:a="http://schemas.openxmlformats.org/drawingml/2006/main">
            <a:r>
              <a:t>Case workbench</a:t>
            </a:r>
          </a:p>
          <a:p xmlns:a="http://schemas.openxmlformats.org/drawingml/2006/main">
            <a:r>
              <a:t>Concierge</a:t>
            </a:r>
          </a:p>
          <a:p xmlns:a="http://schemas.openxmlformats.org/drawingml/2006/main">
            <a:r>
              <a:t>Decisions</a:t>
            </a:r>
          </a:p>
          <a:p xmlns:a="http://schemas.openxmlformats.org/drawingml/2006/main">
            <a:r>
              <a:t>Escalations</a:t>
            </a:r>
          </a:p>
          <a:p xmlns:a="http://schemas.openxmlformats.org/drawingml/2006/main">
            <a:r>
              <a:t>Operations</a:t>
            </a:r>
          </a:p>
          <a:p xmlns:a="http://schemas.openxmlformats.org/drawingml/2006/main">
            <a:r>
              <a:t>Host API</a:t>
            </a:r>
          </a:p>
          <a:p xmlns:a="http://schemas.openxmlformats.org/drawingml/2006/main">
            <a:r>
              <a:t>Multi-agent harness</a:t>
            </a:r>
          </a:p>
          <a:p xmlns:a="http://schemas.openxmlformats.org/drawingml/2006/main">
            <a:r>
              <a:t>Manager and specialists pattern</a:t>
            </a:r>
          </a:p>
          <a:p xmlns:a="http://schemas.openxmlformats.org/drawingml/2006/main">
            <a:r>
              <a:t>Runs start from</a:t>
            </a:r>
          </a:p>
          <a:p xmlns:a="http://schemas.openxmlformats.org/drawingml/2006/main">
            <a:r>
              <a:t>Trigger event</a:t>
            </a:r>
          </a:p>
          <a:p xmlns:a="http://schemas.openxmlformats.org/drawingml/2006/main">
            <a:r>
              <a:t>Operator action</a:t>
            </a:r>
          </a:p>
          <a:p xmlns:a="http://schemas.openxmlformats.org/drawingml/2006/main">
            <a:r>
              <a:t>Concierge request</a:t>
            </a:r>
          </a:p>
          <a:p xmlns:a="http://schemas.openxmlformats.org/drawingml/2006/main">
            <a:r>
              <a:t>Scheduled</a:t>
            </a:r>
          </a:p>
          <a:p xmlns:a="http://schemas.openxmlformats.org/drawingml/2006/main">
            <a:r>
              <a:t>Manager</a:t>
            </a:r>
          </a:p>
          <a:p xmlns:a="http://schemas.openxmlformats.org/drawingml/2006/main">
            <a:r>
              <a:t>Program coordinator</a:t>
            </a:r>
          </a:p>
          <a:p xmlns:a="http://schemas.openxmlformats.org/drawingml/2006/main">
            <a:r>
              <a:t>Assigns work to the right specialists, reconciles their findings, and recommends the next action</a:t>
            </a:r>
          </a:p>
          <a:p xmlns:a="http://schemas.openxmlformats.org/drawingml/2006/main">
            <a:r>
              <a:t>delegates work ↓</a:t>
            </a:r>
          </a:p>
          <a:p xmlns:a="http://schemas.openxmlformats.org/drawingml/2006/main">
            <a:r>
              <a:t>↑ reports results</a:t>
            </a:r>
          </a:p>
          <a:p xmlns:a="http://schemas.openxmlformats.org/drawingml/2006/main">
            <a:r>
              <a:t>Specialist</a:t>
            </a:r>
          </a:p>
          <a:p xmlns:a="http://schemas.openxmlformats.org/drawingml/2006/main">
            <a:r>
              <a:t>Change impact</a:t>
            </a:r>
          </a:p>
          <a:p xmlns:a="http://schemas.openxmlformats.org/drawingml/2006/main">
            <a:r>
              <a:t>Analyzes requirements to determine potential impact on engineering, manufacturing, and delivery</a:t>
            </a:r>
          </a:p>
          <a:p xmlns:a="http://schemas.openxmlformats.org/drawingml/2006/main">
            <a:r>
              <a:t>Validation and evidence</a:t>
            </a:r>
          </a:p>
          <a:p xmlns:a="http://schemas.openxmlformats.org/drawingml/2006/main">
            <a:r>
              <a:t>Checks existing test evidence against the requirements and flags what still needs testing.</a:t>
            </a:r>
          </a:p>
          <a:p xmlns:a="http://schemas.openxmlformats.org/drawingml/2006/main">
            <a:r>
              <a:t>Manufacturing</a:t>
            </a:r>
          </a:p>
          <a:p xmlns:a="http://schemas.openxmlformats.org/drawingml/2006/main">
            <a:r>
              <a:t>Investigates yield and quality issues, material restrictions, and available supply.</a:t>
            </a:r>
          </a:p>
          <a:p xmlns:a="http://schemas.openxmlformats.org/drawingml/2006/main">
            <a:r>
              <a:t>Program and commercial</a:t>
            </a:r>
          </a:p>
          <a:p xmlns:a="http://schemas.openxmlformats.org/drawingml/2006/main">
            <a:r>
              <a:t>Weighs the impact on schedule, cost, and commitments, then compares response options.</a:t>
            </a:r>
          </a:p>
          <a:p xmlns:a="http://schemas.openxmlformats.org/drawingml/2006/main">
            <a:r>
              <a:t>Delegate  ·  Consult  ·  Reconcile  ·  Synthesize</a:t>
            </a:r>
          </a:p>
          <a:p xmlns:a="http://schemas.openxmlformats.org/drawingml/2006/main">
            <a:r>
              <a:t>Scoped tools</a:t>
            </a:r>
          </a:p>
          <a:p xmlns:a="http://schemas.openxmlformats.org/drawingml/2006/main">
            <a:r>
              <a:t>Bounded read tools per specialist</a:t>
            </a:r>
          </a:p>
          <a:p xmlns:a="http://schemas.openxmlformats.org/drawingml/2006/main">
            <a:r>
              <a:t>Knowledge and evidence</a:t>
            </a:r>
          </a:p>
          <a:p xmlns:a="http://schemas.openxmlformats.org/drawingml/2006/main">
            <a:r>
              <a:t>Shared RAG with exact-source checks</a:t>
            </a:r>
          </a:p>
          <a:p xmlns:a="http://schemas.openxmlformats.org/drawingml/2006/main">
            <a:r>
              <a:t>Governed execution</a:t>
            </a:r>
          </a:p>
          <a:p xmlns:a="http://schemas.openxmlformats.org/drawingml/2006/main">
            <a:r>
              <a:t>Policy gates and guardrails applied</a:t>
            </a:r>
          </a:p>
          <a:p xmlns:a="http://schemas.openxmlformats.org/drawingml/2006/main">
            <a:r>
              <a:t>Tool calls</a:t>
            </a:r>
          </a:p>
          <a:p xmlns:a="http://schemas.openxmlformats.org/drawingml/2006/main">
            <a:r>
              <a:t>Execute API calls through Stratos MCP server</a:t>
            </a:r>
          </a:p>
          <a:p xmlns:a="http://schemas.openxmlformats.org/drawingml/2006/main">
            <a:r>
              <a:t>Knowledge context</a:t>
            </a:r>
          </a:p>
          <a:p xmlns:a="http://schemas.openxmlformats.org/drawingml/2006/main">
            <a:r>
              <a:t>API updates</a:t>
            </a:r>
          </a:p>
          <a:p xmlns:a="http://schemas.openxmlformats.org/drawingml/2006/main">
            <a:r>
              <a:t>Update source systems deterministically</a:t>
            </a:r>
          </a:p>
          <a:p xmlns:a="http://schemas.openxmlformats.org/drawingml/2006/main">
            <a:r>
              <a:t>Source systems</a:t>
            </a:r>
          </a:p>
          <a:p xmlns:a="http://schemas.openxmlformats.org/drawingml/2006/main">
            <a:r>
              <a:t>PLM</a:t>
            </a:r>
          </a:p>
          <a:p xmlns:a="http://schemas.openxmlformats.org/drawingml/2006/main">
            <a:r>
              <a:t>Engineering records</a:t>
            </a:r>
          </a:p>
          <a:p xmlns:a="http://schemas.openxmlformats.org/drawingml/2006/main">
            <a:r>
              <a:t>TestOps</a:t>
            </a:r>
          </a:p>
          <a:p xmlns:a="http://schemas.openxmlformats.org/drawingml/2006/main">
            <a:r>
              <a:t>Test evidence and jobs</a:t>
            </a:r>
          </a:p>
          <a:p xmlns:a="http://schemas.openxmlformats.org/drawingml/2006/main">
            <a:r>
              <a:t>MES</a:t>
            </a:r>
          </a:p>
          <a:p xmlns:a="http://schemas.openxmlformats.org/drawingml/2006/main">
            <a:r>
              <a:t>Quality and materials</a:t>
            </a:r>
          </a:p>
          <a:p xmlns:a="http://schemas.openxmlformats.org/drawingml/2006/main">
            <a:r>
              <a:t>ERP</a:t>
            </a:r>
          </a:p>
          <a:p xmlns:a="http://schemas.openxmlformats.org/drawingml/2006/main">
            <a:r>
              <a:t>Orders and commitments</a:t>
            </a:r>
          </a:p>
          <a:p xmlns:a="http://schemas.openxmlformats.org/drawingml/2006/main">
            <a:r>
              <a:t>ProgramOps</a:t>
            </a:r>
          </a:p>
          <a:p xmlns:a="http://schemas.openxmlformats.org/drawingml/2006/main">
            <a:r>
              <a:t>Milestones and tasks</a:t>
            </a:r>
          </a:p>
          <a:p xmlns:a="http://schemas.openxmlformats.org/drawingml/2006/main">
            <a:r>
              <a:t>Retrieve contextual information from vector database</a:t>
            </a:r>
          </a:p>
          <a:p xmlns:a="http://schemas.openxmlformats.org/drawingml/2006/main">
            <a:r>
              <a:t>The OpenAI demo solution built for our imaginary customer: Stratos Silicon </a:t>
            </a:r>
          </a:p>
          <a:p xmlns:a="http://schemas.openxmlformats.org/drawingml/2006/main">
            <a:r>
              <a:t>Specialist</a:t>
            </a:r>
          </a:p>
          <a:p xmlns:a="http://schemas.openxmlformats.org/drawingml/2006/main">
            <a:r>
              <a:t>Specialist</a:t>
            </a:r>
          </a:p>
          <a:p xmlns:a="http://schemas.openxmlformats.org/drawingml/2006/main">
            <a:r>
              <a:t>Specialist</a:t>
            </a:r>
          </a:p>
          <a:p xmlns:a="http://schemas.openxmlformats.org/drawingml/2006/main">
            <a:r>
              <a:t/>
            </a:r>
          </a:p>
          <a:p xmlns:a="http://schemas.openxmlformats.org/drawingml/2006/main">
            <a:r>
              <a:t>The original architecture wording is retained below in Detailed source content. Only on-slide descriptions are tightened. Four invocation types express the architecture, not a claim of an active general scheduler. Saved generic automation schedules remain configuration; the opening event is a bounded demo path. Live demo cases reuse the authorized runtime. No agent directly writes arbitrary business data. Role-appropriate approval and a permitted action manifest are enforced outside the model, with independent readback.</a:t>
            </a:r>
          </a:p>
          <a:p xmlns:a="http://schemas.openxmlformats.org/drawingml/2006/main">
            <a:r>
              <a:t>Original icons are embedded unchanged from the user-provided Slides.pptx.</a:t>
            </a:r>
          </a:p>
          <a:p xmlns:a="http://schemas.openxmlformats.org/drawingml/2006/main">
            <a:r>
              <a:t/>
            </a:r>
          </a:p>
          <a:p xmlns:a="http://schemas.openxmlformats.org/drawingml/2006/main">
            <a:r>
              <a: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has three use cases across two scenario families. CR-019 shows policy-qualified routine intake. CR-017 shows a material change that requires engineering approval. QE-004 shows a quality exception with a Program Owner-approved recovery plan. The agent investigates and recommends; deterministic policy or exact human approval controls execution, and source readback verifies what persisted. The time-to-decision target and modeled financial opportunities are pilot hypotheses, not measured demo results.</a:t>
            </a:r>
          </a:p>
          <a:p xmlns:a="http://schemas.openxmlformats.org/drawingml/2006/main">
            <a:r>
              <a:t/>
            </a:r>
          </a:p>
          <a:p xmlns:a="http://schemas.openxmlformats.org/drawingml/2006/main">
            <a:r>
              <a:t>Detailed source content</a:t>
            </a:r>
          </a:p>
          <a:p xmlns:a="http://schemas.openxmlformats.org/drawingml/2006/main">
            <a:r>
              <a:t>Demo Use Cases: Turning Requirement Changes into Verified Actions Autonomously</a:t>
            </a:r>
          </a:p>
          <a:p xmlns:a="http://schemas.openxmlformats.org/drawingml/2006/main">
            <a:r>
              <a:t>To-be flow: Agents autonomously process in the background and escalate to program approver when needed </a:t>
            </a:r>
          </a:p>
          <a:p xmlns:a="http://schemas.openxmlformats.org/drawingml/2006/main">
            <a:r>
              <a:t>Trigger</a:t>
            </a:r>
          </a:p>
          <a:p xmlns:a="http://schemas.openxmlformats.org/drawingml/2006/main">
            <a:r>
              <a:t>Event, operator, Concierge, or schedule</a:t>
            </a:r>
          </a:p>
          <a:p xmlns:a="http://schemas.openxmlformats.org/drawingml/2006/main">
            <a:r>
              <a:t>Investigate</a:t>
            </a:r>
          </a:p>
          <a:p xmlns:a="http://schemas.openxmlformats.org/drawingml/2006/main">
            <a:r>
              <a:t>Specialists pull facts from five systems</a:t>
            </a:r>
          </a:p>
          <a:p xmlns:a="http://schemas.openxmlformats.org/drawingml/2006/main">
            <a:r>
              <a:t>Recommend</a:t>
            </a:r>
          </a:p>
          <a:p xmlns:a="http://schemas.openxmlformats.org/drawingml/2006/main">
            <a:r>
              <a:t>One recommendation with options and impact</a:t>
            </a:r>
          </a:p>
          <a:p xmlns:a="http://schemas.openxmlformats.org/drawingml/2006/main">
            <a:r>
              <a:t>Policy gate</a:t>
            </a:r>
          </a:p>
          <a:p xmlns:a="http://schemas.openxmlformats.org/drawingml/2006/main">
            <a:r>
              <a:t>Within policy: touchless</a:t>
            </a:r>
          </a:p>
          <a:p xmlns:a="http://schemas.openxmlformats.org/drawingml/2006/main">
            <a:r>
              <a:t>Out of Policy: person approves</a:t>
            </a:r>
          </a:p>
          <a:p xmlns:a="http://schemas.openxmlformats.org/drawingml/2006/main">
            <a:r>
              <a:t>Execute</a:t>
            </a:r>
          </a:p>
          <a:p xmlns:a="http://schemas.openxmlformats.org/drawingml/2006/main">
            <a:r>
              <a:t>Only the exact approved action runs</a:t>
            </a:r>
          </a:p>
          <a:p xmlns:a="http://schemas.openxmlformats.org/drawingml/2006/main">
            <a:r>
              <a:t>Verify</a:t>
            </a:r>
          </a:p>
          <a:p xmlns:a="http://schemas.openxmlformats.org/drawingml/2006/main">
            <a:r>
              <a:t>Read back from the source system</a:t>
            </a:r>
          </a:p>
          <a:p xmlns:a="http://schemas.openxmlformats.org/drawingml/2006/main">
            <a:r>
              <a:t>Standard requirement change</a:t>
            </a:r>
          </a:p>
          <a:p xmlns:a="http://schemas.openxmlformats.org/drawingml/2006/main">
            <a:r>
              <a:t>CR-019</a:t>
            </a:r>
          </a:p>
          <a:p xmlns:a="http://schemas.openxmlformats.org/drawingml/2006/main">
            <a:r>
              <a:t>Autonomous</a:t>
            </a:r>
          </a:p>
          <a:p xmlns:a="http://schemas.openxmlformats.org/drawingml/2006/main">
            <a:r>
              <a:t>A customer requests an update within an approved test profile. Agents reuse the matching evidence and route the validation package.</a:t>
            </a:r>
          </a:p>
          <a:p xmlns:a="http://schemas.openxmlformats.org/drawingml/2006/main">
            <a:r>
              <a:t>Material requirement change</a:t>
            </a:r>
          </a:p>
          <a:p xmlns:a="http://schemas.openxmlformats.org/drawingml/2006/main">
            <a:r>
              <a:t>CR-017</a:t>
            </a:r>
          </a:p>
          <a:p xmlns:a="http://schemas.openxmlformats.org/drawingml/2006/main">
            <a:r>
              <a:t>Engineering approval</a:t>
            </a:r>
          </a:p>
          <a:p xmlns:a="http://schemas.openxmlformats.org/drawingml/2006/main">
            <a:r>
              <a:t>A customer requests a much broader workload than existing tests cover. Agents find the gaps, analyzed next best actions, routed to engineering, and updated plan to ensure on-time completion</a:t>
            </a:r>
          </a:p>
          <a:p xmlns:a="http://schemas.openxmlformats.org/drawingml/2006/main">
            <a:r>
              <a:t>Yield and quality recovery</a:t>
            </a:r>
          </a:p>
          <a:p xmlns:a="http://schemas.openxmlformats.org/drawingml/2006/main">
            <a:r>
              <a:t>QE-004</a:t>
            </a:r>
          </a:p>
          <a:p xmlns:a="http://schemas.openxmlformats.org/drawingml/2006/main">
            <a:r>
              <a:t>Program Owner approval</a:t>
            </a:r>
          </a:p>
          <a:p xmlns:a="http://schemas.openxmlformats.org/drawingml/2006/main">
            <a:r>
              <a:t>A yield exception alert raises questions about usable supply and timing. Agents size the impact and recommends updated supply chain actions downstream</a:t>
            </a:r>
          </a:p>
          <a:p xmlns:a="http://schemas.openxmlformats.org/drawingml/2006/main">
            <a:r>
              <a:t>Business value drivers*:</a:t>
            </a:r>
          </a:p>
          <a:p xmlns:a="http://schemas.openxmlformats.org/drawingml/2006/main">
            <a:r>
              <a:t>Yield protected</a:t>
            </a:r>
          </a:p>
          <a:p xmlns:a="http://schemas.openxmlformats.org/drawingml/2006/main">
            <a:r>
              <a:t>$20M</a:t>
            </a:r>
          </a:p>
          <a:p xmlns:a="http://schemas.openxmlformats.org/drawingml/2006/main">
            <a:r>
              <a:t>of saleable output protected per year, for every yield point recovered</a:t>
            </a:r>
          </a:p>
          <a:p xmlns:a="http://schemas.openxmlformats.org/drawingml/2006/main">
            <a:r>
              <a:t>Time to decision</a:t>
            </a:r>
          </a:p>
          <a:p xmlns:a="http://schemas.openxmlformats.org/drawingml/2006/main">
            <a:r>
              <a:t>5 days to 1</a:t>
            </a:r>
          </a:p>
          <a:p xmlns:a="http://schemas.openxmlformats.org/drawingml/2006/main">
            <a:r>
              <a:t>from detection to an actionable, evidence-backed decision</a:t>
            </a:r>
          </a:p>
          <a:p xmlns:a="http://schemas.openxmlformats.org/drawingml/2006/main">
            <a:r>
              <a:t>Commitment reliability</a:t>
            </a:r>
          </a:p>
          <a:p xmlns:a="http://schemas.openxmlformats.org/drawingml/2006/main">
            <a:r>
              <a:t>$25M</a:t>
            </a:r>
          </a:p>
          <a:p xmlns:a="http://schemas.openxmlformats.org/drawingml/2006/main">
            <a:r>
              <a:t>of shipment value per year moved out of commitment risk</a:t>
            </a:r>
          </a:p>
          <a:p xmlns:a="http://schemas.openxmlformats.org/drawingml/2006/main">
            <a:r>
              <a:t>Working capital</a:t>
            </a:r>
          </a:p>
          <a:p xmlns:a="http://schemas.openxmlformats.org/drawingml/2006/main">
            <a:r>
              <a:t>$4.1M</a:t>
            </a:r>
          </a:p>
          <a:p xmlns:a="http://schemas.openxmlformats.org/drawingml/2006/main">
            <a:r>
              <a:t>released from 10 fewer days of inventory waiting on decisions</a:t>
            </a:r>
          </a:p>
          <a:p xmlns:a="http://schemas.openxmlformats.org/drawingml/2006/main">
            <a:r>
              <a:t>Demo data assumptions*: 7,500 wafers and 45 dies at $6K each; a $500M annual shipment run-rate; late commitments falling from 10% to 5%; $150M average inventory. To be validated in a pilot. Exposure removed from risk is not realized savings.</a:t>
            </a:r>
          </a:p>
          <a:p xmlns:a="http://schemas.openxmlformats.org/drawingml/2006/main">
            <a:r>
              <a:t>Demo use cases:</a:t>
            </a:r>
          </a:p>
          <a:p xmlns:a="http://schemas.openxmlformats.org/drawingml/2006/main">
            <a:r>
              <a:t/>
            </a:r>
          </a:p>
          <a:p xmlns:a="http://schemas.openxmlformats.org/drawingml/2006/main">
            <a:r>
              <a:t>CR-019 intake is separate from lab authorization, scheduling, test performance, engineering acceptance, and customer acceptance. CR-017 does not guarantee on-time completion. QE-004 writes only bounded recovery metadata; it cannot release quality holds, allocate inventory, author lab evidence, or alter customer commitments.</a:t>
            </a:r>
          </a:p>
          <a:p xmlns:a="http://schemas.openxmlformats.org/drawingml/2006/main">
            <a:r>
              <a:t>Yield: 7,500 annual wafers ×45 gross dies per wafer ×$6,000 per die ×1 percentage point = $20.25M annual potential output value, rounded to $20M. Attribution depends on pilot evidence and operational yield recovery.</a:t>
            </a:r>
          </a:p>
          <a:p xmlns:a="http://schemas.openxmlformats.org/drawingml/2006/main">
            <a:r>
              <a:t>Commitment reliability: $500M annual shipments ×(10%−5%) late-commitment rate measured by shipment value = $25M moved out of exposure.</a:t>
            </a:r>
          </a:p>
          <a:p xmlns:a="http://schemas.openxmlformats.org/drawingml/2006/main">
            <a:r>
              <a:t>Time to decision: five days to one day is a proposed 80% cycle-time reduction target.</a:t>
            </a:r>
          </a:p>
          <a:p xmlns:a="http://schemas.openxmlformats.org/drawingml/2006/main">
            <a:r>
              <a:t>Working capital: the original deck’s $4.1M estimate and $150M average-inventory premise require correction. $150M ×10/365 is valid with annual inventory cost throughput/COGS, not average stock. No revised financial premise has been invented. The slide retains the ten-day target; dollar release awaits a cost-flow baseline. Working-capital release would be a one-time balance-sheet effect. Do not sum output, shipment exposure and working capital into ROI. Pilot ROI needs attributable benefits, adoption, build cost, and recurring operating cost.</a:t>
            </a:r>
          </a:p>
          <a:p xmlns:a="http://schemas.openxmlformats.org/drawingml/2006/main">
            <a:r>
              <a:t/>
            </a:r>
          </a:p>
          <a:p xmlns:a="http://schemas.openxmlformats.org/drawingml/2006/main">
            <a:r>
              <a:t>Industry references for the value drivers: McKinsey on the commercial impact of on-time delivery in semiconductors; Microchip FY2026 filing on inventory ($1.04B, 185 inventory days). Time-to-decision assumes a material decision moving from 5 days to 1 day (80% cycle-time reduction), which on a $500M run-rate is roughly $5.5M of shipment value removed from delay exposure when the issue is on the critical path.</a:t>
            </a:r>
          </a:p>
          <a:p xmlns:a="http://schemas.openxmlformats.org/drawingml/2006/main">
            <a:r>
              <a: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 original design decisions remain the architecture rationale. The coordinator is bounded, source tools are typed and scoped, retrieval follows profile and eligibility policies, and source facts override stale documents. Calculations and execution authority live in deterministic code. Approval, execution, and verified state remain separate. Evals and trace evidence cover known cases and authority boundaries; they are not blanket proof of correctness for arbitrary enterprise workflows.</a:t>
            </a:r>
          </a:p>
          <a:p xmlns:a="http://schemas.openxmlformats.org/drawingml/2006/main">
            <a:r>
              <a:t>The current identities are simulated demo personas and source/host capability checks. They demonstrate role restrictions but are not production identity authentication. Consequential engineering acceptance, quality disposition, allocation, and customer commitments remain under their relevant source authority. Future production SSO and RBAC appear on slide 5.</a:t>
            </a:r>
          </a:p>
          <a:p xmlns:a="http://schemas.openxmlformats.org/drawingml/2006/main">
            <a:r>
              <a:t/>
            </a:r>
          </a:p>
          <a:p xmlns:a="http://schemas.openxmlformats.org/drawingml/2006/main">
            <a:r>
              <a:t>Detailed source content</a:t>
            </a:r>
          </a:p>
          <a:p xmlns:a="http://schemas.openxmlformats.org/drawingml/2006/main">
            <a:r>
              <a:t>Assumptions, design decisions, product judgments, and governance</a:t>
            </a:r>
          </a:p>
          <a:p xmlns:a="http://schemas.openxmlformats.org/drawingml/2006/main">
            <a:r>
              <a:t>Eight enterprise design decisions behind the control plane</a:t>
            </a:r>
          </a:p>
          <a:p xmlns:a="http://schemas.openxmlformats.org/drawingml/2006/main">
            <a:r>
              <a:t>Category</a:t>
            </a:r>
          </a:p>
          <a:p xmlns:a="http://schemas.openxmlformats.org/drawingml/2006/main">
            <a:r>
              <a:t>Enterprise design decision</a:t>
            </a:r>
          </a:p>
          <a:p xmlns:a="http://schemas.openxmlformats.org/drawingml/2006/main">
            <a:r>
              <a:t>1</a:t>
            </a:r>
          </a:p>
          <a:p xmlns:a="http://schemas.openxmlformats.org/drawingml/2006/main">
            <a:r>
              <a:t>Agent Architecture &amp; Orchestration</a:t>
            </a:r>
          </a:p>
          <a:p xmlns:a="http://schemas.openxmlformats.org/drawingml/2006/main">
            <a:r>
              <a:t>A central coordinator delegates to domain specialists that run in parallel. Specialization and concurrency without an uncontrolled swarm.</a:t>
            </a:r>
          </a:p>
          <a:p xmlns:a="http://schemas.openxmlformats.org/drawingml/2006/main">
            <a:r>
              <a:t>2</a:t>
            </a:r>
          </a:p>
          <a:p xmlns:a="http://schemas.openxmlformats.org/drawingml/2006/main">
            <a:r>
              <a:t>Grounding &amp; Enterprise Knowledge</a:t>
            </a:r>
          </a:p>
          <a:p xmlns:a="http://schemas.openxmlformats.org/drawingml/2006/main">
            <a:r>
              <a:t>Live facts come from APIs and MCP; institutional knowledge comes from RAG with specialist retrieval profiles and exact-source verification. Stale documents never override current state.</a:t>
            </a:r>
          </a:p>
          <a:p xmlns:a="http://schemas.openxmlformats.org/drawingml/2006/main">
            <a:r>
              <a:t>3</a:t>
            </a:r>
          </a:p>
          <a:p xmlns:a="http://schemas.openxmlformats.org/drawingml/2006/main">
            <a:r>
              <a:t>Tooling &amp; System Integration</a:t>
            </a:r>
          </a:p>
          <a:p xmlns:a="http://schemas.openxmlformats.org/drawingml/2006/main">
            <a:r>
              <a:t>Agents reach PLM, TestOps, MES, ERP, and ProgramOps only through typed tools and controlled APIs. Source systems stay authoritative; the control plane orchestrates across them.</a:t>
            </a:r>
          </a:p>
          <a:p xmlns:a="http://schemas.openxmlformats.org/drawingml/2006/main">
            <a:r>
              <a:t>4</a:t>
            </a:r>
          </a:p>
          <a:p xmlns:a="http://schemas.openxmlformats.org/drawingml/2006/main">
            <a:r>
              <a:t>Governance, Permissions &amp; Human Authority</a:t>
            </a:r>
          </a:p>
          <a:p xmlns:a="http://schemas.openxmlformats.org/drawingml/2006/main">
            <a:r>
              <a:t>Deterministic policy gates decide what runs touchless and what needs approval. Engineering, quality, allocation, and customer commitments stay human-owned, backed by least-privilege tools and persona-aware RBAC.</a:t>
            </a:r>
          </a:p>
          <a:p xmlns:a="http://schemas.openxmlformats.org/drawingml/2006/main">
            <a:r>
              <a:t>5</a:t>
            </a:r>
          </a:p>
          <a:p xmlns:a="http://schemas.openxmlformats.org/drawingml/2006/main">
            <a:r>
              <a:t>State, Execution Safety &amp; Reliability</a:t>
            </a:r>
          </a:p>
          <a:p xmlns:a="http://schemas.openxmlformats.org/drawingml/2006/main">
            <a:r>
              <a:t>Approval, execution, and verified state are separate steps. Versioned proposals, stale-state checks, idempotency, and source readback make autonomous and concurrent execution safe.</a:t>
            </a:r>
          </a:p>
          <a:p xmlns:a="http://schemas.openxmlformats.org/drawingml/2006/main">
            <a:r>
              <a:t>6</a:t>
            </a:r>
          </a:p>
          <a:p xmlns:a="http://schemas.openxmlformats.org/drawingml/2006/main">
            <a:r>
              <a:t>Evals, Observability &amp; Auditability</a:t>
            </a:r>
          </a:p>
          <a:p xmlns:a="http://schemas.openxmlformats.org/drawingml/2006/main">
            <a:r>
              <a:t>Behavioral evals test workflow correctness, retrieval, authority boundaries, and calculations. Traces link agents, tools, evidence, decisions, actions, and outcomes for reliability and audit.</a:t>
            </a:r>
          </a:p>
          <a:p xmlns:a="http://schemas.openxmlformats.org/drawingml/2006/main">
            <a:r>
              <a:t>7</a:t>
            </a:r>
          </a:p>
          <a:p xmlns:a="http://schemas.openxmlformats.org/drawingml/2006/main">
            <a:r>
              <a:t>Performance, Cost &amp; Scalability</a:t>
            </a:r>
          </a:p>
          <a:p xmlns:a="http://schemas.openxmlformats.org/drawingml/2006/main">
            <a:r>
              <a:t>Models handle ambiguous reasoning; deterministic code handles calculations, policy, and routine operations. Isolated, bounded runs scale toward queues and worker pools without wasting inference.</a:t>
            </a:r>
          </a:p>
          <a:p xmlns:a="http://schemas.openxmlformats.org/drawingml/2006/main">
            <a:r>
              <a:t>8</a:t>
            </a:r>
          </a:p>
          <a:p xmlns:a="http://schemas.openxmlformats.org/drawingml/2006/main">
            <a:r>
              <a:t>Product UX &amp; Operating Model</a:t>
            </a:r>
          </a:p>
          <a:p xmlns:a="http://schemas.openxmlformats.org/drawingml/2006/main">
            <a:r>
              <a:t>Manual, conversational, and event-driven starts share one governed runtime. Persona-tailored screens show autonomy, handoffs, evidence, and business state, not raw agent mechanics.</a:t>
            </a:r>
          </a:p>
          <a:p xmlns:a="http://schemas.openxmlformats.org/drawingml/2006/main">
            <a:r>
              <a:t/>
            </a:r>
          </a:p>
          <a:p xmlns:a="http://schemas.openxmlformats.org/drawingml/2006/main">
            <a:r>
              <a:t/>
            </a:r>
          </a:p>
          <a:p xmlns:a="http://schemas.openxmlformats.org/drawingml/2006/main">
            <a:r>
              <a:t/>
            </a:r>
          </a:p>
          <a:p xmlns:a="http://schemas.openxmlformats.org/drawingml/2006/main">
            <a:r>
              <a:t>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future-facing production work, not a claim that the local demo is production-ready. The same core boundaries should survive enterprise identity, real source integration, durable runtime, worker pools, and model routing. Begin with a limited pilot to establish decision-time, correctness, authority, and economics baselines. Expand autonomy only when predetermined technical and business thresholds are met.</a:t>
            </a:r>
          </a:p>
          <a:p xmlns:a="http://schemas.openxmlformats.org/drawingml/2006/main">
            <a:r>
              <a:t>Improve prompts, retrieval, tools, policy, and evals first. Model customization or retraining is not an automatic prerequisite; consider it only when evaluation evidence justifies it. Working-capital and ROI modeling require cost-flow baselines and attribution. Security and human source authority remain unchanged as concurrency increases.</a:t>
            </a:r>
          </a:p>
          <a:p xmlns:a="http://schemas.openxmlformats.org/drawingml/2006/main">
            <a:r>
              <a:t/>
            </a:r>
          </a:p>
          <a:p xmlns:a="http://schemas.openxmlformats.org/drawingml/2006/main">
            <a:r>
              <a:t>Detailed source content</a:t>
            </a:r>
          </a:p>
          <a:p xmlns:a="http://schemas.openxmlformats.org/drawingml/2006/main">
            <a:r>
              <a:t>Production and future expansion</a:t>
            </a:r>
          </a:p>
          <a:p xmlns:a="http://schemas.openxmlformats.org/drawingml/2006/main">
            <a:r>
              <a:t>Production hardens the same architecture. Autonomy expands only as measured results allow.</a:t>
            </a:r>
          </a:p>
          <a:p xmlns:a="http://schemas.openxmlformats.org/drawingml/2006/main">
            <a:r>
              <a:t>Connect and secure</a:t>
            </a:r>
          </a:p>
          <a:p xmlns:a="http://schemas.openxmlformats.org/drawingml/2006/main">
            <a:r>
              <a:t>Identity, real systems, data</a:t>
            </a:r>
          </a:p>
          <a:p xmlns:a="http://schemas.openxmlformats.org/drawingml/2006/main">
            <a:r>
              <a:t>Authentication, SSO &amp; RBAC</a:t>
            </a:r>
          </a:p>
          <a:p xmlns:a="http://schemas.openxmlformats.org/drawingml/2006/main">
            <a:r>
              <a:t>Integrate with enterprise identity providers for user authentication/SSO, map roles and groups to RBAC, and enforce least-privilege access to agents, tools, data, and actions.</a:t>
            </a:r>
          </a:p>
          <a:p xmlns:a="http://schemas.openxmlformats.org/drawingml/2006/main">
            <a:r>
              <a:t>Real Enterprise Integrations</a:t>
            </a:r>
          </a:p>
          <a:p xmlns:a="http://schemas.openxmlformats.org/drawingml/2006/main">
            <a:r>
              <a:t>Connect production PLM, MES, ERP, TestOps, planning, and internal systems while keeping those systems authoritative.</a:t>
            </a:r>
          </a:p>
          <a:p xmlns:a="http://schemas.openxmlformats.org/drawingml/2006/main">
            <a:r>
              <a:t>Security &amp; Data Governance</a:t>
            </a:r>
          </a:p>
          <a:p xmlns:a="http://schemas.openxmlformats.org/drawingml/2006/main">
            <a:r>
              <a:t>Add secrets management, encryption, data isolation, retention policies, audit logging, and prompt/tool abuse protections.</a:t>
            </a:r>
          </a:p>
          <a:p xmlns:a="http://schemas.openxmlformats.org/drawingml/2006/main">
            <a:r>
              <a:t>Run reliably at scale</a:t>
            </a:r>
          </a:p>
          <a:p xmlns:a="http://schemas.openxmlformats.org/drawingml/2006/main">
            <a:r>
              <a:t>Routing, runtime, safe execution</a:t>
            </a:r>
          </a:p>
          <a:p xmlns:a="http://schemas.openxmlformats.org/drawingml/2006/main">
            <a:r>
              <a:t>Dynamic Model Routing</a:t>
            </a:r>
          </a:p>
          <a:p xmlns:a="http://schemas.openxmlformats.org/drawingml/2006/main">
            <a:r>
              <a:t>Route each task to the right model based on required quality, complexity, latency, and cost, with fallback/escalation when needed.</a:t>
            </a:r>
          </a:p>
          <a:p xmlns:a="http://schemas.openxmlformats.org/drawingml/2006/main">
            <a:r>
              <a:t>Durable Runtime &amp; Horizontal Scale</a:t>
            </a:r>
          </a:p>
          <a:p xmlns:a="http://schemas.openxmlformats.org/drawingml/2006/main">
            <a:r>
              <a:t>Add durable queues/workflow orchestration, stateless workers, checkpoints, retries, and support for many concurrent cases.</a:t>
            </a:r>
          </a:p>
          <a:p xmlns:a="http://schemas.openxmlformats.org/drawingml/2006/main">
            <a:r>
              <a:t>Execution Safety &amp; Resilience</a:t>
            </a:r>
          </a:p>
          <a:p xmlns:a="http://schemas.openxmlformats.org/drawingml/2006/main">
            <a:r>
              <a:t>Preserve idempotency, version checks, stale-state protection, partial-failure handling, retries, and source readback verification.</a:t>
            </a:r>
          </a:p>
          <a:p xmlns:a="http://schemas.openxmlformats.org/drawingml/2006/main">
            <a:r>
              <a:t>Improve and expand</a:t>
            </a:r>
          </a:p>
          <a:p xmlns:a="http://schemas.openxmlformats.org/drawingml/2006/main">
            <a:r>
              <a:t>Monitoring, evals, earned autonomy</a:t>
            </a:r>
          </a:p>
          <a:p xmlns:a="http://schemas.openxmlformats.org/drawingml/2006/main">
            <a:r>
              <a:t>Observability &amp; Evaluation-Driven Improvement</a:t>
            </a:r>
          </a:p>
          <a:p xmlns:a="http://schemas.openxmlformats.org/drawingml/2006/main">
            <a:r>
              <a:t>Use OpenAI Platform telemetry for traces, usage, latency, and cost, then add Stratos workflow outcomes, RAG/tool quality, and regression evals to continuously improve reliability.</a:t>
            </a:r>
          </a:p>
          <a:p xmlns:a="http://schemas.openxmlformats.org/drawingml/2006/main">
            <a:r>
              <a:t>Measured Expansion of Autonomy</a:t>
            </a:r>
          </a:p>
          <a:p xmlns:a="http://schemas.openxmlformats.org/drawingml/2006/main">
            <a:r>
              <a:t>Use those technical and business signals to decide when a workflow can safely move from assistive to touchless execution, based on predefined safety, quality, and business-value thresholds.</a:t>
            </a:r>
          </a:p>
          <a:p xmlns:a="http://schemas.openxmlformats.org/drawingml/2006/main">
            <a:r>
              <a:t/>
            </a:r>
          </a:p>
          <a:p xmlns:a="http://schemas.openxmlformats.org/drawingml/2006/main">
            <a:r>
              <a:t/>
            </a:r>
          </a:p>
          <a:p xmlns:a="http://schemas.openxmlformats.org/drawingml/2006/main">
            <a:r>
              <a:t/>
            </a:r>
          </a:p>
          <a:p xmlns:a="http://schemas.openxmlformats.org/drawingml/2006/main">
            <a:r>
              <a:t>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5c97ba6a1945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34f810b6744f89" /><Relationship Type="http://schemas.openxmlformats.org/officeDocument/2006/relationships/slideLayout" Target="/ppt/slideLayouts/slideLayout1.xml" Id="Ra582c40f2dc441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82c40f2dc441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2d4035f069444c" /><Relationship Type="http://schemas.openxmlformats.org/officeDocument/2006/relationships/image" Target="/ppt/media/image.png" Id="R59ca8f60dad94cda" /><Relationship Type="http://schemas.openxmlformats.org/officeDocument/2006/relationships/image" Target="/ppt/media/image2.png" Id="R4d9229c790b04680" /><Relationship Type="http://schemas.openxmlformats.org/officeDocument/2006/relationships/image" Target="/ppt/media/image3.png" Id="R4c3f357b0ed74b60" /><Relationship Type="http://schemas.openxmlformats.org/officeDocument/2006/relationships/image" Target="/ppt/media/image4.png" Id="R34384415e36042b4" /><Relationship Type="http://schemas.openxmlformats.org/officeDocument/2006/relationships/image" Target="/ppt/media/image5.png" Id="Rb00c4ddc70f34e45" /><Relationship Type="http://schemas.openxmlformats.org/officeDocument/2006/relationships/notesSlide" Target="/ppt/notesSlides/notesSlide1.xml" Id="Rcccb668c316d4e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9a04524dcb4e16" /><Relationship Type="http://schemas.openxmlformats.org/officeDocument/2006/relationships/image" Target="/ppt/media/image6.png" Id="R6cd798330ff3434c" /><Relationship Type="http://schemas.openxmlformats.org/officeDocument/2006/relationships/image" Target="/ppt/media/image7.png" Id="Rbe9b4a32e30a48f3" /><Relationship Type="http://schemas.openxmlformats.org/officeDocument/2006/relationships/image" Target="/ppt/media/image8.png" Id="Rd6b9747c74dd4e28" /><Relationship Type="http://schemas.openxmlformats.org/officeDocument/2006/relationships/image" Target="/ppt/media/image9.png" Id="Rcd34aec69a954f46" /><Relationship Type="http://schemas.openxmlformats.org/officeDocument/2006/relationships/image" Target="/ppt/media/image10.png" Id="R821a8ec287264c4b" /><Relationship Type="http://schemas.openxmlformats.org/officeDocument/2006/relationships/image" Target="/ppt/media/image11.png" Id="R2960fb07adad43ff" /><Relationship Type="http://schemas.openxmlformats.org/officeDocument/2006/relationships/image" Target="/ppt/media/image12.png" Id="Rb5c9b71f8d17452c" /><Relationship Type="http://schemas.openxmlformats.org/officeDocument/2006/relationships/image" Target="/ppt/media/image13.png" Id="R34a38356515a45dd" /><Relationship Type="http://schemas.openxmlformats.org/officeDocument/2006/relationships/image" Target="/ppt/media/image14.png" Id="R4ca75b30b0484622" /><Relationship Type="http://schemas.openxmlformats.org/officeDocument/2006/relationships/image" Target="/ppt/media/image15.png" Id="Ra01cd487dffb4098" /><Relationship Type="http://schemas.openxmlformats.org/officeDocument/2006/relationships/image" Target="/ppt/media/image16.png" Id="R0da2bd1319d545fa" /><Relationship Type="http://schemas.openxmlformats.org/officeDocument/2006/relationships/image" Target="/ppt/media/image17.png" Id="R1a1b61c781fa4bfd" /><Relationship Type="http://schemas.openxmlformats.org/officeDocument/2006/relationships/image" Target="/ppt/media/image18.png" Id="Reeeed1c82e2f46f0" /><Relationship Type="http://schemas.openxmlformats.org/officeDocument/2006/relationships/image" Target="/ppt/media/image19.png" Id="Rf0f3732d0526490c" /><Relationship Type="http://schemas.openxmlformats.org/officeDocument/2006/relationships/image" Target="/ppt/media/image20.png" Id="R69b911df9c564068" /><Relationship Type="http://schemas.openxmlformats.org/officeDocument/2006/relationships/image" Target="/ppt/media/image21.png" Id="Rb2bd2303a0ab49e9" /><Relationship Type="http://schemas.openxmlformats.org/officeDocument/2006/relationships/image" Target="/ppt/media/image22.png" Id="R605d9645f81c4d31" /><Relationship Type="http://schemas.openxmlformats.org/officeDocument/2006/relationships/image" Target="/ppt/media/image23.png" Id="R88aa58e2f0d84f2a" /><Relationship Type="http://schemas.openxmlformats.org/officeDocument/2006/relationships/image" Target="/ppt/media/image24.png" Id="Raf934b6518a8455a" /><Relationship Type="http://schemas.openxmlformats.org/officeDocument/2006/relationships/image" Target="/ppt/media/image25.png" Id="R7b3b17942c964f60" /><Relationship Type="http://schemas.openxmlformats.org/officeDocument/2006/relationships/image" Target="/ppt/media/image26.png" Id="Rb3f4070044324849" /><Relationship Type="http://schemas.openxmlformats.org/officeDocument/2006/relationships/image" Target="/ppt/media/image27.png" Id="R8879ae6b578c4ffb" /><Relationship Type="http://schemas.openxmlformats.org/officeDocument/2006/relationships/image" Target="/ppt/media/image28.png" Id="Rfc5218e43173420e" /><Relationship Type="http://schemas.openxmlformats.org/officeDocument/2006/relationships/image" Target="/ppt/media/image29.png" Id="R5d0a7f2fb21b43ce" /><Relationship Type="http://schemas.openxmlformats.org/officeDocument/2006/relationships/image" Target="/ppt/media/image30.png" Id="R699f7ddcccf4469c" /><Relationship Type="http://schemas.openxmlformats.org/officeDocument/2006/relationships/image" Target="/ppt/media/image31.png" Id="R0ba32be813da4bd6" /><Relationship Type="http://schemas.openxmlformats.org/officeDocument/2006/relationships/notesSlide" Target="/ppt/notesSlides/notesSlide2.xml" Id="R9380251338b64c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0aa823fc7149cc" /><Relationship Type="http://schemas.openxmlformats.org/officeDocument/2006/relationships/notesSlide" Target="/ppt/notesSlides/notesSlide3.xml" Id="Rcda45c06591f49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d905a816c74077" /><Relationship Type="http://schemas.openxmlformats.org/officeDocument/2006/relationships/notesSlide" Target="/ppt/notesSlides/notesSlide4.xml" Id="R47ce1f5a7bc44a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d1e98554b04c6f" /><Relationship Type="http://schemas.openxmlformats.org/officeDocument/2006/relationships/notesSlide" Target="/ppt/notesSlides/notesSlide5.xml" Id="Rd9437821ef8343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title">
            <a:extLst xmlns:a="http://schemas.openxmlformats.org/drawingml/2006/main">
              <a:ext uri="{FF2B5EF4-FFF2-40B4-BE49-F238E27FC236}">
                <a16:creationId xmlns:a16="http://schemas.microsoft.com/office/drawing/2014/main" id="{E1F02EF9-C294-4231-A281-311F437DA754}"/>
              </a:ext>
            </a:extLst>
          </p:cNvPr>
          <p:cNvSpPr>
            <a:spLocks xmlns:a="http://schemas.openxmlformats.org/drawingml/2006/main" noGrp="1"/>
          </p:cNvSpPr>
          <p:nvPr/>
        </p:nvSpPr>
        <p:spPr>
          <a:xfrm xmlns:a="http://schemas.openxmlformats.org/drawingml/2006/main">
            <a:off x="609600" y="428625"/>
            <a:ext cx="1402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6191C"/>
                </a:solidFill>
                <a:latin typeface="Helvetica Neue"/>
                <a:ea typeface="Helvetica Neue"/>
                <a:cs typeface="Helvetica Neue"/>
              </a:defRPr>
            </a:pPr>
            <a:r>
              <a:rPr sz="3525" b="1">
                <a:solidFill>
                  <a:srgbClr val="16191C"/>
                </a:solidFill>
                <a:latin typeface="Helvetica Neue"/>
                <a:ea typeface="Helvetica Neue"/>
                <a:cs typeface="Helvetica Neue"/>
              </a:rPr>
              <a:t>Custom silicon programs are difficult to operate</a:t>
            </a:r>
          </a:p>
        </p:txBody>
      </p:sp>
      <p:sp>
        <p:nvSpPr>
          <p:cNvPr id="2" name="subtitle">
            <a:extLst xmlns:a="http://schemas.openxmlformats.org/drawingml/2006/main">
              <a:ext uri="{FF2B5EF4-FFF2-40B4-BE49-F238E27FC236}">
                <a16:creationId xmlns:a16="http://schemas.microsoft.com/office/drawing/2014/main" id="{663E3046-B139-4D4E-B448-3F83022AF86B}"/>
              </a:ext>
            </a:extLst>
          </p:cNvPr>
          <p:cNvSpPr>
            <a:spLocks xmlns:a="http://schemas.openxmlformats.org/drawingml/2006/main" noGrp="1"/>
          </p:cNvSpPr>
          <p:nvPr/>
        </p:nvSpPr>
        <p:spPr>
          <a:xfrm xmlns:a="http://schemas.openxmlformats.org/drawingml/2006/main">
            <a:off x="628650" y="1143000"/>
            <a:ext cx="1381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16B75"/>
                </a:solidFill>
                <a:latin typeface="Helvetica Neue"/>
                <a:ea typeface="Helvetica Neue"/>
                <a:cs typeface="Helvetica Neue"/>
              </a:defRPr>
            </a:pPr>
            <a:r>
              <a:rPr sz="1800" b="0">
                <a:solidFill>
                  <a:srgbClr val="616B75"/>
                </a:solidFill>
                <a:latin typeface="Helvetica Neue"/>
                <a:ea typeface="Helvetica Neue"/>
                <a:cs typeface="Helvetica Neue"/>
              </a:rPr>
              <a:t>Stratos Silicon • A fictional semiconductor supplier serving AI infrastructure customers</a:t>
            </a:r>
          </a:p>
        </p:txBody>
      </p:sp>
      <p:sp>
        <p:nvSpPr>
          <p:cNvPr id="3" name="industry-heading">
            <a:extLst xmlns:a="http://schemas.openxmlformats.org/drawingml/2006/main">
              <a:ext uri="{FF2B5EF4-FFF2-40B4-BE49-F238E27FC236}">
                <a16:creationId xmlns:a16="http://schemas.microsoft.com/office/drawing/2014/main" id="{F710F668-014E-446E-BFD2-44927DD425C0}"/>
              </a:ext>
            </a:extLst>
          </p:cNvPr>
          <p:cNvSpPr>
            <a:spLocks xmlns:a="http://schemas.openxmlformats.org/drawingml/2006/main" noGrp="1"/>
          </p:cNvSpPr>
          <p:nvPr/>
        </p:nvSpPr>
        <p:spPr>
          <a:xfrm xmlns:a="http://schemas.openxmlformats.org/drawingml/2006/main">
            <a:off x="628650" y="183832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6CC6"/>
                </a:solidFill>
                <a:latin typeface="Helvetica Neue"/>
                <a:ea typeface="Helvetica Neue"/>
                <a:cs typeface="Helvetica Neue"/>
              </a:defRPr>
            </a:pPr>
            <a:r>
              <a:rPr sz="1725" b="1">
                <a:solidFill>
                  <a:srgbClr val="176CC6"/>
                </a:solidFill>
                <a:latin typeface="Helvetica Neue"/>
                <a:ea typeface="Helvetica Neue"/>
                <a:cs typeface="Helvetica Neue"/>
              </a:rPr>
              <a:t>Industry context</a:t>
            </a:r>
          </a:p>
        </p:txBody>
      </p:sp>
      <p:sp>
        <p:nvSpPr>
          <p:cNvPr id="4" name="industry-copy">
            <a:extLst xmlns:a="http://schemas.openxmlformats.org/drawingml/2006/main">
              <a:ext uri="{FF2B5EF4-FFF2-40B4-BE49-F238E27FC236}">
                <a16:creationId xmlns:a16="http://schemas.microsoft.com/office/drawing/2014/main" id="{04C63398-6F13-4EE0-B53A-D2B24A80675D}"/>
              </a:ext>
            </a:extLst>
          </p:cNvPr>
          <p:cNvSpPr>
            <a:spLocks xmlns:a="http://schemas.openxmlformats.org/drawingml/2006/main" noGrp="1"/>
          </p:cNvSpPr>
          <p:nvPr/>
        </p:nvSpPr>
        <p:spPr>
          <a:xfrm xmlns:a="http://schemas.openxmlformats.org/drawingml/2006/main">
            <a:off x="628650" y="2247900"/>
            <a:ext cx="43624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191C"/>
                </a:solidFill>
                <a:latin typeface="Helvetica Neue"/>
                <a:ea typeface="Helvetica Neue"/>
                <a:cs typeface="Helvetica Neue"/>
              </a:defRPr>
            </a:pPr>
            <a:r>
              <a:rPr sz="1875" b="0">
                <a:solidFill>
                  <a:srgbClr val="16191C"/>
                </a:solidFill>
                <a:latin typeface="Helvetica Neue"/>
                <a:ea typeface="Helvetica Neue"/>
                <a:cs typeface="Helvetica Neue"/>
              </a:rPr>
              <a:t>AI companies build custom chips for their training and inference workloads. Delivering them requires close coordination across design, testing, validation, and manufacturing.</a:t>
            </a:r>
          </a:p>
        </p:txBody>
      </p:sp>
      <p:sp>
        <p:nvSpPr>
          <p:cNvPr id="5" name="problem-heading">
            <a:extLst xmlns:a="http://schemas.openxmlformats.org/drawingml/2006/main">
              <a:ext uri="{FF2B5EF4-FFF2-40B4-BE49-F238E27FC236}">
                <a16:creationId xmlns:a16="http://schemas.microsoft.com/office/drawing/2014/main" id="{4F49966D-E011-4412-82C1-C2AC38D1BD29}"/>
              </a:ext>
            </a:extLst>
          </p:cNvPr>
          <p:cNvSpPr>
            <a:spLocks xmlns:a="http://schemas.openxmlformats.org/drawingml/2006/main" noGrp="1"/>
          </p:cNvSpPr>
          <p:nvPr/>
        </p:nvSpPr>
        <p:spPr>
          <a:xfrm xmlns:a="http://schemas.openxmlformats.org/drawingml/2006/main">
            <a:off x="5429250" y="18383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6CC6"/>
                </a:solidFill>
                <a:latin typeface="Helvetica Neue"/>
                <a:ea typeface="Helvetica Neue"/>
                <a:cs typeface="Helvetica Neue"/>
              </a:defRPr>
            </a:pPr>
            <a:r>
              <a:rPr sz="1725" b="1">
                <a:solidFill>
                  <a:srgbClr val="176CC6"/>
                </a:solidFill>
                <a:latin typeface="Helvetica Neue"/>
                <a:ea typeface="Helvetica Neue"/>
                <a:cs typeface="Helvetica Neue"/>
              </a:rPr>
              <a:t>Business problem</a:t>
            </a:r>
          </a:p>
        </p:txBody>
      </p:sp>
      <p:sp>
        <p:nvSpPr>
          <p:cNvPr id="6" name="problem-copy">
            <a:extLst xmlns:a="http://schemas.openxmlformats.org/drawingml/2006/main">
              <a:ext uri="{FF2B5EF4-FFF2-40B4-BE49-F238E27FC236}">
                <a16:creationId xmlns:a16="http://schemas.microsoft.com/office/drawing/2014/main" id="{400D1013-116B-4284-AFB1-2D72D6D15A71}"/>
              </a:ext>
            </a:extLst>
          </p:cNvPr>
          <p:cNvSpPr>
            <a:spLocks xmlns:a="http://schemas.openxmlformats.org/drawingml/2006/main" noGrp="1"/>
          </p:cNvSpPr>
          <p:nvPr/>
        </p:nvSpPr>
        <p:spPr>
          <a:xfrm xmlns:a="http://schemas.openxmlformats.org/drawingml/2006/main">
            <a:off x="5429250" y="2247900"/>
            <a:ext cx="44100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191C"/>
                </a:solidFill>
                <a:latin typeface="Helvetica Neue"/>
                <a:ea typeface="Helvetica Neue"/>
                <a:cs typeface="Helvetica Neue"/>
              </a:defRPr>
            </a:pPr>
            <a:r>
              <a:rPr sz="1875" b="0">
                <a:solidFill>
                  <a:srgbClr val="16191C"/>
                </a:solidFill>
                <a:latin typeface="Helvetica Neue"/>
                <a:ea typeface="Helvetica Neue"/>
                <a:cs typeface="Helvetica Neue"/>
              </a:rPr>
              <a:t>Requirements change throughout development and ramp as workloads and performance targets evolve. A change or yield exception can affect supply, schedule, and customer commitments.</a:t>
            </a:r>
          </a:p>
        </p:txBody>
      </p:sp>
      <p:sp>
        <p:nvSpPr>
          <p:cNvPr id="7" name="line-1">
            <a:extLst xmlns:a="http://schemas.openxmlformats.org/drawingml/2006/main">
              <a:ext uri="{FF2B5EF4-FFF2-40B4-BE49-F238E27FC236}">
                <a16:creationId xmlns:a16="http://schemas.microsoft.com/office/drawing/2014/main" id="{2A05A61C-1AB0-45B0-AAFD-932F00EA2F31}"/>
              </a:ext>
            </a:extLst>
          </p:cNvPr>
          <p:cNvSpPr>
            <a:spLocks xmlns:a="http://schemas.openxmlformats.org/drawingml/2006/main" noGrp="1"/>
          </p:cNvSpPr>
          <p:nvPr/>
        </p:nvSpPr>
        <p:spPr>
          <a:xfrm xmlns:a="http://schemas.openxmlformats.org/drawingml/2006/main" flipV="0">
            <a:off x="10287000" y="1838325"/>
            <a:ext cx="0" cy="2581275"/>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8" name="market-value">
            <a:extLst xmlns:a="http://schemas.openxmlformats.org/drawingml/2006/main">
              <a:ext uri="{FF2B5EF4-FFF2-40B4-BE49-F238E27FC236}">
                <a16:creationId xmlns:a16="http://schemas.microsoft.com/office/drawing/2014/main" id="{DCC1059A-21BC-462C-8883-2D4E220DD386}"/>
              </a:ext>
            </a:extLst>
          </p:cNvPr>
          <p:cNvSpPr>
            <a:spLocks xmlns:a="http://schemas.openxmlformats.org/drawingml/2006/main" noGrp="1"/>
          </p:cNvSpPr>
          <p:nvPr/>
        </p:nvSpPr>
        <p:spPr>
          <a:xfrm xmlns:a="http://schemas.openxmlformats.org/drawingml/2006/main">
            <a:off x="10687050" y="1790700"/>
            <a:ext cx="342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76CC6"/>
                </a:solidFill>
                <a:latin typeface="Helvetica Neue"/>
                <a:ea typeface="Helvetica Neue"/>
                <a:cs typeface="Helvetica Neue"/>
              </a:defRPr>
            </a:pPr>
            <a:r>
              <a:rPr sz="3600" b="1">
                <a:solidFill>
                  <a:srgbClr val="176CC6"/>
                </a:solidFill>
                <a:latin typeface="Helvetica Neue"/>
                <a:ea typeface="Helvetica Neue"/>
                <a:cs typeface="Helvetica Neue"/>
              </a:rPr>
              <a:t>$203.6B</a:t>
            </a:r>
          </a:p>
        </p:txBody>
      </p:sp>
      <p:sp>
        <p:nvSpPr>
          <p:cNvPr id="9" name="market-caption">
            <a:extLst xmlns:a="http://schemas.openxmlformats.org/drawingml/2006/main">
              <a:ext uri="{FF2B5EF4-FFF2-40B4-BE49-F238E27FC236}">
                <a16:creationId xmlns:a16="http://schemas.microsoft.com/office/drawing/2014/main" id="{417B31E2-5103-4B4E-B607-0DD71B8AB251}"/>
              </a:ext>
            </a:extLst>
          </p:cNvPr>
          <p:cNvSpPr>
            <a:spLocks xmlns:a="http://schemas.openxmlformats.org/drawingml/2006/main" noGrp="1"/>
          </p:cNvSpPr>
          <p:nvPr/>
        </p:nvSpPr>
        <p:spPr>
          <a:xfrm xmlns:a="http://schemas.openxmlformats.org/drawingml/2006/main">
            <a:off x="10687050" y="23717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Custom ASIC market by 2030¹</a:t>
            </a:r>
          </a:p>
        </p:txBody>
      </p:sp>
      <p:sp>
        <p:nvSpPr>
          <p:cNvPr id="10" name="yield-value">
            <a:extLst xmlns:a="http://schemas.openxmlformats.org/drawingml/2006/main">
              <a:ext uri="{FF2B5EF4-FFF2-40B4-BE49-F238E27FC236}">
                <a16:creationId xmlns:a16="http://schemas.microsoft.com/office/drawing/2014/main" id="{55982C98-85CA-445D-A053-0E05A7102ACF}"/>
              </a:ext>
            </a:extLst>
          </p:cNvPr>
          <p:cNvSpPr>
            <a:spLocks xmlns:a="http://schemas.openxmlformats.org/drawingml/2006/main" noGrp="1"/>
          </p:cNvSpPr>
          <p:nvPr/>
        </p:nvSpPr>
        <p:spPr>
          <a:xfrm xmlns:a="http://schemas.openxmlformats.org/drawingml/2006/main">
            <a:off x="10687050" y="291465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6191C"/>
                </a:solidFill>
                <a:latin typeface="Helvetica Neue"/>
                <a:ea typeface="Helvetica Neue"/>
                <a:cs typeface="Helvetica Neue"/>
              </a:defRPr>
            </a:pPr>
            <a:r>
              <a:rPr sz="3225" b="1">
                <a:solidFill>
                  <a:srgbClr val="16191C"/>
                </a:solidFill>
                <a:latin typeface="Helvetica Neue"/>
                <a:ea typeface="Helvetica Neue"/>
                <a:cs typeface="Helvetica Neue"/>
              </a:rPr>
              <a:t>$10M+</a:t>
            </a:r>
          </a:p>
        </p:txBody>
      </p:sp>
      <p:sp>
        <p:nvSpPr>
          <p:cNvPr id="11" name="yield-caption">
            <a:extLst xmlns:a="http://schemas.openxmlformats.org/drawingml/2006/main">
              <a:ext uri="{FF2B5EF4-FFF2-40B4-BE49-F238E27FC236}">
                <a16:creationId xmlns:a16="http://schemas.microsoft.com/office/drawing/2014/main" id="{04961C15-9545-4F96-B1E3-6C298DA78DC3}"/>
              </a:ext>
            </a:extLst>
          </p:cNvPr>
          <p:cNvSpPr>
            <a:spLocks xmlns:a="http://schemas.openxmlformats.org/drawingml/2006/main" noGrp="1"/>
          </p:cNvSpPr>
          <p:nvPr/>
        </p:nvSpPr>
        <p:spPr>
          <a:xfrm xmlns:a="http://schemas.openxmlformats.org/drawingml/2006/main">
            <a:off x="10687050" y="3448050"/>
            <a:ext cx="333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Illustrative annual output value</a:t>
            </a:r>
          </a:p>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exposed per yield point²</a:t>
            </a:r>
          </a:p>
        </p:txBody>
      </p:sp>
      <p:sp>
        <p:nvSpPr>
          <p:cNvPr id="12" name="delay-value">
            <a:extLst xmlns:a="http://schemas.openxmlformats.org/drawingml/2006/main">
              <a:ext uri="{FF2B5EF4-FFF2-40B4-BE49-F238E27FC236}">
                <a16:creationId xmlns:a16="http://schemas.microsoft.com/office/drawing/2014/main" id="{814CDA9F-36D8-4483-AD1E-E9E139226F39}"/>
              </a:ext>
            </a:extLst>
          </p:cNvPr>
          <p:cNvSpPr>
            <a:spLocks xmlns:a="http://schemas.openxmlformats.org/drawingml/2006/main" noGrp="1"/>
          </p:cNvSpPr>
          <p:nvPr/>
        </p:nvSpPr>
        <p:spPr>
          <a:xfrm xmlns:a="http://schemas.openxmlformats.org/drawingml/2006/main">
            <a:off x="10687050" y="4181475"/>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16191C"/>
                </a:solidFill>
                <a:latin typeface="Helvetica Neue"/>
                <a:ea typeface="Helvetica Neue"/>
                <a:cs typeface="Helvetica Neue"/>
              </a:defRPr>
            </a:pPr>
            <a:r>
              <a:rPr sz="2625" b="1">
                <a:solidFill>
                  <a:srgbClr val="16191C"/>
                </a:solidFill>
                <a:latin typeface="Helvetica Neue"/>
                <a:ea typeface="Helvetica Neue"/>
                <a:cs typeface="Helvetica Neue"/>
              </a:rPr>
              <a:t>$2M / business day</a:t>
            </a:r>
          </a:p>
        </p:txBody>
      </p:sp>
      <p:sp>
        <p:nvSpPr>
          <p:cNvPr id="13" name="delay-caption">
            <a:extLst xmlns:a="http://schemas.openxmlformats.org/drawingml/2006/main">
              <a:ext uri="{FF2B5EF4-FFF2-40B4-BE49-F238E27FC236}">
                <a16:creationId xmlns:a16="http://schemas.microsoft.com/office/drawing/2014/main" id="{07658AB6-6BD9-4DF3-A9A4-4F38A1E55B4E}"/>
              </a:ext>
            </a:extLst>
          </p:cNvPr>
          <p:cNvSpPr>
            <a:spLocks xmlns:a="http://schemas.openxmlformats.org/drawingml/2006/main" noGrp="1"/>
          </p:cNvSpPr>
          <p:nvPr/>
        </p:nvSpPr>
        <p:spPr>
          <a:xfrm xmlns:a="http://schemas.openxmlformats.org/drawingml/2006/main">
            <a:off x="10687050" y="46672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Shipment value exposed to delay²</a:t>
            </a:r>
          </a:p>
        </p:txBody>
      </p:sp>
      <p:sp>
        <p:nvSpPr>
          <p:cNvPr id="14" name="challenge-heading">
            <a:extLst xmlns:a="http://schemas.openxmlformats.org/drawingml/2006/main">
              <a:ext uri="{FF2B5EF4-FFF2-40B4-BE49-F238E27FC236}">
                <a16:creationId xmlns:a16="http://schemas.microsoft.com/office/drawing/2014/main" id="{9A088AC5-6CFC-4D3B-AFC0-FC87BA95E9C4}"/>
              </a:ext>
            </a:extLst>
          </p:cNvPr>
          <p:cNvSpPr>
            <a:spLocks xmlns:a="http://schemas.openxmlformats.org/drawingml/2006/main" noGrp="1"/>
          </p:cNvSpPr>
          <p:nvPr/>
        </p:nvSpPr>
        <p:spPr>
          <a:xfrm xmlns:a="http://schemas.openxmlformats.org/drawingml/2006/main">
            <a:off x="628650" y="3943350"/>
            <a:ext cx="885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6CC6"/>
                </a:solidFill>
                <a:latin typeface="Helvetica Neue"/>
                <a:ea typeface="Helvetica Neue"/>
                <a:cs typeface="Helvetica Neue"/>
              </a:defRPr>
            </a:pPr>
            <a:r>
              <a:rPr sz="1725" b="1">
                <a:solidFill>
                  <a:srgbClr val="176CC6"/>
                </a:solidFill>
                <a:latin typeface="Helvetica Neue"/>
                <a:ea typeface="Helvetica Neue"/>
                <a:cs typeface="Helvetica Neue"/>
              </a:rPr>
              <a:t>Why it is challenging</a:t>
            </a:r>
          </a:p>
        </p:txBody>
      </p:sp>
      <p:sp>
        <p:nvSpPr>
          <p:cNvPr id="15" name="challenge-copy">
            <a:extLst xmlns:a="http://schemas.openxmlformats.org/drawingml/2006/main">
              <a:ext uri="{FF2B5EF4-FFF2-40B4-BE49-F238E27FC236}">
                <a16:creationId xmlns:a16="http://schemas.microsoft.com/office/drawing/2014/main" id="{29E96E0D-D933-46A0-AFF7-C75F56FC4D72}"/>
              </a:ext>
            </a:extLst>
          </p:cNvPr>
          <p:cNvSpPr>
            <a:spLocks xmlns:a="http://schemas.openxmlformats.org/drawingml/2006/main" noGrp="1"/>
          </p:cNvSpPr>
          <p:nvPr/>
        </p:nvSpPr>
        <p:spPr>
          <a:xfrm xmlns:a="http://schemas.openxmlformats.org/drawingml/2006/main">
            <a:off x="628650" y="4333875"/>
            <a:ext cx="90582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6191C"/>
                </a:solidFill>
                <a:latin typeface="Helvetica Neue"/>
                <a:ea typeface="Helvetica Neue"/>
                <a:cs typeface="Helvetica Neue"/>
              </a:defRPr>
            </a:pPr>
            <a:r>
              <a:rPr sz="1875" b="0">
                <a:solidFill>
                  <a:srgbClr val="16191C"/>
                </a:solidFill>
                <a:latin typeface="Helvetica Neue"/>
                <a:ea typeface="Helvetica Neue"/>
                <a:cs typeface="Helvetica Neue"/>
              </a:rPr>
              <a:t>Evidence and actions are spread across five systems. Teams manually reconcile what changed, what is ready, and who needs to approve next.</a:t>
            </a:r>
          </a:p>
        </p:txBody>
      </p:sp>
      <p:sp>
        <p:nvSpPr>
          <p:cNvPr id="16" name="line-2">
            <a:extLst xmlns:a="http://schemas.openxmlformats.org/drawingml/2006/main">
              <a:ext uri="{FF2B5EF4-FFF2-40B4-BE49-F238E27FC236}">
                <a16:creationId xmlns:a16="http://schemas.microsoft.com/office/drawing/2014/main" id="{2BB79E63-4C43-40F3-88FB-6ADCAD9E5770}"/>
              </a:ext>
            </a:extLst>
          </p:cNvPr>
          <p:cNvSpPr>
            <a:spLocks xmlns:a="http://schemas.openxmlformats.org/drawingml/2006/main" noGrp="1"/>
          </p:cNvSpPr>
          <p:nvPr/>
        </p:nvSpPr>
        <p:spPr>
          <a:xfrm xmlns:a="http://schemas.openxmlformats.org/drawingml/2006/main" flipV="0">
            <a:off x="628650" y="5314950"/>
            <a:ext cx="139827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59ca8f60dad94cda"/>
          <a:stretch xmlns:a="http://schemas.openxmlformats.org/drawingml/2006/main"/>
        </p:blipFill>
        <p:spPr>
          <a:xfrm xmlns:a="http://schemas.openxmlformats.org/drawingml/2006/main">
            <a:off x="628650" y="5524500"/>
            <a:ext cx="266700" cy="266700"/>
          </a:xfrm>
          <a:prstGeom xmlns:a="http://schemas.openxmlformats.org/drawingml/2006/main" prst="rect">
            <a:avLst/>
          </a:prstGeom>
        </p:spPr>
      </p:pic>
      <p:sp>
        <p:nvSpPr>
          <p:cNvPr id="18" name="operator">
            <a:extLst xmlns:a="http://schemas.openxmlformats.org/drawingml/2006/main">
              <a:ext uri="{FF2B5EF4-FFF2-40B4-BE49-F238E27FC236}">
                <a16:creationId xmlns:a16="http://schemas.microsoft.com/office/drawing/2014/main" id="{EBC3CB09-921D-48A6-A68B-E7C5CD1F5DDA}"/>
              </a:ext>
            </a:extLst>
          </p:cNvPr>
          <p:cNvSpPr>
            <a:spLocks xmlns:a="http://schemas.openxmlformats.org/drawingml/2006/main" noGrp="1"/>
          </p:cNvSpPr>
          <p:nvPr/>
        </p:nvSpPr>
        <p:spPr>
          <a:xfrm xmlns:a="http://schemas.openxmlformats.org/drawingml/2006/main">
            <a:off x="1019175" y="5534025"/>
            <a:ext cx="2933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Program operator</a:t>
            </a:r>
          </a:p>
        </p:txBody>
      </p:sp>
      <p:sp>
        <p:nvSpPr>
          <p:cNvPr id="19" name="operator-role">
            <a:extLst xmlns:a="http://schemas.openxmlformats.org/drawingml/2006/main">
              <a:ext uri="{FF2B5EF4-FFF2-40B4-BE49-F238E27FC236}">
                <a16:creationId xmlns:a16="http://schemas.microsoft.com/office/drawing/2014/main" id="{0BFBD3F4-2606-4EE4-80B0-D24E8BC4D149}"/>
              </a:ext>
            </a:extLst>
          </p:cNvPr>
          <p:cNvSpPr>
            <a:spLocks xmlns:a="http://schemas.openxmlformats.org/drawingml/2006/main" noGrp="1"/>
          </p:cNvSpPr>
          <p:nvPr/>
        </p:nvSpPr>
        <p:spPr>
          <a:xfrm xmlns:a="http://schemas.openxmlformats.org/drawingml/2006/main">
            <a:off x="3819525" y="55435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Coordinates every stage through emails, portals, and spreadsheets</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4d9229c790b04680"/>
          <a:stretch xmlns:a="http://schemas.openxmlformats.org/drawingml/2006/main"/>
        </p:blipFill>
        <p:spPr>
          <a:xfrm xmlns:a="http://schemas.openxmlformats.org/drawingml/2006/main">
            <a:off x="628650" y="6105525"/>
            <a:ext cx="323850" cy="323850"/>
          </a:xfrm>
          <a:prstGeom xmlns:a="http://schemas.openxmlformats.org/drawingml/2006/main" prst="rect">
            <a:avLst/>
          </a:prstGeom>
        </p:spPr>
      </p:pic>
      <p:sp>
        <p:nvSpPr>
          <p:cNvPr id="21" name="stage-0">
            <a:extLst xmlns:a="http://schemas.openxmlformats.org/drawingml/2006/main">
              <a:ext uri="{FF2B5EF4-FFF2-40B4-BE49-F238E27FC236}">
                <a16:creationId xmlns:a16="http://schemas.microsoft.com/office/drawing/2014/main" id="{640F2051-4729-49FF-AFC6-740D9F3A9182}"/>
              </a:ext>
            </a:extLst>
          </p:cNvPr>
          <p:cNvSpPr>
            <a:spLocks xmlns:a="http://schemas.openxmlformats.org/drawingml/2006/main" noGrp="1"/>
          </p:cNvSpPr>
          <p:nvPr/>
        </p:nvSpPr>
        <p:spPr>
          <a:xfrm xmlns:a="http://schemas.openxmlformats.org/drawingml/2006/main">
            <a:off x="1066800" y="6096000"/>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191C"/>
                </a:solidFill>
                <a:latin typeface="Helvetica Neue"/>
                <a:ea typeface="Helvetica Neue"/>
                <a:cs typeface="Helvetica Neue"/>
              </a:defRPr>
            </a:pPr>
            <a:r>
              <a:rPr sz="1950" b="1">
                <a:solidFill>
                  <a:srgbClr val="16191C"/>
                </a:solidFill>
                <a:latin typeface="Helvetica Neue"/>
                <a:ea typeface="Helvetica Neue"/>
                <a:cs typeface="Helvetica Neue"/>
              </a:rPr>
              <a:t>Requirements</a:t>
            </a:r>
          </a:p>
        </p:txBody>
      </p:sp>
      <p:sp>
        <p:nvSpPr>
          <p:cNvPr id="22" name="persona-0">
            <a:extLst xmlns:a="http://schemas.openxmlformats.org/drawingml/2006/main">
              <a:ext uri="{FF2B5EF4-FFF2-40B4-BE49-F238E27FC236}">
                <a16:creationId xmlns:a16="http://schemas.microsoft.com/office/drawing/2014/main" id="{A7ECBFFE-E425-4A81-8531-C351FFB06FB5}"/>
              </a:ext>
            </a:extLst>
          </p:cNvPr>
          <p:cNvSpPr>
            <a:spLocks xmlns:a="http://schemas.openxmlformats.org/drawingml/2006/main" noGrp="1"/>
          </p:cNvSpPr>
          <p:nvPr/>
        </p:nvSpPr>
        <p:spPr>
          <a:xfrm xmlns:a="http://schemas.openxmlformats.org/drawingml/2006/main">
            <a:off x="628650" y="6572250"/>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Engineering</a:t>
            </a:r>
          </a:p>
        </p:txBody>
      </p:sp>
      <p:sp>
        <p:nvSpPr>
          <p:cNvPr id="23" name="duty-0">
            <a:extLst xmlns:a="http://schemas.openxmlformats.org/drawingml/2006/main">
              <a:ext uri="{FF2B5EF4-FFF2-40B4-BE49-F238E27FC236}">
                <a16:creationId xmlns:a16="http://schemas.microsoft.com/office/drawing/2014/main" id="{3CFAC1C0-E13A-4A2B-851B-20448D85372A}"/>
              </a:ext>
            </a:extLst>
          </p:cNvPr>
          <p:cNvSpPr>
            <a:spLocks xmlns:a="http://schemas.openxmlformats.org/drawingml/2006/main" noGrp="1"/>
          </p:cNvSpPr>
          <p:nvPr/>
        </p:nvSpPr>
        <p:spPr>
          <a:xfrm xmlns:a="http://schemas.openxmlformats.org/drawingml/2006/main">
            <a:off x="628650" y="6953250"/>
            <a:ext cx="3105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16B75"/>
                </a:solidFill>
                <a:latin typeface="Helvetica Neue"/>
                <a:ea typeface="Helvetica Neue"/>
                <a:cs typeface="Helvetica Neue"/>
              </a:defRPr>
            </a:pPr>
            <a:r>
              <a:rPr sz="1650" b="0">
                <a:solidFill>
                  <a:srgbClr val="616B75"/>
                </a:solidFill>
                <a:latin typeface="Helvetica Neue"/>
                <a:ea typeface="Helvetica Neue"/>
                <a:cs typeface="Helvetica Neue"/>
              </a:rPr>
              <a:t>Analyzes scope and impact</a:t>
            </a:r>
          </a:p>
        </p:txBody>
      </p:sp>
      <p:sp>
        <p:nvSpPr>
          <p:cNvPr id="24" name="line-5">
            <a:extLst xmlns:a="http://schemas.openxmlformats.org/drawingml/2006/main">
              <a:ext uri="{FF2B5EF4-FFF2-40B4-BE49-F238E27FC236}">
                <a16:creationId xmlns:a16="http://schemas.microsoft.com/office/drawing/2014/main" id="{69247B6F-4344-42EB-BDAC-1F77D3A1E61A}"/>
              </a:ext>
            </a:extLst>
          </p:cNvPr>
          <p:cNvSpPr>
            <a:spLocks xmlns:a="http://schemas.openxmlformats.org/drawingml/2006/main" noGrp="1"/>
          </p:cNvSpPr>
          <p:nvPr/>
        </p:nvSpPr>
        <p:spPr>
          <a:xfrm xmlns:a="http://schemas.openxmlformats.org/drawingml/2006/main" flipV="0">
            <a:off x="3810000" y="6276975"/>
            <a:ext cx="257175" cy="0"/>
          </a:xfrm>
          <a:prstGeom xmlns:a="http://schemas.openxmlformats.org/drawingml/2006/main" prst="line">
            <a:avLst/>
          </a:prstGeom>
          <a:noFill xmlns:a="http://schemas.openxmlformats.org/drawingml/2006/main"/>
          <a:ln xmlns:a="http://schemas.openxmlformats.org/drawingml/2006/main" w="16193">
            <a:solidFill>
              <a:srgbClr val="8A949D"/>
            </a:solidFill>
          </a:ln>
        </p:spPr>
      </p:sp>
      <p:sp>
        <p:nvSpPr>
          <p:cNvPr id="25" name="line-6">
            <a:extLst xmlns:a="http://schemas.openxmlformats.org/drawingml/2006/main">
              <a:ext uri="{FF2B5EF4-FFF2-40B4-BE49-F238E27FC236}">
                <a16:creationId xmlns:a16="http://schemas.microsoft.com/office/drawing/2014/main" id="{8AFB51DC-8E53-4870-8E45-2EA169D446E4}"/>
              </a:ext>
            </a:extLst>
          </p:cNvPr>
          <p:cNvSpPr>
            <a:spLocks xmlns:a="http://schemas.openxmlformats.org/drawingml/2006/main" noGrp="1"/>
          </p:cNvSpPr>
          <p:nvPr/>
        </p:nvSpPr>
        <p:spPr>
          <a:xfrm xmlns:a="http://schemas.openxmlformats.org/drawingml/2006/main" flipV="0">
            <a:off x="4010025" y="6238875"/>
            <a:ext cx="57150" cy="38100"/>
          </a:xfrm>
          <a:prstGeom xmlns:a="http://schemas.openxmlformats.org/drawingml/2006/main" prst="line">
            <a:avLst/>
          </a:prstGeom>
          <a:noFill xmlns:a="http://schemas.openxmlformats.org/drawingml/2006/main"/>
          <a:ln xmlns:a="http://schemas.openxmlformats.org/drawingml/2006/main" w="16193">
            <a:solidFill>
              <a:srgbClr val="8A949D"/>
            </a:solidFill>
          </a:ln>
        </p:spPr>
      </p:sp>
      <p:sp>
        <p:nvSpPr>
          <p:cNvPr id="26" name="line-7">
            <a:extLst xmlns:a="http://schemas.openxmlformats.org/drawingml/2006/main">
              <a:ext uri="{FF2B5EF4-FFF2-40B4-BE49-F238E27FC236}">
                <a16:creationId xmlns:a16="http://schemas.microsoft.com/office/drawing/2014/main" id="{8A665ACE-915C-4314-990B-F36969A001EA}"/>
              </a:ext>
            </a:extLst>
          </p:cNvPr>
          <p:cNvSpPr>
            <a:spLocks xmlns:a="http://schemas.openxmlformats.org/drawingml/2006/main" noGrp="1"/>
          </p:cNvSpPr>
          <p:nvPr/>
        </p:nvSpPr>
        <p:spPr>
          <a:xfrm xmlns:a="http://schemas.openxmlformats.org/drawingml/2006/main" flipV="1">
            <a:off x="4010025" y="6276975"/>
            <a:ext cx="57150" cy="38100"/>
          </a:xfrm>
          <a:prstGeom xmlns:a="http://schemas.openxmlformats.org/drawingml/2006/main" prst="line">
            <a:avLst/>
          </a:prstGeom>
          <a:noFill xmlns:a="http://schemas.openxmlformats.org/drawingml/2006/main"/>
          <a:ln xmlns:a="http://schemas.openxmlformats.org/drawingml/2006/main" w="16193">
            <a:solidFill>
              <a:srgbClr val="8A949D"/>
            </a:solid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4c3f357b0ed74b60"/>
          <a:stretch xmlns:a="http://schemas.openxmlformats.org/drawingml/2006/main"/>
        </p:blipFill>
        <p:spPr>
          <a:xfrm xmlns:a="http://schemas.openxmlformats.org/drawingml/2006/main">
            <a:off x="4210050" y="6105525"/>
            <a:ext cx="323850" cy="323850"/>
          </a:xfrm>
          <a:prstGeom xmlns:a="http://schemas.openxmlformats.org/drawingml/2006/main" prst="rect">
            <a:avLst/>
          </a:prstGeom>
        </p:spPr>
      </p:pic>
      <p:sp>
        <p:nvSpPr>
          <p:cNvPr id="28" name="stage-1">
            <a:extLst xmlns:a="http://schemas.openxmlformats.org/drawingml/2006/main">
              <a:ext uri="{FF2B5EF4-FFF2-40B4-BE49-F238E27FC236}">
                <a16:creationId xmlns:a16="http://schemas.microsoft.com/office/drawing/2014/main" id="{2FBE8BBB-393E-4DFB-A717-1567851DA682}"/>
              </a:ext>
            </a:extLst>
          </p:cNvPr>
          <p:cNvSpPr>
            <a:spLocks xmlns:a="http://schemas.openxmlformats.org/drawingml/2006/main" noGrp="1"/>
          </p:cNvSpPr>
          <p:nvPr/>
        </p:nvSpPr>
        <p:spPr>
          <a:xfrm xmlns:a="http://schemas.openxmlformats.org/drawingml/2006/main">
            <a:off x="4648200" y="6096000"/>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191C"/>
                </a:solidFill>
                <a:latin typeface="Helvetica Neue"/>
                <a:ea typeface="Helvetica Neue"/>
                <a:cs typeface="Helvetica Neue"/>
              </a:defRPr>
            </a:pPr>
            <a:r>
              <a:rPr sz="1950" b="1">
                <a:solidFill>
                  <a:srgbClr val="16191C"/>
                </a:solidFill>
                <a:latin typeface="Helvetica Neue"/>
                <a:ea typeface="Helvetica Neue"/>
                <a:cs typeface="Helvetica Neue"/>
              </a:rPr>
              <a:t>Validation</a:t>
            </a:r>
          </a:p>
        </p:txBody>
      </p:sp>
      <p:sp>
        <p:nvSpPr>
          <p:cNvPr id="29" name="persona-1">
            <a:extLst xmlns:a="http://schemas.openxmlformats.org/drawingml/2006/main">
              <a:ext uri="{FF2B5EF4-FFF2-40B4-BE49-F238E27FC236}">
                <a16:creationId xmlns:a16="http://schemas.microsoft.com/office/drawing/2014/main" id="{1E743DB6-78AD-4A83-8127-7E686CFE8455}"/>
              </a:ext>
            </a:extLst>
          </p:cNvPr>
          <p:cNvSpPr>
            <a:spLocks xmlns:a="http://schemas.openxmlformats.org/drawingml/2006/main" noGrp="1"/>
          </p:cNvSpPr>
          <p:nvPr/>
        </p:nvSpPr>
        <p:spPr>
          <a:xfrm xmlns:a="http://schemas.openxmlformats.org/drawingml/2006/main">
            <a:off x="4210050" y="6572250"/>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Validation lab / Tester</a:t>
            </a:r>
          </a:p>
        </p:txBody>
      </p:sp>
      <p:sp>
        <p:nvSpPr>
          <p:cNvPr id="30" name="duty-1">
            <a:extLst xmlns:a="http://schemas.openxmlformats.org/drawingml/2006/main">
              <a:ext uri="{FF2B5EF4-FFF2-40B4-BE49-F238E27FC236}">
                <a16:creationId xmlns:a16="http://schemas.microsoft.com/office/drawing/2014/main" id="{366D59E9-EE0A-4633-A4D6-051875397D30}"/>
              </a:ext>
            </a:extLst>
          </p:cNvPr>
          <p:cNvSpPr>
            <a:spLocks xmlns:a="http://schemas.openxmlformats.org/drawingml/2006/main" noGrp="1"/>
          </p:cNvSpPr>
          <p:nvPr/>
        </p:nvSpPr>
        <p:spPr>
          <a:xfrm xmlns:a="http://schemas.openxmlformats.org/drawingml/2006/main">
            <a:off x="4210050" y="6953250"/>
            <a:ext cx="3105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16B75"/>
                </a:solidFill>
                <a:latin typeface="Helvetica Neue"/>
                <a:ea typeface="Helvetica Neue"/>
                <a:cs typeface="Helvetica Neue"/>
              </a:defRPr>
            </a:pPr>
            <a:r>
              <a:rPr sz="1650" b="0">
                <a:solidFill>
                  <a:srgbClr val="616B75"/>
                </a:solidFill>
                <a:latin typeface="Helvetica Neue"/>
                <a:ea typeface="Helvetica Neue"/>
                <a:cs typeface="Helvetica Neue"/>
              </a:rPr>
              <a:t>Performs tests and records findings</a:t>
            </a:r>
          </a:p>
        </p:txBody>
      </p:sp>
      <p:sp>
        <p:nvSpPr>
          <p:cNvPr id="31" name="line-9">
            <a:extLst xmlns:a="http://schemas.openxmlformats.org/drawingml/2006/main">
              <a:ext uri="{FF2B5EF4-FFF2-40B4-BE49-F238E27FC236}">
                <a16:creationId xmlns:a16="http://schemas.microsoft.com/office/drawing/2014/main" id="{97511F0F-F16A-4BD8-87FC-A9BD64945C52}"/>
              </a:ext>
            </a:extLst>
          </p:cNvPr>
          <p:cNvSpPr>
            <a:spLocks xmlns:a="http://schemas.openxmlformats.org/drawingml/2006/main" noGrp="1"/>
          </p:cNvSpPr>
          <p:nvPr/>
        </p:nvSpPr>
        <p:spPr>
          <a:xfrm xmlns:a="http://schemas.openxmlformats.org/drawingml/2006/main" flipV="0">
            <a:off x="7391400" y="6276975"/>
            <a:ext cx="257175" cy="0"/>
          </a:xfrm>
          <a:prstGeom xmlns:a="http://schemas.openxmlformats.org/drawingml/2006/main" prst="line">
            <a:avLst/>
          </a:prstGeom>
          <a:noFill xmlns:a="http://schemas.openxmlformats.org/drawingml/2006/main"/>
          <a:ln xmlns:a="http://schemas.openxmlformats.org/drawingml/2006/main" w="16193">
            <a:solidFill>
              <a:srgbClr val="8A949D"/>
            </a:solidFill>
          </a:ln>
        </p:spPr>
      </p:sp>
      <p:sp>
        <p:nvSpPr>
          <p:cNvPr id="32" name="line-10">
            <a:extLst xmlns:a="http://schemas.openxmlformats.org/drawingml/2006/main">
              <a:ext uri="{FF2B5EF4-FFF2-40B4-BE49-F238E27FC236}">
                <a16:creationId xmlns:a16="http://schemas.microsoft.com/office/drawing/2014/main" id="{991D8D6B-D6DC-460E-8C89-1AD211AC6F35}"/>
              </a:ext>
            </a:extLst>
          </p:cNvPr>
          <p:cNvSpPr>
            <a:spLocks xmlns:a="http://schemas.openxmlformats.org/drawingml/2006/main" noGrp="1"/>
          </p:cNvSpPr>
          <p:nvPr/>
        </p:nvSpPr>
        <p:spPr>
          <a:xfrm xmlns:a="http://schemas.openxmlformats.org/drawingml/2006/main" flipV="0">
            <a:off x="7591425" y="6238875"/>
            <a:ext cx="57150" cy="38100"/>
          </a:xfrm>
          <a:prstGeom xmlns:a="http://schemas.openxmlformats.org/drawingml/2006/main" prst="line">
            <a:avLst/>
          </a:prstGeom>
          <a:noFill xmlns:a="http://schemas.openxmlformats.org/drawingml/2006/main"/>
          <a:ln xmlns:a="http://schemas.openxmlformats.org/drawingml/2006/main" w="16193">
            <a:solidFill>
              <a:srgbClr val="8A949D"/>
            </a:solidFill>
          </a:ln>
        </p:spPr>
      </p:sp>
      <p:sp>
        <p:nvSpPr>
          <p:cNvPr id="33" name="line-11">
            <a:extLst xmlns:a="http://schemas.openxmlformats.org/drawingml/2006/main">
              <a:ext uri="{FF2B5EF4-FFF2-40B4-BE49-F238E27FC236}">
                <a16:creationId xmlns:a16="http://schemas.microsoft.com/office/drawing/2014/main" id="{28289773-C1CA-41F2-8B72-D93B73D2E2DE}"/>
              </a:ext>
            </a:extLst>
          </p:cNvPr>
          <p:cNvSpPr>
            <a:spLocks xmlns:a="http://schemas.openxmlformats.org/drawingml/2006/main" noGrp="1"/>
          </p:cNvSpPr>
          <p:nvPr/>
        </p:nvSpPr>
        <p:spPr>
          <a:xfrm xmlns:a="http://schemas.openxmlformats.org/drawingml/2006/main" flipV="1">
            <a:off x="7591425" y="6276975"/>
            <a:ext cx="57150" cy="38100"/>
          </a:xfrm>
          <a:prstGeom xmlns:a="http://schemas.openxmlformats.org/drawingml/2006/main" prst="line">
            <a:avLst/>
          </a:prstGeom>
          <a:noFill xmlns:a="http://schemas.openxmlformats.org/drawingml/2006/main"/>
          <a:ln xmlns:a="http://schemas.openxmlformats.org/drawingml/2006/main" w="16193">
            <a:solidFill>
              <a:srgbClr val="8A949D"/>
            </a:solidFill>
          </a:ln>
        </p:spPr>
      </p:sp>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34384415e36042b4"/>
          <a:stretch xmlns:a="http://schemas.openxmlformats.org/drawingml/2006/main"/>
        </p:blipFill>
        <p:spPr>
          <a:xfrm xmlns:a="http://schemas.openxmlformats.org/drawingml/2006/main">
            <a:off x="7791450" y="6105525"/>
            <a:ext cx="323850" cy="323850"/>
          </a:xfrm>
          <a:prstGeom xmlns:a="http://schemas.openxmlformats.org/drawingml/2006/main" prst="rect">
            <a:avLst/>
          </a:prstGeom>
        </p:spPr>
      </p:pic>
      <p:sp>
        <p:nvSpPr>
          <p:cNvPr id="35" name="stage-2">
            <a:extLst xmlns:a="http://schemas.openxmlformats.org/drawingml/2006/main">
              <a:ext uri="{FF2B5EF4-FFF2-40B4-BE49-F238E27FC236}">
                <a16:creationId xmlns:a16="http://schemas.microsoft.com/office/drawing/2014/main" id="{9F876833-FB67-4C5E-90C0-6EF3B65C9F6F}"/>
              </a:ext>
            </a:extLst>
          </p:cNvPr>
          <p:cNvSpPr>
            <a:spLocks xmlns:a="http://schemas.openxmlformats.org/drawingml/2006/main" noGrp="1"/>
          </p:cNvSpPr>
          <p:nvPr/>
        </p:nvSpPr>
        <p:spPr>
          <a:xfrm xmlns:a="http://schemas.openxmlformats.org/drawingml/2006/main">
            <a:off x="8229600" y="6096000"/>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191C"/>
                </a:solidFill>
                <a:latin typeface="Helvetica Neue"/>
                <a:ea typeface="Helvetica Neue"/>
                <a:cs typeface="Helvetica Neue"/>
              </a:defRPr>
            </a:pPr>
            <a:r>
              <a:rPr sz="1950" b="1">
                <a:solidFill>
                  <a:srgbClr val="16191C"/>
                </a:solidFill>
                <a:latin typeface="Helvetica Neue"/>
                <a:ea typeface="Helvetica Neue"/>
                <a:cs typeface="Helvetica Neue"/>
              </a:rPr>
              <a:t>Quality and supply</a:t>
            </a:r>
          </a:p>
        </p:txBody>
      </p:sp>
      <p:sp>
        <p:nvSpPr>
          <p:cNvPr id="36" name="persona-2">
            <a:extLst xmlns:a="http://schemas.openxmlformats.org/drawingml/2006/main">
              <a:ext uri="{FF2B5EF4-FFF2-40B4-BE49-F238E27FC236}">
                <a16:creationId xmlns:a16="http://schemas.microsoft.com/office/drawing/2014/main" id="{175B5596-B812-4F56-BAD1-ACAB25459C9C}"/>
              </a:ext>
            </a:extLst>
          </p:cNvPr>
          <p:cNvSpPr>
            <a:spLocks xmlns:a="http://schemas.openxmlformats.org/drawingml/2006/main" noGrp="1"/>
          </p:cNvSpPr>
          <p:nvPr/>
        </p:nvSpPr>
        <p:spPr>
          <a:xfrm xmlns:a="http://schemas.openxmlformats.org/drawingml/2006/main">
            <a:off x="7791450" y="6572250"/>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Manufacturing</a:t>
            </a:r>
          </a:p>
        </p:txBody>
      </p:sp>
      <p:sp>
        <p:nvSpPr>
          <p:cNvPr id="37" name="duty-2">
            <a:extLst xmlns:a="http://schemas.openxmlformats.org/drawingml/2006/main">
              <a:ext uri="{FF2B5EF4-FFF2-40B4-BE49-F238E27FC236}">
                <a16:creationId xmlns:a16="http://schemas.microsoft.com/office/drawing/2014/main" id="{DE3F7FEC-0502-4F55-ADD3-66EFAE40EB48}"/>
              </a:ext>
            </a:extLst>
          </p:cNvPr>
          <p:cNvSpPr>
            <a:spLocks xmlns:a="http://schemas.openxmlformats.org/drawingml/2006/main" noGrp="1"/>
          </p:cNvSpPr>
          <p:nvPr/>
        </p:nvSpPr>
        <p:spPr>
          <a:xfrm xmlns:a="http://schemas.openxmlformats.org/drawingml/2006/main">
            <a:off x="7791450" y="6953250"/>
            <a:ext cx="3105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16B75"/>
                </a:solidFill>
                <a:latin typeface="Helvetica Neue"/>
                <a:ea typeface="Helvetica Neue"/>
                <a:cs typeface="Helvetica Neue"/>
              </a:defRPr>
            </a:pPr>
            <a:r>
              <a:rPr sz="1650" b="0">
                <a:solidFill>
                  <a:srgbClr val="616B75"/>
                </a:solidFill>
                <a:latin typeface="Helvetica Neue"/>
                <a:ea typeface="Helvetica Neue"/>
                <a:cs typeface="Helvetica Neue"/>
              </a:rPr>
              <a:t>Assesses yield, holds, and materials</a:t>
            </a:r>
          </a:p>
        </p:txBody>
      </p:sp>
      <p:sp>
        <p:nvSpPr>
          <p:cNvPr id="38" name="line-13">
            <a:extLst xmlns:a="http://schemas.openxmlformats.org/drawingml/2006/main">
              <a:ext uri="{FF2B5EF4-FFF2-40B4-BE49-F238E27FC236}">
                <a16:creationId xmlns:a16="http://schemas.microsoft.com/office/drawing/2014/main" id="{B46B5092-C81C-4B22-92AA-0ABDCFDA6193}"/>
              </a:ext>
            </a:extLst>
          </p:cNvPr>
          <p:cNvSpPr>
            <a:spLocks xmlns:a="http://schemas.openxmlformats.org/drawingml/2006/main" noGrp="1"/>
          </p:cNvSpPr>
          <p:nvPr/>
        </p:nvSpPr>
        <p:spPr>
          <a:xfrm xmlns:a="http://schemas.openxmlformats.org/drawingml/2006/main" flipV="0">
            <a:off x="10972800" y="6276975"/>
            <a:ext cx="257175" cy="0"/>
          </a:xfrm>
          <a:prstGeom xmlns:a="http://schemas.openxmlformats.org/drawingml/2006/main" prst="line">
            <a:avLst/>
          </a:prstGeom>
          <a:noFill xmlns:a="http://schemas.openxmlformats.org/drawingml/2006/main"/>
          <a:ln xmlns:a="http://schemas.openxmlformats.org/drawingml/2006/main" w="16193">
            <a:solidFill>
              <a:srgbClr val="8A949D"/>
            </a:solidFill>
          </a:ln>
        </p:spPr>
      </p:sp>
      <p:sp>
        <p:nvSpPr>
          <p:cNvPr id="39" name="line-14">
            <a:extLst xmlns:a="http://schemas.openxmlformats.org/drawingml/2006/main">
              <a:ext uri="{FF2B5EF4-FFF2-40B4-BE49-F238E27FC236}">
                <a16:creationId xmlns:a16="http://schemas.microsoft.com/office/drawing/2014/main" id="{6CE12F4F-6947-48EE-974E-54D7F3588AAA}"/>
              </a:ext>
            </a:extLst>
          </p:cNvPr>
          <p:cNvSpPr>
            <a:spLocks xmlns:a="http://schemas.openxmlformats.org/drawingml/2006/main" noGrp="1"/>
          </p:cNvSpPr>
          <p:nvPr/>
        </p:nvSpPr>
        <p:spPr>
          <a:xfrm xmlns:a="http://schemas.openxmlformats.org/drawingml/2006/main" flipV="0">
            <a:off x="11172825" y="6238875"/>
            <a:ext cx="57150" cy="38100"/>
          </a:xfrm>
          <a:prstGeom xmlns:a="http://schemas.openxmlformats.org/drawingml/2006/main" prst="line">
            <a:avLst/>
          </a:prstGeom>
          <a:noFill xmlns:a="http://schemas.openxmlformats.org/drawingml/2006/main"/>
          <a:ln xmlns:a="http://schemas.openxmlformats.org/drawingml/2006/main" w="16193">
            <a:solidFill>
              <a:srgbClr val="8A949D"/>
            </a:solidFill>
          </a:ln>
        </p:spPr>
      </p:sp>
      <p:sp>
        <p:nvSpPr>
          <p:cNvPr id="40" name="line-15">
            <a:extLst xmlns:a="http://schemas.openxmlformats.org/drawingml/2006/main">
              <a:ext uri="{FF2B5EF4-FFF2-40B4-BE49-F238E27FC236}">
                <a16:creationId xmlns:a16="http://schemas.microsoft.com/office/drawing/2014/main" id="{BF0F7B1E-B57D-4005-A746-79C5D4A2186A}"/>
              </a:ext>
            </a:extLst>
          </p:cNvPr>
          <p:cNvSpPr>
            <a:spLocks xmlns:a="http://schemas.openxmlformats.org/drawingml/2006/main" noGrp="1"/>
          </p:cNvSpPr>
          <p:nvPr/>
        </p:nvSpPr>
        <p:spPr>
          <a:xfrm xmlns:a="http://schemas.openxmlformats.org/drawingml/2006/main" flipV="1">
            <a:off x="11172825" y="6276975"/>
            <a:ext cx="57150" cy="38100"/>
          </a:xfrm>
          <a:prstGeom xmlns:a="http://schemas.openxmlformats.org/drawingml/2006/main" prst="line">
            <a:avLst/>
          </a:prstGeom>
          <a:noFill xmlns:a="http://schemas.openxmlformats.org/drawingml/2006/main"/>
          <a:ln xmlns:a="http://schemas.openxmlformats.org/drawingml/2006/main" w="16193">
            <a:solidFill>
              <a:srgbClr val="8A949D"/>
            </a:solidFill>
          </a:ln>
        </p:spPr>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b00c4ddc70f34e45"/>
          <a:stretch xmlns:a="http://schemas.openxmlformats.org/drawingml/2006/main"/>
        </p:blipFill>
        <p:spPr>
          <a:xfrm xmlns:a="http://schemas.openxmlformats.org/drawingml/2006/main">
            <a:off x="11372850" y="6105525"/>
            <a:ext cx="323850" cy="323850"/>
          </a:xfrm>
          <a:prstGeom xmlns:a="http://schemas.openxmlformats.org/drawingml/2006/main" prst="rect">
            <a:avLst/>
          </a:prstGeom>
        </p:spPr>
      </p:pic>
      <p:sp>
        <p:nvSpPr>
          <p:cNvPr id="42" name="stage-3">
            <a:extLst xmlns:a="http://schemas.openxmlformats.org/drawingml/2006/main">
              <a:ext uri="{FF2B5EF4-FFF2-40B4-BE49-F238E27FC236}">
                <a16:creationId xmlns:a16="http://schemas.microsoft.com/office/drawing/2014/main" id="{D14F2758-602B-4CAE-99E0-750F0A507263}"/>
              </a:ext>
            </a:extLst>
          </p:cNvPr>
          <p:cNvSpPr>
            <a:spLocks xmlns:a="http://schemas.openxmlformats.org/drawingml/2006/main" noGrp="1"/>
          </p:cNvSpPr>
          <p:nvPr/>
        </p:nvSpPr>
        <p:spPr>
          <a:xfrm xmlns:a="http://schemas.openxmlformats.org/drawingml/2006/main">
            <a:off x="11811000" y="6096000"/>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191C"/>
                </a:solidFill>
                <a:latin typeface="Helvetica Neue"/>
                <a:ea typeface="Helvetica Neue"/>
                <a:cs typeface="Helvetica Neue"/>
              </a:defRPr>
            </a:pPr>
            <a:r>
              <a:rPr sz="1950" b="1">
                <a:solidFill>
                  <a:srgbClr val="16191C"/>
                </a:solidFill>
                <a:latin typeface="Helvetica Neue"/>
                <a:ea typeface="Helvetica Neue"/>
                <a:cs typeface="Helvetica Neue"/>
              </a:rPr>
              <a:t>Delivery</a:t>
            </a:r>
          </a:p>
        </p:txBody>
      </p:sp>
      <p:sp>
        <p:nvSpPr>
          <p:cNvPr id="43" name="persona-3">
            <a:extLst xmlns:a="http://schemas.openxmlformats.org/drawingml/2006/main">
              <a:ext uri="{FF2B5EF4-FFF2-40B4-BE49-F238E27FC236}">
                <a16:creationId xmlns:a16="http://schemas.microsoft.com/office/drawing/2014/main" id="{FE570E87-79BD-433A-92A3-0B450B5D3BE6}"/>
              </a:ext>
            </a:extLst>
          </p:cNvPr>
          <p:cNvSpPr>
            <a:spLocks xmlns:a="http://schemas.openxmlformats.org/drawingml/2006/main" noGrp="1"/>
          </p:cNvSpPr>
          <p:nvPr/>
        </p:nvSpPr>
        <p:spPr>
          <a:xfrm xmlns:a="http://schemas.openxmlformats.org/drawingml/2006/main">
            <a:off x="11372850" y="6572250"/>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Commercial</a:t>
            </a:r>
          </a:p>
        </p:txBody>
      </p:sp>
      <p:sp>
        <p:nvSpPr>
          <p:cNvPr id="44" name="duty-3">
            <a:extLst xmlns:a="http://schemas.openxmlformats.org/drawingml/2006/main">
              <a:ext uri="{FF2B5EF4-FFF2-40B4-BE49-F238E27FC236}">
                <a16:creationId xmlns:a16="http://schemas.microsoft.com/office/drawing/2014/main" id="{D2316364-F5B8-4308-BEE4-D23F1CC86E8D}"/>
              </a:ext>
            </a:extLst>
          </p:cNvPr>
          <p:cNvSpPr>
            <a:spLocks xmlns:a="http://schemas.openxmlformats.org/drawingml/2006/main" noGrp="1"/>
          </p:cNvSpPr>
          <p:nvPr/>
        </p:nvSpPr>
        <p:spPr>
          <a:xfrm xmlns:a="http://schemas.openxmlformats.org/drawingml/2006/main">
            <a:off x="11372850" y="6953250"/>
            <a:ext cx="3105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16B75"/>
                </a:solidFill>
                <a:latin typeface="Helvetica Neue"/>
                <a:ea typeface="Helvetica Neue"/>
                <a:cs typeface="Helvetica Neue"/>
              </a:defRPr>
            </a:pPr>
            <a:r>
              <a:rPr sz="1650" b="0">
                <a:solidFill>
                  <a:srgbClr val="616B75"/>
                </a:solidFill>
                <a:latin typeface="Helvetica Neue"/>
                <a:ea typeface="Helvetica Neue"/>
                <a:cs typeface="Helvetica Neue"/>
              </a:rPr>
              <a:t>Maintains orders and commitments</a:t>
            </a:r>
          </a:p>
        </p:txBody>
      </p:sp>
      <p:sp>
        <p:nvSpPr>
          <p:cNvPr id="45" name="line-17">
            <a:extLst xmlns:a="http://schemas.openxmlformats.org/drawingml/2006/main">
              <a:ext uri="{FF2B5EF4-FFF2-40B4-BE49-F238E27FC236}">
                <a16:creationId xmlns:a16="http://schemas.microsoft.com/office/drawing/2014/main" id="{7A18E09F-8A7A-4D83-92D6-B450F62EC84B}"/>
              </a:ext>
            </a:extLst>
          </p:cNvPr>
          <p:cNvSpPr>
            <a:spLocks xmlns:a="http://schemas.openxmlformats.org/drawingml/2006/main" noGrp="1"/>
          </p:cNvSpPr>
          <p:nvPr/>
        </p:nvSpPr>
        <p:spPr>
          <a:xfrm xmlns:a="http://schemas.openxmlformats.org/drawingml/2006/main" flipV="0">
            <a:off x="628650" y="7591425"/>
            <a:ext cx="139827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46" name="approver-role">
            <a:extLst xmlns:a="http://schemas.openxmlformats.org/drawingml/2006/main">
              <a:ext uri="{FF2B5EF4-FFF2-40B4-BE49-F238E27FC236}">
                <a16:creationId xmlns:a16="http://schemas.microsoft.com/office/drawing/2014/main" id="{4B753617-BE73-4B78-98D8-AEEE1054E32C}"/>
              </a:ext>
            </a:extLst>
          </p:cNvPr>
          <p:cNvSpPr>
            <a:spLocks xmlns:a="http://schemas.openxmlformats.org/drawingml/2006/main" noGrp="1"/>
          </p:cNvSpPr>
          <p:nvPr/>
        </p:nvSpPr>
        <p:spPr>
          <a:xfrm xmlns:a="http://schemas.openxmlformats.org/drawingml/2006/main">
            <a:off x="628650" y="77247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6191C"/>
                </a:solidFill>
                <a:latin typeface="Helvetica Neue"/>
                <a:ea typeface="Helvetica Neue"/>
                <a:cs typeface="Helvetica Neue"/>
              </a:defRPr>
            </a:pPr>
            <a:r>
              <a:rPr sz="1650" b="1">
                <a:solidFill>
                  <a:srgbClr val="16191C"/>
                </a:solidFill>
                <a:latin typeface="Helvetica Neue"/>
                <a:ea typeface="Helvetica Neue"/>
                <a:cs typeface="Helvetica Neue"/>
              </a:rPr>
              <a:t>Engineering approver</a:t>
            </a:r>
          </a:p>
        </p:txBody>
      </p:sp>
      <p:sp>
        <p:nvSpPr>
          <p:cNvPr id="47" name="approver-duty">
            <a:extLst xmlns:a="http://schemas.openxmlformats.org/drawingml/2006/main">
              <a:ext uri="{FF2B5EF4-FFF2-40B4-BE49-F238E27FC236}">
                <a16:creationId xmlns:a16="http://schemas.microsoft.com/office/drawing/2014/main" id="{6F37D409-81DF-479F-83DA-2E8B933B9EF3}"/>
              </a:ext>
            </a:extLst>
          </p:cNvPr>
          <p:cNvSpPr>
            <a:spLocks xmlns:a="http://schemas.openxmlformats.org/drawingml/2006/main" noGrp="1"/>
          </p:cNvSpPr>
          <p:nvPr/>
        </p:nvSpPr>
        <p:spPr>
          <a:xfrm xmlns:a="http://schemas.openxmlformats.org/drawingml/2006/main">
            <a:off x="3400425" y="77343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Signs off plans and evidence</a:t>
            </a:r>
          </a:p>
        </p:txBody>
      </p:sp>
      <p:sp>
        <p:nvSpPr>
          <p:cNvPr id="48" name="owner-role">
            <a:extLst xmlns:a="http://schemas.openxmlformats.org/drawingml/2006/main">
              <a:ext uri="{FF2B5EF4-FFF2-40B4-BE49-F238E27FC236}">
                <a16:creationId xmlns:a16="http://schemas.microsoft.com/office/drawing/2014/main" id="{7D79E85F-C789-49E3-A180-8308046C31D8}"/>
              </a:ext>
            </a:extLst>
          </p:cNvPr>
          <p:cNvSpPr>
            <a:spLocks xmlns:a="http://schemas.openxmlformats.org/drawingml/2006/main" noGrp="1"/>
          </p:cNvSpPr>
          <p:nvPr/>
        </p:nvSpPr>
        <p:spPr>
          <a:xfrm xmlns:a="http://schemas.openxmlformats.org/drawingml/2006/main">
            <a:off x="8191500" y="772477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6191C"/>
                </a:solidFill>
                <a:latin typeface="Helvetica Neue"/>
                <a:ea typeface="Helvetica Neue"/>
                <a:cs typeface="Helvetica Neue"/>
              </a:defRPr>
            </a:pPr>
            <a:r>
              <a:rPr sz="1650" b="1">
                <a:solidFill>
                  <a:srgbClr val="16191C"/>
                </a:solidFill>
                <a:latin typeface="Helvetica Neue"/>
                <a:ea typeface="Helvetica Neue"/>
                <a:cs typeface="Helvetica Neue"/>
              </a:rPr>
              <a:t>Program Owner</a:t>
            </a:r>
          </a:p>
        </p:txBody>
      </p:sp>
      <p:sp>
        <p:nvSpPr>
          <p:cNvPr id="49" name="owner-duty">
            <a:extLst xmlns:a="http://schemas.openxmlformats.org/drawingml/2006/main">
              <a:ext uri="{FF2B5EF4-FFF2-40B4-BE49-F238E27FC236}">
                <a16:creationId xmlns:a16="http://schemas.microsoft.com/office/drawing/2014/main" id="{BB33A5FC-4682-4031-9558-D0AA636143E1}"/>
              </a:ext>
            </a:extLst>
          </p:cNvPr>
          <p:cNvSpPr>
            <a:spLocks xmlns:a="http://schemas.openxmlformats.org/drawingml/2006/main" noGrp="1"/>
          </p:cNvSpPr>
          <p:nvPr/>
        </p:nvSpPr>
        <p:spPr>
          <a:xfrm xmlns:a="http://schemas.openxmlformats.org/drawingml/2006/main">
            <a:off x="10420350" y="7734300"/>
            <a:ext cx="4029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Approves recovery and delivery</a:t>
            </a:r>
          </a:p>
        </p:txBody>
      </p:sp>
      <p:sp>
        <p:nvSpPr>
          <p:cNvPr id="50" name="footnote-1">
            <a:extLst xmlns:a="http://schemas.openxmlformats.org/drawingml/2006/main">
              <a:ext uri="{FF2B5EF4-FFF2-40B4-BE49-F238E27FC236}">
                <a16:creationId xmlns:a16="http://schemas.microsoft.com/office/drawing/2014/main" id="{0CA69362-AD8C-447F-963A-5720242C1480}"/>
              </a:ext>
            </a:extLst>
          </p:cNvPr>
          <p:cNvSpPr>
            <a:spLocks xmlns:a="http://schemas.openxmlformats.org/drawingml/2006/main" noGrp="1"/>
          </p:cNvSpPr>
          <p:nvPr/>
        </p:nvSpPr>
        <p:spPr>
          <a:xfrm xmlns:a="http://schemas.openxmlformats.org/drawingml/2006/main">
            <a:off x="628650" y="8201025"/>
            <a:ext cx="1323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8A949D"/>
                </a:solidFill>
                <a:latin typeface="Helvetica Neue"/>
                <a:ea typeface="Helvetica Neue"/>
                <a:cs typeface="Helvetica Neue"/>
              </a:defRPr>
            </a:pPr>
            <a:r>
              <a:rPr sz="1050" b="0">
                <a:solidFill>
                  <a:srgbClr val="8A949D"/>
                </a:solidFill>
                <a:latin typeface="Helvetica Neue"/>
                <a:ea typeface="Helvetica Neue"/>
                <a:cs typeface="Helvetica Neue"/>
              </a:rPr>
              <a:t>¹ Gartner, Aug 2026. Industry market, not software TAM.  ² Synthetic exposure examples; assumptions in notes.</a:t>
            </a:r>
          </a:p>
        </p:txBody>
      </p:sp>
    </p:spTree>
    <p:extLst>
      <p:ext uri="{BB962C8B-B14F-4D97-AF65-F5344CB8AC3E}">
        <p14:creationId xmlns:p14="http://schemas.microsoft.com/office/powerpoint/2010/main" val="13914013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 name="title">
            <a:extLst xmlns:a="http://schemas.openxmlformats.org/drawingml/2006/main">
              <a:ext uri="{FF2B5EF4-FFF2-40B4-BE49-F238E27FC236}">
                <a16:creationId xmlns:a16="http://schemas.microsoft.com/office/drawing/2014/main" id="{2BA068DA-BBE2-47EC-9630-CB589096EDC5}"/>
              </a:ext>
            </a:extLst>
          </p:cNvPr>
          <p:cNvSpPr>
            <a:spLocks xmlns:a="http://schemas.openxmlformats.org/drawingml/2006/main" noGrp="1"/>
          </p:cNvSpPr>
          <p:nvPr/>
        </p:nvSpPr>
        <p:spPr>
          <a:xfrm xmlns:a="http://schemas.openxmlformats.org/drawingml/2006/main">
            <a:off x="609600" y="428625"/>
            <a:ext cx="1402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6191C"/>
                </a:solidFill>
                <a:latin typeface="Helvetica Neue"/>
                <a:ea typeface="Helvetica Neue"/>
                <a:cs typeface="Helvetica Neue"/>
              </a:defRPr>
            </a:pPr>
            <a:r>
              <a:rPr sz="3525" b="1">
                <a:solidFill>
                  <a:srgbClr val="16191C"/>
                </a:solidFill>
                <a:latin typeface="Helvetica Neue"/>
                <a:ea typeface="Helvetica Neue"/>
                <a:cs typeface="Helvetica Neue"/>
              </a:rPr>
              <a:t>The solution architecture</a:t>
            </a:r>
          </a:p>
        </p:txBody>
      </p:sp>
      <p:sp>
        <p:nvSpPr>
          <p:cNvPr id="2" name="subtitle">
            <a:extLst xmlns:a="http://schemas.openxmlformats.org/drawingml/2006/main">
              <a:ext uri="{FF2B5EF4-FFF2-40B4-BE49-F238E27FC236}">
                <a16:creationId xmlns:a16="http://schemas.microsoft.com/office/drawing/2014/main" id="{A640CAD6-FD67-4B4E-96A8-5E9477F1E14C}"/>
              </a:ext>
            </a:extLst>
          </p:cNvPr>
          <p:cNvSpPr>
            <a:spLocks xmlns:a="http://schemas.openxmlformats.org/drawingml/2006/main" noGrp="1"/>
          </p:cNvSpPr>
          <p:nvPr/>
        </p:nvSpPr>
        <p:spPr>
          <a:xfrm xmlns:a="http://schemas.openxmlformats.org/drawingml/2006/main">
            <a:off x="628650" y="1143000"/>
            <a:ext cx="1381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16B75"/>
                </a:solidFill>
                <a:latin typeface="Helvetica Neue"/>
                <a:ea typeface="Helvetica Neue"/>
                <a:cs typeface="Helvetica Neue"/>
              </a:defRPr>
            </a:pPr>
            <a:r>
              <a:rPr sz="1800" b="0">
                <a:solidFill>
                  <a:srgbClr val="616B75"/>
                </a:solidFill>
                <a:latin typeface="Helvetica Neue"/>
                <a:ea typeface="Helvetica Neue"/>
                <a:cs typeface="Helvetica Neue"/>
              </a:rPr>
              <a:t>One Stratos workspace, a coordinator and four specialists, connected to five source systems</a:t>
            </a:r>
          </a:p>
        </p:txBody>
      </p:sp>
      <p:sp>
        <p:nvSpPr>
          <p:cNvPr id="3" name="system-boundary">
            <a:extLst xmlns:a="http://schemas.openxmlformats.org/drawingml/2006/main">
              <a:ext uri="{FF2B5EF4-FFF2-40B4-BE49-F238E27FC236}">
                <a16:creationId xmlns:a16="http://schemas.microsoft.com/office/drawing/2014/main" id="{57905008-52B5-41DB-BFDC-AE1DCE1ED3F1}"/>
              </a:ext>
            </a:extLst>
          </p:cNvPr>
          <p:cNvSpPr>
            <a:spLocks xmlns:a="http://schemas.openxmlformats.org/drawingml/2006/main" noGrp="1"/>
          </p:cNvSpPr>
          <p:nvPr/>
        </p:nvSpPr>
        <p:spPr>
          <a:xfrm xmlns:a="http://schemas.openxmlformats.org/drawingml/2006/main">
            <a:off x="609600" y="1743075"/>
            <a:ext cx="14020800" cy="5372100"/>
          </a:xfrm>
          <a:prstGeom xmlns:a="http://schemas.openxmlformats.org/drawingml/2006/main" prst="roundRect">
            <a:avLst>
              <a:gd name="adj" fmla="val 2482"/>
            </a:avLst>
          </a:prstGeom>
          <a:solidFill xmlns:a="http://schemas.openxmlformats.org/drawingml/2006/main">
            <a:srgbClr val="F7F9FB"/>
          </a:solidFill>
          <a:ln xmlns:a="http://schemas.openxmlformats.org/drawingml/2006/main" w="12383">
            <a:solidFill>
              <a:srgbClr val="D9E0E6"/>
            </a:solidFill>
          </a:ln>
        </p:spPr>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6cd798330ff3434c"/>
          <a:stretch xmlns:a="http://schemas.openxmlformats.org/drawingml/2006/main"/>
        </p:blipFill>
        <p:spPr>
          <a:xfrm xmlns:a="http://schemas.openxmlformats.org/drawingml/2006/main">
            <a:off x="800100" y="1885950"/>
            <a:ext cx="247650" cy="247650"/>
          </a:xfrm>
          <a:prstGeom xmlns:a="http://schemas.openxmlformats.org/drawingml/2006/main" prst="rect">
            <a:avLst/>
          </a:prstGeom>
        </p:spPr>
      </p:pic>
      <p:sp>
        <p:nvSpPr>
          <p:cNvPr id="5" name="system-name">
            <a:extLst xmlns:a="http://schemas.openxmlformats.org/drawingml/2006/main">
              <a:ext uri="{FF2B5EF4-FFF2-40B4-BE49-F238E27FC236}">
                <a16:creationId xmlns:a16="http://schemas.microsoft.com/office/drawing/2014/main" id="{0E4396DA-64DB-494B-A789-A34C48EF5DFB}"/>
              </a:ext>
            </a:extLst>
          </p:cNvPr>
          <p:cNvSpPr>
            <a:spLocks xmlns:a="http://schemas.openxmlformats.org/drawingml/2006/main" noGrp="1"/>
          </p:cNvSpPr>
          <p:nvPr/>
        </p:nvSpPr>
        <p:spPr>
          <a:xfrm xmlns:a="http://schemas.openxmlformats.org/drawingml/2006/main">
            <a:off x="1171575" y="1866900"/>
            <a:ext cx="495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6191C"/>
                </a:solidFill>
                <a:latin typeface="Helvetica Neue"/>
                <a:ea typeface="Helvetica Neue"/>
                <a:cs typeface="Helvetica Neue"/>
              </a:defRPr>
            </a:pPr>
            <a:r>
              <a:rPr sz="1950" b="1">
                <a:solidFill>
                  <a:srgbClr val="16191C"/>
                </a:solidFill>
                <a:latin typeface="Helvetica Neue"/>
                <a:ea typeface="Helvetica Neue"/>
                <a:cs typeface="Helvetica Neue"/>
              </a:rPr>
              <a:t>Stratos agentic system</a:t>
            </a:r>
          </a:p>
        </p:txBody>
      </p:sp>
      <p:sp>
        <p:nvSpPr>
          <p:cNvPr id="6" name="runtime-surface">
            <a:extLst xmlns:a="http://schemas.openxmlformats.org/drawingml/2006/main">
              <a:ext uri="{FF2B5EF4-FFF2-40B4-BE49-F238E27FC236}">
                <a16:creationId xmlns:a16="http://schemas.microsoft.com/office/drawing/2014/main" id="{F27D332C-240E-435D-994C-073D7C0126E3}"/>
              </a:ext>
            </a:extLst>
          </p:cNvPr>
          <p:cNvSpPr>
            <a:spLocks xmlns:a="http://schemas.openxmlformats.org/drawingml/2006/main" noGrp="1"/>
          </p:cNvSpPr>
          <p:nvPr/>
        </p:nvSpPr>
        <p:spPr>
          <a:xfrm xmlns:a="http://schemas.openxmlformats.org/drawingml/2006/main">
            <a:off x="10620375" y="1885950"/>
            <a:ext cx="3762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OpenAI Platform &amp; APIs</a:t>
            </a:r>
          </a:p>
        </p:txBody>
      </p:sp>
      <p:sp>
        <p:nvSpPr>
          <p:cNvPr id="7" name="development-tool">
            <a:extLst xmlns:a="http://schemas.openxmlformats.org/drawingml/2006/main">
              <a:ext uri="{FF2B5EF4-FFF2-40B4-BE49-F238E27FC236}">
                <a16:creationId xmlns:a16="http://schemas.microsoft.com/office/drawing/2014/main" id="{2F55EE3E-480E-48C3-B2BD-2C57CAFF408A}"/>
              </a:ext>
            </a:extLst>
          </p:cNvPr>
          <p:cNvSpPr>
            <a:spLocks xmlns:a="http://schemas.openxmlformats.org/drawingml/2006/main" noGrp="1"/>
          </p:cNvSpPr>
          <p:nvPr/>
        </p:nvSpPr>
        <p:spPr>
          <a:xfrm xmlns:a="http://schemas.openxmlformats.org/drawingml/2006/main">
            <a:off x="11287125" y="2162175"/>
            <a:ext cx="30861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616B75"/>
                </a:solidFill>
                <a:latin typeface="Helvetica Neue"/>
                <a:ea typeface="Helvetica Neue"/>
                <a:cs typeface="Helvetica Neue"/>
              </a:defRPr>
            </a:pPr>
            <a:r>
              <a:rPr sz="1050" b="0">
                <a:solidFill>
                  <a:srgbClr val="616B75"/>
                </a:solidFill>
                <a:latin typeface="Helvetica Neue"/>
                <a:ea typeface="Helvetica Neue"/>
                <a:cs typeface="Helvetica Neue"/>
              </a:rPr>
              <a:t>Developed with Codex</a:t>
            </a:r>
          </a:p>
        </p:txBody>
      </p:sp>
      <p:sp>
        <p:nvSpPr>
          <p:cNvPr id="8" name="frontend">
            <a:extLst xmlns:a="http://schemas.openxmlformats.org/drawingml/2006/main">
              <a:ext uri="{FF2B5EF4-FFF2-40B4-BE49-F238E27FC236}">
                <a16:creationId xmlns:a16="http://schemas.microsoft.com/office/drawing/2014/main" id="{3AE4533F-3D27-407C-AB4F-53EB8176B4D5}"/>
              </a:ext>
            </a:extLst>
          </p:cNvPr>
          <p:cNvSpPr>
            <a:spLocks xmlns:a="http://schemas.openxmlformats.org/drawingml/2006/main" noGrp="1"/>
          </p:cNvSpPr>
          <p:nvPr/>
        </p:nvSpPr>
        <p:spPr>
          <a:xfrm xmlns:a="http://schemas.openxmlformats.org/drawingml/2006/main">
            <a:off x="800100" y="2324100"/>
            <a:ext cx="13639800" cy="6667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2383">
            <a:solidFill>
              <a:srgbClr val="D9E0E6"/>
            </a:solidFill>
          </a:ln>
        </p:spPr>
      </p:sp>
      <p:sp>
        <p:nvSpPr>
          <p:cNvPr id="9" name="frontend-title">
            <a:extLst xmlns:a="http://schemas.openxmlformats.org/drawingml/2006/main">
              <a:ext uri="{FF2B5EF4-FFF2-40B4-BE49-F238E27FC236}">
                <a16:creationId xmlns:a16="http://schemas.microsoft.com/office/drawing/2014/main" id="{B7A4132D-8894-41AD-A040-B1875E266C87}"/>
              </a:ext>
            </a:extLst>
          </p:cNvPr>
          <p:cNvSpPr>
            <a:spLocks xmlns:a="http://schemas.openxmlformats.org/drawingml/2006/main" noGrp="1"/>
          </p:cNvSpPr>
          <p:nvPr/>
        </p:nvSpPr>
        <p:spPr>
          <a:xfrm xmlns:a="http://schemas.openxmlformats.org/drawingml/2006/main">
            <a:off x="1019175" y="2419350"/>
            <a:ext cx="2505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6191C"/>
                </a:solidFill>
                <a:latin typeface="Helvetica Neue"/>
                <a:ea typeface="Helvetica Neue"/>
                <a:cs typeface="Helvetica Neue"/>
              </a:defRPr>
            </a:pPr>
            <a:r>
              <a:rPr sz="1800" b="1">
                <a:solidFill>
                  <a:srgbClr val="16191C"/>
                </a:solidFill>
                <a:latin typeface="Helvetica Neue"/>
                <a:ea typeface="Helvetica Neue"/>
                <a:cs typeface="Helvetica Neue"/>
              </a:rPr>
              <a:t>Front end UI</a:t>
            </a:r>
          </a:p>
        </p:txBody>
      </p:sp>
      <p:sp>
        <p:nvSpPr>
          <p:cNvPr id="10" name="frontend-sub">
            <a:extLst xmlns:a="http://schemas.openxmlformats.org/drawingml/2006/main">
              <a:ext uri="{FF2B5EF4-FFF2-40B4-BE49-F238E27FC236}">
                <a16:creationId xmlns:a16="http://schemas.microsoft.com/office/drawing/2014/main" id="{103D9983-7162-43D9-98E5-CA5D0917F214}"/>
              </a:ext>
            </a:extLst>
          </p:cNvPr>
          <p:cNvSpPr>
            <a:spLocks xmlns:a="http://schemas.openxmlformats.org/drawingml/2006/main" noGrp="1"/>
          </p:cNvSpPr>
          <p:nvPr/>
        </p:nvSpPr>
        <p:spPr>
          <a:xfrm xmlns:a="http://schemas.openxmlformats.org/drawingml/2006/main">
            <a:off x="1019175" y="2724150"/>
            <a:ext cx="2505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Stratos workspace</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be9b4a32e30a48f3"/>
          <a:stretch xmlns:a="http://schemas.openxmlformats.org/drawingml/2006/main"/>
        </p:blipFill>
        <p:spPr>
          <a:xfrm xmlns:a="http://schemas.openxmlformats.org/drawingml/2006/main">
            <a:off x="3838575" y="2533650"/>
            <a:ext cx="257175" cy="257175"/>
          </a:xfrm>
          <a:prstGeom xmlns:a="http://schemas.openxmlformats.org/drawingml/2006/main" prst="rect">
            <a:avLst/>
          </a:prstGeom>
        </p:spPr>
      </p:pic>
      <p:sp>
        <p:nvSpPr>
          <p:cNvPr id="12" name="nav-0">
            <a:extLst xmlns:a="http://schemas.openxmlformats.org/drawingml/2006/main">
              <a:ext uri="{FF2B5EF4-FFF2-40B4-BE49-F238E27FC236}">
                <a16:creationId xmlns:a16="http://schemas.microsoft.com/office/drawing/2014/main" id="{41CFCE3C-9D86-4021-8B02-806D81933AEB}"/>
              </a:ext>
            </a:extLst>
          </p:cNvPr>
          <p:cNvSpPr>
            <a:spLocks xmlns:a="http://schemas.openxmlformats.org/drawingml/2006/main" noGrp="1"/>
          </p:cNvSpPr>
          <p:nvPr/>
        </p:nvSpPr>
        <p:spPr>
          <a:xfrm xmlns:a="http://schemas.openxmlformats.org/drawingml/2006/main">
            <a:off x="4210050" y="25336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6191C"/>
                </a:solidFill>
                <a:latin typeface="Helvetica Neue"/>
                <a:ea typeface="Helvetica Neue"/>
                <a:cs typeface="Helvetica Neue"/>
              </a:defRPr>
            </a:pPr>
            <a:r>
              <a:rPr sz="1575" b="0">
                <a:solidFill>
                  <a:srgbClr val="16191C"/>
                </a:solidFill>
                <a:latin typeface="Helvetica Neue"/>
                <a:ea typeface="Helvetica Neue"/>
                <a:cs typeface="Helvetica Neue"/>
              </a:rPr>
              <a:t>Case workbench</a:t>
            </a:r>
          </a:p>
        </p:txBody>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d6b9747c74dd4e28"/>
          <a:stretch xmlns:a="http://schemas.openxmlformats.org/drawingml/2006/main"/>
        </p:blipFill>
        <p:spPr>
          <a:xfrm xmlns:a="http://schemas.openxmlformats.org/drawingml/2006/main">
            <a:off x="5895975" y="2533650"/>
            <a:ext cx="257175" cy="257175"/>
          </a:xfrm>
          <a:prstGeom xmlns:a="http://schemas.openxmlformats.org/drawingml/2006/main" prst="rect">
            <a:avLst/>
          </a:prstGeom>
        </p:spPr>
      </p:pic>
      <p:sp>
        <p:nvSpPr>
          <p:cNvPr id="14" name="nav-1">
            <a:extLst xmlns:a="http://schemas.openxmlformats.org/drawingml/2006/main">
              <a:ext uri="{FF2B5EF4-FFF2-40B4-BE49-F238E27FC236}">
                <a16:creationId xmlns:a16="http://schemas.microsoft.com/office/drawing/2014/main" id="{33AA523D-BEE3-473C-8E2E-BA61EDA995FE}"/>
              </a:ext>
            </a:extLst>
          </p:cNvPr>
          <p:cNvSpPr>
            <a:spLocks xmlns:a="http://schemas.openxmlformats.org/drawingml/2006/main" noGrp="1"/>
          </p:cNvSpPr>
          <p:nvPr/>
        </p:nvSpPr>
        <p:spPr>
          <a:xfrm xmlns:a="http://schemas.openxmlformats.org/drawingml/2006/main">
            <a:off x="6267450" y="25336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6191C"/>
                </a:solidFill>
                <a:latin typeface="Helvetica Neue"/>
                <a:ea typeface="Helvetica Neue"/>
                <a:cs typeface="Helvetica Neue"/>
              </a:defRPr>
            </a:pPr>
            <a:r>
              <a:rPr sz="1575" b="0">
                <a:solidFill>
                  <a:srgbClr val="16191C"/>
                </a:solidFill>
                <a:latin typeface="Helvetica Neue"/>
                <a:ea typeface="Helvetica Neue"/>
                <a:cs typeface="Helvetica Neue"/>
              </a:rPr>
              <a:t>Concierge</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cd34aec69a954f46"/>
          <a:stretch xmlns:a="http://schemas.openxmlformats.org/drawingml/2006/main"/>
        </p:blipFill>
        <p:spPr>
          <a:xfrm xmlns:a="http://schemas.openxmlformats.org/drawingml/2006/main">
            <a:off x="7953375" y="2533650"/>
            <a:ext cx="257175" cy="257175"/>
          </a:xfrm>
          <a:prstGeom xmlns:a="http://schemas.openxmlformats.org/drawingml/2006/main" prst="rect">
            <a:avLst/>
          </a:prstGeom>
        </p:spPr>
      </p:pic>
      <p:sp>
        <p:nvSpPr>
          <p:cNvPr id="16" name="nav-2">
            <a:extLst xmlns:a="http://schemas.openxmlformats.org/drawingml/2006/main">
              <a:ext uri="{FF2B5EF4-FFF2-40B4-BE49-F238E27FC236}">
                <a16:creationId xmlns:a16="http://schemas.microsoft.com/office/drawing/2014/main" id="{986C5888-31AF-4C5B-B371-A9458ADBA589}"/>
              </a:ext>
            </a:extLst>
          </p:cNvPr>
          <p:cNvSpPr>
            <a:spLocks xmlns:a="http://schemas.openxmlformats.org/drawingml/2006/main" noGrp="1"/>
          </p:cNvSpPr>
          <p:nvPr/>
        </p:nvSpPr>
        <p:spPr>
          <a:xfrm xmlns:a="http://schemas.openxmlformats.org/drawingml/2006/main">
            <a:off x="8324850" y="25336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6191C"/>
                </a:solidFill>
                <a:latin typeface="Helvetica Neue"/>
                <a:ea typeface="Helvetica Neue"/>
                <a:cs typeface="Helvetica Neue"/>
              </a:defRPr>
            </a:pPr>
            <a:r>
              <a:rPr sz="1575" b="0">
                <a:solidFill>
                  <a:srgbClr val="16191C"/>
                </a:solidFill>
                <a:latin typeface="Helvetica Neue"/>
                <a:ea typeface="Helvetica Neue"/>
                <a:cs typeface="Helvetica Neue"/>
              </a:rPr>
              <a:t>Decisions</a:t>
            </a:r>
          </a:p>
        </p:txBody>
      </p:sp>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821a8ec287264c4b"/>
          <a:stretch xmlns:a="http://schemas.openxmlformats.org/drawingml/2006/main"/>
        </p:blipFill>
        <p:spPr>
          <a:xfrm xmlns:a="http://schemas.openxmlformats.org/drawingml/2006/main">
            <a:off x="10010775" y="2533650"/>
            <a:ext cx="257175" cy="257175"/>
          </a:xfrm>
          <a:prstGeom xmlns:a="http://schemas.openxmlformats.org/drawingml/2006/main" prst="rect">
            <a:avLst/>
          </a:prstGeom>
        </p:spPr>
      </p:pic>
      <p:sp>
        <p:nvSpPr>
          <p:cNvPr id="18" name="nav-3">
            <a:extLst xmlns:a="http://schemas.openxmlformats.org/drawingml/2006/main">
              <a:ext uri="{FF2B5EF4-FFF2-40B4-BE49-F238E27FC236}">
                <a16:creationId xmlns:a16="http://schemas.microsoft.com/office/drawing/2014/main" id="{A685AAC7-0408-42F5-9A6E-D825879CB150}"/>
              </a:ext>
            </a:extLst>
          </p:cNvPr>
          <p:cNvSpPr>
            <a:spLocks xmlns:a="http://schemas.openxmlformats.org/drawingml/2006/main" noGrp="1"/>
          </p:cNvSpPr>
          <p:nvPr/>
        </p:nvSpPr>
        <p:spPr>
          <a:xfrm xmlns:a="http://schemas.openxmlformats.org/drawingml/2006/main">
            <a:off x="10382250" y="25336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6191C"/>
                </a:solidFill>
                <a:latin typeface="Helvetica Neue"/>
                <a:ea typeface="Helvetica Neue"/>
                <a:cs typeface="Helvetica Neue"/>
              </a:defRPr>
            </a:pPr>
            <a:r>
              <a:rPr sz="1575" b="0">
                <a:solidFill>
                  <a:srgbClr val="16191C"/>
                </a:solidFill>
                <a:latin typeface="Helvetica Neue"/>
                <a:ea typeface="Helvetica Neue"/>
                <a:cs typeface="Helvetica Neue"/>
              </a:rPr>
              <a:t>Escalations</a:t>
            </a:r>
          </a:p>
        </p:txBody>
      </p:sp>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2960fb07adad43ff"/>
          <a:stretch xmlns:a="http://schemas.openxmlformats.org/drawingml/2006/main"/>
        </p:blipFill>
        <p:spPr>
          <a:xfrm xmlns:a="http://schemas.openxmlformats.org/drawingml/2006/main">
            <a:off x="12068175" y="2533650"/>
            <a:ext cx="257175" cy="257175"/>
          </a:xfrm>
          <a:prstGeom xmlns:a="http://schemas.openxmlformats.org/drawingml/2006/main" prst="rect">
            <a:avLst/>
          </a:prstGeom>
        </p:spPr>
      </p:pic>
      <p:sp>
        <p:nvSpPr>
          <p:cNvPr id="20" name="nav-4">
            <a:extLst xmlns:a="http://schemas.openxmlformats.org/drawingml/2006/main">
              <a:ext uri="{FF2B5EF4-FFF2-40B4-BE49-F238E27FC236}">
                <a16:creationId xmlns:a16="http://schemas.microsoft.com/office/drawing/2014/main" id="{843F6B3A-F099-46C4-8846-A33EEF81BD19}"/>
              </a:ext>
            </a:extLst>
          </p:cNvPr>
          <p:cNvSpPr>
            <a:spLocks xmlns:a="http://schemas.openxmlformats.org/drawingml/2006/main" noGrp="1"/>
          </p:cNvSpPr>
          <p:nvPr/>
        </p:nvSpPr>
        <p:spPr>
          <a:xfrm xmlns:a="http://schemas.openxmlformats.org/drawingml/2006/main">
            <a:off x="12439650" y="25336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6191C"/>
                </a:solidFill>
                <a:latin typeface="Helvetica Neue"/>
                <a:ea typeface="Helvetica Neue"/>
                <a:cs typeface="Helvetica Neue"/>
              </a:defRPr>
            </a:pPr>
            <a:r>
              <a:rPr sz="1575" b="0">
                <a:solidFill>
                  <a:srgbClr val="16191C"/>
                </a:solidFill>
                <a:latin typeface="Helvetica Neue"/>
                <a:ea typeface="Helvetica Neue"/>
                <a:cs typeface="Helvetica Neue"/>
              </a:rPr>
              <a:t>Operations</a:t>
            </a:r>
          </a:p>
        </p:txBody>
      </p:sp>
      <p:sp>
        <p:nvSpPr>
          <p:cNvPr id="21" name="line-24">
            <a:extLst xmlns:a="http://schemas.openxmlformats.org/drawingml/2006/main">
              <a:ext uri="{FF2B5EF4-FFF2-40B4-BE49-F238E27FC236}">
                <a16:creationId xmlns:a16="http://schemas.microsoft.com/office/drawing/2014/main" id="{C34CC568-A6E3-4EA0-8531-8CAC761175E8}"/>
              </a:ext>
            </a:extLst>
          </p:cNvPr>
          <p:cNvSpPr>
            <a:spLocks xmlns:a="http://schemas.openxmlformats.org/drawingml/2006/main" noGrp="1"/>
          </p:cNvSpPr>
          <p:nvPr/>
        </p:nvSpPr>
        <p:spPr>
          <a:xfrm xmlns:a="http://schemas.openxmlformats.org/drawingml/2006/main" flipV="0">
            <a:off x="7610475" y="3028950"/>
            <a:ext cx="0" cy="209550"/>
          </a:xfrm>
          <a:prstGeom xmlns:a="http://schemas.openxmlformats.org/drawingml/2006/main" prst="line">
            <a:avLst/>
          </a:prstGeom>
          <a:noFill xmlns:a="http://schemas.openxmlformats.org/drawingml/2006/main"/>
          <a:ln xmlns:a="http://schemas.openxmlformats.org/drawingml/2006/main" w="14288">
            <a:solidFill>
              <a:srgbClr val="8A949D"/>
            </a:solidFill>
          </a:ln>
        </p:spPr>
      </p:sp>
      <p:sp>
        <p:nvSpPr>
          <p:cNvPr id="22" name="line-25">
            <a:extLst xmlns:a="http://schemas.openxmlformats.org/drawingml/2006/main">
              <a:ext uri="{FF2B5EF4-FFF2-40B4-BE49-F238E27FC236}">
                <a16:creationId xmlns:a16="http://schemas.microsoft.com/office/drawing/2014/main" id="{794E083F-22F0-475A-BF64-8FAED2E6D864}"/>
              </a:ext>
            </a:extLst>
          </p:cNvPr>
          <p:cNvSpPr>
            <a:spLocks xmlns:a="http://schemas.openxmlformats.org/drawingml/2006/main" noGrp="1"/>
          </p:cNvSpPr>
          <p:nvPr/>
        </p:nvSpPr>
        <p:spPr>
          <a:xfrm xmlns:a="http://schemas.openxmlformats.org/drawingml/2006/main" flipV="0">
            <a:off x="7572375" y="3181350"/>
            <a:ext cx="38100" cy="57150"/>
          </a:xfrm>
          <a:prstGeom xmlns:a="http://schemas.openxmlformats.org/drawingml/2006/main" prst="line">
            <a:avLst/>
          </a:prstGeom>
          <a:noFill xmlns:a="http://schemas.openxmlformats.org/drawingml/2006/main"/>
          <a:ln xmlns:a="http://schemas.openxmlformats.org/drawingml/2006/main" w="14288">
            <a:solidFill>
              <a:srgbClr val="8A949D"/>
            </a:solidFill>
          </a:ln>
        </p:spPr>
      </p:sp>
      <p:sp>
        <p:nvSpPr>
          <p:cNvPr id="23" name="line-26">
            <a:extLst xmlns:a="http://schemas.openxmlformats.org/drawingml/2006/main">
              <a:ext uri="{FF2B5EF4-FFF2-40B4-BE49-F238E27FC236}">
                <a16:creationId xmlns:a16="http://schemas.microsoft.com/office/drawing/2014/main" id="{D19D71A4-3158-4B51-935B-48E8A8B1D5D8}"/>
              </a:ext>
            </a:extLst>
          </p:cNvPr>
          <p:cNvSpPr>
            <a:spLocks xmlns:a="http://schemas.openxmlformats.org/drawingml/2006/main" noGrp="1"/>
          </p:cNvSpPr>
          <p:nvPr/>
        </p:nvSpPr>
        <p:spPr>
          <a:xfrm xmlns:a="http://schemas.openxmlformats.org/drawingml/2006/main" flipV="1">
            <a:off x="7610475" y="3181350"/>
            <a:ext cx="38100" cy="57150"/>
          </a:xfrm>
          <a:prstGeom xmlns:a="http://schemas.openxmlformats.org/drawingml/2006/main" prst="line">
            <a:avLst/>
          </a:prstGeom>
          <a:noFill xmlns:a="http://schemas.openxmlformats.org/drawingml/2006/main"/>
          <a:ln xmlns:a="http://schemas.openxmlformats.org/drawingml/2006/main" w="14288">
            <a:solidFill>
              <a:srgbClr val="8A949D"/>
            </a:solidFill>
          </a:ln>
        </p:spPr>
      </p:sp>
      <p:sp>
        <p:nvSpPr>
          <p:cNvPr id="24" name="line-27">
            <a:extLst xmlns:a="http://schemas.openxmlformats.org/drawingml/2006/main">
              <a:ext uri="{FF2B5EF4-FFF2-40B4-BE49-F238E27FC236}">
                <a16:creationId xmlns:a16="http://schemas.microsoft.com/office/drawing/2014/main" id="{40D843D7-1A42-4E9D-AD7E-40651E753A9B}"/>
              </a:ext>
            </a:extLst>
          </p:cNvPr>
          <p:cNvSpPr>
            <a:spLocks xmlns:a="http://schemas.openxmlformats.org/drawingml/2006/main" noGrp="1"/>
          </p:cNvSpPr>
          <p:nvPr/>
        </p:nvSpPr>
        <p:spPr>
          <a:xfrm xmlns:a="http://schemas.openxmlformats.org/drawingml/2006/main" flipV="0">
            <a:off x="7610475" y="3028950"/>
            <a:ext cx="0" cy="209550"/>
          </a:xfrm>
          <a:prstGeom xmlns:a="http://schemas.openxmlformats.org/drawingml/2006/main" prst="line">
            <a:avLst/>
          </a:prstGeom>
          <a:noFill xmlns:a="http://schemas.openxmlformats.org/drawingml/2006/main"/>
          <a:ln xmlns:a="http://schemas.openxmlformats.org/drawingml/2006/main" w="14288">
            <a:solidFill>
              <a:srgbClr val="8A949D"/>
            </a:solidFill>
          </a:ln>
        </p:spPr>
      </p:sp>
      <p:sp>
        <p:nvSpPr>
          <p:cNvPr id="25" name="line-28">
            <a:extLst xmlns:a="http://schemas.openxmlformats.org/drawingml/2006/main">
              <a:ext uri="{FF2B5EF4-FFF2-40B4-BE49-F238E27FC236}">
                <a16:creationId xmlns:a16="http://schemas.microsoft.com/office/drawing/2014/main" id="{7EE4679A-B5E6-4BF3-A762-B40E35F4539F}"/>
              </a:ext>
            </a:extLst>
          </p:cNvPr>
          <p:cNvSpPr>
            <a:spLocks xmlns:a="http://schemas.openxmlformats.org/drawingml/2006/main" noGrp="1"/>
          </p:cNvSpPr>
          <p:nvPr/>
        </p:nvSpPr>
        <p:spPr>
          <a:xfrm xmlns:a="http://schemas.openxmlformats.org/drawingml/2006/main" flipV="1">
            <a:off x="7572375" y="3028950"/>
            <a:ext cx="38100" cy="57150"/>
          </a:xfrm>
          <a:prstGeom xmlns:a="http://schemas.openxmlformats.org/drawingml/2006/main" prst="line">
            <a:avLst/>
          </a:prstGeom>
          <a:noFill xmlns:a="http://schemas.openxmlformats.org/drawingml/2006/main"/>
          <a:ln xmlns:a="http://schemas.openxmlformats.org/drawingml/2006/main" w="14288">
            <a:solidFill>
              <a:srgbClr val="8A949D"/>
            </a:solidFill>
          </a:ln>
        </p:spPr>
      </p:sp>
      <p:sp>
        <p:nvSpPr>
          <p:cNvPr id="26" name="line-29">
            <a:extLst xmlns:a="http://schemas.openxmlformats.org/drawingml/2006/main">
              <a:ext uri="{FF2B5EF4-FFF2-40B4-BE49-F238E27FC236}">
                <a16:creationId xmlns:a16="http://schemas.microsoft.com/office/drawing/2014/main" id="{C3E4BED6-0600-47B8-94CE-4E9960EB32A7}"/>
              </a:ext>
            </a:extLst>
          </p:cNvPr>
          <p:cNvSpPr>
            <a:spLocks xmlns:a="http://schemas.openxmlformats.org/drawingml/2006/main" noGrp="1"/>
          </p:cNvSpPr>
          <p:nvPr/>
        </p:nvSpPr>
        <p:spPr>
          <a:xfrm xmlns:a="http://schemas.openxmlformats.org/drawingml/2006/main" flipV="0">
            <a:off x="7610475" y="3028950"/>
            <a:ext cx="38100" cy="57150"/>
          </a:xfrm>
          <a:prstGeom xmlns:a="http://schemas.openxmlformats.org/drawingml/2006/main" prst="line">
            <a:avLst/>
          </a:prstGeom>
          <a:noFill xmlns:a="http://schemas.openxmlformats.org/drawingml/2006/main"/>
          <a:ln xmlns:a="http://schemas.openxmlformats.org/drawingml/2006/main" w="14288">
            <a:solidFill>
              <a:srgbClr val="8A949D"/>
            </a:solidFill>
          </a:ln>
        </p:spPr>
      </p:sp>
      <p:sp>
        <p:nvSpPr>
          <p:cNvPr id="27" name="host-api">
            <a:extLst xmlns:a="http://schemas.openxmlformats.org/drawingml/2006/main">
              <a:ext uri="{FF2B5EF4-FFF2-40B4-BE49-F238E27FC236}">
                <a16:creationId xmlns:a16="http://schemas.microsoft.com/office/drawing/2014/main" id="{A87D6077-60B7-431B-8F9B-6EDB77E38656}"/>
              </a:ext>
            </a:extLst>
          </p:cNvPr>
          <p:cNvSpPr>
            <a:spLocks xmlns:a="http://schemas.openxmlformats.org/drawingml/2006/main" noGrp="1"/>
          </p:cNvSpPr>
          <p:nvPr/>
        </p:nvSpPr>
        <p:spPr>
          <a:xfrm xmlns:a="http://schemas.openxmlformats.org/drawingml/2006/main">
            <a:off x="7810500" y="3048000"/>
            <a:ext cx="1514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Host API</a:t>
            </a:r>
          </a:p>
        </p:txBody>
      </p:sp>
      <p:sp>
        <p:nvSpPr>
          <p:cNvPr id="28" name="harness-boundary">
            <a:extLst xmlns:a="http://schemas.openxmlformats.org/drawingml/2006/main">
              <a:ext uri="{FF2B5EF4-FFF2-40B4-BE49-F238E27FC236}">
                <a16:creationId xmlns:a16="http://schemas.microsoft.com/office/drawing/2014/main" id="{AF0702D2-2FB1-4C4F-A996-50FC00F50A31}"/>
              </a:ext>
            </a:extLst>
          </p:cNvPr>
          <p:cNvSpPr>
            <a:spLocks xmlns:a="http://schemas.openxmlformats.org/drawingml/2006/main" noGrp="1"/>
          </p:cNvSpPr>
          <p:nvPr/>
        </p:nvSpPr>
        <p:spPr>
          <a:xfrm xmlns:a="http://schemas.openxmlformats.org/drawingml/2006/main">
            <a:off x="800100" y="3333750"/>
            <a:ext cx="13639800" cy="3086100"/>
          </a:xfrm>
          <a:prstGeom xmlns:a="http://schemas.openxmlformats.org/drawingml/2006/main" prst="roundRect">
            <a:avLst>
              <a:gd name="adj" fmla="val 3086"/>
            </a:avLst>
          </a:prstGeom>
          <a:solidFill xmlns:a="http://schemas.openxmlformats.org/drawingml/2006/main">
            <a:srgbClr val="FFFFFF"/>
          </a:solidFill>
          <a:ln xmlns:a="http://schemas.openxmlformats.org/drawingml/2006/main" w="12383">
            <a:solidFill>
              <a:srgbClr val="D9E0E6"/>
            </a:solidFill>
          </a:ln>
        </p:spPr>
      </p:sp>
      <p:sp>
        <p:nvSpPr>
          <p:cNvPr id="29" name="harness">
            <a:extLst xmlns:a="http://schemas.openxmlformats.org/drawingml/2006/main">
              <a:ext uri="{FF2B5EF4-FFF2-40B4-BE49-F238E27FC236}">
                <a16:creationId xmlns:a16="http://schemas.microsoft.com/office/drawing/2014/main" id="{63AF8FCE-E28F-4A9B-87B5-88F0FB342C18}"/>
              </a:ext>
            </a:extLst>
          </p:cNvPr>
          <p:cNvSpPr>
            <a:spLocks xmlns:a="http://schemas.openxmlformats.org/drawingml/2006/main" noGrp="1"/>
          </p:cNvSpPr>
          <p:nvPr/>
        </p:nvSpPr>
        <p:spPr>
          <a:xfrm xmlns:a="http://schemas.openxmlformats.org/drawingml/2006/main">
            <a:off x="1009650" y="34575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Multi-agent harness</a:t>
            </a:r>
          </a:p>
        </p:txBody>
      </p:sp>
      <p:sp>
        <p:nvSpPr>
          <p:cNvPr id="30" name="pattern">
            <a:extLst xmlns:a="http://schemas.openxmlformats.org/drawingml/2006/main">
              <a:ext uri="{FF2B5EF4-FFF2-40B4-BE49-F238E27FC236}">
                <a16:creationId xmlns:a16="http://schemas.microsoft.com/office/drawing/2014/main" id="{9A8568E8-4E28-4079-9212-A6798D17E5F7}"/>
              </a:ext>
            </a:extLst>
          </p:cNvPr>
          <p:cNvSpPr>
            <a:spLocks xmlns:a="http://schemas.openxmlformats.org/drawingml/2006/main" noGrp="1"/>
          </p:cNvSpPr>
          <p:nvPr/>
        </p:nvSpPr>
        <p:spPr>
          <a:xfrm xmlns:a="http://schemas.openxmlformats.org/drawingml/2006/main">
            <a:off x="10372725" y="3476625"/>
            <a:ext cx="3848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500" b="0">
                <a:solidFill>
                  <a:srgbClr val="616B75"/>
                </a:solidFill>
                <a:latin typeface="Helvetica Neue"/>
                <a:ea typeface="Helvetica Neue"/>
                <a:cs typeface="Helvetica Neue"/>
              </a:defRPr>
            </a:pPr>
            <a:r>
              <a:rPr sz="1500" b="0">
                <a:solidFill>
                  <a:srgbClr val="616B75"/>
                </a:solidFill>
                <a:latin typeface="Helvetica Neue"/>
                <a:ea typeface="Helvetica Neue"/>
                <a:cs typeface="Helvetica Neue"/>
              </a:rPr>
              <a:t>Manager and specialists pattern</a:t>
            </a:r>
          </a:p>
        </p:txBody>
      </p:sp>
      <p:sp>
        <p:nvSpPr>
          <p:cNvPr id="31" name="runs-start">
            <a:extLst xmlns:a="http://schemas.openxmlformats.org/drawingml/2006/main">
              <a:ext uri="{FF2B5EF4-FFF2-40B4-BE49-F238E27FC236}">
                <a16:creationId xmlns:a16="http://schemas.microsoft.com/office/drawing/2014/main" id="{5FCEFC6A-D914-4C0A-987D-2E5CDE6B52DA}"/>
              </a:ext>
            </a:extLst>
          </p:cNvPr>
          <p:cNvSpPr>
            <a:spLocks xmlns:a="http://schemas.openxmlformats.org/drawingml/2006/main" noGrp="1"/>
          </p:cNvSpPr>
          <p:nvPr/>
        </p:nvSpPr>
        <p:spPr>
          <a:xfrm xmlns:a="http://schemas.openxmlformats.org/drawingml/2006/main">
            <a:off x="2905125" y="3857625"/>
            <a:ext cx="15335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Runs start from</a:t>
            </a:r>
          </a:p>
        </p:txBody>
      </p:sp>
      <p:pic>
        <p:nvPicPr>
          <p:cNvPr id="135" name=""/>
          <p:cNvPicPr>
            <a:picLocks xmlns:a="http://schemas.openxmlformats.org/drawingml/2006/main" noChangeAspect="1"/>
          </p:cNvPicPr>
          <p:nvPr/>
        </p:nvPicPr>
        <p:blipFill>
          <a:blip xmlns:r="http://schemas.openxmlformats.org/officeDocument/2006/relationships" xmlns:a="http://schemas.openxmlformats.org/drawingml/2006/main" r:embed="Rb5c9b71f8d17452c"/>
          <a:stretch xmlns:a="http://schemas.openxmlformats.org/drawingml/2006/main"/>
        </p:blipFill>
        <p:spPr>
          <a:xfrm xmlns:a="http://schemas.openxmlformats.org/drawingml/2006/main">
            <a:off x="4400550" y="3857625"/>
            <a:ext cx="200025" cy="200025"/>
          </a:xfrm>
          <a:prstGeom xmlns:a="http://schemas.openxmlformats.org/drawingml/2006/main" prst="rect">
            <a:avLst/>
          </a:prstGeom>
        </p:spPr>
      </p:pic>
      <p:sp>
        <p:nvSpPr>
          <p:cNvPr id="33" name="trigger-13">
            <a:extLst xmlns:a="http://schemas.openxmlformats.org/drawingml/2006/main">
              <a:ext uri="{FF2B5EF4-FFF2-40B4-BE49-F238E27FC236}">
                <a16:creationId xmlns:a16="http://schemas.microsoft.com/office/drawing/2014/main" id="{11D6F26D-EDD0-4543-81D9-B2CB217EC56C}"/>
              </a:ext>
            </a:extLst>
          </p:cNvPr>
          <p:cNvSpPr>
            <a:spLocks xmlns:a="http://schemas.openxmlformats.org/drawingml/2006/main" noGrp="1"/>
          </p:cNvSpPr>
          <p:nvPr/>
        </p:nvSpPr>
        <p:spPr>
          <a:xfrm xmlns:a="http://schemas.openxmlformats.org/drawingml/2006/main">
            <a:off x="4686300" y="3838575"/>
            <a:ext cx="1390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Trigger event</a:t>
            </a:r>
          </a:p>
        </p:txBody>
      </p:sp>
      <p:pic>
        <p:nvPicPr>
          <p:cNvPr id="137" name=""/>
          <p:cNvPicPr>
            <a:picLocks xmlns:a="http://schemas.openxmlformats.org/drawingml/2006/main" noChangeAspect="1"/>
          </p:cNvPicPr>
          <p:nvPr/>
        </p:nvPicPr>
        <p:blipFill>
          <a:blip xmlns:r="http://schemas.openxmlformats.org/officeDocument/2006/relationships" xmlns:a="http://schemas.openxmlformats.org/drawingml/2006/main" r:embed="R34a38356515a45dd"/>
          <a:stretch xmlns:a="http://schemas.openxmlformats.org/drawingml/2006/main"/>
        </p:blipFill>
        <p:spPr>
          <a:xfrm xmlns:a="http://schemas.openxmlformats.org/drawingml/2006/main">
            <a:off x="6181725" y="3857625"/>
            <a:ext cx="200025" cy="200025"/>
          </a:xfrm>
          <a:prstGeom xmlns:a="http://schemas.openxmlformats.org/drawingml/2006/main" prst="rect">
            <a:avLst/>
          </a:prstGeom>
        </p:spPr>
      </p:pic>
      <p:sp>
        <p:nvSpPr>
          <p:cNvPr id="35" name="trigger-16">
            <a:extLst xmlns:a="http://schemas.openxmlformats.org/drawingml/2006/main">
              <a:ext uri="{FF2B5EF4-FFF2-40B4-BE49-F238E27FC236}">
                <a16:creationId xmlns:a16="http://schemas.microsoft.com/office/drawing/2014/main" id="{7637A5DC-7D09-4A7C-B8DC-C98EADE8B490}"/>
              </a:ext>
            </a:extLst>
          </p:cNvPr>
          <p:cNvSpPr>
            <a:spLocks xmlns:a="http://schemas.openxmlformats.org/drawingml/2006/main" noGrp="1"/>
          </p:cNvSpPr>
          <p:nvPr/>
        </p:nvSpPr>
        <p:spPr>
          <a:xfrm xmlns:a="http://schemas.openxmlformats.org/drawingml/2006/main">
            <a:off x="6467475" y="3838575"/>
            <a:ext cx="1266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Scheduled</a:t>
            </a:r>
          </a:p>
        </p:txBody>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4ca75b30b0484622"/>
          <a:stretch xmlns:a="http://schemas.openxmlformats.org/drawingml/2006/main"/>
        </p:blipFill>
        <p:spPr>
          <a:xfrm xmlns:a="http://schemas.openxmlformats.org/drawingml/2006/main">
            <a:off x="7829550" y="3857625"/>
            <a:ext cx="200025" cy="200025"/>
          </a:xfrm>
          <a:prstGeom xmlns:a="http://schemas.openxmlformats.org/drawingml/2006/main" prst="rect">
            <a:avLst/>
          </a:prstGeom>
        </p:spPr>
      </p:pic>
      <p:sp>
        <p:nvSpPr>
          <p:cNvPr id="37" name="trigger-15">
            <a:extLst xmlns:a="http://schemas.openxmlformats.org/drawingml/2006/main">
              <a:ext uri="{FF2B5EF4-FFF2-40B4-BE49-F238E27FC236}">
                <a16:creationId xmlns:a16="http://schemas.microsoft.com/office/drawing/2014/main" id="{332D52E7-14A7-4DE7-9CA8-223A940C1EF8}"/>
              </a:ext>
            </a:extLst>
          </p:cNvPr>
          <p:cNvSpPr>
            <a:spLocks xmlns:a="http://schemas.openxmlformats.org/drawingml/2006/main" noGrp="1"/>
          </p:cNvSpPr>
          <p:nvPr/>
        </p:nvSpPr>
        <p:spPr>
          <a:xfrm xmlns:a="http://schemas.openxmlformats.org/drawingml/2006/main">
            <a:off x="8115300" y="3838575"/>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Concierge request</a:t>
            </a:r>
          </a:p>
        </p:txBody>
      </p:sp>
      <p:pic>
        <p:nvPicPr>
          <p:cNvPr id="141" name=""/>
          <p:cNvPicPr>
            <a:picLocks xmlns:a="http://schemas.openxmlformats.org/drawingml/2006/main" noChangeAspect="1"/>
          </p:cNvPicPr>
          <p:nvPr/>
        </p:nvPicPr>
        <p:blipFill>
          <a:blip xmlns:r="http://schemas.openxmlformats.org/officeDocument/2006/relationships" xmlns:a="http://schemas.openxmlformats.org/drawingml/2006/main" r:embed="Ra01cd487dffb4098"/>
          <a:stretch xmlns:a="http://schemas.openxmlformats.org/drawingml/2006/main"/>
        </p:blipFill>
        <p:spPr>
          <a:xfrm xmlns:a="http://schemas.openxmlformats.org/drawingml/2006/main">
            <a:off x="9991725" y="3857625"/>
            <a:ext cx="200025" cy="200025"/>
          </a:xfrm>
          <a:prstGeom xmlns:a="http://schemas.openxmlformats.org/drawingml/2006/main" prst="rect">
            <a:avLst/>
          </a:prstGeom>
        </p:spPr>
      </p:pic>
      <p:sp>
        <p:nvSpPr>
          <p:cNvPr id="39" name="trigger-14">
            <a:extLst xmlns:a="http://schemas.openxmlformats.org/drawingml/2006/main">
              <a:ext uri="{FF2B5EF4-FFF2-40B4-BE49-F238E27FC236}">
                <a16:creationId xmlns:a16="http://schemas.microsoft.com/office/drawing/2014/main" id="{B2A867E5-0F71-4492-8657-39A8D87010B7}"/>
              </a:ext>
            </a:extLst>
          </p:cNvPr>
          <p:cNvSpPr>
            <a:spLocks xmlns:a="http://schemas.openxmlformats.org/drawingml/2006/main" noGrp="1"/>
          </p:cNvSpPr>
          <p:nvPr/>
        </p:nvSpPr>
        <p:spPr>
          <a:xfrm xmlns:a="http://schemas.openxmlformats.org/drawingml/2006/main">
            <a:off x="10277475" y="3838575"/>
            <a:ext cx="1533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Operator action</a:t>
            </a:r>
          </a:p>
        </p:txBody>
      </p:sp>
      <p:sp>
        <p:nvSpPr>
          <p:cNvPr id="40" name="coordinator">
            <a:extLst xmlns:a="http://schemas.openxmlformats.org/drawingml/2006/main">
              <a:ext uri="{FF2B5EF4-FFF2-40B4-BE49-F238E27FC236}">
                <a16:creationId xmlns:a16="http://schemas.microsoft.com/office/drawing/2014/main" id="{F9CA16F9-AE14-45D4-9829-DFE4C92BC7BE}"/>
              </a:ext>
            </a:extLst>
          </p:cNvPr>
          <p:cNvSpPr>
            <a:spLocks xmlns:a="http://schemas.openxmlformats.org/drawingml/2006/main" noGrp="1"/>
          </p:cNvSpPr>
          <p:nvPr/>
        </p:nvSpPr>
        <p:spPr>
          <a:xfrm xmlns:a="http://schemas.openxmlformats.org/drawingml/2006/main">
            <a:off x="3848100" y="4238625"/>
            <a:ext cx="7543800" cy="714375"/>
          </a:xfrm>
          <a:prstGeom xmlns:a="http://schemas.openxmlformats.org/drawingml/2006/main" prst="roundRect">
            <a:avLst>
              <a:gd name="adj" fmla="val 13333"/>
            </a:avLst>
          </a:prstGeom>
          <a:solidFill xmlns:a="http://schemas.openxmlformats.org/drawingml/2006/main">
            <a:srgbClr val="EDF5FE"/>
          </a:solidFill>
          <a:ln xmlns:a="http://schemas.openxmlformats.org/drawingml/2006/main" w="12383">
            <a:solidFill>
              <a:srgbClr val="9FC6EE"/>
            </a:solidFill>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0da2bd1319d545fa"/>
          <a:stretch xmlns:a="http://schemas.openxmlformats.org/drawingml/2006/main"/>
        </p:blipFill>
        <p:spPr>
          <a:xfrm xmlns:a="http://schemas.openxmlformats.org/drawingml/2006/main">
            <a:off x="4029075" y="4352925"/>
            <a:ext cx="266700" cy="266700"/>
          </a:xfrm>
          <a:prstGeom xmlns:a="http://schemas.openxmlformats.org/drawingml/2006/main" prst="rect">
            <a:avLst/>
          </a:prstGeom>
        </p:spPr>
      </p:pic>
      <p:sp>
        <p:nvSpPr>
          <p:cNvPr id="42" name="manager-title">
            <a:extLst xmlns:a="http://schemas.openxmlformats.org/drawingml/2006/main">
              <a:ext uri="{FF2B5EF4-FFF2-40B4-BE49-F238E27FC236}">
                <a16:creationId xmlns:a16="http://schemas.microsoft.com/office/drawing/2014/main" id="{27F6C99D-6A2E-4836-8E70-5DC2C4EDBD27}"/>
              </a:ext>
            </a:extLst>
          </p:cNvPr>
          <p:cNvSpPr>
            <a:spLocks xmlns:a="http://schemas.openxmlformats.org/drawingml/2006/main" noGrp="1"/>
          </p:cNvSpPr>
          <p:nvPr/>
        </p:nvSpPr>
        <p:spPr>
          <a:xfrm xmlns:a="http://schemas.openxmlformats.org/drawingml/2006/main">
            <a:off x="4429125" y="4343400"/>
            <a:ext cx="5534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24E88"/>
                </a:solidFill>
                <a:latin typeface="Helvetica Neue"/>
                <a:ea typeface="Helvetica Neue"/>
                <a:cs typeface="Helvetica Neue"/>
              </a:defRPr>
            </a:pPr>
            <a:r>
              <a:rPr sz="1875" b="1">
                <a:solidFill>
                  <a:srgbClr val="124E88"/>
                </a:solidFill>
                <a:latin typeface="Helvetica Neue"/>
                <a:ea typeface="Helvetica Neue"/>
                <a:cs typeface="Helvetica Neue"/>
              </a:rPr>
              <a:t>Program coordinator</a:t>
            </a:r>
          </a:p>
        </p:txBody>
      </p:sp>
      <p:sp>
        <p:nvSpPr>
          <p:cNvPr id="43" name="manager-label">
            <a:extLst xmlns:a="http://schemas.openxmlformats.org/drawingml/2006/main">
              <a:ext uri="{FF2B5EF4-FFF2-40B4-BE49-F238E27FC236}">
                <a16:creationId xmlns:a16="http://schemas.microsoft.com/office/drawing/2014/main" id="{637D90B8-E9F2-4B69-B3ED-8C22604ECF0C}"/>
              </a:ext>
            </a:extLst>
          </p:cNvPr>
          <p:cNvSpPr>
            <a:spLocks xmlns:a="http://schemas.openxmlformats.org/drawingml/2006/main" noGrp="1"/>
          </p:cNvSpPr>
          <p:nvPr/>
        </p:nvSpPr>
        <p:spPr>
          <a:xfrm xmlns:a="http://schemas.openxmlformats.org/drawingml/2006/main">
            <a:off x="10163175" y="43815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124E88"/>
                </a:solidFill>
                <a:latin typeface="Helvetica Neue"/>
                <a:ea typeface="Helvetica Neue"/>
                <a:cs typeface="Helvetica Neue"/>
              </a:defRPr>
            </a:pPr>
            <a:r>
              <a:rPr sz="1050" b="1">
                <a:solidFill>
                  <a:srgbClr val="124E88"/>
                </a:solidFill>
                <a:latin typeface="Helvetica Neue"/>
                <a:ea typeface="Helvetica Neue"/>
                <a:cs typeface="Helvetica Neue"/>
              </a:rPr>
              <a:t>MANAGER</a:t>
            </a:r>
          </a:p>
        </p:txBody>
      </p:sp>
      <p:sp>
        <p:nvSpPr>
          <p:cNvPr id="44" name="coordinator-description">
            <a:extLst xmlns:a="http://schemas.openxmlformats.org/drawingml/2006/main">
              <a:ext uri="{FF2B5EF4-FFF2-40B4-BE49-F238E27FC236}">
                <a16:creationId xmlns:a16="http://schemas.microsoft.com/office/drawing/2014/main" id="{846EAE46-AB89-43FA-B14D-B3B21BA32DEC}"/>
              </a:ext>
            </a:extLst>
          </p:cNvPr>
          <p:cNvSpPr>
            <a:spLocks xmlns:a="http://schemas.openxmlformats.org/drawingml/2006/main" noGrp="1"/>
          </p:cNvSpPr>
          <p:nvPr/>
        </p:nvSpPr>
        <p:spPr>
          <a:xfrm xmlns:a="http://schemas.openxmlformats.org/drawingml/2006/main">
            <a:off x="4038600" y="4686300"/>
            <a:ext cx="71532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76CC6"/>
                </a:solidFill>
                <a:latin typeface="Helvetica Neue"/>
                <a:ea typeface="Helvetica Neue"/>
                <a:cs typeface="Helvetica Neue"/>
              </a:defRPr>
            </a:pPr>
            <a:r>
              <a:rPr sz="1500" b="0">
                <a:solidFill>
                  <a:srgbClr val="176CC6"/>
                </a:solidFill>
                <a:latin typeface="Helvetica Neue"/>
                <a:ea typeface="Helvetica Neue"/>
                <a:cs typeface="Helvetica Neue"/>
              </a:rPr>
              <a:t>Assigns work, reconciles specialist findings, and recommends the next action</a:t>
            </a:r>
          </a:p>
        </p:txBody>
      </p:sp>
      <p:sp>
        <p:nvSpPr>
          <p:cNvPr id="45" name="line-35">
            <a:extLst xmlns:a="http://schemas.openxmlformats.org/drawingml/2006/main">
              <a:ext uri="{FF2B5EF4-FFF2-40B4-BE49-F238E27FC236}">
                <a16:creationId xmlns:a16="http://schemas.microsoft.com/office/drawing/2014/main" id="{61E66F57-2C2D-461E-ACE9-1AE49F8D8CB6}"/>
              </a:ext>
            </a:extLst>
          </p:cNvPr>
          <p:cNvSpPr>
            <a:spLocks xmlns:a="http://schemas.openxmlformats.org/drawingml/2006/main" noGrp="1"/>
          </p:cNvSpPr>
          <p:nvPr/>
        </p:nvSpPr>
        <p:spPr>
          <a:xfrm xmlns:a="http://schemas.openxmlformats.org/drawingml/2006/main" flipV="0">
            <a:off x="7620000" y="4953000"/>
            <a:ext cx="0" cy="314325"/>
          </a:xfrm>
          <a:prstGeom xmlns:a="http://schemas.openxmlformats.org/drawingml/2006/main" prst="line">
            <a:avLst/>
          </a:prstGeom>
          <a:noFill xmlns:a="http://schemas.openxmlformats.org/drawingml/2006/main"/>
          <a:ln xmlns:a="http://schemas.openxmlformats.org/drawingml/2006/main" w="15240">
            <a:solidFill>
              <a:srgbClr val="8BB7E3"/>
            </a:solidFill>
          </a:ln>
        </p:spPr>
      </p:sp>
      <p:sp>
        <p:nvSpPr>
          <p:cNvPr id="46" name="line-36">
            <a:extLst xmlns:a="http://schemas.openxmlformats.org/drawingml/2006/main">
              <a:ext uri="{FF2B5EF4-FFF2-40B4-BE49-F238E27FC236}">
                <a16:creationId xmlns:a16="http://schemas.microsoft.com/office/drawing/2014/main" id="{10663B57-6220-4DA8-A9C9-0B9CAA27F5AE}"/>
              </a:ext>
            </a:extLst>
          </p:cNvPr>
          <p:cNvSpPr>
            <a:spLocks xmlns:a="http://schemas.openxmlformats.org/drawingml/2006/main" noGrp="1"/>
          </p:cNvSpPr>
          <p:nvPr/>
        </p:nvSpPr>
        <p:spPr>
          <a:xfrm xmlns:a="http://schemas.openxmlformats.org/drawingml/2006/main" flipV="0">
            <a:off x="2543175" y="5267325"/>
            <a:ext cx="10163175" cy="0"/>
          </a:xfrm>
          <a:prstGeom xmlns:a="http://schemas.openxmlformats.org/drawingml/2006/main" prst="line">
            <a:avLst/>
          </a:prstGeom>
          <a:noFill xmlns:a="http://schemas.openxmlformats.org/drawingml/2006/main"/>
          <a:ln xmlns:a="http://schemas.openxmlformats.org/drawingml/2006/main" w="15240">
            <a:solidFill>
              <a:srgbClr val="8BB7E3"/>
            </a:solidFill>
          </a:ln>
        </p:spPr>
      </p:sp>
      <p:sp>
        <p:nvSpPr>
          <p:cNvPr id="47" name="down-label">
            <a:extLst xmlns:a="http://schemas.openxmlformats.org/drawingml/2006/main">
              <a:ext uri="{FF2B5EF4-FFF2-40B4-BE49-F238E27FC236}">
                <a16:creationId xmlns:a16="http://schemas.microsoft.com/office/drawing/2014/main" id="{A3E27FB2-C589-4C4C-8E84-66C16F477A14}"/>
              </a:ext>
            </a:extLst>
          </p:cNvPr>
          <p:cNvSpPr>
            <a:spLocks xmlns:a="http://schemas.openxmlformats.org/drawingml/2006/main" noGrp="1"/>
          </p:cNvSpPr>
          <p:nvPr/>
        </p:nvSpPr>
        <p:spPr>
          <a:xfrm xmlns:a="http://schemas.openxmlformats.org/drawingml/2006/main">
            <a:off x="5505450" y="5038725"/>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75" b="0">
                <a:solidFill>
                  <a:srgbClr val="616B75"/>
                </a:solidFill>
                <a:latin typeface="Helvetica Neue"/>
                <a:ea typeface="Helvetica Neue"/>
                <a:cs typeface="Helvetica Neue"/>
              </a:defRPr>
            </a:pPr>
            <a:r>
              <a:rPr sz="1275" b="0">
                <a:solidFill>
                  <a:srgbClr val="616B75"/>
                </a:solidFill>
                <a:latin typeface="Helvetica Neue"/>
                <a:ea typeface="Helvetica Neue"/>
                <a:cs typeface="Helvetica Neue"/>
              </a:rPr>
              <a:t>delegates work ↓</a:t>
            </a:r>
          </a:p>
        </p:txBody>
      </p:sp>
      <p:sp>
        <p:nvSpPr>
          <p:cNvPr id="48" name="up-label">
            <a:extLst xmlns:a="http://schemas.openxmlformats.org/drawingml/2006/main">
              <a:ext uri="{FF2B5EF4-FFF2-40B4-BE49-F238E27FC236}">
                <a16:creationId xmlns:a16="http://schemas.microsoft.com/office/drawing/2014/main" id="{F92AFFC5-C71B-4F48-AEC4-009FF0096BCA}"/>
              </a:ext>
            </a:extLst>
          </p:cNvPr>
          <p:cNvSpPr>
            <a:spLocks xmlns:a="http://schemas.openxmlformats.org/drawingml/2006/main" noGrp="1"/>
          </p:cNvSpPr>
          <p:nvPr/>
        </p:nvSpPr>
        <p:spPr>
          <a:xfrm xmlns:a="http://schemas.openxmlformats.org/drawingml/2006/main">
            <a:off x="7800975" y="50387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16B75"/>
                </a:solidFill>
                <a:latin typeface="Helvetica Neue"/>
                <a:ea typeface="Helvetica Neue"/>
                <a:cs typeface="Helvetica Neue"/>
              </a:defRPr>
            </a:pPr>
            <a:r>
              <a:rPr sz="1275" b="0">
                <a:solidFill>
                  <a:srgbClr val="616B75"/>
                </a:solidFill>
                <a:latin typeface="Helvetica Neue"/>
                <a:ea typeface="Helvetica Neue"/>
                <a:cs typeface="Helvetica Neue"/>
              </a:rPr>
              <a:t>↑ reports results</a:t>
            </a:r>
          </a:p>
        </p:txBody>
      </p:sp>
      <p:sp>
        <p:nvSpPr>
          <p:cNvPr id="49" name="line-37">
            <a:extLst xmlns:a="http://schemas.openxmlformats.org/drawingml/2006/main">
              <a:ext uri="{FF2B5EF4-FFF2-40B4-BE49-F238E27FC236}">
                <a16:creationId xmlns:a16="http://schemas.microsoft.com/office/drawing/2014/main" id="{1DFDA125-B2ED-4C85-968D-963CC5FEF6DD}"/>
              </a:ext>
            </a:extLst>
          </p:cNvPr>
          <p:cNvSpPr>
            <a:spLocks xmlns:a="http://schemas.openxmlformats.org/drawingml/2006/main" noGrp="1"/>
          </p:cNvSpPr>
          <p:nvPr/>
        </p:nvSpPr>
        <p:spPr>
          <a:xfrm xmlns:a="http://schemas.openxmlformats.org/drawingml/2006/main" flipV="0">
            <a:off x="2533650" y="5267325"/>
            <a:ext cx="0" cy="152400"/>
          </a:xfrm>
          <a:prstGeom xmlns:a="http://schemas.openxmlformats.org/drawingml/2006/main" prst="line">
            <a:avLst/>
          </a:prstGeom>
          <a:noFill xmlns:a="http://schemas.openxmlformats.org/drawingml/2006/main"/>
          <a:ln xmlns:a="http://schemas.openxmlformats.org/drawingml/2006/main" w="15240">
            <a:solidFill>
              <a:srgbClr val="8BB7E3"/>
            </a:solidFill>
          </a:ln>
        </p:spPr>
      </p:sp>
      <p:sp>
        <p:nvSpPr>
          <p:cNvPr id="50" name="specialist-0">
            <a:extLst xmlns:a="http://schemas.openxmlformats.org/drawingml/2006/main">
              <a:ext uri="{FF2B5EF4-FFF2-40B4-BE49-F238E27FC236}">
                <a16:creationId xmlns:a16="http://schemas.microsoft.com/office/drawing/2014/main" id="{95420E85-353D-4CC1-B705-F856609AF40C}"/>
              </a:ext>
            </a:extLst>
          </p:cNvPr>
          <p:cNvSpPr>
            <a:spLocks xmlns:a="http://schemas.openxmlformats.org/drawingml/2006/main" noGrp="1"/>
          </p:cNvSpPr>
          <p:nvPr/>
        </p:nvSpPr>
        <p:spPr>
          <a:xfrm xmlns:a="http://schemas.openxmlformats.org/drawingml/2006/main">
            <a:off x="1009650" y="5419725"/>
            <a:ext cx="3219450" cy="790575"/>
          </a:xfrm>
          <a:prstGeom xmlns:a="http://schemas.openxmlformats.org/drawingml/2006/main" prst="roundRect">
            <a:avLst>
              <a:gd name="adj" fmla="val 7229"/>
            </a:avLst>
          </a:prstGeom>
          <a:solidFill xmlns:a="http://schemas.openxmlformats.org/drawingml/2006/main">
            <a:srgbClr val="F7F9FB"/>
          </a:solidFill>
          <a:ln xmlns:a="http://schemas.openxmlformats.org/drawingml/2006/main" w="0">
            <a:noFill/>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1a1b61c781fa4bfd"/>
          <a:stretch xmlns:a="http://schemas.openxmlformats.org/drawingml/2006/main"/>
        </p:blipFill>
        <p:spPr>
          <a:xfrm xmlns:a="http://schemas.openxmlformats.org/drawingml/2006/main">
            <a:off x="1123950" y="5524500"/>
            <a:ext cx="219075" cy="219075"/>
          </a:xfrm>
          <a:prstGeom xmlns:a="http://schemas.openxmlformats.org/drawingml/2006/main" prst="rect">
            <a:avLst/>
          </a:prstGeom>
        </p:spPr>
      </p:pic>
      <p:sp>
        <p:nvSpPr>
          <p:cNvPr id="52" name="specialist-name-0">
            <a:extLst xmlns:a="http://schemas.openxmlformats.org/drawingml/2006/main">
              <a:ext uri="{FF2B5EF4-FFF2-40B4-BE49-F238E27FC236}">
                <a16:creationId xmlns:a16="http://schemas.microsoft.com/office/drawing/2014/main" id="{D8FCD93F-7C75-4F74-84BF-039F4A636542}"/>
              </a:ext>
            </a:extLst>
          </p:cNvPr>
          <p:cNvSpPr>
            <a:spLocks xmlns:a="http://schemas.openxmlformats.org/drawingml/2006/main" noGrp="1"/>
          </p:cNvSpPr>
          <p:nvPr/>
        </p:nvSpPr>
        <p:spPr>
          <a:xfrm xmlns:a="http://schemas.openxmlformats.org/drawingml/2006/main">
            <a:off x="1428750" y="55245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6191C"/>
                </a:solidFill>
                <a:latin typeface="Helvetica Neue"/>
                <a:ea typeface="Helvetica Neue"/>
                <a:cs typeface="Helvetica Neue"/>
              </a:defRPr>
            </a:pPr>
            <a:r>
              <a:rPr sz="1500" b="1">
                <a:solidFill>
                  <a:srgbClr val="16191C"/>
                </a:solidFill>
                <a:latin typeface="Helvetica Neue"/>
                <a:ea typeface="Helvetica Neue"/>
                <a:cs typeface="Helvetica Neue"/>
              </a:rPr>
              <a:t>Change impact</a:t>
            </a:r>
          </a:p>
        </p:txBody>
      </p:sp>
      <p:sp>
        <p:nvSpPr>
          <p:cNvPr id="53" name="specialist-description-0">
            <a:extLst xmlns:a="http://schemas.openxmlformats.org/drawingml/2006/main">
              <a:ext uri="{FF2B5EF4-FFF2-40B4-BE49-F238E27FC236}">
                <a16:creationId xmlns:a16="http://schemas.microsoft.com/office/drawing/2014/main" id="{BF4BC74E-8FC4-4707-9A08-45EDD53552AB}"/>
              </a:ext>
            </a:extLst>
          </p:cNvPr>
          <p:cNvSpPr>
            <a:spLocks xmlns:a="http://schemas.openxmlformats.org/drawingml/2006/main" noGrp="1"/>
          </p:cNvSpPr>
          <p:nvPr/>
        </p:nvSpPr>
        <p:spPr>
          <a:xfrm xmlns:a="http://schemas.openxmlformats.org/drawingml/2006/main">
            <a:off x="1123950" y="584835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13" b="0">
                <a:solidFill>
                  <a:srgbClr val="616B75"/>
                </a:solidFill>
                <a:latin typeface="Helvetica Neue"/>
                <a:ea typeface="Helvetica Neue"/>
                <a:cs typeface="Helvetica Neue"/>
              </a:defRPr>
            </a:pPr>
            <a:r>
              <a:rPr sz="1313" b="0">
                <a:solidFill>
                  <a:srgbClr val="616B75"/>
                </a:solidFill>
                <a:latin typeface="Helvetica Neue"/>
                <a:ea typeface="Helvetica Neue"/>
                <a:cs typeface="Helvetica Neue"/>
              </a:rPr>
              <a:t>Assesses engineering, manufacturing, and delivery impacts.</a:t>
            </a:r>
          </a:p>
        </p:txBody>
      </p:sp>
      <p:sp>
        <p:nvSpPr>
          <p:cNvPr id="54" name="line-39">
            <a:extLst xmlns:a="http://schemas.openxmlformats.org/drawingml/2006/main">
              <a:ext uri="{FF2B5EF4-FFF2-40B4-BE49-F238E27FC236}">
                <a16:creationId xmlns:a16="http://schemas.microsoft.com/office/drawing/2014/main" id="{E5F86895-F3BD-4D39-92E0-BAADF14D8A85}"/>
              </a:ext>
            </a:extLst>
          </p:cNvPr>
          <p:cNvSpPr>
            <a:spLocks xmlns:a="http://schemas.openxmlformats.org/drawingml/2006/main" noGrp="1"/>
          </p:cNvSpPr>
          <p:nvPr/>
        </p:nvSpPr>
        <p:spPr>
          <a:xfrm xmlns:a="http://schemas.openxmlformats.org/drawingml/2006/main" flipV="0">
            <a:off x="5919788" y="5267325"/>
            <a:ext cx="0" cy="152400"/>
          </a:xfrm>
          <a:prstGeom xmlns:a="http://schemas.openxmlformats.org/drawingml/2006/main" prst="line">
            <a:avLst/>
          </a:prstGeom>
          <a:noFill xmlns:a="http://schemas.openxmlformats.org/drawingml/2006/main"/>
          <a:ln xmlns:a="http://schemas.openxmlformats.org/drawingml/2006/main" w="15240">
            <a:solidFill>
              <a:srgbClr val="8BB7E3"/>
            </a:solidFill>
          </a:ln>
        </p:spPr>
      </p:sp>
      <p:sp>
        <p:nvSpPr>
          <p:cNvPr id="55" name="specialist-1">
            <a:extLst xmlns:a="http://schemas.openxmlformats.org/drawingml/2006/main">
              <a:ext uri="{FF2B5EF4-FFF2-40B4-BE49-F238E27FC236}">
                <a16:creationId xmlns:a16="http://schemas.microsoft.com/office/drawing/2014/main" id="{8E648131-CDE6-4E2D-B597-D871CABC1A09}"/>
              </a:ext>
            </a:extLst>
          </p:cNvPr>
          <p:cNvSpPr>
            <a:spLocks xmlns:a="http://schemas.openxmlformats.org/drawingml/2006/main" noGrp="1"/>
          </p:cNvSpPr>
          <p:nvPr/>
        </p:nvSpPr>
        <p:spPr>
          <a:xfrm xmlns:a="http://schemas.openxmlformats.org/drawingml/2006/main">
            <a:off x="4395788" y="5419725"/>
            <a:ext cx="3219450" cy="790575"/>
          </a:xfrm>
          <a:prstGeom xmlns:a="http://schemas.openxmlformats.org/drawingml/2006/main" prst="roundRect">
            <a:avLst>
              <a:gd name="adj" fmla="val 7229"/>
            </a:avLst>
          </a:prstGeom>
          <a:solidFill xmlns:a="http://schemas.openxmlformats.org/drawingml/2006/main">
            <a:srgbClr val="F7F9FB"/>
          </a:solidFill>
          <a:ln xmlns:a="http://schemas.openxmlformats.org/drawingml/2006/main" w="0">
            <a:noFill/>
          </a:ln>
        </p:spPr>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eeeed1c82e2f46f0"/>
          <a:stretch xmlns:a="http://schemas.openxmlformats.org/drawingml/2006/main"/>
        </p:blipFill>
        <p:spPr>
          <a:xfrm xmlns:a="http://schemas.openxmlformats.org/drawingml/2006/main">
            <a:off x="4510088" y="5524500"/>
            <a:ext cx="219075" cy="219075"/>
          </a:xfrm>
          <a:prstGeom xmlns:a="http://schemas.openxmlformats.org/drawingml/2006/main" prst="rect">
            <a:avLst/>
          </a:prstGeom>
        </p:spPr>
      </p:pic>
      <p:sp>
        <p:nvSpPr>
          <p:cNvPr id="57" name="specialist-name-1">
            <a:extLst xmlns:a="http://schemas.openxmlformats.org/drawingml/2006/main">
              <a:ext uri="{FF2B5EF4-FFF2-40B4-BE49-F238E27FC236}">
                <a16:creationId xmlns:a16="http://schemas.microsoft.com/office/drawing/2014/main" id="{5588C997-ACBC-4070-8E51-F22FF7B56DDF}"/>
              </a:ext>
            </a:extLst>
          </p:cNvPr>
          <p:cNvSpPr>
            <a:spLocks xmlns:a="http://schemas.openxmlformats.org/drawingml/2006/main" noGrp="1"/>
          </p:cNvSpPr>
          <p:nvPr/>
        </p:nvSpPr>
        <p:spPr>
          <a:xfrm xmlns:a="http://schemas.openxmlformats.org/drawingml/2006/main">
            <a:off x="4814888" y="55245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6191C"/>
                </a:solidFill>
                <a:latin typeface="Helvetica Neue"/>
                <a:ea typeface="Helvetica Neue"/>
                <a:cs typeface="Helvetica Neue"/>
              </a:defRPr>
            </a:pPr>
            <a:r>
              <a:rPr sz="1500" b="1">
                <a:solidFill>
                  <a:srgbClr val="16191C"/>
                </a:solidFill>
                <a:latin typeface="Helvetica Neue"/>
                <a:ea typeface="Helvetica Neue"/>
                <a:cs typeface="Helvetica Neue"/>
              </a:rPr>
              <a:t>Validation and evidence</a:t>
            </a:r>
          </a:p>
        </p:txBody>
      </p:sp>
      <p:sp>
        <p:nvSpPr>
          <p:cNvPr id="58" name="specialist-description-1">
            <a:extLst xmlns:a="http://schemas.openxmlformats.org/drawingml/2006/main">
              <a:ext uri="{FF2B5EF4-FFF2-40B4-BE49-F238E27FC236}">
                <a16:creationId xmlns:a16="http://schemas.microsoft.com/office/drawing/2014/main" id="{F2AF936E-60CB-41BD-ABFB-E2D72915E9B3}"/>
              </a:ext>
            </a:extLst>
          </p:cNvPr>
          <p:cNvSpPr>
            <a:spLocks xmlns:a="http://schemas.openxmlformats.org/drawingml/2006/main" noGrp="1"/>
          </p:cNvSpPr>
          <p:nvPr/>
        </p:nvSpPr>
        <p:spPr>
          <a:xfrm xmlns:a="http://schemas.openxmlformats.org/drawingml/2006/main">
            <a:off x="4510088" y="584835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13" b="0">
                <a:solidFill>
                  <a:srgbClr val="616B75"/>
                </a:solidFill>
                <a:latin typeface="Helvetica Neue"/>
                <a:ea typeface="Helvetica Neue"/>
                <a:cs typeface="Helvetica Neue"/>
              </a:defRPr>
            </a:pPr>
            <a:r>
              <a:rPr sz="1313" b="0">
                <a:solidFill>
                  <a:srgbClr val="616B75"/>
                </a:solidFill>
                <a:latin typeface="Helvetica Neue"/>
                <a:ea typeface="Helvetica Neue"/>
                <a:cs typeface="Helvetica Neue"/>
              </a:rPr>
              <a:t>Checks evidence and flags remaining tests against requirements.</a:t>
            </a:r>
          </a:p>
        </p:txBody>
      </p:sp>
      <p:sp>
        <p:nvSpPr>
          <p:cNvPr id="59" name="line-41">
            <a:extLst xmlns:a="http://schemas.openxmlformats.org/drawingml/2006/main">
              <a:ext uri="{FF2B5EF4-FFF2-40B4-BE49-F238E27FC236}">
                <a16:creationId xmlns:a16="http://schemas.microsoft.com/office/drawing/2014/main" id="{8997A25E-D077-4208-A730-79ABB83BD70B}"/>
              </a:ext>
            </a:extLst>
          </p:cNvPr>
          <p:cNvSpPr>
            <a:spLocks xmlns:a="http://schemas.openxmlformats.org/drawingml/2006/main" noGrp="1"/>
          </p:cNvSpPr>
          <p:nvPr/>
        </p:nvSpPr>
        <p:spPr>
          <a:xfrm xmlns:a="http://schemas.openxmlformats.org/drawingml/2006/main" flipV="0">
            <a:off x="9305925" y="5267325"/>
            <a:ext cx="0" cy="152400"/>
          </a:xfrm>
          <a:prstGeom xmlns:a="http://schemas.openxmlformats.org/drawingml/2006/main" prst="line">
            <a:avLst/>
          </a:prstGeom>
          <a:noFill xmlns:a="http://schemas.openxmlformats.org/drawingml/2006/main"/>
          <a:ln xmlns:a="http://schemas.openxmlformats.org/drawingml/2006/main" w="15240">
            <a:solidFill>
              <a:srgbClr val="8BB7E3"/>
            </a:solidFill>
          </a:ln>
        </p:spPr>
      </p:sp>
      <p:sp>
        <p:nvSpPr>
          <p:cNvPr id="60" name="specialist-2">
            <a:extLst xmlns:a="http://schemas.openxmlformats.org/drawingml/2006/main">
              <a:ext uri="{FF2B5EF4-FFF2-40B4-BE49-F238E27FC236}">
                <a16:creationId xmlns:a16="http://schemas.microsoft.com/office/drawing/2014/main" id="{39F9332A-4BAF-4E2A-9091-EBAB3F2EF8A4}"/>
              </a:ext>
            </a:extLst>
          </p:cNvPr>
          <p:cNvSpPr>
            <a:spLocks xmlns:a="http://schemas.openxmlformats.org/drawingml/2006/main" noGrp="1"/>
          </p:cNvSpPr>
          <p:nvPr/>
        </p:nvSpPr>
        <p:spPr>
          <a:xfrm xmlns:a="http://schemas.openxmlformats.org/drawingml/2006/main">
            <a:off x="7781925" y="5419725"/>
            <a:ext cx="3219450" cy="790575"/>
          </a:xfrm>
          <a:prstGeom xmlns:a="http://schemas.openxmlformats.org/drawingml/2006/main" prst="roundRect">
            <a:avLst>
              <a:gd name="adj" fmla="val 7229"/>
            </a:avLst>
          </a:prstGeom>
          <a:solidFill xmlns:a="http://schemas.openxmlformats.org/drawingml/2006/main">
            <a:srgbClr val="F7F9FB"/>
          </a:solidFill>
          <a:ln xmlns:a="http://schemas.openxmlformats.org/drawingml/2006/main" w="0">
            <a:noFill/>
          </a:ln>
        </p:spPr>
      </p:sp>
      <p:pic>
        <p:nvPicPr>
          <p:cNvPr id="164" name=""/>
          <p:cNvPicPr>
            <a:picLocks xmlns:a="http://schemas.openxmlformats.org/drawingml/2006/main" noChangeAspect="1"/>
          </p:cNvPicPr>
          <p:nvPr/>
        </p:nvPicPr>
        <p:blipFill>
          <a:blip xmlns:r="http://schemas.openxmlformats.org/officeDocument/2006/relationships" xmlns:a="http://schemas.openxmlformats.org/drawingml/2006/main" r:embed="Rf0f3732d0526490c"/>
          <a:stretch xmlns:a="http://schemas.openxmlformats.org/drawingml/2006/main"/>
        </p:blipFill>
        <p:spPr>
          <a:xfrm xmlns:a="http://schemas.openxmlformats.org/drawingml/2006/main">
            <a:off x="7896225" y="5524500"/>
            <a:ext cx="219075" cy="219075"/>
          </a:xfrm>
          <a:prstGeom xmlns:a="http://schemas.openxmlformats.org/drawingml/2006/main" prst="rect">
            <a:avLst/>
          </a:prstGeom>
        </p:spPr>
      </p:pic>
      <p:sp>
        <p:nvSpPr>
          <p:cNvPr id="62" name="specialist-name-2">
            <a:extLst xmlns:a="http://schemas.openxmlformats.org/drawingml/2006/main">
              <a:ext uri="{FF2B5EF4-FFF2-40B4-BE49-F238E27FC236}">
                <a16:creationId xmlns:a16="http://schemas.microsoft.com/office/drawing/2014/main" id="{F96E8C39-AC42-4F95-A7F2-616E7F551945}"/>
              </a:ext>
            </a:extLst>
          </p:cNvPr>
          <p:cNvSpPr>
            <a:spLocks xmlns:a="http://schemas.openxmlformats.org/drawingml/2006/main" noGrp="1"/>
          </p:cNvSpPr>
          <p:nvPr/>
        </p:nvSpPr>
        <p:spPr>
          <a:xfrm xmlns:a="http://schemas.openxmlformats.org/drawingml/2006/main">
            <a:off x="8201025" y="55245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6191C"/>
                </a:solidFill>
                <a:latin typeface="Helvetica Neue"/>
                <a:ea typeface="Helvetica Neue"/>
                <a:cs typeface="Helvetica Neue"/>
              </a:defRPr>
            </a:pPr>
            <a:r>
              <a:rPr sz="1500" b="1">
                <a:solidFill>
                  <a:srgbClr val="16191C"/>
                </a:solidFill>
                <a:latin typeface="Helvetica Neue"/>
                <a:ea typeface="Helvetica Neue"/>
                <a:cs typeface="Helvetica Neue"/>
              </a:rPr>
              <a:t>Manufacturing</a:t>
            </a:r>
          </a:p>
        </p:txBody>
      </p:sp>
      <p:sp>
        <p:nvSpPr>
          <p:cNvPr id="63" name="specialist-description-2">
            <a:extLst xmlns:a="http://schemas.openxmlformats.org/drawingml/2006/main">
              <a:ext uri="{FF2B5EF4-FFF2-40B4-BE49-F238E27FC236}">
                <a16:creationId xmlns:a16="http://schemas.microsoft.com/office/drawing/2014/main" id="{ACB9C758-6625-4C69-83B4-CD7E4BEABB29}"/>
              </a:ext>
            </a:extLst>
          </p:cNvPr>
          <p:cNvSpPr>
            <a:spLocks xmlns:a="http://schemas.openxmlformats.org/drawingml/2006/main" noGrp="1"/>
          </p:cNvSpPr>
          <p:nvPr/>
        </p:nvSpPr>
        <p:spPr>
          <a:xfrm xmlns:a="http://schemas.openxmlformats.org/drawingml/2006/main">
            <a:off x="7896225" y="584835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13" b="0">
                <a:solidFill>
                  <a:srgbClr val="616B75"/>
                </a:solidFill>
                <a:latin typeface="Helvetica Neue"/>
                <a:ea typeface="Helvetica Neue"/>
                <a:cs typeface="Helvetica Neue"/>
              </a:defRPr>
            </a:pPr>
            <a:r>
              <a:rPr sz="1313" b="0">
                <a:solidFill>
                  <a:srgbClr val="616B75"/>
                </a:solidFill>
                <a:latin typeface="Helvetica Neue"/>
                <a:ea typeface="Helvetica Neue"/>
                <a:cs typeface="Helvetica Neue"/>
              </a:rPr>
              <a:t>Investigates yield, quality, material restrictions, and supply.</a:t>
            </a:r>
          </a:p>
        </p:txBody>
      </p:sp>
      <p:sp>
        <p:nvSpPr>
          <p:cNvPr id="64" name="line-43">
            <a:extLst xmlns:a="http://schemas.openxmlformats.org/drawingml/2006/main">
              <a:ext uri="{FF2B5EF4-FFF2-40B4-BE49-F238E27FC236}">
                <a16:creationId xmlns:a16="http://schemas.microsoft.com/office/drawing/2014/main" id="{78307D79-A65C-4F19-BA99-A01C81525FEA}"/>
              </a:ext>
            </a:extLst>
          </p:cNvPr>
          <p:cNvSpPr>
            <a:spLocks xmlns:a="http://schemas.openxmlformats.org/drawingml/2006/main" noGrp="1"/>
          </p:cNvSpPr>
          <p:nvPr/>
        </p:nvSpPr>
        <p:spPr>
          <a:xfrm xmlns:a="http://schemas.openxmlformats.org/drawingml/2006/main" flipV="0">
            <a:off x="12692063" y="5267325"/>
            <a:ext cx="0" cy="152400"/>
          </a:xfrm>
          <a:prstGeom xmlns:a="http://schemas.openxmlformats.org/drawingml/2006/main" prst="line">
            <a:avLst/>
          </a:prstGeom>
          <a:noFill xmlns:a="http://schemas.openxmlformats.org/drawingml/2006/main"/>
          <a:ln xmlns:a="http://schemas.openxmlformats.org/drawingml/2006/main" w="15240">
            <a:solidFill>
              <a:srgbClr val="8BB7E3"/>
            </a:solidFill>
          </a:ln>
        </p:spPr>
      </p:sp>
      <p:sp>
        <p:nvSpPr>
          <p:cNvPr id="65" name="specialist-3">
            <a:extLst xmlns:a="http://schemas.openxmlformats.org/drawingml/2006/main">
              <a:ext uri="{FF2B5EF4-FFF2-40B4-BE49-F238E27FC236}">
                <a16:creationId xmlns:a16="http://schemas.microsoft.com/office/drawing/2014/main" id="{B5698215-0955-4E21-8824-09BBFCE4E4F9}"/>
              </a:ext>
            </a:extLst>
          </p:cNvPr>
          <p:cNvSpPr>
            <a:spLocks xmlns:a="http://schemas.openxmlformats.org/drawingml/2006/main" noGrp="1"/>
          </p:cNvSpPr>
          <p:nvPr/>
        </p:nvSpPr>
        <p:spPr>
          <a:xfrm xmlns:a="http://schemas.openxmlformats.org/drawingml/2006/main">
            <a:off x="11168063" y="5419725"/>
            <a:ext cx="3219450" cy="790575"/>
          </a:xfrm>
          <a:prstGeom xmlns:a="http://schemas.openxmlformats.org/drawingml/2006/main" prst="roundRect">
            <a:avLst>
              <a:gd name="adj" fmla="val 7229"/>
            </a:avLst>
          </a:prstGeom>
          <a:solidFill xmlns:a="http://schemas.openxmlformats.org/drawingml/2006/main">
            <a:srgbClr val="F7F9FB"/>
          </a:solidFill>
          <a:ln xmlns:a="http://schemas.openxmlformats.org/drawingml/2006/main" w="0">
            <a:noFill/>
          </a:ln>
        </p:spPr>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69b911df9c564068"/>
          <a:stretch xmlns:a="http://schemas.openxmlformats.org/drawingml/2006/main"/>
        </p:blipFill>
        <p:spPr>
          <a:xfrm xmlns:a="http://schemas.openxmlformats.org/drawingml/2006/main">
            <a:off x="11282363" y="5524500"/>
            <a:ext cx="219075" cy="219075"/>
          </a:xfrm>
          <a:prstGeom xmlns:a="http://schemas.openxmlformats.org/drawingml/2006/main" prst="rect">
            <a:avLst/>
          </a:prstGeom>
        </p:spPr>
      </p:pic>
      <p:sp>
        <p:nvSpPr>
          <p:cNvPr id="67" name="specialist-name-3">
            <a:extLst xmlns:a="http://schemas.openxmlformats.org/drawingml/2006/main">
              <a:ext uri="{FF2B5EF4-FFF2-40B4-BE49-F238E27FC236}">
                <a16:creationId xmlns:a16="http://schemas.microsoft.com/office/drawing/2014/main" id="{0B182FE1-A25E-4353-90EC-2E679E4FB91C}"/>
              </a:ext>
            </a:extLst>
          </p:cNvPr>
          <p:cNvSpPr>
            <a:spLocks xmlns:a="http://schemas.openxmlformats.org/drawingml/2006/main" noGrp="1"/>
          </p:cNvSpPr>
          <p:nvPr/>
        </p:nvSpPr>
        <p:spPr>
          <a:xfrm xmlns:a="http://schemas.openxmlformats.org/drawingml/2006/main">
            <a:off x="11587163" y="5524500"/>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6191C"/>
                </a:solidFill>
                <a:latin typeface="Helvetica Neue"/>
                <a:ea typeface="Helvetica Neue"/>
                <a:cs typeface="Helvetica Neue"/>
              </a:defRPr>
            </a:pPr>
            <a:r>
              <a:rPr sz="1500" b="1">
                <a:solidFill>
                  <a:srgbClr val="16191C"/>
                </a:solidFill>
                <a:latin typeface="Helvetica Neue"/>
                <a:ea typeface="Helvetica Neue"/>
                <a:cs typeface="Helvetica Neue"/>
              </a:rPr>
              <a:t>Program and commercial</a:t>
            </a:r>
          </a:p>
        </p:txBody>
      </p:sp>
      <p:sp>
        <p:nvSpPr>
          <p:cNvPr id="68" name="specialist-description-3">
            <a:extLst xmlns:a="http://schemas.openxmlformats.org/drawingml/2006/main">
              <a:ext uri="{FF2B5EF4-FFF2-40B4-BE49-F238E27FC236}">
                <a16:creationId xmlns:a16="http://schemas.microsoft.com/office/drawing/2014/main" id="{D573BFAF-C7E7-4470-AC33-019D782A46AA}"/>
              </a:ext>
            </a:extLst>
          </p:cNvPr>
          <p:cNvSpPr>
            <a:spLocks xmlns:a="http://schemas.openxmlformats.org/drawingml/2006/main" noGrp="1"/>
          </p:cNvSpPr>
          <p:nvPr/>
        </p:nvSpPr>
        <p:spPr>
          <a:xfrm xmlns:a="http://schemas.openxmlformats.org/drawingml/2006/main">
            <a:off x="11282363" y="584835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13" b="0">
                <a:solidFill>
                  <a:srgbClr val="616B75"/>
                </a:solidFill>
                <a:latin typeface="Helvetica Neue"/>
                <a:ea typeface="Helvetica Neue"/>
                <a:cs typeface="Helvetica Neue"/>
              </a:defRPr>
            </a:pPr>
            <a:r>
              <a:rPr sz="1313" b="0">
                <a:solidFill>
                  <a:srgbClr val="616B75"/>
                </a:solidFill>
                <a:latin typeface="Helvetica Neue"/>
                <a:ea typeface="Helvetica Neue"/>
                <a:cs typeface="Helvetica Neue"/>
              </a:rPr>
              <a:t>Compares options for schedule, cost, and commitments.</a:t>
            </a:r>
          </a:p>
        </p:txBody>
      </p:sp>
      <p:sp>
        <p:nvSpPr>
          <p:cNvPr id="69" name="handoff-keywords">
            <a:extLst xmlns:a="http://schemas.openxmlformats.org/drawingml/2006/main">
              <a:ext uri="{FF2B5EF4-FFF2-40B4-BE49-F238E27FC236}">
                <a16:creationId xmlns:a16="http://schemas.microsoft.com/office/drawing/2014/main" id="{33ABCE97-5D18-434F-A61E-07CDC8A6A0F2}"/>
              </a:ext>
            </a:extLst>
          </p:cNvPr>
          <p:cNvSpPr>
            <a:spLocks xmlns:a="http://schemas.openxmlformats.org/drawingml/2006/main" noGrp="1"/>
          </p:cNvSpPr>
          <p:nvPr/>
        </p:nvSpPr>
        <p:spPr>
          <a:xfrm xmlns:a="http://schemas.openxmlformats.org/drawingml/2006/main">
            <a:off x="3905250" y="6229350"/>
            <a:ext cx="742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616B75"/>
                </a:solidFill>
                <a:latin typeface="Helvetica Neue"/>
                <a:ea typeface="Helvetica Neue"/>
                <a:cs typeface="Helvetica Neue"/>
              </a:defRPr>
            </a:pPr>
            <a:r>
              <a:rPr sz="1275" b="0">
                <a:solidFill>
                  <a:srgbClr val="616B75"/>
                </a:solidFill>
                <a:latin typeface="Helvetica Neue"/>
                <a:ea typeface="Helvetica Neue"/>
                <a:cs typeface="Helvetica Neue"/>
              </a:rPr>
              <a:t>Delegate · Consult · Reconcile · Synthesize</a:t>
            </a:r>
          </a:p>
        </p:txBody>
      </p:sp>
      <p:pic>
        <p:nvPicPr>
          <p:cNvPr id="173" name=""/>
          <p:cNvPicPr>
            <a:picLocks xmlns:a="http://schemas.openxmlformats.org/drawingml/2006/main" noChangeAspect="1"/>
          </p:cNvPicPr>
          <p:nvPr/>
        </p:nvPicPr>
        <p:blipFill>
          <a:blip xmlns:r="http://schemas.openxmlformats.org/officeDocument/2006/relationships" xmlns:a="http://schemas.openxmlformats.org/drawingml/2006/main" r:embed="Rb2bd2303a0ab49e9"/>
          <a:stretch xmlns:a="http://schemas.openxmlformats.org/drawingml/2006/main"/>
        </p:blipFill>
        <p:spPr>
          <a:xfrm xmlns:a="http://schemas.openxmlformats.org/drawingml/2006/main">
            <a:off x="1343025" y="6572250"/>
            <a:ext cx="266700" cy="266700"/>
          </a:xfrm>
          <a:prstGeom xmlns:a="http://schemas.openxmlformats.org/drawingml/2006/main" prst="rect">
            <a:avLst/>
          </a:prstGeom>
        </p:spPr>
      </p:pic>
      <p:sp>
        <p:nvSpPr>
          <p:cNvPr id="71" name="port-22">
            <a:extLst xmlns:a="http://schemas.openxmlformats.org/drawingml/2006/main">
              <a:ext uri="{FF2B5EF4-FFF2-40B4-BE49-F238E27FC236}">
                <a16:creationId xmlns:a16="http://schemas.microsoft.com/office/drawing/2014/main" id="{F051EDCC-B983-4CD1-8D1F-6737015AC4BA}"/>
              </a:ext>
            </a:extLst>
          </p:cNvPr>
          <p:cNvSpPr>
            <a:spLocks xmlns:a="http://schemas.openxmlformats.org/drawingml/2006/main" noGrp="1"/>
          </p:cNvSpPr>
          <p:nvPr/>
        </p:nvSpPr>
        <p:spPr>
          <a:xfrm xmlns:a="http://schemas.openxmlformats.org/drawingml/2006/main">
            <a:off x="1733550" y="657225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6191C"/>
                </a:solidFill>
                <a:latin typeface="Helvetica Neue"/>
                <a:ea typeface="Helvetica Neue"/>
                <a:cs typeface="Helvetica Neue"/>
              </a:defRPr>
            </a:pPr>
            <a:r>
              <a:rPr sz="1650" b="1">
                <a:solidFill>
                  <a:srgbClr val="16191C"/>
                </a:solidFill>
                <a:latin typeface="Helvetica Neue"/>
                <a:ea typeface="Helvetica Neue"/>
                <a:cs typeface="Helvetica Neue"/>
              </a:rPr>
              <a:t>Scoped tools</a:t>
            </a:r>
          </a:p>
        </p:txBody>
      </p:sp>
      <p:sp>
        <p:nvSpPr>
          <p:cNvPr id="72" name="port-detail-22">
            <a:extLst xmlns:a="http://schemas.openxmlformats.org/drawingml/2006/main">
              <a:ext uri="{FF2B5EF4-FFF2-40B4-BE49-F238E27FC236}">
                <a16:creationId xmlns:a16="http://schemas.microsoft.com/office/drawing/2014/main" id="{116AF8A3-81CD-4242-9B65-2526D0B4E119}"/>
              </a:ext>
            </a:extLst>
          </p:cNvPr>
          <p:cNvSpPr>
            <a:spLocks xmlns:a="http://schemas.openxmlformats.org/drawingml/2006/main" noGrp="1"/>
          </p:cNvSpPr>
          <p:nvPr/>
        </p:nvSpPr>
        <p:spPr>
          <a:xfrm xmlns:a="http://schemas.openxmlformats.org/drawingml/2006/main">
            <a:off x="1247775" y="6896100"/>
            <a:ext cx="366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16B75"/>
                </a:solidFill>
                <a:latin typeface="Helvetica Neue"/>
                <a:ea typeface="Helvetica Neue"/>
                <a:cs typeface="Helvetica Neue"/>
              </a:defRPr>
            </a:pPr>
            <a:r>
              <a:rPr sz="1275" b="0">
                <a:solidFill>
                  <a:srgbClr val="616B75"/>
                </a:solidFill>
                <a:latin typeface="Helvetica Neue"/>
                <a:ea typeface="Helvetica Neue"/>
                <a:cs typeface="Helvetica Neue"/>
              </a:rPr>
              <a:t>Bounded read tools per specialist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05d9645f81c4d31"/>
          <a:stretch xmlns:a="http://schemas.openxmlformats.org/drawingml/2006/main"/>
        </p:blipFill>
        <p:spPr>
          <a:xfrm xmlns:a="http://schemas.openxmlformats.org/drawingml/2006/main">
            <a:off x="6172200" y="6572250"/>
            <a:ext cx="266700" cy="266700"/>
          </a:xfrm>
          <a:prstGeom xmlns:a="http://schemas.openxmlformats.org/drawingml/2006/main" prst="rect">
            <a:avLst/>
          </a:prstGeom>
        </p:spPr>
      </p:pic>
      <p:sp>
        <p:nvSpPr>
          <p:cNvPr id="74" name="port-23">
            <a:extLst xmlns:a="http://schemas.openxmlformats.org/drawingml/2006/main">
              <a:ext uri="{FF2B5EF4-FFF2-40B4-BE49-F238E27FC236}">
                <a16:creationId xmlns:a16="http://schemas.microsoft.com/office/drawing/2014/main" id="{31E1E347-0896-4290-A80C-9F384080B165}"/>
              </a:ext>
            </a:extLst>
          </p:cNvPr>
          <p:cNvSpPr>
            <a:spLocks xmlns:a="http://schemas.openxmlformats.org/drawingml/2006/main" noGrp="1"/>
          </p:cNvSpPr>
          <p:nvPr/>
        </p:nvSpPr>
        <p:spPr>
          <a:xfrm xmlns:a="http://schemas.openxmlformats.org/drawingml/2006/main">
            <a:off x="6562725" y="657225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6191C"/>
                </a:solidFill>
                <a:latin typeface="Helvetica Neue"/>
                <a:ea typeface="Helvetica Neue"/>
                <a:cs typeface="Helvetica Neue"/>
              </a:defRPr>
            </a:pPr>
            <a:r>
              <a:rPr sz="1650" b="1">
                <a:solidFill>
                  <a:srgbClr val="16191C"/>
                </a:solidFill>
                <a:latin typeface="Helvetica Neue"/>
                <a:ea typeface="Helvetica Neue"/>
                <a:cs typeface="Helvetica Neue"/>
              </a:rPr>
              <a:t>Knowledge and evidence</a:t>
            </a:r>
          </a:p>
        </p:txBody>
      </p:sp>
      <p:sp>
        <p:nvSpPr>
          <p:cNvPr id="75" name="port-detail-23">
            <a:extLst xmlns:a="http://schemas.openxmlformats.org/drawingml/2006/main">
              <a:ext uri="{FF2B5EF4-FFF2-40B4-BE49-F238E27FC236}">
                <a16:creationId xmlns:a16="http://schemas.microsoft.com/office/drawing/2014/main" id="{E6C6E45C-9D0B-458D-B6D7-141C91310483}"/>
              </a:ext>
            </a:extLst>
          </p:cNvPr>
          <p:cNvSpPr>
            <a:spLocks xmlns:a="http://schemas.openxmlformats.org/drawingml/2006/main" noGrp="1"/>
          </p:cNvSpPr>
          <p:nvPr/>
        </p:nvSpPr>
        <p:spPr>
          <a:xfrm xmlns:a="http://schemas.openxmlformats.org/drawingml/2006/main">
            <a:off x="6076950" y="6896100"/>
            <a:ext cx="366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16B75"/>
                </a:solidFill>
                <a:latin typeface="Helvetica Neue"/>
                <a:ea typeface="Helvetica Neue"/>
                <a:cs typeface="Helvetica Neue"/>
              </a:defRPr>
            </a:pPr>
            <a:r>
              <a:rPr sz="1275" b="0">
                <a:solidFill>
                  <a:srgbClr val="616B75"/>
                </a:solidFill>
                <a:latin typeface="Helvetica Neue"/>
                <a:ea typeface="Helvetica Neue"/>
                <a:cs typeface="Helvetica Neue"/>
              </a:rPr>
              <a:t>Shared RAG with exact-source checks</a:t>
            </a:r>
          </a:p>
        </p:txBody>
      </p:sp>
      <p:pic>
        <p:nvPicPr>
          <p:cNvPr id="179" name=""/>
          <p:cNvPicPr>
            <a:picLocks xmlns:a="http://schemas.openxmlformats.org/drawingml/2006/main" noChangeAspect="1"/>
          </p:cNvPicPr>
          <p:nvPr/>
        </p:nvPicPr>
        <p:blipFill>
          <a:blip xmlns:r="http://schemas.openxmlformats.org/officeDocument/2006/relationships" xmlns:a="http://schemas.openxmlformats.org/drawingml/2006/main" r:embed="R88aa58e2f0d84f2a"/>
          <a:stretch xmlns:a="http://schemas.openxmlformats.org/drawingml/2006/main"/>
        </p:blipFill>
        <p:spPr>
          <a:xfrm xmlns:a="http://schemas.openxmlformats.org/drawingml/2006/main">
            <a:off x="10839450" y="6572250"/>
            <a:ext cx="266700" cy="266700"/>
          </a:xfrm>
          <a:prstGeom xmlns:a="http://schemas.openxmlformats.org/drawingml/2006/main" prst="rect">
            <a:avLst/>
          </a:prstGeom>
        </p:spPr>
      </p:pic>
      <p:sp>
        <p:nvSpPr>
          <p:cNvPr id="77" name="port-24">
            <a:extLst xmlns:a="http://schemas.openxmlformats.org/drawingml/2006/main">
              <a:ext uri="{FF2B5EF4-FFF2-40B4-BE49-F238E27FC236}">
                <a16:creationId xmlns:a16="http://schemas.microsoft.com/office/drawing/2014/main" id="{6281D319-9EC0-4F57-93C3-B6CECD80FC7D}"/>
              </a:ext>
            </a:extLst>
          </p:cNvPr>
          <p:cNvSpPr>
            <a:spLocks xmlns:a="http://schemas.openxmlformats.org/drawingml/2006/main" noGrp="1"/>
          </p:cNvSpPr>
          <p:nvPr/>
        </p:nvSpPr>
        <p:spPr>
          <a:xfrm xmlns:a="http://schemas.openxmlformats.org/drawingml/2006/main">
            <a:off x="11229975" y="657225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6191C"/>
                </a:solidFill>
                <a:latin typeface="Helvetica Neue"/>
                <a:ea typeface="Helvetica Neue"/>
                <a:cs typeface="Helvetica Neue"/>
              </a:defRPr>
            </a:pPr>
            <a:r>
              <a:rPr sz="1650" b="1">
                <a:solidFill>
                  <a:srgbClr val="16191C"/>
                </a:solidFill>
                <a:latin typeface="Helvetica Neue"/>
                <a:ea typeface="Helvetica Neue"/>
                <a:cs typeface="Helvetica Neue"/>
              </a:rPr>
              <a:t>Governed execution</a:t>
            </a:r>
          </a:p>
        </p:txBody>
      </p:sp>
      <p:sp>
        <p:nvSpPr>
          <p:cNvPr id="78" name="port-detail-24">
            <a:extLst xmlns:a="http://schemas.openxmlformats.org/drawingml/2006/main">
              <a:ext uri="{FF2B5EF4-FFF2-40B4-BE49-F238E27FC236}">
                <a16:creationId xmlns:a16="http://schemas.microsoft.com/office/drawing/2014/main" id="{C308089C-74CB-457C-A8A7-EC01A4AEA3BA}"/>
              </a:ext>
            </a:extLst>
          </p:cNvPr>
          <p:cNvSpPr>
            <a:spLocks xmlns:a="http://schemas.openxmlformats.org/drawingml/2006/main" noGrp="1"/>
          </p:cNvSpPr>
          <p:nvPr/>
        </p:nvSpPr>
        <p:spPr>
          <a:xfrm xmlns:a="http://schemas.openxmlformats.org/drawingml/2006/main">
            <a:off x="10744200" y="6896100"/>
            <a:ext cx="366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616B75"/>
                </a:solidFill>
                <a:latin typeface="Helvetica Neue"/>
                <a:ea typeface="Helvetica Neue"/>
                <a:cs typeface="Helvetica Neue"/>
              </a:defRPr>
            </a:pPr>
            <a:r>
              <a:rPr sz="1275" b="0">
                <a:solidFill>
                  <a:srgbClr val="616B75"/>
                </a:solidFill>
                <a:latin typeface="Helvetica Neue"/>
                <a:ea typeface="Helvetica Neue"/>
                <a:cs typeface="Helvetica Neue"/>
              </a:rPr>
              <a:t>Policy gates and guardrails applied</a:t>
            </a:r>
          </a:p>
        </p:txBody>
      </p:sp>
      <p:pic>
        <p:nvPicPr>
          <p:cNvPr id="182" name=""/>
          <p:cNvPicPr>
            <a:picLocks xmlns:a="http://schemas.openxmlformats.org/drawingml/2006/main" noChangeAspect="1"/>
          </p:cNvPicPr>
          <p:nvPr/>
        </p:nvPicPr>
        <p:blipFill>
          <a:blip xmlns:r="http://schemas.openxmlformats.org/officeDocument/2006/relationships" xmlns:a="http://schemas.openxmlformats.org/drawingml/2006/main" r:embed="Raf934b6518a8455a"/>
          <a:stretch xmlns:a="http://schemas.openxmlformats.org/drawingml/2006/main"/>
        </p:blipFill>
        <p:spPr>
          <a:xfrm xmlns:a="http://schemas.openxmlformats.org/drawingml/2006/main">
            <a:off x="1352550" y="7305675"/>
            <a:ext cx="257175" cy="257175"/>
          </a:xfrm>
          <a:prstGeom xmlns:a="http://schemas.openxmlformats.org/drawingml/2006/main" prst="rect">
            <a:avLst/>
          </a:prstGeom>
        </p:spPr>
      </p:pic>
      <p:sp>
        <p:nvSpPr>
          <p:cNvPr id="80" name="flow-25">
            <a:extLst xmlns:a="http://schemas.openxmlformats.org/drawingml/2006/main">
              <a:ext uri="{FF2B5EF4-FFF2-40B4-BE49-F238E27FC236}">
                <a16:creationId xmlns:a16="http://schemas.microsoft.com/office/drawing/2014/main" id="{28591A65-CBDB-41B2-9EBA-B934FBFA1D0E}"/>
              </a:ext>
            </a:extLst>
          </p:cNvPr>
          <p:cNvSpPr>
            <a:spLocks xmlns:a="http://schemas.openxmlformats.org/drawingml/2006/main" noGrp="1"/>
          </p:cNvSpPr>
          <p:nvPr/>
        </p:nvSpPr>
        <p:spPr>
          <a:xfrm xmlns:a="http://schemas.openxmlformats.org/drawingml/2006/main">
            <a:off x="1752600" y="7248525"/>
            <a:ext cx="335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6CC6"/>
                </a:solidFill>
                <a:latin typeface="Helvetica Neue"/>
                <a:ea typeface="Helvetica Neue"/>
                <a:cs typeface="Helvetica Neue"/>
              </a:defRPr>
            </a:pPr>
            <a:r>
              <a:rPr sz="1500" b="1">
                <a:solidFill>
                  <a:srgbClr val="176CC6"/>
                </a:solidFill>
                <a:latin typeface="Helvetica Neue"/>
                <a:ea typeface="Helvetica Neue"/>
                <a:cs typeface="Helvetica Neue"/>
              </a:rPr>
              <a:t>Tool calls</a:t>
            </a:r>
          </a:p>
        </p:txBody>
      </p:sp>
      <p:sp>
        <p:nvSpPr>
          <p:cNvPr id="81" name="flow-sub-25">
            <a:extLst xmlns:a="http://schemas.openxmlformats.org/drawingml/2006/main">
              <a:ext uri="{FF2B5EF4-FFF2-40B4-BE49-F238E27FC236}">
                <a16:creationId xmlns:a16="http://schemas.microsoft.com/office/drawing/2014/main" id="{A3026AF2-BD4B-4B8E-B86E-B294579B8C0E}"/>
              </a:ext>
            </a:extLst>
          </p:cNvPr>
          <p:cNvSpPr>
            <a:spLocks xmlns:a="http://schemas.openxmlformats.org/drawingml/2006/main" noGrp="1"/>
          </p:cNvSpPr>
          <p:nvPr/>
        </p:nvSpPr>
        <p:spPr>
          <a:xfrm xmlns:a="http://schemas.openxmlformats.org/drawingml/2006/main">
            <a:off x="1752600" y="7524750"/>
            <a:ext cx="335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38" b="0">
                <a:solidFill>
                  <a:srgbClr val="616B75"/>
                </a:solidFill>
                <a:latin typeface="Helvetica Neue"/>
                <a:ea typeface="Helvetica Neue"/>
                <a:cs typeface="Helvetica Neue"/>
              </a:defRPr>
            </a:pPr>
            <a:r>
              <a:rPr sz="1238" b="0">
                <a:solidFill>
                  <a:srgbClr val="616B75"/>
                </a:solidFill>
                <a:latin typeface="Helvetica Neue"/>
                <a:ea typeface="Helvetica Neue"/>
                <a:cs typeface="Helvetica Neue"/>
              </a:rPr>
              <a:t>MCP server and source APIs</a:t>
            </a:r>
          </a:p>
        </p:txBody>
      </p:sp>
      <p:pic>
        <p:nvPicPr>
          <p:cNvPr id="185" name=""/>
          <p:cNvPicPr>
            <a:picLocks xmlns:a="http://schemas.openxmlformats.org/drawingml/2006/main" noChangeAspect="1"/>
          </p:cNvPicPr>
          <p:nvPr/>
        </p:nvPicPr>
        <p:blipFill>
          <a:blip xmlns:r="http://schemas.openxmlformats.org/officeDocument/2006/relationships" xmlns:a="http://schemas.openxmlformats.org/drawingml/2006/main" r:embed="R7b3b17942c964f60"/>
          <a:stretch xmlns:a="http://schemas.openxmlformats.org/drawingml/2006/main"/>
        </p:blipFill>
        <p:spPr>
          <a:xfrm xmlns:a="http://schemas.openxmlformats.org/drawingml/2006/main">
            <a:off x="6181725" y="7305675"/>
            <a:ext cx="257175" cy="257175"/>
          </a:xfrm>
          <a:prstGeom xmlns:a="http://schemas.openxmlformats.org/drawingml/2006/main" prst="rect">
            <a:avLst/>
          </a:prstGeom>
        </p:spPr>
      </p:pic>
      <p:sp>
        <p:nvSpPr>
          <p:cNvPr id="83" name="flow-26">
            <a:extLst xmlns:a="http://schemas.openxmlformats.org/drawingml/2006/main">
              <a:ext uri="{FF2B5EF4-FFF2-40B4-BE49-F238E27FC236}">
                <a16:creationId xmlns:a16="http://schemas.microsoft.com/office/drawing/2014/main" id="{41163FCA-CE90-45F5-BC1D-E138FBD22C97}"/>
              </a:ext>
            </a:extLst>
          </p:cNvPr>
          <p:cNvSpPr>
            <a:spLocks xmlns:a="http://schemas.openxmlformats.org/drawingml/2006/main" noGrp="1"/>
          </p:cNvSpPr>
          <p:nvPr/>
        </p:nvSpPr>
        <p:spPr>
          <a:xfrm xmlns:a="http://schemas.openxmlformats.org/drawingml/2006/main">
            <a:off x="6581775" y="7248525"/>
            <a:ext cx="335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6655C4"/>
                </a:solidFill>
                <a:latin typeface="Helvetica Neue"/>
                <a:ea typeface="Helvetica Neue"/>
                <a:cs typeface="Helvetica Neue"/>
              </a:defRPr>
            </a:pPr>
            <a:r>
              <a:rPr sz="1500" b="1">
                <a:solidFill>
                  <a:srgbClr val="6655C4"/>
                </a:solidFill>
                <a:latin typeface="Helvetica Neue"/>
                <a:ea typeface="Helvetica Neue"/>
                <a:cs typeface="Helvetica Neue"/>
              </a:rPr>
              <a:t>Knowledge context</a:t>
            </a:r>
          </a:p>
        </p:txBody>
      </p:sp>
      <p:sp>
        <p:nvSpPr>
          <p:cNvPr id="84" name="flow-sub-26">
            <a:extLst xmlns:a="http://schemas.openxmlformats.org/drawingml/2006/main">
              <a:ext uri="{FF2B5EF4-FFF2-40B4-BE49-F238E27FC236}">
                <a16:creationId xmlns:a16="http://schemas.microsoft.com/office/drawing/2014/main" id="{DAACF02B-9C43-43FA-9D51-C15F3DEA2BD0}"/>
              </a:ext>
            </a:extLst>
          </p:cNvPr>
          <p:cNvSpPr>
            <a:spLocks xmlns:a="http://schemas.openxmlformats.org/drawingml/2006/main" noGrp="1"/>
          </p:cNvSpPr>
          <p:nvPr/>
        </p:nvSpPr>
        <p:spPr>
          <a:xfrm xmlns:a="http://schemas.openxmlformats.org/drawingml/2006/main">
            <a:off x="6581775" y="7524750"/>
            <a:ext cx="335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38" b="0">
                <a:solidFill>
                  <a:srgbClr val="616B75"/>
                </a:solidFill>
                <a:latin typeface="Helvetica Neue"/>
                <a:ea typeface="Helvetica Neue"/>
                <a:cs typeface="Helvetica Neue"/>
              </a:defRPr>
            </a:pPr>
            <a:r>
              <a:rPr sz="1238" b="0">
                <a:solidFill>
                  <a:srgbClr val="616B75"/>
                </a:solidFill>
                <a:latin typeface="Helvetica Neue"/>
                <a:ea typeface="Helvetica Neue"/>
                <a:cs typeface="Helvetica Neue"/>
              </a:rPr>
              <a:t>Retrieve from the vector database</a:t>
            </a:r>
          </a:p>
        </p:txBody>
      </p:sp>
      <p:pic>
        <p:nvPicPr>
          <p:cNvPr id="188" name=""/>
          <p:cNvPicPr>
            <a:picLocks xmlns:a="http://schemas.openxmlformats.org/drawingml/2006/main" noChangeAspect="1"/>
          </p:cNvPicPr>
          <p:nvPr/>
        </p:nvPicPr>
        <p:blipFill>
          <a:blip xmlns:r="http://schemas.openxmlformats.org/officeDocument/2006/relationships" xmlns:a="http://schemas.openxmlformats.org/drawingml/2006/main" r:embed="Rb3f4070044324849"/>
          <a:stretch xmlns:a="http://schemas.openxmlformats.org/drawingml/2006/main"/>
        </p:blipFill>
        <p:spPr>
          <a:xfrm xmlns:a="http://schemas.openxmlformats.org/drawingml/2006/main">
            <a:off x="10848975" y="7305675"/>
            <a:ext cx="257175" cy="257175"/>
          </a:xfrm>
          <a:prstGeom xmlns:a="http://schemas.openxmlformats.org/drawingml/2006/main" prst="rect">
            <a:avLst/>
          </a:prstGeom>
        </p:spPr>
      </p:pic>
      <p:sp>
        <p:nvSpPr>
          <p:cNvPr id="86" name="flow-27">
            <a:extLst xmlns:a="http://schemas.openxmlformats.org/drawingml/2006/main">
              <a:ext uri="{FF2B5EF4-FFF2-40B4-BE49-F238E27FC236}">
                <a16:creationId xmlns:a16="http://schemas.microsoft.com/office/drawing/2014/main" id="{3831B56B-DEF4-47AE-B4B6-32091EAB2994}"/>
              </a:ext>
            </a:extLst>
          </p:cNvPr>
          <p:cNvSpPr>
            <a:spLocks xmlns:a="http://schemas.openxmlformats.org/drawingml/2006/main" noGrp="1"/>
          </p:cNvSpPr>
          <p:nvPr/>
        </p:nvSpPr>
        <p:spPr>
          <a:xfrm xmlns:a="http://schemas.openxmlformats.org/drawingml/2006/main">
            <a:off x="11249025" y="7248525"/>
            <a:ext cx="335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47E67"/>
                </a:solidFill>
                <a:latin typeface="Helvetica Neue"/>
                <a:ea typeface="Helvetica Neue"/>
                <a:cs typeface="Helvetica Neue"/>
              </a:defRPr>
            </a:pPr>
            <a:r>
              <a:rPr sz="1500" b="1">
                <a:solidFill>
                  <a:srgbClr val="147E67"/>
                </a:solidFill>
                <a:latin typeface="Helvetica Neue"/>
                <a:ea typeface="Helvetica Neue"/>
                <a:cs typeface="Helvetica Neue"/>
              </a:rPr>
              <a:t>API updates</a:t>
            </a:r>
          </a:p>
        </p:txBody>
      </p:sp>
      <p:sp>
        <p:nvSpPr>
          <p:cNvPr id="87" name="flow-sub-27">
            <a:extLst xmlns:a="http://schemas.openxmlformats.org/drawingml/2006/main">
              <a:ext uri="{FF2B5EF4-FFF2-40B4-BE49-F238E27FC236}">
                <a16:creationId xmlns:a16="http://schemas.microsoft.com/office/drawing/2014/main" id="{B6A65BA1-77E0-47C4-AB22-B96874AFE0ED}"/>
              </a:ext>
            </a:extLst>
          </p:cNvPr>
          <p:cNvSpPr>
            <a:spLocks xmlns:a="http://schemas.openxmlformats.org/drawingml/2006/main" noGrp="1"/>
          </p:cNvSpPr>
          <p:nvPr/>
        </p:nvSpPr>
        <p:spPr>
          <a:xfrm xmlns:a="http://schemas.openxmlformats.org/drawingml/2006/main">
            <a:off x="11249025" y="7524750"/>
            <a:ext cx="335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38" b="0">
                <a:solidFill>
                  <a:srgbClr val="616B75"/>
                </a:solidFill>
                <a:latin typeface="Helvetica Neue"/>
                <a:ea typeface="Helvetica Neue"/>
                <a:cs typeface="Helvetica Neue"/>
              </a:defRPr>
            </a:pPr>
            <a:r>
              <a:rPr sz="1238" b="0">
                <a:solidFill>
                  <a:srgbClr val="616B75"/>
                </a:solidFill>
                <a:latin typeface="Helvetica Neue"/>
                <a:ea typeface="Helvetica Neue"/>
                <a:cs typeface="Helvetica Neue"/>
              </a:rPr>
              <a:t>Deterministic source-system updates</a:t>
            </a:r>
          </a:p>
        </p:txBody>
      </p:sp>
      <p:sp>
        <p:nvSpPr>
          <p:cNvPr id="88" name="line-51">
            <a:extLst xmlns:a="http://schemas.openxmlformats.org/drawingml/2006/main">
              <a:ext uri="{FF2B5EF4-FFF2-40B4-BE49-F238E27FC236}">
                <a16:creationId xmlns:a16="http://schemas.microsoft.com/office/drawing/2014/main" id="{86DCB0E6-4DDD-4060-8779-4F98F9C75C4B}"/>
              </a:ext>
            </a:extLst>
          </p:cNvPr>
          <p:cNvSpPr>
            <a:spLocks xmlns:a="http://schemas.openxmlformats.org/drawingml/2006/main" noGrp="1"/>
          </p:cNvSpPr>
          <p:nvPr/>
        </p:nvSpPr>
        <p:spPr>
          <a:xfrm xmlns:a="http://schemas.openxmlformats.org/drawingml/2006/main" flipV="0">
            <a:off x="609600" y="7829550"/>
            <a:ext cx="140208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8879ae6b578c4ffb"/>
          <a:stretch xmlns:a="http://schemas.openxmlformats.org/drawingml/2006/main"/>
        </p:blipFill>
        <p:spPr>
          <a:xfrm xmlns:a="http://schemas.openxmlformats.org/drawingml/2006/main">
            <a:off x="781050" y="8001000"/>
            <a:ext cx="238125" cy="238125"/>
          </a:xfrm>
          <a:prstGeom xmlns:a="http://schemas.openxmlformats.org/drawingml/2006/main" prst="rect">
            <a:avLst/>
          </a:prstGeom>
        </p:spPr>
      </p:pic>
      <p:sp>
        <p:nvSpPr>
          <p:cNvPr id="90" name="source-0">
            <a:extLst xmlns:a="http://schemas.openxmlformats.org/drawingml/2006/main">
              <a:ext uri="{FF2B5EF4-FFF2-40B4-BE49-F238E27FC236}">
                <a16:creationId xmlns:a16="http://schemas.microsoft.com/office/drawing/2014/main" id="{50DC14CF-3679-42EC-89F5-72567E739EB7}"/>
              </a:ext>
            </a:extLst>
          </p:cNvPr>
          <p:cNvSpPr>
            <a:spLocks xmlns:a="http://schemas.openxmlformats.org/drawingml/2006/main" noGrp="1"/>
          </p:cNvSpPr>
          <p:nvPr/>
        </p:nvSpPr>
        <p:spPr>
          <a:xfrm xmlns:a="http://schemas.openxmlformats.org/drawingml/2006/main">
            <a:off x="1143000" y="797242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191C"/>
                </a:solidFill>
                <a:latin typeface="Helvetica Neue"/>
                <a:ea typeface="Helvetica Neue"/>
                <a:cs typeface="Helvetica Neue"/>
              </a:defRPr>
            </a:pPr>
            <a:r>
              <a:rPr sz="1575" b="1">
                <a:solidFill>
                  <a:srgbClr val="16191C"/>
                </a:solidFill>
                <a:latin typeface="Helvetica Neue"/>
                <a:ea typeface="Helvetica Neue"/>
                <a:cs typeface="Helvetica Neue"/>
              </a:rPr>
              <a:t>PLM</a:t>
            </a:r>
          </a:p>
        </p:txBody>
      </p:sp>
      <p:sp>
        <p:nvSpPr>
          <p:cNvPr id="91" name="source-detail-0">
            <a:extLst xmlns:a="http://schemas.openxmlformats.org/drawingml/2006/main">
              <a:ext uri="{FF2B5EF4-FFF2-40B4-BE49-F238E27FC236}">
                <a16:creationId xmlns:a16="http://schemas.microsoft.com/office/drawing/2014/main" id="{9E991B8B-FB34-4F10-9822-F2574520683A}"/>
              </a:ext>
            </a:extLst>
          </p:cNvPr>
          <p:cNvSpPr>
            <a:spLocks xmlns:a="http://schemas.openxmlformats.org/drawingml/2006/main" noGrp="1"/>
          </p:cNvSpPr>
          <p:nvPr/>
        </p:nvSpPr>
        <p:spPr>
          <a:xfrm xmlns:a="http://schemas.openxmlformats.org/drawingml/2006/main">
            <a:off x="1143000" y="8277225"/>
            <a:ext cx="2181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38" b="0">
                <a:solidFill>
                  <a:srgbClr val="616B75"/>
                </a:solidFill>
                <a:latin typeface="Helvetica Neue"/>
                <a:ea typeface="Helvetica Neue"/>
                <a:cs typeface="Helvetica Neue"/>
              </a:defRPr>
            </a:pPr>
            <a:r>
              <a:rPr sz="1238" b="0">
                <a:solidFill>
                  <a:srgbClr val="616B75"/>
                </a:solidFill>
                <a:latin typeface="Helvetica Neue"/>
                <a:ea typeface="Helvetica Neue"/>
                <a:cs typeface="Helvetica Neue"/>
              </a:rPr>
              <a:t>Engineering records</a:t>
            </a:r>
          </a:p>
        </p:txBody>
      </p:sp>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fc5218e43173420e"/>
          <a:stretch xmlns:a="http://schemas.openxmlformats.org/drawingml/2006/main"/>
        </p:blipFill>
        <p:spPr>
          <a:xfrm xmlns:a="http://schemas.openxmlformats.org/drawingml/2006/main">
            <a:off x="3581400" y="8001000"/>
            <a:ext cx="238125" cy="238125"/>
          </a:xfrm>
          <a:prstGeom xmlns:a="http://schemas.openxmlformats.org/drawingml/2006/main" prst="rect">
            <a:avLst/>
          </a:prstGeom>
        </p:spPr>
      </p:pic>
      <p:sp>
        <p:nvSpPr>
          <p:cNvPr id="93" name="source-1">
            <a:extLst xmlns:a="http://schemas.openxmlformats.org/drawingml/2006/main">
              <a:ext uri="{FF2B5EF4-FFF2-40B4-BE49-F238E27FC236}">
                <a16:creationId xmlns:a16="http://schemas.microsoft.com/office/drawing/2014/main" id="{BBD6FBD2-6F4B-45B8-B368-775E6E6D0C26}"/>
              </a:ext>
            </a:extLst>
          </p:cNvPr>
          <p:cNvSpPr>
            <a:spLocks xmlns:a="http://schemas.openxmlformats.org/drawingml/2006/main" noGrp="1"/>
          </p:cNvSpPr>
          <p:nvPr/>
        </p:nvSpPr>
        <p:spPr>
          <a:xfrm xmlns:a="http://schemas.openxmlformats.org/drawingml/2006/main">
            <a:off x="3943350" y="797242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191C"/>
                </a:solidFill>
                <a:latin typeface="Helvetica Neue"/>
                <a:ea typeface="Helvetica Neue"/>
                <a:cs typeface="Helvetica Neue"/>
              </a:defRPr>
            </a:pPr>
            <a:r>
              <a:rPr sz="1575" b="1">
                <a:solidFill>
                  <a:srgbClr val="16191C"/>
                </a:solidFill>
                <a:latin typeface="Helvetica Neue"/>
                <a:ea typeface="Helvetica Neue"/>
                <a:cs typeface="Helvetica Neue"/>
              </a:rPr>
              <a:t>TestOps</a:t>
            </a:r>
          </a:p>
        </p:txBody>
      </p:sp>
      <p:sp>
        <p:nvSpPr>
          <p:cNvPr id="94" name="source-detail-1">
            <a:extLst xmlns:a="http://schemas.openxmlformats.org/drawingml/2006/main">
              <a:ext uri="{FF2B5EF4-FFF2-40B4-BE49-F238E27FC236}">
                <a16:creationId xmlns:a16="http://schemas.microsoft.com/office/drawing/2014/main" id="{E55A4783-96B0-4A27-B31C-4BAD0271A650}"/>
              </a:ext>
            </a:extLst>
          </p:cNvPr>
          <p:cNvSpPr>
            <a:spLocks xmlns:a="http://schemas.openxmlformats.org/drawingml/2006/main" noGrp="1"/>
          </p:cNvSpPr>
          <p:nvPr/>
        </p:nvSpPr>
        <p:spPr>
          <a:xfrm xmlns:a="http://schemas.openxmlformats.org/drawingml/2006/main">
            <a:off x="3943350" y="8277225"/>
            <a:ext cx="2181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38" b="0">
                <a:solidFill>
                  <a:srgbClr val="616B75"/>
                </a:solidFill>
                <a:latin typeface="Helvetica Neue"/>
                <a:ea typeface="Helvetica Neue"/>
                <a:cs typeface="Helvetica Neue"/>
              </a:defRPr>
            </a:pPr>
            <a:r>
              <a:rPr sz="1238" b="0">
                <a:solidFill>
                  <a:srgbClr val="616B75"/>
                </a:solidFill>
                <a:latin typeface="Helvetica Neue"/>
                <a:ea typeface="Helvetica Neue"/>
                <a:cs typeface="Helvetica Neue"/>
              </a:rPr>
              <a:t>Test evidence and jobs</a:t>
            </a:r>
          </a:p>
        </p:txBody>
      </p:sp>
      <p:pic>
        <p:nvPicPr>
          <p:cNvPr id="198" name=""/>
          <p:cNvPicPr>
            <a:picLocks xmlns:a="http://schemas.openxmlformats.org/drawingml/2006/main" noChangeAspect="1"/>
          </p:cNvPicPr>
          <p:nvPr/>
        </p:nvPicPr>
        <p:blipFill>
          <a:blip xmlns:r="http://schemas.openxmlformats.org/officeDocument/2006/relationships" xmlns:a="http://schemas.openxmlformats.org/drawingml/2006/main" r:embed="R5d0a7f2fb21b43ce"/>
          <a:stretch xmlns:a="http://schemas.openxmlformats.org/drawingml/2006/main"/>
        </p:blipFill>
        <p:spPr>
          <a:xfrm xmlns:a="http://schemas.openxmlformats.org/drawingml/2006/main">
            <a:off x="6381750" y="8001000"/>
            <a:ext cx="238125" cy="238125"/>
          </a:xfrm>
          <a:prstGeom xmlns:a="http://schemas.openxmlformats.org/drawingml/2006/main" prst="rect">
            <a:avLst/>
          </a:prstGeom>
        </p:spPr>
      </p:pic>
      <p:sp>
        <p:nvSpPr>
          <p:cNvPr id="96" name="source-2">
            <a:extLst xmlns:a="http://schemas.openxmlformats.org/drawingml/2006/main">
              <a:ext uri="{FF2B5EF4-FFF2-40B4-BE49-F238E27FC236}">
                <a16:creationId xmlns:a16="http://schemas.microsoft.com/office/drawing/2014/main" id="{72814EAF-1033-44D3-8507-4326FAD3230F}"/>
              </a:ext>
            </a:extLst>
          </p:cNvPr>
          <p:cNvSpPr>
            <a:spLocks xmlns:a="http://schemas.openxmlformats.org/drawingml/2006/main" noGrp="1"/>
          </p:cNvSpPr>
          <p:nvPr/>
        </p:nvSpPr>
        <p:spPr>
          <a:xfrm xmlns:a="http://schemas.openxmlformats.org/drawingml/2006/main">
            <a:off x="6743700" y="797242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191C"/>
                </a:solidFill>
                <a:latin typeface="Helvetica Neue"/>
                <a:ea typeface="Helvetica Neue"/>
                <a:cs typeface="Helvetica Neue"/>
              </a:defRPr>
            </a:pPr>
            <a:r>
              <a:rPr sz="1575" b="1">
                <a:solidFill>
                  <a:srgbClr val="16191C"/>
                </a:solidFill>
                <a:latin typeface="Helvetica Neue"/>
                <a:ea typeface="Helvetica Neue"/>
                <a:cs typeface="Helvetica Neue"/>
              </a:rPr>
              <a:t>MES</a:t>
            </a:r>
          </a:p>
        </p:txBody>
      </p:sp>
      <p:sp>
        <p:nvSpPr>
          <p:cNvPr id="97" name="source-detail-2">
            <a:extLst xmlns:a="http://schemas.openxmlformats.org/drawingml/2006/main">
              <a:ext uri="{FF2B5EF4-FFF2-40B4-BE49-F238E27FC236}">
                <a16:creationId xmlns:a16="http://schemas.microsoft.com/office/drawing/2014/main" id="{67FF941C-1695-4A83-AD65-6D24F3BF662E}"/>
              </a:ext>
            </a:extLst>
          </p:cNvPr>
          <p:cNvSpPr>
            <a:spLocks xmlns:a="http://schemas.openxmlformats.org/drawingml/2006/main" noGrp="1"/>
          </p:cNvSpPr>
          <p:nvPr/>
        </p:nvSpPr>
        <p:spPr>
          <a:xfrm xmlns:a="http://schemas.openxmlformats.org/drawingml/2006/main">
            <a:off x="6743700" y="8277225"/>
            <a:ext cx="2181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38" b="0">
                <a:solidFill>
                  <a:srgbClr val="616B75"/>
                </a:solidFill>
                <a:latin typeface="Helvetica Neue"/>
                <a:ea typeface="Helvetica Neue"/>
                <a:cs typeface="Helvetica Neue"/>
              </a:defRPr>
            </a:pPr>
            <a:r>
              <a:rPr sz="1238" b="0">
                <a:solidFill>
                  <a:srgbClr val="616B75"/>
                </a:solidFill>
                <a:latin typeface="Helvetica Neue"/>
                <a:ea typeface="Helvetica Neue"/>
                <a:cs typeface="Helvetica Neue"/>
              </a:rPr>
              <a:t>Quality and materials</a:t>
            </a:r>
          </a:p>
        </p:txBody>
      </p:sp>
      <p:pic>
        <p:nvPicPr>
          <p:cNvPr id="201" name=""/>
          <p:cNvPicPr>
            <a:picLocks xmlns:a="http://schemas.openxmlformats.org/drawingml/2006/main" noChangeAspect="1"/>
          </p:cNvPicPr>
          <p:nvPr/>
        </p:nvPicPr>
        <p:blipFill>
          <a:blip xmlns:r="http://schemas.openxmlformats.org/officeDocument/2006/relationships" xmlns:a="http://schemas.openxmlformats.org/drawingml/2006/main" r:embed="R699f7ddcccf4469c"/>
          <a:stretch xmlns:a="http://schemas.openxmlformats.org/drawingml/2006/main"/>
        </p:blipFill>
        <p:spPr>
          <a:xfrm xmlns:a="http://schemas.openxmlformats.org/drawingml/2006/main">
            <a:off x="9182100" y="8001000"/>
            <a:ext cx="238125" cy="238125"/>
          </a:xfrm>
          <a:prstGeom xmlns:a="http://schemas.openxmlformats.org/drawingml/2006/main" prst="rect">
            <a:avLst/>
          </a:prstGeom>
        </p:spPr>
      </p:pic>
      <p:sp>
        <p:nvSpPr>
          <p:cNvPr id="99" name="source-3">
            <a:extLst xmlns:a="http://schemas.openxmlformats.org/drawingml/2006/main">
              <a:ext uri="{FF2B5EF4-FFF2-40B4-BE49-F238E27FC236}">
                <a16:creationId xmlns:a16="http://schemas.microsoft.com/office/drawing/2014/main" id="{CE53086C-175C-41EF-9800-694E67377CF6}"/>
              </a:ext>
            </a:extLst>
          </p:cNvPr>
          <p:cNvSpPr>
            <a:spLocks xmlns:a="http://schemas.openxmlformats.org/drawingml/2006/main" noGrp="1"/>
          </p:cNvSpPr>
          <p:nvPr/>
        </p:nvSpPr>
        <p:spPr>
          <a:xfrm xmlns:a="http://schemas.openxmlformats.org/drawingml/2006/main">
            <a:off x="9544050" y="797242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191C"/>
                </a:solidFill>
                <a:latin typeface="Helvetica Neue"/>
                <a:ea typeface="Helvetica Neue"/>
                <a:cs typeface="Helvetica Neue"/>
              </a:defRPr>
            </a:pPr>
            <a:r>
              <a:rPr sz="1575" b="1">
                <a:solidFill>
                  <a:srgbClr val="16191C"/>
                </a:solidFill>
                <a:latin typeface="Helvetica Neue"/>
                <a:ea typeface="Helvetica Neue"/>
                <a:cs typeface="Helvetica Neue"/>
              </a:rPr>
              <a:t>ERP</a:t>
            </a:r>
          </a:p>
        </p:txBody>
      </p:sp>
      <p:sp>
        <p:nvSpPr>
          <p:cNvPr id="100" name="source-detail-3">
            <a:extLst xmlns:a="http://schemas.openxmlformats.org/drawingml/2006/main">
              <a:ext uri="{FF2B5EF4-FFF2-40B4-BE49-F238E27FC236}">
                <a16:creationId xmlns:a16="http://schemas.microsoft.com/office/drawing/2014/main" id="{71588E05-56E6-4CBE-B45A-96D5BA68C44A}"/>
              </a:ext>
            </a:extLst>
          </p:cNvPr>
          <p:cNvSpPr>
            <a:spLocks xmlns:a="http://schemas.openxmlformats.org/drawingml/2006/main" noGrp="1"/>
          </p:cNvSpPr>
          <p:nvPr/>
        </p:nvSpPr>
        <p:spPr>
          <a:xfrm xmlns:a="http://schemas.openxmlformats.org/drawingml/2006/main">
            <a:off x="9544050" y="8277225"/>
            <a:ext cx="2181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38" b="0">
                <a:solidFill>
                  <a:srgbClr val="616B75"/>
                </a:solidFill>
                <a:latin typeface="Helvetica Neue"/>
                <a:ea typeface="Helvetica Neue"/>
                <a:cs typeface="Helvetica Neue"/>
              </a:defRPr>
            </a:pPr>
            <a:r>
              <a:rPr sz="1238" b="0">
                <a:solidFill>
                  <a:srgbClr val="616B75"/>
                </a:solidFill>
                <a:latin typeface="Helvetica Neue"/>
                <a:ea typeface="Helvetica Neue"/>
                <a:cs typeface="Helvetica Neue"/>
              </a:rPr>
              <a:t>Orders and commitments</a:t>
            </a:r>
          </a:p>
        </p:txBody>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0ba32be813da4bd6"/>
          <a:stretch xmlns:a="http://schemas.openxmlformats.org/drawingml/2006/main"/>
        </p:blipFill>
        <p:spPr>
          <a:xfrm xmlns:a="http://schemas.openxmlformats.org/drawingml/2006/main">
            <a:off x="11982450" y="8001000"/>
            <a:ext cx="238125" cy="238125"/>
          </a:xfrm>
          <a:prstGeom xmlns:a="http://schemas.openxmlformats.org/drawingml/2006/main" prst="rect">
            <a:avLst/>
          </a:prstGeom>
        </p:spPr>
      </p:pic>
      <p:sp>
        <p:nvSpPr>
          <p:cNvPr id="102" name="source-4">
            <a:extLst xmlns:a="http://schemas.openxmlformats.org/drawingml/2006/main">
              <a:ext uri="{FF2B5EF4-FFF2-40B4-BE49-F238E27FC236}">
                <a16:creationId xmlns:a16="http://schemas.microsoft.com/office/drawing/2014/main" id="{6D75CEB2-1FBF-4C5A-806B-D9166AAE4C67}"/>
              </a:ext>
            </a:extLst>
          </p:cNvPr>
          <p:cNvSpPr>
            <a:spLocks xmlns:a="http://schemas.openxmlformats.org/drawingml/2006/main" noGrp="1"/>
          </p:cNvSpPr>
          <p:nvPr/>
        </p:nvSpPr>
        <p:spPr>
          <a:xfrm xmlns:a="http://schemas.openxmlformats.org/drawingml/2006/main">
            <a:off x="12344400" y="7972425"/>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191C"/>
                </a:solidFill>
                <a:latin typeface="Helvetica Neue"/>
                <a:ea typeface="Helvetica Neue"/>
                <a:cs typeface="Helvetica Neue"/>
              </a:defRPr>
            </a:pPr>
            <a:r>
              <a:rPr sz="1575" b="1">
                <a:solidFill>
                  <a:srgbClr val="16191C"/>
                </a:solidFill>
                <a:latin typeface="Helvetica Neue"/>
                <a:ea typeface="Helvetica Neue"/>
                <a:cs typeface="Helvetica Neue"/>
              </a:rPr>
              <a:t>ProgramOps</a:t>
            </a:r>
          </a:p>
        </p:txBody>
      </p:sp>
      <p:sp>
        <p:nvSpPr>
          <p:cNvPr id="103" name="source-detail-4">
            <a:extLst xmlns:a="http://schemas.openxmlformats.org/drawingml/2006/main">
              <a:ext uri="{FF2B5EF4-FFF2-40B4-BE49-F238E27FC236}">
                <a16:creationId xmlns:a16="http://schemas.microsoft.com/office/drawing/2014/main" id="{99A60EF4-24FA-4A1F-8867-4E14E91ECF8C}"/>
              </a:ext>
            </a:extLst>
          </p:cNvPr>
          <p:cNvSpPr>
            <a:spLocks xmlns:a="http://schemas.openxmlformats.org/drawingml/2006/main" noGrp="1"/>
          </p:cNvSpPr>
          <p:nvPr/>
        </p:nvSpPr>
        <p:spPr>
          <a:xfrm xmlns:a="http://schemas.openxmlformats.org/drawingml/2006/main">
            <a:off x="12344400" y="8277225"/>
            <a:ext cx="2181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38" b="0">
                <a:solidFill>
                  <a:srgbClr val="616B75"/>
                </a:solidFill>
                <a:latin typeface="Helvetica Neue"/>
                <a:ea typeface="Helvetica Neue"/>
                <a:cs typeface="Helvetica Neue"/>
              </a:defRPr>
            </a:pPr>
            <a:r>
              <a:rPr sz="1238" b="0">
                <a:solidFill>
                  <a:srgbClr val="616B75"/>
                </a:solidFill>
                <a:latin typeface="Helvetica Neue"/>
                <a:ea typeface="Helvetica Neue"/>
                <a:cs typeface="Helvetica Neue"/>
              </a:rPr>
              <a:t>Milestones and tasks</a:t>
            </a:r>
          </a:p>
        </p:txBody>
      </p:sp>
    </p:spTree>
    <p:extLst>
      <p:ext uri="{BB962C8B-B14F-4D97-AF65-F5344CB8AC3E}">
        <p14:creationId xmlns:p14="http://schemas.microsoft.com/office/powerpoint/2010/main" val="14900897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title">
            <a:extLst xmlns:a="http://schemas.openxmlformats.org/drawingml/2006/main">
              <a:ext uri="{FF2B5EF4-FFF2-40B4-BE49-F238E27FC236}">
                <a16:creationId xmlns:a16="http://schemas.microsoft.com/office/drawing/2014/main" id="{0B78A36C-834E-4CF9-8359-0BE14E816DA4}"/>
              </a:ext>
            </a:extLst>
          </p:cNvPr>
          <p:cNvSpPr>
            <a:spLocks xmlns:a="http://schemas.openxmlformats.org/drawingml/2006/main" noGrp="1"/>
          </p:cNvSpPr>
          <p:nvPr/>
        </p:nvSpPr>
        <p:spPr>
          <a:xfrm xmlns:a="http://schemas.openxmlformats.org/drawingml/2006/main">
            <a:off x="609600" y="428625"/>
            <a:ext cx="1402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6191C"/>
                </a:solidFill>
                <a:latin typeface="Helvetica Neue"/>
                <a:ea typeface="Helvetica Neue"/>
                <a:cs typeface="Helvetica Neue"/>
              </a:defRPr>
            </a:pPr>
            <a:r>
              <a:rPr sz="3525" b="1">
                <a:solidFill>
                  <a:srgbClr val="16191C"/>
                </a:solidFill>
                <a:latin typeface="Helvetica Neue"/>
                <a:ea typeface="Helvetica Neue"/>
                <a:cs typeface="Helvetica Neue"/>
              </a:rPr>
              <a:t>Demo use cases and business value</a:t>
            </a:r>
          </a:p>
        </p:txBody>
      </p:sp>
      <p:sp>
        <p:nvSpPr>
          <p:cNvPr id="2" name="subtitle">
            <a:extLst xmlns:a="http://schemas.openxmlformats.org/drawingml/2006/main">
              <a:ext uri="{FF2B5EF4-FFF2-40B4-BE49-F238E27FC236}">
                <a16:creationId xmlns:a16="http://schemas.microsoft.com/office/drawing/2014/main" id="{B8FFFD5E-B188-4D2A-917B-B2F97315B20F}"/>
              </a:ext>
            </a:extLst>
          </p:cNvPr>
          <p:cNvSpPr>
            <a:spLocks xmlns:a="http://schemas.openxmlformats.org/drawingml/2006/main" noGrp="1"/>
          </p:cNvSpPr>
          <p:nvPr/>
        </p:nvSpPr>
        <p:spPr>
          <a:xfrm xmlns:a="http://schemas.openxmlformats.org/drawingml/2006/main">
            <a:off x="628650" y="1143000"/>
            <a:ext cx="1381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16B75"/>
                </a:solidFill>
                <a:latin typeface="Helvetica Neue"/>
                <a:ea typeface="Helvetica Neue"/>
                <a:cs typeface="Helvetica Neue"/>
              </a:defRPr>
            </a:pPr>
            <a:r>
              <a:rPr sz="1800" b="0">
                <a:solidFill>
                  <a:srgbClr val="616B75"/>
                </a:solidFill>
                <a:latin typeface="Helvetica Neue"/>
                <a:ea typeface="Helvetica Neue"/>
                <a:cs typeface="Helvetica Neue"/>
              </a:rPr>
              <a:t>Two requirement changes and one yield / quality exception, from investigation to verified action</a:t>
            </a:r>
          </a:p>
        </p:txBody>
      </p:sp>
      <p:sp>
        <p:nvSpPr>
          <p:cNvPr id="3" name="step-title-0">
            <a:extLst xmlns:a="http://schemas.openxmlformats.org/drawingml/2006/main">
              <a:ext uri="{FF2B5EF4-FFF2-40B4-BE49-F238E27FC236}">
                <a16:creationId xmlns:a16="http://schemas.microsoft.com/office/drawing/2014/main" id="{6BA7F6FA-99FD-4151-A1A9-7098D6072B53}"/>
              </a:ext>
            </a:extLst>
          </p:cNvPr>
          <p:cNvSpPr>
            <a:spLocks xmlns:a="http://schemas.openxmlformats.org/drawingml/2006/main" noGrp="1"/>
          </p:cNvSpPr>
          <p:nvPr/>
        </p:nvSpPr>
        <p:spPr>
          <a:xfrm xmlns:a="http://schemas.openxmlformats.org/drawingml/2006/main">
            <a:off x="628650" y="1876425"/>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6191C"/>
                </a:solidFill>
                <a:latin typeface="Helvetica Neue"/>
                <a:ea typeface="Helvetica Neue"/>
                <a:cs typeface="Helvetica Neue"/>
              </a:defRPr>
            </a:pPr>
            <a:r>
              <a:rPr sz="1800" b="1">
                <a:solidFill>
                  <a:srgbClr val="16191C"/>
                </a:solidFill>
                <a:latin typeface="Helvetica Neue"/>
                <a:ea typeface="Helvetica Neue"/>
                <a:cs typeface="Helvetica Neue"/>
              </a:rPr>
              <a:t>Trigger</a:t>
            </a:r>
          </a:p>
        </p:txBody>
      </p:sp>
      <p:sp>
        <p:nvSpPr>
          <p:cNvPr id="4" name="step-desc-0">
            <a:extLst xmlns:a="http://schemas.openxmlformats.org/drawingml/2006/main">
              <a:ext uri="{FF2B5EF4-FFF2-40B4-BE49-F238E27FC236}">
                <a16:creationId xmlns:a16="http://schemas.microsoft.com/office/drawing/2014/main" id="{7ECFC321-CFF4-4759-BAE9-A00C85634F27}"/>
              </a:ext>
            </a:extLst>
          </p:cNvPr>
          <p:cNvSpPr>
            <a:spLocks xmlns:a="http://schemas.openxmlformats.org/drawingml/2006/main" noGrp="1"/>
          </p:cNvSpPr>
          <p:nvPr/>
        </p:nvSpPr>
        <p:spPr>
          <a:xfrm xmlns:a="http://schemas.openxmlformats.org/drawingml/2006/main">
            <a:off x="628650" y="2257425"/>
            <a:ext cx="2085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Event, operator,</a:t>
            </a:r>
          </a:p>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Concierge, or schedule</a:t>
            </a:r>
          </a:p>
        </p:txBody>
      </p:sp>
      <p:sp>
        <p:nvSpPr>
          <p:cNvPr id="5" name="line-57">
            <a:extLst xmlns:a="http://schemas.openxmlformats.org/drawingml/2006/main">
              <a:ext uri="{FF2B5EF4-FFF2-40B4-BE49-F238E27FC236}">
                <a16:creationId xmlns:a16="http://schemas.microsoft.com/office/drawing/2014/main" id="{8A27B38B-DBEA-43BC-9C1B-A588EC5A776C}"/>
              </a:ext>
            </a:extLst>
          </p:cNvPr>
          <p:cNvSpPr>
            <a:spLocks xmlns:a="http://schemas.openxmlformats.org/drawingml/2006/main" noGrp="1"/>
          </p:cNvSpPr>
          <p:nvPr/>
        </p:nvSpPr>
        <p:spPr>
          <a:xfrm xmlns:a="http://schemas.openxmlformats.org/drawingml/2006/main" flipV="0">
            <a:off x="2571750" y="2019300"/>
            <a:ext cx="295275" cy="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6" name="line-58">
            <a:extLst xmlns:a="http://schemas.openxmlformats.org/drawingml/2006/main">
              <a:ext uri="{FF2B5EF4-FFF2-40B4-BE49-F238E27FC236}">
                <a16:creationId xmlns:a16="http://schemas.microsoft.com/office/drawing/2014/main" id="{6A564DAF-60DE-4F29-A732-23EC031D8AF7}"/>
              </a:ext>
            </a:extLst>
          </p:cNvPr>
          <p:cNvSpPr>
            <a:spLocks xmlns:a="http://schemas.openxmlformats.org/drawingml/2006/main" noGrp="1"/>
          </p:cNvSpPr>
          <p:nvPr/>
        </p:nvSpPr>
        <p:spPr>
          <a:xfrm xmlns:a="http://schemas.openxmlformats.org/drawingml/2006/main" flipV="0">
            <a:off x="2809875" y="19812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7" name="line-59">
            <a:extLst xmlns:a="http://schemas.openxmlformats.org/drawingml/2006/main">
              <a:ext uri="{FF2B5EF4-FFF2-40B4-BE49-F238E27FC236}">
                <a16:creationId xmlns:a16="http://schemas.microsoft.com/office/drawing/2014/main" id="{EA143DED-FC0D-42C9-8555-42DD41157C62}"/>
              </a:ext>
            </a:extLst>
          </p:cNvPr>
          <p:cNvSpPr>
            <a:spLocks xmlns:a="http://schemas.openxmlformats.org/drawingml/2006/main" noGrp="1"/>
          </p:cNvSpPr>
          <p:nvPr/>
        </p:nvSpPr>
        <p:spPr>
          <a:xfrm xmlns:a="http://schemas.openxmlformats.org/drawingml/2006/main" flipV="1">
            <a:off x="2809875" y="20193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8" name="step-title-1">
            <a:extLst xmlns:a="http://schemas.openxmlformats.org/drawingml/2006/main">
              <a:ext uri="{FF2B5EF4-FFF2-40B4-BE49-F238E27FC236}">
                <a16:creationId xmlns:a16="http://schemas.microsoft.com/office/drawing/2014/main" id="{92FA92B2-9EFA-4A74-9C13-240EDF1132E7}"/>
              </a:ext>
            </a:extLst>
          </p:cNvPr>
          <p:cNvSpPr>
            <a:spLocks xmlns:a="http://schemas.openxmlformats.org/drawingml/2006/main" noGrp="1"/>
          </p:cNvSpPr>
          <p:nvPr/>
        </p:nvSpPr>
        <p:spPr>
          <a:xfrm xmlns:a="http://schemas.openxmlformats.org/drawingml/2006/main">
            <a:off x="2981325" y="1876425"/>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6191C"/>
                </a:solidFill>
                <a:latin typeface="Helvetica Neue"/>
                <a:ea typeface="Helvetica Neue"/>
                <a:cs typeface="Helvetica Neue"/>
              </a:defRPr>
            </a:pPr>
            <a:r>
              <a:rPr sz="1800" b="1">
                <a:solidFill>
                  <a:srgbClr val="16191C"/>
                </a:solidFill>
                <a:latin typeface="Helvetica Neue"/>
                <a:ea typeface="Helvetica Neue"/>
                <a:cs typeface="Helvetica Neue"/>
              </a:rPr>
              <a:t>Investigate</a:t>
            </a:r>
          </a:p>
        </p:txBody>
      </p:sp>
      <p:sp>
        <p:nvSpPr>
          <p:cNvPr id="9" name="step-desc-1">
            <a:extLst xmlns:a="http://schemas.openxmlformats.org/drawingml/2006/main">
              <a:ext uri="{FF2B5EF4-FFF2-40B4-BE49-F238E27FC236}">
                <a16:creationId xmlns:a16="http://schemas.microsoft.com/office/drawing/2014/main" id="{316A5BAD-1E3A-4494-8C34-1EACBC928442}"/>
              </a:ext>
            </a:extLst>
          </p:cNvPr>
          <p:cNvSpPr>
            <a:spLocks xmlns:a="http://schemas.openxmlformats.org/drawingml/2006/main" noGrp="1"/>
          </p:cNvSpPr>
          <p:nvPr/>
        </p:nvSpPr>
        <p:spPr>
          <a:xfrm xmlns:a="http://schemas.openxmlformats.org/drawingml/2006/main">
            <a:off x="2981325" y="2257425"/>
            <a:ext cx="2085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Specialists retrieve</a:t>
            </a:r>
          </a:p>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facts from five systems</a:t>
            </a:r>
          </a:p>
        </p:txBody>
      </p:sp>
      <p:sp>
        <p:nvSpPr>
          <p:cNvPr id="10" name="line-60">
            <a:extLst xmlns:a="http://schemas.openxmlformats.org/drawingml/2006/main">
              <a:ext uri="{FF2B5EF4-FFF2-40B4-BE49-F238E27FC236}">
                <a16:creationId xmlns:a16="http://schemas.microsoft.com/office/drawing/2014/main" id="{EFF1C7AB-D10D-4A44-8055-9C14009A2347}"/>
              </a:ext>
            </a:extLst>
          </p:cNvPr>
          <p:cNvSpPr>
            <a:spLocks xmlns:a="http://schemas.openxmlformats.org/drawingml/2006/main" noGrp="1"/>
          </p:cNvSpPr>
          <p:nvPr/>
        </p:nvSpPr>
        <p:spPr>
          <a:xfrm xmlns:a="http://schemas.openxmlformats.org/drawingml/2006/main" flipV="0">
            <a:off x="4924425" y="2019300"/>
            <a:ext cx="295275" cy="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11" name="line-61">
            <a:extLst xmlns:a="http://schemas.openxmlformats.org/drawingml/2006/main">
              <a:ext uri="{FF2B5EF4-FFF2-40B4-BE49-F238E27FC236}">
                <a16:creationId xmlns:a16="http://schemas.microsoft.com/office/drawing/2014/main" id="{AB5F59EE-0783-4527-B33E-FA4B06C5BA60}"/>
              </a:ext>
            </a:extLst>
          </p:cNvPr>
          <p:cNvSpPr>
            <a:spLocks xmlns:a="http://schemas.openxmlformats.org/drawingml/2006/main" noGrp="1"/>
          </p:cNvSpPr>
          <p:nvPr/>
        </p:nvSpPr>
        <p:spPr>
          <a:xfrm xmlns:a="http://schemas.openxmlformats.org/drawingml/2006/main" flipV="0">
            <a:off x="5162550" y="19812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12" name="line-62">
            <a:extLst xmlns:a="http://schemas.openxmlformats.org/drawingml/2006/main">
              <a:ext uri="{FF2B5EF4-FFF2-40B4-BE49-F238E27FC236}">
                <a16:creationId xmlns:a16="http://schemas.microsoft.com/office/drawing/2014/main" id="{6A0AFDDF-DC8A-41A1-8C9D-7D7FE0491666}"/>
              </a:ext>
            </a:extLst>
          </p:cNvPr>
          <p:cNvSpPr>
            <a:spLocks xmlns:a="http://schemas.openxmlformats.org/drawingml/2006/main" noGrp="1"/>
          </p:cNvSpPr>
          <p:nvPr/>
        </p:nvSpPr>
        <p:spPr>
          <a:xfrm xmlns:a="http://schemas.openxmlformats.org/drawingml/2006/main" flipV="1">
            <a:off x="5162550" y="20193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13" name="step-title-2">
            <a:extLst xmlns:a="http://schemas.openxmlformats.org/drawingml/2006/main">
              <a:ext uri="{FF2B5EF4-FFF2-40B4-BE49-F238E27FC236}">
                <a16:creationId xmlns:a16="http://schemas.microsoft.com/office/drawing/2014/main" id="{408D489D-2BBA-4984-9AD5-D3E77EBE45E9}"/>
              </a:ext>
            </a:extLst>
          </p:cNvPr>
          <p:cNvSpPr>
            <a:spLocks xmlns:a="http://schemas.openxmlformats.org/drawingml/2006/main" noGrp="1"/>
          </p:cNvSpPr>
          <p:nvPr/>
        </p:nvSpPr>
        <p:spPr>
          <a:xfrm xmlns:a="http://schemas.openxmlformats.org/drawingml/2006/main">
            <a:off x="5334000" y="1876425"/>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6191C"/>
                </a:solidFill>
                <a:latin typeface="Helvetica Neue"/>
                <a:ea typeface="Helvetica Neue"/>
                <a:cs typeface="Helvetica Neue"/>
              </a:defRPr>
            </a:pPr>
            <a:r>
              <a:rPr sz="1800" b="1">
                <a:solidFill>
                  <a:srgbClr val="16191C"/>
                </a:solidFill>
                <a:latin typeface="Helvetica Neue"/>
                <a:ea typeface="Helvetica Neue"/>
                <a:cs typeface="Helvetica Neue"/>
              </a:rPr>
              <a:t>Recommend</a:t>
            </a:r>
          </a:p>
        </p:txBody>
      </p:sp>
      <p:sp>
        <p:nvSpPr>
          <p:cNvPr id="14" name="step-desc-2">
            <a:extLst xmlns:a="http://schemas.openxmlformats.org/drawingml/2006/main">
              <a:ext uri="{FF2B5EF4-FFF2-40B4-BE49-F238E27FC236}">
                <a16:creationId xmlns:a16="http://schemas.microsoft.com/office/drawing/2014/main" id="{EEFC88B3-D449-4C20-AC44-C04336BC605B}"/>
              </a:ext>
            </a:extLst>
          </p:cNvPr>
          <p:cNvSpPr>
            <a:spLocks xmlns:a="http://schemas.openxmlformats.org/drawingml/2006/main" noGrp="1"/>
          </p:cNvSpPr>
          <p:nvPr/>
        </p:nvSpPr>
        <p:spPr>
          <a:xfrm xmlns:a="http://schemas.openxmlformats.org/drawingml/2006/main">
            <a:off x="5334000" y="2257425"/>
            <a:ext cx="2085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Options, evidence,</a:t>
            </a:r>
          </a:p>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and business impact</a:t>
            </a:r>
          </a:p>
        </p:txBody>
      </p:sp>
      <p:sp>
        <p:nvSpPr>
          <p:cNvPr id="15" name="line-63">
            <a:extLst xmlns:a="http://schemas.openxmlformats.org/drawingml/2006/main">
              <a:ext uri="{FF2B5EF4-FFF2-40B4-BE49-F238E27FC236}">
                <a16:creationId xmlns:a16="http://schemas.microsoft.com/office/drawing/2014/main" id="{196C12E8-8FB1-4093-A558-BF4132F72297}"/>
              </a:ext>
            </a:extLst>
          </p:cNvPr>
          <p:cNvSpPr>
            <a:spLocks xmlns:a="http://schemas.openxmlformats.org/drawingml/2006/main" noGrp="1"/>
          </p:cNvSpPr>
          <p:nvPr/>
        </p:nvSpPr>
        <p:spPr>
          <a:xfrm xmlns:a="http://schemas.openxmlformats.org/drawingml/2006/main" flipV="0">
            <a:off x="7277100" y="2019300"/>
            <a:ext cx="295275" cy="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16" name="line-64">
            <a:extLst xmlns:a="http://schemas.openxmlformats.org/drawingml/2006/main">
              <a:ext uri="{FF2B5EF4-FFF2-40B4-BE49-F238E27FC236}">
                <a16:creationId xmlns:a16="http://schemas.microsoft.com/office/drawing/2014/main" id="{4BD8ACA5-F964-4559-AC7E-2D0530299D04}"/>
              </a:ext>
            </a:extLst>
          </p:cNvPr>
          <p:cNvSpPr>
            <a:spLocks xmlns:a="http://schemas.openxmlformats.org/drawingml/2006/main" noGrp="1"/>
          </p:cNvSpPr>
          <p:nvPr/>
        </p:nvSpPr>
        <p:spPr>
          <a:xfrm xmlns:a="http://schemas.openxmlformats.org/drawingml/2006/main" flipV="0">
            <a:off x="7515225" y="19812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17" name="line-65">
            <a:extLst xmlns:a="http://schemas.openxmlformats.org/drawingml/2006/main">
              <a:ext uri="{FF2B5EF4-FFF2-40B4-BE49-F238E27FC236}">
                <a16:creationId xmlns:a16="http://schemas.microsoft.com/office/drawing/2014/main" id="{554179F5-C19D-4D22-AE12-062564ACC2F3}"/>
              </a:ext>
            </a:extLst>
          </p:cNvPr>
          <p:cNvSpPr>
            <a:spLocks xmlns:a="http://schemas.openxmlformats.org/drawingml/2006/main" noGrp="1"/>
          </p:cNvSpPr>
          <p:nvPr/>
        </p:nvSpPr>
        <p:spPr>
          <a:xfrm xmlns:a="http://schemas.openxmlformats.org/drawingml/2006/main" flipV="1">
            <a:off x="7515225" y="20193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18" name="step-title-3">
            <a:extLst xmlns:a="http://schemas.openxmlformats.org/drawingml/2006/main">
              <a:ext uri="{FF2B5EF4-FFF2-40B4-BE49-F238E27FC236}">
                <a16:creationId xmlns:a16="http://schemas.microsoft.com/office/drawing/2014/main" id="{D918A81E-D095-4E6B-8A9E-9010FFBF366F}"/>
              </a:ext>
            </a:extLst>
          </p:cNvPr>
          <p:cNvSpPr>
            <a:spLocks xmlns:a="http://schemas.openxmlformats.org/drawingml/2006/main" noGrp="1"/>
          </p:cNvSpPr>
          <p:nvPr/>
        </p:nvSpPr>
        <p:spPr>
          <a:xfrm xmlns:a="http://schemas.openxmlformats.org/drawingml/2006/main">
            <a:off x="7686675" y="1876425"/>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6CC6"/>
                </a:solidFill>
                <a:latin typeface="Helvetica Neue"/>
                <a:ea typeface="Helvetica Neue"/>
                <a:cs typeface="Helvetica Neue"/>
              </a:defRPr>
            </a:pPr>
            <a:r>
              <a:rPr sz="1800" b="1">
                <a:solidFill>
                  <a:srgbClr val="176CC6"/>
                </a:solidFill>
                <a:latin typeface="Helvetica Neue"/>
                <a:ea typeface="Helvetica Neue"/>
                <a:cs typeface="Helvetica Neue"/>
              </a:rPr>
              <a:t>Policy gate</a:t>
            </a:r>
          </a:p>
        </p:txBody>
      </p:sp>
      <p:sp>
        <p:nvSpPr>
          <p:cNvPr id="19" name="step-desc-3">
            <a:extLst xmlns:a="http://schemas.openxmlformats.org/drawingml/2006/main">
              <a:ext uri="{FF2B5EF4-FFF2-40B4-BE49-F238E27FC236}">
                <a16:creationId xmlns:a16="http://schemas.microsoft.com/office/drawing/2014/main" id="{1AD35513-9F3A-4DF6-91CE-25E45719EA9F}"/>
              </a:ext>
            </a:extLst>
          </p:cNvPr>
          <p:cNvSpPr>
            <a:spLocks xmlns:a="http://schemas.openxmlformats.org/drawingml/2006/main" noGrp="1"/>
          </p:cNvSpPr>
          <p:nvPr/>
        </p:nvSpPr>
        <p:spPr>
          <a:xfrm xmlns:a="http://schemas.openxmlformats.org/drawingml/2006/main">
            <a:off x="7686675" y="2257425"/>
            <a:ext cx="2085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Within policy: touchless</a:t>
            </a:r>
          </a:p>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Otherwise: approval</a:t>
            </a:r>
          </a:p>
        </p:txBody>
      </p:sp>
      <p:sp>
        <p:nvSpPr>
          <p:cNvPr id="20" name="line-66">
            <a:extLst xmlns:a="http://schemas.openxmlformats.org/drawingml/2006/main">
              <a:ext uri="{FF2B5EF4-FFF2-40B4-BE49-F238E27FC236}">
                <a16:creationId xmlns:a16="http://schemas.microsoft.com/office/drawing/2014/main" id="{F5E1ADF8-4C80-4729-AC24-9758F4F664B7}"/>
              </a:ext>
            </a:extLst>
          </p:cNvPr>
          <p:cNvSpPr>
            <a:spLocks xmlns:a="http://schemas.openxmlformats.org/drawingml/2006/main" noGrp="1"/>
          </p:cNvSpPr>
          <p:nvPr/>
        </p:nvSpPr>
        <p:spPr>
          <a:xfrm xmlns:a="http://schemas.openxmlformats.org/drawingml/2006/main" flipV="0">
            <a:off x="9629775" y="2019300"/>
            <a:ext cx="295275" cy="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21" name="line-67">
            <a:extLst xmlns:a="http://schemas.openxmlformats.org/drawingml/2006/main">
              <a:ext uri="{FF2B5EF4-FFF2-40B4-BE49-F238E27FC236}">
                <a16:creationId xmlns:a16="http://schemas.microsoft.com/office/drawing/2014/main" id="{11271697-3D3C-4461-B086-DB1D101CF078}"/>
              </a:ext>
            </a:extLst>
          </p:cNvPr>
          <p:cNvSpPr>
            <a:spLocks xmlns:a="http://schemas.openxmlformats.org/drawingml/2006/main" noGrp="1"/>
          </p:cNvSpPr>
          <p:nvPr/>
        </p:nvSpPr>
        <p:spPr>
          <a:xfrm xmlns:a="http://schemas.openxmlformats.org/drawingml/2006/main" flipV="0">
            <a:off x="9867900" y="19812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22" name="line-68">
            <a:extLst xmlns:a="http://schemas.openxmlformats.org/drawingml/2006/main">
              <a:ext uri="{FF2B5EF4-FFF2-40B4-BE49-F238E27FC236}">
                <a16:creationId xmlns:a16="http://schemas.microsoft.com/office/drawing/2014/main" id="{F2BCE431-7B69-41F7-A65F-6F82DBD82871}"/>
              </a:ext>
            </a:extLst>
          </p:cNvPr>
          <p:cNvSpPr>
            <a:spLocks xmlns:a="http://schemas.openxmlformats.org/drawingml/2006/main" noGrp="1"/>
          </p:cNvSpPr>
          <p:nvPr/>
        </p:nvSpPr>
        <p:spPr>
          <a:xfrm xmlns:a="http://schemas.openxmlformats.org/drawingml/2006/main" flipV="1">
            <a:off x="9867900" y="20193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23" name="step-title-4">
            <a:extLst xmlns:a="http://schemas.openxmlformats.org/drawingml/2006/main">
              <a:ext uri="{FF2B5EF4-FFF2-40B4-BE49-F238E27FC236}">
                <a16:creationId xmlns:a16="http://schemas.microsoft.com/office/drawing/2014/main" id="{3877AEF3-23AD-4745-ACCC-CF7D30F0A9F7}"/>
              </a:ext>
            </a:extLst>
          </p:cNvPr>
          <p:cNvSpPr>
            <a:spLocks xmlns:a="http://schemas.openxmlformats.org/drawingml/2006/main" noGrp="1"/>
          </p:cNvSpPr>
          <p:nvPr/>
        </p:nvSpPr>
        <p:spPr>
          <a:xfrm xmlns:a="http://schemas.openxmlformats.org/drawingml/2006/main">
            <a:off x="10039350" y="1876425"/>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6191C"/>
                </a:solidFill>
                <a:latin typeface="Helvetica Neue"/>
                <a:ea typeface="Helvetica Neue"/>
                <a:cs typeface="Helvetica Neue"/>
              </a:defRPr>
            </a:pPr>
            <a:r>
              <a:rPr sz="1800" b="1">
                <a:solidFill>
                  <a:srgbClr val="16191C"/>
                </a:solidFill>
                <a:latin typeface="Helvetica Neue"/>
                <a:ea typeface="Helvetica Neue"/>
                <a:cs typeface="Helvetica Neue"/>
              </a:rPr>
              <a:t>Execute</a:t>
            </a:r>
          </a:p>
        </p:txBody>
      </p:sp>
      <p:sp>
        <p:nvSpPr>
          <p:cNvPr id="24" name="step-desc-4">
            <a:extLst xmlns:a="http://schemas.openxmlformats.org/drawingml/2006/main">
              <a:ext uri="{FF2B5EF4-FFF2-40B4-BE49-F238E27FC236}">
                <a16:creationId xmlns:a16="http://schemas.microsoft.com/office/drawing/2014/main" id="{EC915081-E52F-4E28-92DC-AE5F302D4281}"/>
              </a:ext>
            </a:extLst>
          </p:cNvPr>
          <p:cNvSpPr>
            <a:spLocks xmlns:a="http://schemas.openxmlformats.org/drawingml/2006/main" noGrp="1"/>
          </p:cNvSpPr>
          <p:nvPr/>
        </p:nvSpPr>
        <p:spPr>
          <a:xfrm xmlns:a="http://schemas.openxmlformats.org/drawingml/2006/main">
            <a:off x="10039350" y="2257425"/>
            <a:ext cx="2085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Only the permitted</a:t>
            </a:r>
          </a:p>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action runs</a:t>
            </a:r>
          </a:p>
        </p:txBody>
      </p:sp>
      <p:sp>
        <p:nvSpPr>
          <p:cNvPr id="25" name="line-69">
            <a:extLst xmlns:a="http://schemas.openxmlformats.org/drawingml/2006/main">
              <a:ext uri="{FF2B5EF4-FFF2-40B4-BE49-F238E27FC236}">
                <a16:creationId xmlns:a16="http://schemas.microsoft.com/office/drawing/2014/main" id="{C007DD46-3CD8-4F7A-8950-6279280E8CB0}"/>
              </a:ext>
            </a:extLst>
          </p:cNvPr>
          <p:cNvSpPr>
            <a:spLocks xmlns:a="http://schemas.openxmlformats.org/drawingml/2006/main" noGrp="1"/>
          </p:cNvSpPr>
          <p:nvPr/>
        </p:nvSpPr>
        <p:spPr>
          <a:xfrm xmlns:a="http://schemas.openxmlformats.org/drawingml/2006/main" flipV="0">
            <a:off x="11982450" y="2019300"/>
            <a:ext cx="295275" cy="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26" name="line-70">
            <a:extLst xmlns:a="http://schemas.openxmlformats.org/drawingml/2006/main">
              <a:ext uri="{FF2B5EF4-FFF2-40B4-BE49-F238E27FC236}">
                <a16:creationId xmlns:a16="http://schemas.microsoft.com/office/drawing/2014/main" id="{02C6F88A-8253-4FB7-9571-FFB4D61527AA}"/>
              </a:ext>
            </a:extLst>
          </p:cNvPr>
          <p:cNvSpPr>
            <a:spLocks xmlns:a="http://schemas.openxmlformats.org/drawingml/2006/main" noGrp="1"/>
          </p:cNvSpPr>
          <p:nvPr/>
        </p:nvSpPr>
        <p:spPr>
          <a:xfrm xmlns:a="http://schemas.openxmlformats.org/drawingml/2006/main" flipV="0">
            <a:off x="12220575" y="19812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27" name="line-71">
            <a:extLst xmlns:a="http://schemas.openxmlformats.org/drawingml/2006/main">
              <a:ext uri="{FF2B5EF4-FFF2-40B4-BE49-F238E27FC236}">
                <a16:creationId xmlns:a16="http://schemas.microsoft.com/office/drawing/2014/main" id="{19491C93-9FA7-49BE-8428-F1B6343D0DEE}"/>
              </a:ext>
            </a:extLst>
          </p:cNvPr>
          <p:cNvSpPr>
            <a:spLocks xmlns:a="http://schemas.openxmlformats.org/drawingml/2006/main" noGrp="1"/>
          </p:cNvSpPr>
          <p:nvPr/>
        </p:nvSpPr>
        <p:spPr>
          <a:xfrm xmlns:a="http://schemas.openxmlformats.org/drawingml/2006/main" flipV="1">
            <a:off x="12220575" y="2019300"/>
            <a:ext cx="57150" cy="38100"/>
          </a:xfrm>
          <a:prstGeom xmlns:a="http://schemas.openxmlformats.org/drawingml/2006/main" prst="line">
            <a:avLst/>
          </a:prstGeom>
          <a:noFill xmlns:a="http://schemas.openxmlformats.org/drawingml/2006/main"/>
          <a:ln xmlns:a="http://schemas.openxmlformats.org/drawingml/2006/main" w="13335">
            <a:solidFill>
              <a:srgbClr val="8A949D"/>
            </a:solidFill>
          </a:ln>
        </p:spPr>
      </p:sp>
      <p:sp>
        <p:nvSpPr>
          <p:cNvPr id="28" name="step-title-5">
            <a:extLst xmlns:a="http://schemas.openxmlformats.org/drawingml/2006/main">
              <a:ext uri="{FF2B5EF4-FFF2-40B4-BE49-F238E27FC236}">
                <a16:creationId xmlns:a16="http://schemas.microsoft.com/office/drawing/2014/main" id="{A8F61241-13B0-4139-9105-9FBCAC410500}"/>
              </a:ext>
            </a:extLst>
          </p:cNvPr>
          <p:cNvSpPr>
            <a:spLocks xmlns:a="http://schemas.openxmlformats.org/drawingml/2006/main" noGrp="1"/>
          </p:cNvSpPr>
          <p:nvPr/>
        </p:nvSpPr>
        <p:spPr>
          <a:xfrm xmlns:a="http://schemas.openxmlformats.org/drawingml/2006/main">
            <a:off x="12392025" y="1876425"/>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6191C"/>
                </a:solidFill>
                <a:latin typeface="Helvetica Neue"/>
                <a:ea typeface="Helvetica Neue"/>
                <a:cs typeface="Helvetica Neue"/>
              </a:defRPr>
            </a:pPr>
            <a:r>
              <a:rPr sz="1800" b="1">
                <a:solidFill>
                  <a:srgbClr val="16191C"/>
                </a:solidFill>
                <a:latin typeface="Helvetica Neue"/>
                <a:ea typeface="Helvetica Neue"/>
                <a:cs typeface="Helvetica Neue"/>
              </a:rPr>
              <a:t>Verify</a:t>
            </a:r>
          </a:p>
        </p:txBody>
      </p:sp>
      <p:sp>
        <p:nvSpPr>
          <p:cNvPr id="29" name="step-desc-5">
            <a:extLst xmlns:a="http://schemas.openxmlformats.org/drawingml/2006/main">
              <a:ext uri="{FF2B5EF4-FFF2-40B4-BE49-F238E27FC236}">
                <a16:creationId xmlns:a16="http://schemas.microsoft.com/office/drawing/2014/main" id="{09395DDA-0A82-4C9E-A724-F39A1D007408}"/>
              </a:ext>
            </a:extLst>
          </p:cNvPr>
          <p:cNvSpPr>
            <a:spLocks xmlns:a="http://schemas.openxmlformats.org/drawingml/2006/main" noGrp="1"/>
          </p:cNvSpPr>
          <p:nvPr/>
        </p:nvSpPr>
        <p:spPr>
          <a:xfrm xmlns:a="http://schemas.openxmlformats.org/drawingml/2006/main">
            <a:off x="12392025" y="2257425"/>
            <a:ext cx="2085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Read back from the</a:t>
            </a:r>
          </a:p>
          <a:p xmlns:a="http://schemas.openxmlformats.org/drawingml/2006/main">
            <a:pPr algn="l">
              <a:defRPr sz="1425" b="0">
                <a:solidFill>
                  <a:srgbClr val="616B75"/>
                </a:solidFill>
                <a:latin typeface="Helvetica Neue"/>
                <a:ea typeface="Helvetica Neue"/>
                <a:cs typeface="Helvetica Neue"/>
              </a:defRPr>
            </a:pPr>
            <a:r>
              <a:rPr sz="1425" b="0">
                <a:solidFill>
                  <a:srgbClr val="616B75"/>
                </a:solidFill>
                <a:latin typeface="Helvetica Neue"/>
                <a:ea typeface="Helvetica Neue"/>
                <a:cs typeface="Helvetica Neue"/>
              </a:rPr>
              <a:t>source system</a:t>
            </a:r>
          </a:p>
        </p:txBody>
      </p:sp>
      <p:sp>
        <p:nvSpPr>
          <p:cNvPr id="30" name="line-72">
            <a:extLst xmlns:a="http://schemas.openxmlformats.org/drawingml/2006/main">
              <a:ext uri="{FF2B5EF4-FFF2-40B4-BE49-F238E27FC236}">
                <a16:creationId xmlns:a16="http://schemas.microsoft.com/office/drawing/2014/main" id="{920A72A2-4216-4D17-8630-2E30775F5C5C}"/>
              </a:ext>
            </a:extLst>
          </p:cNvPr>
          <p:cNvSpPr>
            <a:spLocks xmlns:a="http://schemas.openxmlformats.org/drawingml/2006/main" noGrp="1"/>
          </p:cNvSpPr>
          <p:nvPr/>
        </p:nvSpPr>
        <p:spPr>
          <a:xfrm xmlns:a="http://schemas.openxmlformats.org/drawingml/2006/main" flipV="0">
            <a:off x="628650" y="3000375"/>
            <a:ext cx="139827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31" name="case-id-0">
            <a:extLst xmlns:a="http://schemas.openxmlformats.org/drawingml/2006/main">
              <a:ext uri="{FF2B5EF4-FFF2-40B4-BE49-F238E27FC236}">
                <a16:creationId xmlns:a16="http://schemas.microsoft.com/office/drawing/2014/main" id="{55162BF8-CBEE-4339-A07D-D1E21547EC95}"/>
              </a:ext>
            </a:extLst>
          </p:cNvPr>
          <p:cNvSpPr>
            <a:spLocks xmlns:a="http://schemas.openxmlformats.org/drawingml/2006/main" noGrp="1"/>
          </p:cNvSpPr>
          <p:nvPr/>
        </p:nvSpPr>
        <p:spPr>
          <a:xfrm xmlns:a="http://schemas.openxmlformats.org/drawingml/2006/main">
            <a:off x="628650" y="3209925"/>
            <a:ext cx="1352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47E67"/>
                </a:solidFill>
                <a:latin typeface="Helvetica Neue"/>
                <a:ea typeface="Helvetica Neue"/>
                <a:cs typeface="Helvetica Neue"/>
              </a:defRPr>
            </a:pPr>
            <a:r>
              <a:rPr sz="1875" b="1">
                <a:solidFill>
                  <a:srgbClr val="147E67"/>
                </a:solidFill>
                <a:latin typeface="Helvetica Neue"/>
                <a:ea typeface="Helvetica Neue"/>
                <a:cs typeface="Helvetica Neue"/>
              </a:rPr>
              <a:t>CR-019</a:t>
            </a:r>
          </a:p>
        </p:txBody>
      </p:sp>
      <p:sp>
        <p:nvSpPr>
          <p:cNvPr id="32" name="case-title-0">
            <a:extLst xmlns:a="http://schemas.openxmlformats.org/drawingml/2006/main">
              <a:ext uri="{FF2B5EF4-FFF2-40B4-BE49-F238E27FC236}">
                <a16:creationId xmlns:a16="http://schemas.microsoft.com/office/drawing/2014/main" id="{9C0E4C59-2D05-4EC9-9985-3401369E6286}"/>
              </a:ext>
            </a:extLst>
          </p:cNvPr>
          <p:cNvSpPr>
            <a:spLocks xmlns:a="http://schemas.openxmlformats.org/drawingml/2006/main" noGrp="1"/>
          </p:cNvSpPr>
          <p:nvPr/>
        </p:nvSpPr>
        <p:spPr>
          <a:xfrm xmlns:a="http://schemas.openxmlformats.org/drawingml/2006/main">
            <a:off x="2076450" y="3209925"/>
            <a:ext cx="4105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Standard requirement change</a:t>
            </a:r>
          </a:p>
        </p:txBody>
      </p:sp>
      <p:sp>
        <p:nvSpPr>
          <p:cNvPr id="33" name="case-description-0">
            <a:extLst xmlns:a="http://schemas.openxmlformats.org/drawingml/2006/main">
              <a:ext uri="{FF2B5EF4-FFF2-40B4-BE49-F238E27FC236}">
                <a16:creationId xmlns:a16="http://schemas.microsoft.com/office/drawing/2014/main" id="{59320BB0-821C-431A-A46F-1F94C7700A82}"/>
              </a:ext>
            </a:extLst>
          </p:cNvPr>
          <p:cNvSpPr>
            <a:spLocks xmlns:a="http://schemas.openxmlformats.org/drawingml/2006/main" noGrp="1"/>
          </p:cNvSpPr>
          <p:nvPr/>
        </p:nvSpPr>
        <p:spPr>
          <a:xfrm xmlns:a="http://schemas.openxmlformats.org/drawingml/2006/main">
            <a:off x="6477000" y="3200400"/>
            <a:ext cx="5553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16B75"/>
                </a:solidFill>
                <a:latin typeface="Helvetica Neue"/>
                <a:ea typeface="Helvetica Neue"/>
                <a:cs typeface="Helvetica Neue"/>
              </a:defRPr>
            </a:pPr>
            <a:r>
              <a:rPr sz="1650" b="0">
                <a:solidFill>
                  <a:srgbClr val="616B75"/>
                </a:solidFill>
                <a:latin typeface="Helvetica Neue"/>
                <a:ea typeface="Helvetica Neue"/>
                <a:cs typeface="Helvetica Neue"/>
              </a:rPr>
              <a:t>Within an approved test profile. Reuse matching evidence and route the Validation Operations intake.</a:t>
            </a:r>
          </a:p>
        </p:txBody>
      </p:sp>
      <p:sp>
        <p:nvSpPr>
          <p:cNvPr id="34" name="case-authority-0">
            <a:extLst xmlns:a="http://schemas.openxmlformats.org/drawingml/2006/main">
              <a:ext uri="{FF2B5EF4-FFF2-40B4-BE49-F238E27FC236}">
                <a16:creationId xmlns:a16="http://schemas.microsoft.com/office/drawing/2014/main" id="{099DE7FE-467F-4C55-B6FA-7C5418B72D63}"/>
              </a:ext>
            </a:extLst>
          </p:cNvPr>
          <p:cNvSpPr>
            <a:spLocks xmlns:a="http://schemas.openxmlformats.org/drawingml/2006/main" noGrp="1"/>
          </p:cNvSpPr>
          <p:nvPr/>
        </p:nvSpPr>
        <p:spPr>
          <a:xfrm xmlns:a="http://schemas.openxmlformats.org/drawingml/2006/main">
            <a:off x="12401550" y="3209925"/>
            <a:ext cx="22002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47E67"/>
                </a:solidFill>
                <a:latin typeface="Helvetica Neue"/>
                <a:ea typeface="Helvetica Neue"/>
                <a:cs typeface="Helvetica Neue"/>
              </a:defRPr>
            </a:pPr>
            <a:r>
              <a:rPr sz="1575" b="1">
                <a:solidFill>
                  <a:srgbClr val="147E67"/>
                </a:solidFill>
                <a:latin typeface="Helvetica Neue"/>
                <a:ea typeface="Helvetica Neue"/>
                <a:cs typeface="Helvetica Neue"/>
              </a:rPr>
              <a:t>Touchless</a:t>
            </a:r>
          </a:p>
        </p:txBody>
      </p:sp>
      <p:sp>
        <p:nvSpPr>
          <p:cNvPr id="35" name="line-73">
            <a:extLst xmlns:a="http://schemas.openxmlformats.org/drawingml/2006/main">
              <a:ext uri="{FF2B5EF4-FFF2-40B4-BE49-F238E27FC236}">
                <a16:creationId xmlns:a16="http://schemas.microsoft.com/office/drawing/2014/main" id="{41335D7D-F65C-4448-A553-1B68BC8223F2}"/>
              </a:ext>
            </a:extLst>
          </p:cNvPr>
          <p:cNvSpPr>
            <a:spLocks xmlns:a="http://schemas.openxmlformats.org/drawingml/2006/main" noGrp="1"/>
          </p:cNvSpPr>
          <p:nvPr/>
        </p:nvSpPr>
        <p:spPr>
          <a:xfrm xmlns:a="http://schemas.openxmlformats.org/drawingml/2006/main" flipV="0">
            <a:off x="628650" y="4010025"/>
            <a:ext cx="139827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36" name="case-id-1">
            <a:extLst xmlns:a="http://schemas.openxmlformats.org/drawingml/2006/main">
              <a:ext uri="{FF2B5EF4-FFF2-40B4-BE49-F238E27FC236}">
                <a16:creationId xmlns:a16="http://schemas.microsoft.com/office/drawing/2014/main" id="{45C48379-F219-4A46-9423-225921832BFD}"/>
              </a:ext>
            </a:extLst>
          </p:cNvPr>
          <p:cNvSpPr>
            <a:spLocks xmlns:a="http://schemas.openxmlformats.org/drawingml/2006/main" noGrp="1"/>
          </p:cNvSpPr>
          <p:nvPr/>
        </p:nvSpPr>
        <p:spPr>
          <a:xfrm xmlns:a="http://schemas.openxmlformats.org/drawingml/2006/main">
            <a:off x="628650" y="4200525"/>
            <a:ext cx="1352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76CC6"/>
                </a:solidFill>
                <a:latin typeface="Helvetica Neue"/>
                <a:ea typeface="Helvetica Neue"/>
                <a:cs typeface="Helvetica Neue"/>
              </a:defRPr>
            </a:pPr>
            <a:r>
              <a:rPr sz="1875" b="1">
                <a:solidFill>
                  <a:srgbClr val="176CC6"/>
                </a:solidFill>
                <a:latin typeface="Helvetica Neue"/>
                <a:ea typeface="Helvetica Neue"/>
                <a:cs typeface="Helvetica Neue"/>
              </a:rPr>
              <a:t>CR-017</a:t>
            </a:r>
          </a:p>
        </p:txBody>
      </p:sp>
      <p:sp>
        <p:nvSpPr>
          <p:cNvPr id="37" name="case-title-1">
            <a:extLst xmlns:a="http://schemas.openxmlformats.org/drawingml/2006/main">
              <a:ext uri="{FF2B5EF4-FFF2-40B4-BE49-F238E27FC236}">
                <a16:creationId xmlns:a16="http://schemas.microsoft.com/office/drawing/2014/main" id="{4A7A324F-2CFD-4F0A-959E-775182CC59DC}"/>
              </a:ext>
            </a:extLst>
          </p:cNvPr>
          <p:cNvSpPr>
            <a:spLocks xmlns:a="http://schemas.openxmlformats.org/drawingml/2006/main" noGrp="1"/>
          </p:cNvSpPr>
          <p:nvPr/>
        </p:nvSpPr>
        <p:spPr>
          <a:xfrm xmlns:a="http://schemas.openxmlformats.org/drawingml/2006/main">
            <a:off x="2076450" y="4200525"/>
            <a:ext cx="4105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Material requirement change</a:t>
            </a:r>
          </a:p>
        </p:txBody>
      </p:sp>
      <p:sp>
        <p:nvSpPr>
          <p:cNvPr id="38" name="case-description-1">
            <a:extLst xmlns:a="http://schemas.openxmlformats.org/drawingml/2006/main">
              <a:ext uri="{FF2B5EF4-FFF2-40B4-BE49-F238E27FC236}">
                <a16:creationId xmlns:a16="http://schemas.microsoft.com/office/drawing/2014/main" id="{13DD3643-C283-4B57-AD89-05CA7E2B1498}"/>
              </a:ext>
            </a:extLst>
          </p:cNvPr>
          <p:cNvSpPr>
            <a:spLocks xmlns:a="http://schemas.openxmlformats.org/drawingml/2006/main" noGrp="1"/>
          </p:cNvSpPr>
          <p:nvPr/>
        </p:nvSpPr>
        <p:spPr>
          <a:xfrm xmlns:a="http://schemas.openxmlformats.org/drawingml/2006/main">
            <a:off x="6477000" y="4191000"/>
            <a:ext cx="5553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16B75"/>
                </a:solidFill>
                <a:latin typeface="Helvetica Neue"/>
                <a:ea typeface="Helvetica Neue"/>
                <a:cs typeface="Helvetica Neue"/>
              </a:defRPr>
            </a:pPr>
            <a:r>
              <a:rPr sz="1650" b="0">
                <a:solidFill>
                  <a:srgbClr val="616B75"/>
                </a:solidFill>
                <a:latin typeface="Helvetica Neue"/>
                <a:ea typeface="Helvetica Neue"/>
                <a:cs typeface="Helvetica Neue"/>
              </a:rPr>
              <a:t>Find gaps for a broader workload. Propose a validation plan, obtain approval, then schedule and verify the agreed work.</a:t>
            </a:r>
          </a:p>
        </p:txBody>
      </p:sp>
      <p:sp>
        <p:nvSpPr>
          <p:cNvPr id="39" name="case-authority-1">
            <a:extLst xmlns:a="http://schemas.openxmlformats.org/drawingml/2006/main">
              <a:ext uri="{FF2B5EF4-FFF2-40B4-BE49-F238E27FC236}">
                <a16:creationId xmlns:a16="http://schemas.microsoft.com/office/drawing/2014/main" id="{42719E92-CE7C-44E3-A304-3FD1D3C38F73}"/>
              </a:ext>
            </a:extLst>
          </p:cNvPr>
          <p:cNvSpPr>
            <a:spLocks xmlns:a="http://schemas.openxmlformats.org/drawingml/2006/main" noGrp="1"/>
          </p:cNvSpPr>
          <p:nvPr/>
        </p:nvSpPr>
        <p:spPr>
          <a:xfrm xmlns:a="http://schemas.openxmlformats.org/drawingml/2006/main">
            <a:off x="12401550" y="4200525"/>
            <a:ext cx="22002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76CC6"/>
                </a:solidFill>
                <a:latin typeface="Helvetica Neue"/>
                <a:ea typeface="Helvetica Neue"/>
                <a:cs typeface="Helvetica Neue"/>
              </a:defRPr>
            </a:pPr>
            <a:r>
              <a:rPr sz="1575" b="1">
                <a:solidFill>
                  <a:srgbClr val="176CC6"/>
                </a:solidFill>
                <a:latin typeface="Helvetica Neue"/>
                <a:ea typeface="Helvetica Neue"/>
                <a:cs typeface="Helvetica Neue"/>
              </a:rPr>
              <a:t>Engineering approval</a:t>
            </a:r>
          </a:p>
        </p:txBody>
      </p:sp>
      <p:sp>
        <p:nvSpPr>
          <p:cNvPr id="40" name="line-74">
            <a:extLst xmlns:a="http://schemas.openxmlformats.org/drawingml/2006/main">
              <a:ext uri="{FF2B5EF4-FFF2-40B4-BE49-F238E27FC236}">
                <a16:creationId xmlns:a16="http://schemas.microsoft.com/office/drawing/2014/main" id="{AB884E7A-BB02-4240-B035-9823B3136AFC}"/>
              </a:ext>
            </a:extLst>
          </p:cNvPr>
          <p:cNvSpPr>
            <a:spLocks xmlns:a="http://schemas.openxmlformats.org/drawingml/2006/main" noGrp="1"/>
          </p:cNvSpPr>
          <p:nvPr/>
        </p:nvSpPr>
        <p:spPr>
          <a:xfrm xmlns:a="http://schemas.openxmlformats.org/drawingml/2006/main" flipV="0">
            <a:off x="628650" y="5000625"/>
            <a:ext cx="139827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41" name="case-id-2">
            <a:extLst xmlns:a="http://schemas.openxmlformats.org/drawingml/2006/main">
              <a:ext uri="{FF2B5EF4-FFF2-40B4-BE49-F238E27FC236}">
                <a16:creationId xmlns:a16="http://schemas.microsoft.com/office/drawing/2014/main" id="{117C4E58-DF12-41F7-A27C-6745B211E94A}"/>
              </a:ext>
            </a:extLst>
          </p:cNvPr>
          <p:cNvSpPr>
            <a:spLocks xmlns:a="http://schemas.openxmlformats.org/drawingml/2006/main" noGrp="1"/>
          </p:cNvSpPr>
          <p:nvPr/>
        </p:nvSpPr>
        <p:spPr>
          <a:xfrm xmlns:a="http://schemas.openxmlformats.org/drawingml/2006/main">
            <a:off x="628650" y="5191125"/>
            <a:ext cx="1352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6655C4"/>
                </a:solidFill>
                <a:latin typeface="Helvetica Neue"/>
                <a:ea typeface="Helvetica Neue"/>
                <a:cs typeface="Helvetica Neue"/>
              </a:defRPr>
            </a:pPr>
            <a:r>
              <a:rPr sz="1875" b="1">
                <a:solidFill>
                  <a:srgbClr val="6655C4"/>
                </a:solidFill>
                <a:latin typeface="Helvetica Neue"/>
                <a:ea typeface="Helvetica Neue"/>
                <a:cs typeface="Helvetica Neue"/>
              </a:rPr>
              <a:t>QE-004</a:t>
            </a:r>
          </a:p>
        </p:txBody>
      </p:sp>
      <p:sp>
        <p:nvSpPr>
          <p:cNvPr id="42" name="case-title-2">
            <a:extLst xmlns:a="http://schemas.openxmlformats.org/drawingml/2006/main">
              <a:ext uri="{FF2B5EF4-FFF2-40B4-BE49-F238E27FC236}">
                <a16:creationId xmlns:a16="http://schemas.microsoft.com/office/drawing/2014/main" id="{6133AC08-AEA6-46BB-A7D1-C6B6E9E2DAB6}"/>
              </a:ext>
            </a:extLst>
          </p:cNvPr>
          <p:cNvSpPr>
            <a:spLocks xmlns:a="http://schemas.openxmlformats.org/drawingml/2006/main" noGrp="1"/>
          </p:cNvSpPr>
          <p:nvPr/>
        </p:nvSpPr>
        <p:spPr>
          <a:xfrm xmlns:a="http://schemas.openxmlformats.org/drawingml/2006/main">
            <a:off x="2076450" y="5191125"/>
            <a:ext cx="4105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Yield and quality recovery</a:t>
            </a:r>
          </a:p>
        </p:txBody>
      </p:sp>
      <p:sp>
        <p:nvSpPr>
          <p:cNvPr id="43" name="case-description-2">
            <a:extLst xmlns:a="http://schemas.openxmlformats.org/drawingml/2006/main">
              <a:ext uri="{FF2B5EF4-FFF2-40B4-BE49-F238E27FC236}">
                <a16:creationId xmlns:a16="http://schemas.microsoft.com/office/drawing/2014/main" id="{1BB9E999-3730-43C1-A332-4A79CD4B4DC5}"/>
              </a:ext>
            </a:extLst>
          </p:cNvPr>
          <p:cNvSpPr>
            <a:spLocks xmlns:a="http://schemas.openxmlformats.org/drawingml/2006/main" noGrp="1"/>
          </p:cNvSpPr>
          <p:nvPr/>
        </p:nvSpPr>
        <p:spPr>
          <a:xfrm xmlns:a="http://schemas.openxmlformats.org/drawingml/2006/main">
            <a:off x="6477000" y="5181600"/>
            <a:ext cx="5553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16B75"/>
                </a:solidFill>
                <a:latin typeface="Helvetica Neue"/>
                <a:ea typeface="Helvetica Neue"/>
                <a:cs typeface="Helvetica Neue"/>
              </a:defRPr>
            </a:pPr>
            <a:r>
              <a:rPr sz="1650" b="0">
                <a:solidFill>
                  <a:srgbClr val="616B75"/>
                </a:solidFill>
                <a:latin typeface="Helvetica Neue"/>
                <a:ea typeface="Helvetica Neue"/>
                <a:cs typeface="Helvetica Neue"/>
              </a:rPr>
              <a:t>Assess usable supply and timing. Recommend recovery steps and persist only the approved recovery plan and task.</a:t>
            </a:r>
          </a:p>
        </p:txBody>
      </p:sp>
      <p:sp>
        <p:nvSpPr>
          <p:cNvPr id="44" name="case-authority-2">
            <a:extLst xmlns:a="http://schemas.openxmlformats.org/drawingml/2006/main">
              <a:ext uri="{FF2B5EF4-FFF2-40B4-BE49-F238E27FC236}">
                <a16:creationId xmlns:a16="http://schemas.microsoft.com/office/drawing/2014/main" id="{56209639-99C7-4B54-938B-800856EBD0DB}"/>
              </a:ext>
            </a:extLst>
          </p:cNvPr>
          <p:cNvSpPr>
            <a:spLocks xmlns:a="http://schemas.openxmlformats.org/drawingml/2006/main" noGrp="1"/>
          </p:cNvSpPr>
          <p:nvPr/>
        </p:nvSpPr>
        <p:spPr>
          <a:xfrm xmlns:a="http://schemas.openxmlformats.org/drawingml/2006/main">
            <a:off x="12401550" y="5191125"/>
            <a:ext cx="22002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6655C4"/>
                </a:solidFill>
                <a:latin typeface="Helvetica Neue"/>
                <a:ea typeface="Helvetica Neue"/>
                <a:cs typeface="Helvetica Neue"/>
              </a:defRPr>
            </a:pPr>
            <a:r>
              <a:rPr sz="1575" b="1">
                <a:solidFill>
                  <a:srgbClr val="6655C4"/>
                </a:solidFill>
                <a:latin typeface="Helvetica Neue"/>
                <a:ea typeface="Helvetica Neue"/>
                <a:cs typeface="Helvetica Neue"/>
              </a:rPr>
              <a:t>Program Owner approval</a:t>
            </a:r>
          </a:p>
        </p:txBody>
      </p:sp>
      <p:sp>
        <p:nvSpPr>
          <p:cNvPr id="45" name="line-75">
            <a:extLst xmlns:a="http://schemas.openxmlformats.org/drawingml/2006/main">
              <a:ext uri="{FF2B5EF4-FFF2-40B4-BE49-F238E27FC236}">
                <a16:creationId xmlns:a16="http://schemas.microsoft.com/office/drawing/2014/main" id="{F8112D34-C3AF-4640-B25C-9A1E8DD6E7AA}"/>
              </a:ext>
            </a:extLst>
          </p:cNvPr>
          <p:cNvSpPr>
            <a:spLocks xmlns:a="http://schemas.openxmlformats.org/drawingml/2006/main" noGrp="1"/>
          </p:cNvSpPr>
          <p:nvPr/>
        </p:nvSpPr>
        <p:spPr>
          <a:xfrm xmlns:a="http://schemas.openxmlformats.org/drawingml/2006/main" flipV="0">
            <a:off x="628650" y="6238875"/>
            <a:ext cx="139827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46" name="value-label">
            <a:extLst xmlns:a="http://schemas.openxmlformats.org/drawingml/2006/main">
              <a:ext uri="{FF2B5EF4-FFF2-40B4-BE49-F238E27FC236}">
                <a16:creationId xmlns:a16="http://schemas.microsoft.com/office/drawing/2014/main" id="{4681A2EC-8150-4811-BCBF-79CE79859DD1}"/>
              </a:ext>
            </a:extLst>
          </p:cNvPr>
          <p:cNvSpPr>
            <a:spLocks xmlns:a="http://schemas.openxmlformats.org/drawingml/2006/main" noGrp="1"/>
          </p:cNvSpPr>
          <p:nvPr/>
        </p:nvSpPr>
        <p:spPr>
          <a:xfrm xmlns:a="http://schemas.openxmlformats.org/drawingml/2006/main">
            <a:off x="628650" y="6400800"/>
            <a:ext cx="781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Illustrative value drivers</a:t>
            </a:r>
          </a:p>
        </p:txBody>
      </p:sp>
      <p:sp>
        <p:nvSpPr>
          <p:cNvPr id="47" name="value-0">
            <a:extLst xmlns:a="http://schemas.openxmlformats.org/drawingml/2006/main">
              <a:ext uri="{FF2B5EF4-FFF2-40B4-BE49-F238E27FC236}">
                <a16:creationId xmlns:a16="http://schemas.microsoft.com/office/drawing/2014/main" id="{9FBCEFB4-7DF2-4B79-AC60-16B00888A018}"/>
              </a:ext>
            </a:extLst>
          </p:cNvPr>
          <p:cNvSpPr>
            <a:spLocks xmlns:a="http://schemas.openxmlformats.org/drawingml/2006/main" noGrp="1"/>
          </p:cNvSpPr>
          <p:nvPr/>
        </p:nvSpPr>
        <p:spPr>
          <a:xfrm xmlns:a="http://schemas.openxmlformats.org/drawingml/2006/main">
            <a:off x="628650" y="6791325"/>
            <a:ext cx="3257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6191C"/>
                </a:solidFill>
                <a:latin typeface="Helvetica Neue"/>
                <a:ea typeface="Helvetica Neue"/>
                <a:cs typeface="Helvetica Neue"/>
              </a:defRPr>
            </a:pPr>
            <a:r>
              <a:rPr sz="3525" b="1">
                <a:solidFill>
                  <a:srgbClr val="16191C"/>
                </a:solidFill>
                <a:latin typeface="Helvetica Neue"/>
                <a:ea typeface="Helvetica Neue"/>
                <a:cs typeface="Helvetica Neue"/>
              </a:rPr>
              <a:t>$20M</a:t>
            </a:r>
          </a:p>
        </p:txBody>
      </p:sp>
      <p:sp>
        <p:nvSpPr>
          <p:cNvPr id="48" name="value-title-0">
            <a:extLst xmlns:a="http://schemas.openxmlformats.org/drawingml/2006/main">
              <a:ext uri="{FF2B5EF4-FFF2-40B4-BE49-F238E27FC236}">
                <a16:creationId xmlns:a16="http://schemas.microsoft.com/office/drawing/2014/main" id="{B37F2AFF-628E-4856-B6F7-3EC0EA286A28}"/>
              </a:ext>
            </a:extLst>
          </p:cNvPr>
          <p:cNvSpPr>
            <a:spLocks xmlns:a="http://schemas.openxmlformats.org/drawingml/2006/main" noGrp="1"/>
          </p:cNvSpPr>
          <p:nvPr/>
        </p:nvSpPr>
        <p:spPr>
          <a:xfrm xmlns:a="http://schemas.openxmlformats.org/drawingml/2006/main">
            <a:off x="628650" y="7381875"/>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6CC6"/>
                </a:solidFill>
                <a:latin typeface="Helvetica Neue"/>
                <a:ea typeface="Helvetica Neue"/>
                <a:cs typeface="Helvetica Neue"/>
              </a:defRPr>
            </a:pPr>
            <a:r>
              <a:rPr sz="1500" b="1">
                <a:solidFill>
                  <a:srgbClr val="176CC6"/>
                </a:solidFill>
                <a:latin typeface="Helvetica Neue"/>
                <a:ea typeface="Helvetica Neue"/>
                <a:cs typeface="Helvetica Neue"/>
              </a:rPr>
              <a:t>Yield protected</a:t>
            </a:r>
          </a:p>
        </p:txBody>
      </p:sp>
      <p:sp>
        <p:nvSpPr>
          <p:cNvPr id="49" name="value-body-0">
            <a:extLst xmlns:a="http://schemas.openxmlformats.org/drawingml/2006/main">
              <a:ext uri="{FF2B5EF4-FFF2-40B4-BE49-F238E27FC236}">
                <a16:creationId xmlns:a16="http://schemas.microsoft.com/office/drawing/2014/main" id="{98C3C783-AB57-411B-A84A-59199920418E}"/>
              </a:ext>
            </a:extLst>
          </p:cNvPr>
          <p:cNvSpPr>
            <a:spLocks xmlns:a="http://schemas.openxmlformats.org/drawingml/2006/main" noGrp="1"/>
          </p:cNvSpPr>
          <p:nvPr/>
        </p:nvSpPr>
        <p:spPr>
          <a:xfrm xmlns:a="http://schemas.openxmlformats.org/drawingml/2006/main">
            <a:off x="628650" y="770572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Potential annual output value</a:t>
            </a:r>
          </a:p>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per percentage point recovered</a:t>
            </a:r>
          </a:p>
        </p:txBody>
      </p:sp>
      <p:sp>
        <p:nvSpPr>
          <p:cNvPr id="50" name="line-76">
            <a:extLst xmlns:a="http://schemas.openxmlformats.org/drawingml/2006/main">
              <a:ext uri="{FF2B5EF4-FFF2-40B4-BE49-F238E27FC236}">
                <a16:creationId xmlns:a16="http://schemas.microsoft.com/office/drawing/2014/main" id="{88D98669-34F6-4C8C-B9A9-64B77CA7619F}"/>
              </a:ext>
            </a:extLst>
          </p:cNvPr>
          <p:cNvSpPr>
            <a:spLocks xmlns:a="http://schemas.openxmlformats.org/drawingml/2006/main" noGrp="1"/>
          </p:cNvSpPr>
          <p:nvPr/>
        </p:nvSpPr>
        <p:spPr>
          <a:xfrm xmlns:a="http://schemas.openxmlformats.org/drawingml/2006/main" flipV="0">
            <a:off x="4010025" y="6867525"/>
            <a:ext cx="0" cy="100965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51" name="value-1">
            <a:extLst xmlns:a="http://schemas.openxmlformats.org/drawingml/2006/main">
              <a:ext uri="{FF2B5EF4-FFF2-40B4-BE49-F238E27FC236}">
                <a16:creationId xmlns:a16="http://schemas.microsoft.com/office/drawing/2014/main" id="{A68F59D9-E57E-48CB-8073-E693BA29D03C}"/>
              </a:ext>
            </a:extLst>
          </p:cNvPr>
          <p:cNvSpPr>
            <a:spLocks xmlns:a="http://schemas.openxmlformats.org/drawingml/2006/main" noGrp="1"/>
          </p:cNvSpPr>
          <p:nvPr/>
        </p:nvSpPr>
        <p:spPr>
          <a:xfrm xmlns:a="http://schemas.openxmlformats.org/drawingml/2006/main">
            <a:off x="4210050" y="6791325"/>
            <a:ext cx="3257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16191C"/>
                </a:solidFill>
                <a:latin typeface="Helvetica Neue"/>
                <a:ea typeface="Helvetica Neue"/>
                <a:cs typeface="Helvetica Neue"/>
              </a:defRPr>
            </a:pPr>
            <a:r>
              <a:rPr sz="2925" b="1">
                <a:solidFill>
                  <a:srgbClr val="16191C"/>
                </a:solidFill>
                <a:latin typeface="Helvetica Neue"/>
                <a:ea typeface="Helvetica Neue"/>
                <a:cs typeface="Helvetica Neue"/>
              </a:rPr>
              <a:t>5 days → 1</a:t>
            </a:r>
          </a:p>
        </p:txBody>
      </p:sp>
      <p:sp>
        <p:nvSpPr>
          <p:cNvPr id="52" name="value-title-1">
            <a:extLst xmlns:a="http://schemas.openxmlformats.org/drawingml/2006/main">
              <a:ext uri="{FF2B5EF4-FFF2-40B4-BE49-F238E27FC236}">
                <a16:creationId xmlns:a16="http://schemas.microsoft.com/office/drawing/2014/main" id="{8639B194-A74C-4109-8D79-E60CE1F3AAA8}"/>
              </a:ext>
            </a:extLst>
          </p:cNvPr>
          <p:cNvSpPr>
            <a:spLocks xmlns:a="http://schemas.openxmlformats.org/drawingml/2006/main" noGrp="1"/>
          </p:cNvSpPr>
          <p:nvPr/>
        </p:nvSpPr>
        <p:spPr>
          <a:xfrm xmlns:a="http://schemas.openxmlformats.org/drawingml/2006/main">
            <a:off x="4210050" y="7381875"/>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6CC6"/>
                </a:solidFill>
                <a:latin typeface="Helvetica Neue"/>
                <a:ea typeface="Helvetica Neue"/>
                <a:cs typeface="Helvetica Neue"/>
              </a:defRPr>
            </a:pPr>
            <a:r>
              <a:rPr sz="1500" b="1">
                <a:solidFill>
                  <a:srgbClr val="176CC6"/>
                </a:solidFill>
                <a:latin typeface="Helvetica Neue"/>
                <a:ea typeface="Helvetica Neue"/>
                <a:cs typeface="Helvetica Neue"/>
              </a:rPr>
              <a:t>Time to decision</a:t>
            </a:r>
          </a:p>
        </p:txBody>
      </p:sp>
      <p:sp>
        <p:nvSpPr>
          <p:cNvPr id="53" name="value-body-1">
            <a:extLst xmlns:a="http://schemas.openxmlformats.org/drawingml/2006/main">
              <a:ext uri="{FF2B5EF4-FFF2-40B4-BE49-F238E27FC236}">
                <a16:creationId xmlns:a16="http://schemas.microsoft.com/office/drawing/2014/main" id="{0439909F-1C46-4E28-9420-003989B3C0D9}"/>
              </a:ext>
            </a:extLst>
          </p:cNvPr>
          <p:cNvSpPr>
            <a:spLocks xmlns:a="http://schemas.openxmlformats.org/drawingml/2006/main" noGrp="1"/>
          </p:cNvSpPr>
          <p:nvPr/>
        </p:nvSpPr>
        <p:spPr>
          <a:xfrm xmlns:a="http://schemas.openxmlformats.org/drawingml/2006/main">
            <a:off x="4210050" y="770572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Pilot target for an actionable,</a:t>
            </a:r>
          </a:p>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evidence-backed decision</a:t>
            </a:r>
          </a:p>
        </p:txBody>
      </p:sp>
      <p:sp>
        <p:nvSpPr>
          <p:cNvPr id="54" name="line-77">
            <a:extLst xmlns:a="http://schemas.openxmlformats.org/drawingml/2006/main">
              <a:ext uri="{FF2B5EF4-FFF2-40B4-BE49-F238E27FC236}">
                <a16:creationId xmlns:a16="http://schemas.microsoft.com/office/drawing/2014/main" id="{40E95CEF-A91C-47B8-89CE-3529670EDA98}"/>
              </a:ext>
            </a:extLst>
          </p:cNvPr>
          <p:cNvSpPr>
            <a:spLocks xmlns:a="http://schemas.openxmlformats.org/drawingml/2006/main" noGrp="1"/>
          </p:cNvSpPr>
          <p:nvPr/>
        </p:nvSpPr>
        <p:spPr>
          <a:xfrm xmlns:a="http://schemas.openxmlformats.org/drawingml/2006/main" flipV="0">
            <a:off x="7591425" y="6867525"/>
            <a:ext cx="0" cy="100965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55" name="value-2">
            <a:extLst xmlns:a="http://schemas.openxmlformats.org/drawingml/2006/main">
              <a:ext uri="{FF2B5EF4-FFF2-40B4-BE49-F238E27FC236}">
                <a16:creationId xmlns:a16="http://schemas.microsoft.com/office/drawing/2014/main" id="{27CFC184-7AD0-4582-975D-0F3384B7A76B}"/>
              </a:ext>
            </a:extLst>
          </p:cNvPr>
          <p:cNvSpPr>
            <a:spLocks xmlns:a="http://schemas.openxmlformats.org/drawingml/2006/main" noGrp="1"/>
          </p:cNvSpPr>
          <p:nvPr/>
        </p:nvSpPr>
        <p:spPr>
          <a:xfrm xmlns:a="http://schemas.openxmlformats.org/drawingml/2006/main">
            <a:off x="7791450" y="6791325"/>
            <a:ext cx="3257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6191C"/>
                </a:solidFill>
                <a:latin typeface="Helvetica Neue"/>
                <a:ea typeface="Helvetica Neue"/>
                <a:cs typeface="Helvetica Neue"/>
              </a:defRPr>
            </a:pPr>
            <a:r>
              <a:rPr sz="3525" b="1">
                <a:solidFill>
                  <a:srgbClr val="16191C"/>
                </a:solidFill>
                <a:latin typeface="Helvetica Neue"/>
                <a:ea typeface="Helvetica Neue"/>
                <a:cs typeface="Helvetica Neue"/>
              </a:rPr>
              <a:t>$25M</a:t>
            </a:r>
          </a:p>
        </p:txBody>
      </p:sp>
      <p:sp>
        <p:nvSpPr>
          <p:cNvPr id="56" name="value-title-2">
            <a:extLst xmlns:a="http://schemas.openxmlformats.org/drawingml/2006/main">
              <a:ext uri="{FF2B5EF4-FFF2-40B4-BE49-F238E27FC236}">
                <a16:creationId xmlns:a16="http://schemas.microsoft.com/office/drawing/2014/main" id="{C0CED09A-A855-4C5E-A9AF-F24F80D52B3A}"/>
              </a:ext>
            </a:extLst>
          </p:cNvPr>
          <p:cNvSpPr>
            <a:spLocks xmlns:a="http://schemas.openxmlformats.org/drawingml/2006/main" noGrp="1"/>
          </p:cNvSpPr>
          <p:nvPr/>
        </p:nvSpPr>
        <p:spPr>
          <a:xfrm xmlns:a="http://schemas.openxmlformats.org/drawingml/2006/main">
            <a:off x="7791450" y="7381875"/>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6CC6"/>
                </a:solidFill>
                <a:latin typeface="Helvetica Neue"/>
                <a:ea typeface="Helvetica Neue"/>
                <a:cs typeface="Helvetica Neue"/>
              </a:defRPr>
            </a:pPr>
            <a:r>
              <a:rPr sz="1500" b="1">
                <a:solidFill>
                  <a:srgbClr val="176CC6"/>
                </a:solidFill>
                <a:latin typeface="Helvetica Neue"/>
                <a:ea typeface="Helvetica Neue"/>
                <a:cs typeface="Helvetica Neue"/>
              </a:rPr>
              <a:t>Commitment reliability</a:t>
            </a:r>
          </a:p>
        </p:txBody>
      </p:sp>
      <p:sp>
        <p:nvSpPr>
          <p:cNvPr id="57" name="value-body-2">
            <a:extLst xmlns:a="http://schemas.openxmlformats.org/drawingml/2006/main">
              <a:ext uri="{FF2B5EF4-FFF2-40B4-BE49-F238E27FC236}">
                <a16:creationId xmlns:a16="http://schemas.microsoft.com/office/drawing/2014/main" id="{F13A29B4-F950-4361-8A39-A4F4C9EDA93C}"/>
              </a:ext>
            </a:extLst>
          </p:cNvPr>
          <p:cNvSpPr>
            <a:spLocks xmlns:a="http://schemas.openxmlformats.org/drawingml/2006/main" noGrp="1"/>
          </p:cNvSpPr>
          <p:nvPr/>
        </p:nvSpPr>
        <p:spPr>
          <a:xfrm xmlns:a="http://schemas.openxmlformats.org/drawingml/2006/main">
            <a:off x="7791450" y="770572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Annual shipment value moved</a:t>
            </a:r>
          </a:p>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out of late-commitment exposure</a:t>
            </a:r>
          </a:p>
        </p:txBody>
      </p:sp>
      <p:sp>
        <p:nvSpPr>
          <p:cNvPr id="58" name="line-78">
            <a:extLst xmlns:a="http://schemas.openxmlformats.org/drawingml/2006/main">
              <a:ext uri="{FF2B5EF4-FFF2-40B4-BE49-F238E27FC236}">
                <a16:creationId xmlns:a16="http://schemas.microsoft.com/office/drawing/2014/main" id="{AC51AC77-29C4-492D-AB68-A8D2CCCF4537}"/>
              </a:ext>
            </a:extLst>
          </p:cNvPr>
          <p:cNvSpPr>
            <a:spLocks xmlns:a="http://schemas.openxmlformats.org/drawingml/2006/main" noGrp="1"/>
          </p:cNvSpPr>
          <p:nvPr/>
        </p:nvSpPr>
        <p:spPr>
          <a:xfrm xmlns:a="http://schemas.openxmlformats.org/drawingml/2006/main" flipV="0">
            <a:off x="11172825" y="6867525"/>
            <a:ext cx="0" cy="100965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59" name="value-3">
            <a:extLst xmlns:a="http://schemas.openxmlformats.org/drawingml/2006/main">
              <a:ext uri="{FF2B5EF4-FFF2-40B4-BE49-F238E27FC236}">
                <a16:creationId xmlns:a16="http://schemas.microsoft.com/office/drawing/2014/main" id="{CA036260-DBC4-4AC2-9F93-E768A2AD11C5}"/>
              </a:ext>
            </a:extLst>
          </p:cNvPr>
          <p:cNvSpPr>
            <a:spLocks xmlns:a="http://schemas.openxmlformats.org/drawingml/2006/main" noGrp="1"/>
          </p:cNvSpPr>
          <p:nvPr/>
        </p:nvSpPr>
        <p:spPr>
          <a:xfrm xmlns:a="http://schemas.openxmlformats.org/drawingml/2006/main">
            <a:off x="11372850" y="6791325"/>
            <a:ext cx="3257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6191C"/>
                </a:solidFill>
                <a:latin typeface="Helvetica Neue"/>
                <a:ea typeface="Helvetica Neue"/>
                <a:cs typeface="Helvetica Neue"/>
              </a:defRPr>
            </a:pPr>
            <a:r>
              <a:rPr sz="3525" b="1">
                <a:solidFill>
                  <a:srgbClr val="16191C"/>
                </a:solidFill>
                <a:latin typeface="Helvetica Neue"/>
                <a:ea typeface="Helvetica Neue"/>
                <a:cs typeface="Helvetica Neue"/>
              </a:rPr>
              <a:t>10 days</a:t>
            </a:r>
          </a:p>
        </p:txBody>
      </p:sp>
      <p:sp>
        <p:nvSpPr>
          <p:cNvPr id="60" name="value-title-3">
            <a:extLst xmlns:a="http://schemas.openxmlformats.org/drawingml/2006/main">
              <a:ext uri="{FF2B5EF4-FFF2-40B4-BE49-F238E27FC236}">
                <a16:creationId xmlns:a16="http://schemas.microsoft.com/office/drawing/2014/main" id="{B122E8F9-730D-4DCF-8BE1-FB0D416E151B}"/>
              </a:ext>
            </a:extLst>
          </p:cNvPr>
          <p:cNvSpPr>
            <a:spLocks xmlns:a="http://schemas.openxmlformats.org/drawingml/2006/main" noGrp="1"/>
          </p:cNvSpPr>
          <p:nvPr/>
        </p:nvSpPr>
        <p:spPr>
          <a:xfrm xmlns:a="http://schemas.openxmlformats.org/drawingml/2006/main">
            <a:off x="11372850" y="7381875"/>
            <a:ext cx="323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6CC6"/>
                </a:solidFill>
                <a:latin typeface="Helvetica Neue"/>
                <a:ea typeface="Helvetica Neue"/>
                <a:cs typeface="Helvetica Neue"/>
              </a:defRPr>
            </a:pPr>
            <a:r>
              <a:rPr sz="1500" b="1">
                <a:solidFill>
                  <a:srgbClr val="176CC6"/>
                </a:solidFill>
                <a:latin typeface="Helvetica Neue"/>
                <a:ea typeface="Helvetica Neue"/>
                <a:cs typeface="Helvetica Neue"/>
              </a:rPr>
              <a:t>Working capital</a:t>
            </a:r>
          </a:p>
        </p:txBody>
      </p:sp>
      <p:sp>
        <p:nvSpPr>
          <p:cNvPr id="61" name="value-body-3">
            <a:extLst xmlns:a="http://schemas.openxmlformats.org/drawingml/2006/main">
              <a:ext uri="{FF2B5EF4-FFF2-40B4-BE49-F238E27FC236}">
                <a16:creationId xmlns:a16="http://schemas.microsoft.com/office/drawing/2014/main" id="{5C513AD0-28E8-4044-B2E3-9E8DBEEDCE89}"/>
              </a:ext>
            </a:extLst>
          </p:cNvPr>
          <p:cNvSpPr>
            <a:spLocks xmlns:a="http://schemas.openxmlformats.org/drawingml/2006/main" noGrp="1"/>
          </p:cNvSpPr>
          <p:nvPr/>
        </p:nvSpPr>
        <p:spPr>
          <a:xfrm xmlns:a="http://schemas.openxmlformats.org/drawingml/2006/main">
            <a:off x="11372850" y="770572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Less inventory waiting on decisions.</a:t>
            </a:r>
          </a:p>
          <a:p xmlns:a="http://schemas.openxmlformats.org/drawingml/2006/main">
            <a:pPr algn="l">
              <a:defRPr sz="1350" b="0">
                <a:solidFill>
                  <a:srgbClr val="616B75"/>
                </a:solidFill>
                <a:latin typeface="Helvetica Neue"/>
                <a:ea typeface="Helvetica Neue"/>
                <a:cs typeface="Helvetica Neue"/>
              </a:defRPr>
            </a:pPr>
            <a:r>
              <a:rPr sz="1350" b="0">
                <a:solidFill>
                  <a:srgbClr val="616B75"/>
                </a:solidFill>
                <a:latin typeface="Helvetica Neue"/>
                <a:ea typeface="Helvetica Neue"/>
                <a:cs typeface="Helvetica Neue"/>
              </a:rPr>
              <a:t>Dollar release to validate in pilot.</a:t>
            </a:r>
          </a:p>
        </p:txBody>
      </p:sp>
      <p:sp>
        <p:nvSpPr>
          <p:cNvPr id="62" name="value-footnote">
            <a:extLst xmlns:a="http://schemas.openxmlformats.org/drawingml/2006/main">
              <a:ext uri="{FF2B5EF4-FFF2-40B4-BE49-F238E27FC236}">
                <a16:creationId xmlns:a16="http://schemas.microsoft.com/office/drawing/2014/main" id="{3B12EA87-3A90-4741-8A1C-8CC7CDB4867D}"/>
              </a:ext>
            </a:extLst>
          </p:cNvPr>
          <p:cNvSpPr>
            <a:spLocks xmlns:a="http://schemas.openxmlformats.org/drawingml/2006/main" noGrp="1"/>
          </p:cNvSpPr>
          <p:nvPr/>
        </p:nvSpPr>
        <p:spPr>
          <a:xfrm xmlns:a="http://schemas.openxmlformats.org/drawingml/2006/main">
            <a:off x="628650" y="8353425"/>
            <a:ext cx="1333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8A949D"/>
                </a:solidFill>
                <a:latin typeface="Helvetica Neue"/>
                <a:ea typeface="Helvetica Neue"/>
                <a:cs typeface="Helvetica Neue"/>
              </a:defRPr>
            </a:pPr>
            <a:r>
              <a:rPr sz="975" b="0">
                <a:solidFill>
                  <a:srgbClr val="8A949D"/>
                </a:solidFill>
                <a:latin typeface="Helvetica Neue"/>
                <a:ea typeface="Helvetica Neue"/>
                <a:cs typeface="Helvetica Neue"/>
              </a:rPr>
              <a:t>Synthetic scenarios; pilot validation required. Output and shipment exposure are not realized savings, may overlap, and should not be added.</a:t>
            </a:r>
          </a:p>
        </p:txBody>
      </p:sp>
    </p:spTree>
    <p:extLst>
      <p:ext uri="{BB962C8B-B14F-4D97-AF65-F5344CB8AC3E}">
        <p14:creationId xmlns:p14="http://schemas.microsoft.com/office/powerpoint/2010/main" val="12316240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itle">
            <a:extLst xmlns:a="http://schemas.openxmlformats.org/drawingml/2006/main">
              <a:ext uri="{FF2B5EF4-FFF2-40B4-BE49-F238E27FC236}">
                <a16:creationId xmlns:a16="http://schemas.microsoft.com/office/drawing/2014/main" id="{A1E573E3-35AF-4CFB-83AF-020F8BB6B382}"/>
              </a:ext>
            </a:extLst>
          </p:cNvPr>
          <p:cNvSpPr>
            <a:spLocks xmlns:a="http://schemas.openxmlformats.org/drawingml/2006/main" noGrp="1"/>
          </p:cNvSpPr>
          <p:nvPr/>
        </p:nvSpPr>
        <p:spPr>
          <a:xfrm xmlns:a="http://schemas.openxmlformats.org/drawingml/2006/main">
            <a:off x="609600" y="428625"/>
            <a:ext cx="1402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6191C"/>
                </a:solidFill>
                <a:latin typeface="Helvetica Neue"/>
                <a:ea typeface="Helvetica Neue"/>
                <a:cs typeface="Helvetica Neue"/>
              </a:defRPr>
            </a:pPr>
            <a:r>
              <a:rPr sz="3525" b="1">
                <a:solidFill>
                  <a:srgbClr val="16191C"/>
                </a:solidFill>
                <a:latin typeface="Helvetica Neue"/>
                <a:ea typeface="Helvetica Neue"/>
                <a:cs typeface="Helvetica Neue"/>
              </a:rPr>
              <a:t>Design decisions and governance</a:t>
            </a:r>
          </a:p>
        </p:txBody>
      </p:sp>
      <p:sp>
        <p:nvSpPr>
          <p:cNvPr id="2" name="subtitle">
            <a:extLst xmlns:a="http://schemas.openxmlformats.org/drawingml/2006/main">
              <a:ext uri="{FF2B5EF4-FFF2-40B4-BE49-F238E27FC236}">
                <a16:creationId xmlns:a16="http://schemas.microsoft.com/office/drawing/2014/main" id="{9201F869-7C34-456A-A94E-ACAD9336FAA1}"/>
              </a:ext>
            </a:extLst>
          </p:cNvPr>
          <p:cNvSpPr>
            <a:spLocks xmlns:a="http://schemas.openxmlformats.org/drawingml/2006/main" noGrp="1"/>
          </p:cNvSpPr>
          <p:nvPr/>
        </p:nvSpPr>
        <p:spPr>
          <a:xfrm xmlns:a="http://schemas.openxmlformats.org/drawingml/2006/main">
            <a:off x="628650" y="1143000"/>
            <a:ext cx="1381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16B75"/>
                </a:solidFill>
                <a:latin typeface="Helvetica Neue"/>
                <a:ea typeface="Helvetica Neue"/>
                <a:cs typeface="Helvetica Neue"/>
              </a:defRPr>
            </a:pPr>
            <a:r>
              <a:rPr sz="1800" b="0">
                <a:solidFill>
                  <a:srgbClr val="616B75"/>
                </a:solidFill>
                <a:latin typeface="Helvetica Neue"/>
                <a:ea typeface="Helvetica Neue"/>
                <a:cs typeface="Helvetica Neue"/>
              </a:rPr>
              <a:t>Models reason. Code calculates and enforces policy. People retain consequential authority.</a:t>
            </a:r>
          </a:p>
        </p:txBody>
      </p:sp>
      <p:sp>
        <p:nvSpPr>
          <p:cNvPr id="3" name="decision-number-0">
            <a:extLst xmlns:a="http://schemas.openxmlformats.org/drawingml/2006/main">
              <a:ext uri="{FF2B5EF4-FFF2-40B4-BE49-F238E27FC236}">
                <a16:creationId xmlns:a16="http://schemas.microsoft.com/office/drawing/2014/main" id="{FA064400-364A-4848-AC1B-FBAF55884328}"/>
              </a:ext>
            </a:extLst>
          </p:cNvPr>
          <p:cNvSpPr>
            <a:spLocks xmlns:a="http://schemas.openxmlformats.org/drawingml/2006/main" noGrp="1"/>
          </p:cNvSpPr>
          <p:nvPr/>
        </p:nvSpPr>
        <p:spPr>
          <a:xfrm xmlns:a="http://schemas.openxmlformats.org/drawingml/2006/main">
            <a:off x="628650" y="1905000"/>
            <a:ext cx="50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01</a:t>
            </a:r>
          </a:p>
        </p:txBody>
      </p:sp>
      <p:sp>
        <p:nvSpPr>
          <p:cNvPr id="4" name="decision-title-0">
            <a:extLst xmlns:a="http://schemas.openxmlformats.org/drawingml/2006/main">
              <a:ext uri="{FF2B5EF4-FFF2-40B4-BE49-F238E27FC236}">
                <a16:creationId xmlns:a16="http://schemas.microsoft.com/office/drawing/2014/main" id="{196BDCE5-A933-4780-A2B7-A67FA5ECF8C7}"/>
              </a:ext>
            </a:extLst>
          </p:cNvPr>
          <p:cNvSpPr>
            <a:spLocks xmlns:a="http://schemas.openxmlformats.org/drawingml/2006/main" noGrp="1"/>
          </p:cNvSpPr>
          <p:nvPr/>
        </p:nvSpPr>
        <p:spPr>
          <a:xfrm xmlns:a="http://schemas.openxmlformats.org/drawingml/2006/main">
            <a:off x="1304925" y="19050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Agent architecture and orchestration</a:t>
            </a:r>
          </a:p>
        </p:txBody>
      </p:sp>
      <p:sp>
        <p:nvSpPr>
          <p:cNvPr id="5" name="decision-body-0">
            <a:extLst xmlns:a="http://schemas.openxmlformats.org/drawingml/2006/main">
              <a:ext uri="{FF2B5EF4-FFF2-40B4-BE49-F238E27FC236}">
                <a16:creationId xmlns:a16="http://schemas.microsoft.com/office/drawing/2014/main" id="{88C2D6F3-2193-48D5-95C0-B48A55A462A2}"/>
              </a:ext>
            </a:extLst>
          </p:cNvPr>
          <p:cNvSpPr>
            <a:spLocks xmlns:a="http://schemas.openxmlformats.org/drawingml/2006/main" noGrp="1"/>
          </p:cNvSpPr>
          <p:nvPr/>
        </p:nvSpPr>
        <p:spPr>
          <a:xfrm xmlns:a="http://schemas.openxmlformats.org/drawingml/2006/main">
            <a:off x="1304925" y="2352675"/>
            <a:ext cx="5886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A coordinator delegates to scoped specialists in parallel, then reconciles one recommendation.</a:t>
            </a:r>
          </a:p>
        </p:txBody>
      </p:sp>
      <p:sp>
        <p:nvSpPr>
          <p:cNvPr id="6" name="line-79">
            <a:extLst xmlns:a="http://schemas.openxmlformats.org/drawingml/2006/main">
              <a:ext uri="{FF2B5EF4-FFF2-40B4-BE49-F238E27FC236}">
                <a16:creationId xmlns:a16="http://schemas.microsoft.com/office/drawing/2014/main" id="{1381225F-B6B8-4CA5-BDEC-363EF3D8B0F9}"/>
              </a:ext>
            </a:extLst>
          </p:cNvPr>
          <p:cNvSpPr>
            <a:spLocks xmlns:a="http://schemas.openxmlformats.org/drawingml/2006/main" noGrp="1"/>
          </p:cNvSpPr>
          <p:nvPr/>
        </p:nvSpPr>
        <p:spPr>
          <a:xfrm xmlns:a="http://schemas.openxmlformats.org/drawingml/2006/main" flipV="0">
            <a:off x="628650" y="3114675"/>
            <a:ext cx="66675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7" name="decision-number-1">
            <a:extLst xmlns:a="http://schemas.openxmlformats.org/drawingml/2006/main">
              <a:ext uri="{FF2B5EF4-FFF2-40B4-BE49-F238E27FC236}">
                <a16:creationId xmlns:a16="http://schemas.microsoft.com/office/drawing/2014/main" id="{74D02B85-A8B4-40C2-A2C7-89A6FEAC74BC}"/>
              </a:ext>
            </a:extLst>
          </p:cNvPr>
          <p:cNvSpPr>
            <a:spLocks xmlns:a="http://schemas.openxmlformats.org/drawingml/2006/main" noGrp="1"/>
          </p:cNvSpPr>
          <p:nvPr/>
        </p:nvSpPr>
        <p:spPr>
          <a:xfrm xmlns:a="http://schemas.openxmlformats.org/drawingml/2006/main">
            <a:off x="7962900" y="1905000"/>
            <a:ext cx="50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02</a:t>
            </a:r>
          </a:p>
        </p:txBody>
      </p:sp>
      <p:sp>
        <p:nvSpPr>
          <p:cNvPr id="8" name="decision-title-1">
            <a:extLst xmlns:a="http://schemas.openxmlformats.org/drawingml/2006/main">
              <a:ext uri="{FF2B5EF4-FFF2-40B4-BE49-F238E27FC236}">
                <a16:creationId xmlns:a16="http://schemas.microsoft.com/office/drawing/2014/main" id="{FD152000-71D6-4591-908F-881B5025A9B8}"/>
              </a:ext>
            </a:extLst>
          </p:cNvPr>
          <p:cNvSpPr>
            <a:spLocks xmlns:a="http://schemas.openxmlformats.org/drawingml/2006/main" noGrp="1"/>
          </p:cNvSpPr>
          <p:nvPr/>
        </p:nvSpPr>
        <p:spPr>
          <a:xfrm xmlns:a="http://schemas.openxmlformats.org/drawingml/2006/main">
            <a:off x="8639175" y="19050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Grounding and enterprise knowledge</a:t>
            </a:r>
          </a:p>
        </p:txBody>
      </p:sp>
      <p:sp>
        <p:nvSpPr>
          <p:cNvPr id="9" name="decision-body-1">
            <a:extLst xmlns:a="http://schemas.openxmlformats.org/drawingml/2006/main">
              <a:ext uri="{FF2B5EF4-FFF2-40B4-BE49-F238E27FC236}">
                <a16:creationId xmlns:a16="http://schemas.microsoft.com/office/drawing/2014/main" id="{D0594CAD-19BD-4B51-AAD3-2DFF72508F0F}"/>
              </a:ext>
            </a:extLst>
          </p:cNvPr>
          <p:cNvSpPr>
            <a:spLocks xmlns:a="http://schemas.openxmlformats.org/drawingml/2006/main" noGrp="1"/>
          </p:cNvSpPr>
          <p:nvPr/>
        </p:nvSpPr>
        <p:spPr>
          <a:xfrm xmlns:a="http://schemas.openxmlformats.org/drawingml/2006/main">
            <a:off x="8639175" y="2352675"/>
            <a:ext cx="5886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Live APIs supply facts. Specialist RAG and exact-source checks provide eligible context.</a:t>
            </a:r>
          </a:p>
        </p:txBody>
      </p:sp>
      <p:sp>
        <p:nvSpPr>
          <p:cNvPr id="10" name="line-80">
            <a:extLst xmlns:a="http://schemas.openxmlformats.org/drawingml/2006/main">
              <a:ext uri="{FF2B5EF4-FFF2-40B4-BE49-F238E27FC236}">
                <a16:creationId xmlns:a16="http://schemas.microsoft.com/office/drawing/2014/main" id="{C8BC435F-CD85-4F79-B726-17E27A7F9665}"/>
              </a:ext>
            </a:extLst>
          </p:cNvPr>
          <p:cNvSpPr>
            <a:spLocks xmlns:a="http://schemas.openxmlformats.org/drawingml/2006/main" noGrp="1"/>
          </p:cNvSpPr>
          <p:nvPr/>
        </p:nvSpPr>
        <p:spPr>
          <a:xfrm xmlns:a="http://schemas.openxmlformats.org/drawingml/2006/main" flipV="0">
            <a:off x="7962900" y="3114675"/>
            <a:ext cx="66675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11" name="decision-number-2">
            <a:extLst xmlns:a="http://schemas.openxmlformats.org/drawingml/2006/main">
              <a:ext uri="{FF2B5EF4-FFF2-40B4-BE49-F238E27FC236}">
                <a16:creationId xmlns:a16="http://schemas.microsoft.com/office/drawing/2014/main" id="{29EDD222-55E9-47C1-B3EE-69B2DCBDA481}"/>
              </a:ext>
            </a:extLst>
          </p:cNvPr>
          <p:cNvSpPr>
            <a:spLocks xmlns:a="http://schemas.openxmlformats.org/drawingml/2006/main" noGrp="1"/>
          </p:cNvSpPr>
          <p:nvPr/>
        </p:nvSpPr>
        <p:spPr>
          <a:xfrm xmlns:a="http://schemas.openxmlformats.org/drawingml/2006/main">
            <a:off x="628650" y="3305175"/>
            <a:ext cx="50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03</a:t>
            </a:r>
          </a:p>
        </p:txBody>
      </p:sp>
      <p:sp>
        <p:nvSpPr>
          <p:cNvPr id="12" name="decision-title-2">
            <a:extLst xmlns:a="http://schemas.openxmlformats.org/drawingml/2006/main">
              <a:ext uri="{FF2B5EF4-FFF2-40B4-BE49-F238E27FC236}">
                <a16:creationId xmlns:a16="http://schemas.microsoft.com/office/drawing/2014/main" id="{2ECE305C-C3A1-40FE-BC41-6C847612D2E9}"/>
              </a:ext>
            </a:extLst>
          </p:cNvPr>
          <p:cNvSpPr>
            <a:spLocks xmlns:a="http://schemas.openxmlformats.org/drawingml/2006/main" noGrp="1"/>
          </p:cNvSpPr>
          <p:nvPr/>
        </p:nvSpPr>
        <p:spPr>
          <a:xfrm xmlns:a="http://schemas.openxmlformats.org/drawingml/2006/main">
            <a:off x="1304925" y="33051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Tooling and system integration</a:t>
            </a:r>
          </a:p>
        </p:txBody>
      </p:sp>
      <p:sp>
        <p:nvSpPr>
          <p:cNvPr id="13" name="decision-body-2">
            <a:extLst xmlns:a="http://schemas.openxmlformats.org/drawingml/2006/main">
              <a:ext uri="{FF2B5EF4-FFF2-40B4-BE49-F238E27FC236}">
                <a16:creationId xmlns:a16="http://schemas.microsoft.com/office/drawing/2014/main" id="{49F95189-D3B9-4E9D-B8E7-7C74ECB89EAC}"/>
              </a:ext>
            </a:extLst>
          </p:cNvPr>
          <p:cNvSpPr>
            <a:spLocks xmlns:a="http://schemas.openxmlformats.org/drawingml/2006/main" noGrp="1"/>
          </p:cNvSpPr>
          <p:nvPr/>
        </p:nvSpPr>
        <p:spPr>
          <a:xfrm xmlns:a="http://schemas.openxmlformats.org/drawingml/2006/main">
            <a:off x="1304925" y="3752850"/>
            <a:ext cx="5886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Typed tools connect all five systems. Source applications remain authoritative.</a:t>
            </a:r>
          </a:p>
        </p:txBody>
      </p:sp>
      <p:sp>
        <p:nvSpPr>
          <p:cNvPr id="14" name="line-81">
            <a:extLst xmlns:a="http://schemas.openxmlformats.org/drawingml/2006/main">
              <a:ext uri="{FF2B5EF4-FFF2-40B4-BE49-F238E27FC236}">
                <a16:creationId xmlns:a16="http://schemas.microsoft.com/office/drawing/2014/main" id="{FD9B0334-CF62-4C07-9F85-5E559FF4A54B}"/>
              </a:ext>
            </a:extLst>
          </p:cNvPr>
          <p:cNvSpPr>
            <a:spLocks xmlns:a="http://schemas.openxmlformats.org/drawingml/2006/main" noGrp="1"/>
          </p:cNvSpPr>
          <p:nvPr/>
        </p:nvSpPr>
        <p:spPr>
          <a:xfrm xmlns:a="http://schemas.openxmlformats.org/drawingml/2006/main" flipV="0">
            <a:off x="628650" y="4514850"/>
            <a:ext cx="66675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15" name="decision-number-3">
            <a:extLst xmlns:a="http://schemas.openxmlformats.org/drawingml/2006/main">
              <a:ext uri="{FF2B5EF4-FFF2-40B4-BE49-F238E27FC236}">
                <a16:creationId xmlns:a16="http://schemas.microsoft.com/office/drawing/2014/main" id="{9DEDB079-7574-4C85-93FD-E47314A19EC7}"/>
              </a:ext>
            </a:extLst>
          </p:cNvPr>
          <p:cNvSpPr>
            <a:spLocks xmlns:a="http://schemas.openxmlformats.org/drawingml/2006/main" noGrp="1"/>
          </p:cNvSpPr>
          <p:nvPr/>
        </p:nvSpPr>
        <p:spPr>
          <a:xfrm xmlns:a="http://schemas.openxmlformats.org/drawingml/2006/main">
            <a:off x="7962900" y="3305175"/>
            <a:ext cx="50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04</a:t>
            </a:r>
          </a:p>
        </p:txBody>
      </p:sp>
      <p:sp>
        <p:nvSpPr>
          <p:cNvPr id="16" name="decision-title-3">
            <a:extLst xmlns:a="http://schemas.openxmlformats.org/drawingml/2006/main">
              <a:ext uri="{FF2B5EF4-FFF2-40B4-BE49-F238E27FC236}">
                <a16:creationId xmlns:a16="http://schemas.microsoft.com/office/drawing/2014/main" id="{99A096D0-FB55-4AF4-8347-E235C6D06F20}"/>
              </a:ext>
            </a:extLst>
          </p:cNvPr>
          <p:cNvSpPr>
            <a:spLocks xmlns:a="http://schemas.openxmlformats.org/drawingml/2006/main" noGrp="1"/>
          </p:cNvSpPr>
          <p:nvPr/>
        </p:nvSpPr>
        <p:spPr>
          <a:xfrm xmlns:a="http://schemas.openxmlformats.org/drawingml/2006/main">
            <a:off x="8639175" y="33051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Governance and human authority</a:t>
            </a:r>
          </a:p>
        </p:txBody>
      </p:sp>
      <p:sp>
        <p:nvSpPr>
          <p:cNvPr id="17" name="decision-body-3">
            <a:extLst xmlns:a="http://schemas.openxmlformats.org/drawingml/2006/main">
              <a:ext uri="{FF2B5EF4-FFF2-40B4-BE49-F238E27FC236}">
                <a16:creationId xmlns:a16="http://schemas.microsoft.com/office/drawing/2014/main" id="{7586EF3E-9C55-47A7-A98D-0979D08611E0}"/>
              </a:ext>
            </a:extLst>
          </p:cNvPr>
          <p:cNvSpPr>
            <a:spLocks xmlns:a="http://schemas.openxmlformats.org/drawingml/2006/main" noGrp="1"/>
          </p:cNvSpPr>
          <p:nvPr/>
        </p:nvSpPr>
        <p:spPr>
          <a:xfrm xmlns:a="http://schemas.openxmlformats.org/drawingml/2006/main">
            <a:off x="8639175" y="3752850"/>
            <a:ext cx="5886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Deterministic policy sets touchless scope. Exact approvals protect engineering, quality, and commitments.</a:t>
            </a:r>
          </a:p>
        </p:txBody>
      </p:sp>
      <p:sp>
        <p:nvSpPr>
          <p:cNvPr id="18" name="line-82">
            <a:extLst xmlns:a="http://schemas.openxmlformats.org/drawingml/2006/main">
              <a:ext uri="{FF2B5EF4-FFF2-40B4-BE49-F238E27FC236}">
                <a16:creationId xmlns:a16="http://schemas.microsoft.com/office/drawing/2014/main" id="{34A18D8F-E643-4F38-B1DF-EB286ECC7936}"/>
              </a:ext>
            </a:extLst>
          </p:cNvPr>
          <p:cNvSpPr>
            <a:spLocks xmlns:a="http://schemas.openxmlformats.org/drawingml/2006/main" noGrp="1"/>
          </p:cNvSpPr>
          <p:nvPr/>
        </p:nvSpPr>
        <p:spPr>
          <a:xfrm xmlns:a="http://schemas.openxmlformats.org/drawingml/2006/main" flipV="0">
            <a:off x="7962900" y="4514850"/>
            <a:ext cx="66675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19" name="decision-number-4">
            <a:extLst xmlns:a="http://schemas.openxmlformats.org/drawingml/2006/main">
              <a:ext uri="{FF2B5EF4-FFF2-40B4-BE49-F238E27FC236}">
                <a16:creationId xmlns:a16="http://schemas.microsoft.com/office/drawing/2014/main" id="{DD97221F-9C49-49E2-9F60-E57483F84253}"/>
              </a:ext>
            </a:extLst>
          </p:cNvPr>
          <p:cNvSpPr>
            <a:spLocks xmlns:a="http://schemas.openxmlformats.org/drawingml/2006/main" noGrp="1"/>
          </p:cNvSpPr>
          <p:nvPr/>
        </p:nvSpPr>
        <p:spPr>
          <a:xfrm xmlns:a="http://schemas.openxmlformats.org/drawingml/2006/main">
            <a:off x="628650" y="4705350"/>
            <a:ext cx="50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05</a:t>
            </a:r>
          </a:p>
        </p:txBody>
      </p:sp>
      <p:sp>
        <p:nvSpPr>
          <p:cNvPr id="20" name="decision-title-4">
            <a:extLst xmlns:a="http://schemas.openxmlformats.org/drawingml/2006/main">
              <a:ext uri="{FF2B5EF4-FFF2-40B4-BE49-F238E27FC236}">
                <a16:creationId xmlns:a16="http://schemas.microsoft.com/office/drawing/2014/main" id="{5649E573-0DE1-4931-8A96-327BCB49C516}"/>
              </a:ext>
            </a:extLst>
          </p:cNvPr>
          <p:cNvSpPr>
            <a:spLocks xmlns:a="http://schemas.openxmlformats.org/drawingml/2006/main" noGrp="1"/>
          </p:cNvSpPr>
          <p:nvPr/>
        </p:nvSpPr>
        <p:spPr>
          <a:xfrm xmlns:a="http://schemas.openxmlformats.org/drawingml/2006/main">
            <a:off x="1304925" y="47053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State and execution reliability</a:t>
            </a:r>
          </a:p>
        </p:txBody>
      </p:sp>
      <p:sp>
        <p:nvSpPr>
          <p:cNvPr id="21" name="decision-body-4">
            <a:extLst xmlns:a="http://schemas.openxmlformats.org/drawingml/2006/main">
              <a:ext uri="{FF2B5EF4-FFF2-40B4-BE49-F238E27FC236}">
                <a16:creationId xmlns:a16="http://schemas.microsoft.com/office/drawing/2014/main" id="{E67CE350-A2DE-416F-AF7A-F6D19012A8A2}"/>
              </a:ext>
            </a:extLst>
          </p:cNvPr>
          <p:cNvSpPr>
            <a:spLocks xmlns:a="http://schemas.openxmlformats.org/drawingml/2006/main" noGrp="1"/>
          </p:cNvSpPr>
          <p:nvPr/>
        </p:nvSpPr>
        <p:spPr>
          <a:xfrm xmlns:a="http://schemas.openxmlformats.org/drawingml/2006/main">
            <a:off x="1304925" y="5153025"/>
            <a:ext cx="5886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Versioned proposals, stale-state checks, idempotency, and independent readback protect execution.</a:t>
            </a:r>
          </a:p>
        </p:txBody>
      </p:sp>
      <p:sp>
        <p:nvSpPr>
          <p:cNvPr id="22" name="line-83">
            <a:extLst xmlns:a="http://schemas.openxmlformats.org/drawingml/2006/main">
              <a:ext uri="{FF2B5EF4-FFF2-40B4-BE49-F238E27FC236}">
                <a16:creationId xmlns:a16="http://schemas.microsoft.com/office/drawing/2014/main" id="{55ADC0D7-0E86-4337-8BCA-80F1CE4F2B9B}"/>
              </a:ext>
            </a:extLst>
          </p:cNvPr>
          <p:cNvSpPr>
            <a:spLocks xmlns:a="http://schemas.openxmlformats.org/drawingml/2006/main" noGrp="1"/>
          </p:cNvSpPr>
          <p:nvPr/>
        </p:nvSpPr>
        <p:spPr>
          <a:xfrm xmlns:a="http://schemas.openxmlformats.org/drawingml/2006/main" flipV="0">
            <a:off x="628650" y="5915025"/>
            <a:ext cx="66675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23" name="decision-number-5">
            <a:extLst xmlns:a="http://schemas.openxmlformats.org/drawingml/2006/main">
              <a:ext uri="{FF2B5EF4-FFF2-40B4-BE49-F238E27FC236}">
                <a16:creationId xmlns:a16="http://schemas.microsoft.com/office/drawing/2014/main" id="{3EDB2371-00A1-45AE-9D5C-BF069B035D5D}"/>
              </a:ext>
            </a:extLst>
          </p:cNvPr>
          <p:cNvSpPr>
            <a:spLocks xmlns:a="http://schemas.openxmlformats.org/drawingml/2006/main" noGrp="1"/>
          </p:cNvSpPr>
          <p:nvPr/>
        </p:nvSpPr>
        <p:spPr>
          <a:xfrm xmlns:a="http://schemas.openxmlformats.org/drawingml/2006/main">
            <a:off x="7962900" y="4705350"/>
            <a:ext cx="50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06</a:t>
            </a:r>
          </a:p>
        </p:txBody>
      </p:sp>
      <p:sp>
        <p:nvSpPr>
          <p:cNvPr id="24" name="decision-title-5">
            <a:extLst xmlns:a="http://schemas.openxmlformats.org/drawingml/2006/main">
              <a:ext uri="{FF2B5EF4-FFF2-40B4-BE49-F238E27FC236}">
                <a16:creationId xmlns:a16="http://schemas.microsoft.com/office/drawing/2014/main" id="{A6AED216-DF0C-4C75-87E8-3E21CC7D874F}"/>
              </a:ext>
            </a:extLst>
          </p:cNvPr>
          <p:cNvSpPr>
            <a:spLocks xmlns:a="http://schemas.openxmlformats.org/drawingml/2006/main" noGrp="1"/>
          </p:cNvSpPr>
          <p:nvPr/>
        </p:nvSpPr>
        <p:spPr>
          <a:xfrm xmlns:a="http://schemas.openxmlformats.org/drawingml/2006/main">
            <a:off x="8639175" y="47053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Evals, observability, and audit</a:t>
            </a:r>
          </a:p>
        </p:txBody>
      </p:sp>
      <p:sp>
        <p:nvSpPr>
          <p:cNvPr id="25" name="decision-body-5">
            <a:extLst xmlns:a="http://schemas.openxmlformats.org/drawingml/2006/main">
              <a:ext uri="{FF2B5EF4-FFF2-40B4-BE49-F238E27FC236}">
                <a16:creationId xmlns:a16="http://schemas.microsoft.com/office/drawing/2014/main" id="{863E00B6-BDA2-4440-BE08-35FF577B97A3}"/>
              </a:ext>
            </a:extLst>
          </p:cNvPr>
          <p:cNvSpPr>
            <a:spLocks xmlns:a="http://schemas.openxmlformats.org/drawingml/2006/main" noGrp="1"/>
          </p:cNvSpPr>
          <p:nvPr/>
        </p:nvSpPr>
        <p:spPr>
          <a:xfrm xmlns:a="http://schemas.openxmlformats.org/drawingml/2006/main">
            <a:off x="8639175" y="5153025"/>
            <a:ext cx="5886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Test correctness, retrieval, authority, and calculations. Link traces to evidence, decisions, and outcomes.</a:t>
            </a:r>
          </a:p>
        </p:txBody>
      </p:sp>
      <p:sp>
        <p:nvSpPr>
          <p:cNvPr id="26" name="line-84">
            <a:extLst xmlns:a="http://schemas.openxmlformats.org/drawingml/2006/main">
              <a:ext uri="{FF2B5EF4-FFF2-40B4-BE49-F238E27FC236}">
                <a16:creationId xmlns:a16="http://schemas.microsoft.com/office/drawing/2014/main" id="{AE89DDD4-B1E1-4F45-ABEE-1D3E9D548504}"/>
              </a:ext>
            </a:extLst>
          </p:cNvPr>
          <p:cNvSpPr>
            <a:spLocks xmlns:a="http://schemas.openxmlformats.org/drawingml/2006/main" noGrp="1"/>
          </p:cNvSpPr>
          <p:nvPr/>
        </p:nvSpPr>
        <p:spPr>
          <a:xfrm xmlns:a="http://schemas.openxmlformats.org/drawingml/2006/main" flipV="0">
            <a:off x="7962900" y="5915025"/>
            <a:ext cx="66675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27" name="decision-number-6">
            <a:extLst xmlns:a="http://schemas.openxmlformats.org/drawingml/2006/main">
              <a:ext uri="{FF2B5EF4-FFF2-40B4-BE49-F238E27FC236}">
                <a16:creationId xmlns:a16="http://schemas.microsoft.com/office/drawing/2014/main" id="{232D63A7-E411-4DD3-9895-E01B42AE9253}"/>
              </a:ext>
            </a:extLst>
          </p:cNvPr>
          <p:cNvSpPr>
            <a:spLocks xmlns:a="http://schemas.openxmlformats.org/drawingml/2006/main" noGrp="1"/>
          </p:cNvSpPr>
          <p:nvPr/>
        </p:nvSpPr>
        <p:spPr>
          <a:xfrm xmlns:a="http://schemas.openxmlformats.org/drawingml/2006/main">
            <a:off x="628650" y="6105525"/>
            <a:ext cx="50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07</a:t>
            </a:r>
          </a:p>
        </p:txBody>
      </p:sp>
      <p:sp>
        <p:nvSpPr>
          <p:cNvPr id="28" name="decision-title-6">
            <a:extLst xmlns:a="http://schemas.openxmlformats.org/drawingml/2006/main">
              <a:ext uri="{FF2B5EF4-FFF2-40B4-BE49-F238E27FC236}">
                <a16:creationId xmlns:a16="http://schemas.microsoft.com/office/drawing/2014/main" id="{E228CDBF-7B6C-4B54-B526-EA762468BBC1}"/>
              </a:ext>
            </a:extLst>
          </p:cNvPr>
          <p:cNvSpPr>
            <a:spLocks xmlns:a="http://schemas.openxmlformats.org/drawingml/2006/main" noGrp="1"/>
          </p:cNvSpPr>
          <p:nvPr/>
        </p:nvSpPr>
        <p:spPr>
          <a:xfrm xmlns:a="http://schemas.openxmlformats.org/drawingml/2006/main">
            <a:off x="1304925" y="61055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Performance, cost, and scale</a:t>
            </a:r>
          </a:p>
        </p:txBody>
      </p:sp>
      <p:sp>
        <p:nvSpPr>
          <p:cNvPr id="29" name="decision-body-6">
            <a:extLst xmlns:a="http://schemas.openxmlformats.org/drawingml/2006/main">
              <a:ext uri="{FF2B5EF4-FFF2-40B4-BE49-F238E27FC236}">
                <a16:creationId xmlns:a16="http://schemas.microsoft.com/office/drawing/2014/main" id="{097507F8-8CE5-4523-8467-75E73F869FE7}"/>
              </a:ext>
            </a:extLst>
          </p:cNvPr>
          <p:cNvSpPr>
            <a:spLocks xmlns:a="http://schemas.openxmlformats.org/drawingml/2006/main" noGrp="1"/>
          </p:cNvSpPr>
          <p:nvPr/>
        </p:nvSpPr>
        <p:spPr>
          <a:xfrm xmlns:a="http://schemas.openxmlformats.org/drawingml/2006/main">
            <a:off x="1304925" y="6553200"/>
            <a:ext cx="5886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Use models for ambiguous reasoning and code for routine work. Keep runs bounded and isolated.</a:t>
            </a:r>
          </a:p>
        </p:txBody>
      </p:sp>
      <p:sp>
        <p:nvSpPr>
          <p:cNvPr id="30" name="line-85">
            <a:extLst xmlns:a="http://schemas.openxmlformats.org/drawingml/2006/main">
              <a:ext uri="{FF2B5EF4-FFF2-40B4-BE49-F238E27FC236}">
                <a16:creationId xmlns:a16="http://schemas.microsoft.com/office/drawing/2014/main" id="{F0EBA0F8-F0C9-4D08-A41C-F789E5B5329A}"/>
              </a:ext>
            </a:extLst>
          </p:cNvPr>
          <p:cNvSpPr>
            <a:spLocks xmlns:a="http://schemas.openxmlformats.org/drawingml/2006/main" noGrp="1"/>
          </p:cNvSpPr>
          <p:nvPr/>
        </p:nvSpPr>
        <p:spPr>
          <a:xfrm xmlns:a="http://schemas.openxmlformats.org/drawingml/2006/main" flipV="0">
            <a:off x="628650" y="7315200"/>
            <a:ext cx="66675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31" name="decision-number-7">
            <a:extLst xmlns:a="http://schemas.openxmlformats.org/drawingml/2006/main">
              <a:ext uri="{FF2B5EF4-FFF2-40B4-BE49-F238E27FC236}">
                <a16:creationId xmlns:a16="http://schemas.microsoft.com/office/drawing/2014/main" id="{382A3ABD-DDC0-4C37-862A-DC7CA2D5649B}"/>
              </a:ext>
            </a:extLst>
          </p:cNvPr>
          <p:cNvSpPr>
            <a:spLocks xmlns:a="http://schemas.openxmlformats.org/drawingml/2006/main" noGrp="1"/>
          </p:cNvSpPr>
          <p:nvPr/>
        </p:nvSpPr>
        <p:spPr>
          <a:xfrm xmlns:a="http://schemas.openxmlformats.org/drawingml/2006/main">
            <a:off x="7962900" y="6105525"/>
            <a:ext cx="50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08</a:t>
            </a:r>
          </a:p>
        </p:txBody>
      </p:sp>
      <p:sp>
        <p:nvSpPr>
          <p:cNvPr id="32" name="decision-title-7">
            <a:extLst xmlns:a="http://schemas.openxmlformats.org/drawingml/2006/main">
              <a:ext uri="{FF2B5EF4-FFF2-40B4-BE49-F238E27FC236}">
                <a16:creationId xmlns:a16="http://schemas.microsoft.com/office/drawing/2014/main" id="{70BE69BC-44CF-45F0-BD9A-0ED418022ABB}"/>
              </a:ext>
            </a:extLst>
          </p:cNvPr>
          <p:cNvSpPr>
            <a:spLocks xmlns:a="http://schemas.openxmlformats.org/drawingml/2006/main" noGrp="1"/>
          </p:cNvSpPr>
          <p:nvPr/>
        </p:nvSpPr>
        <p:spPr>
          <a:xfrm xmlns:a="http://schemas.openxmlformats.org/drawingml/2006/main">
            <a:off x="8639175" y="61055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6191C"/>
                </a:solidFill>
                <a:latin typeface="Helvetica Neue"/>
                <a:ea typeface="Helvetica Neue"/>
                <a:cs typeface="Helvetica Neue"/>
              </a:defRPr>
            </a:pPr>
            <a:r>
              <a:rPr sz="1875" b="1">
                <a:solidFill>
                  <a:srgbClr val="16191C"/>
                </a:solidFill>
                <a:latin typeface="Helvetica Neue"/>
                <a:ea typeface="Helvetica Neue"/>
                <a:cs typeface="Helvetica Neue"/>
              </a:rPr>
              <a:t>Product UX and operating model</a:t>
            </a:r>
          </a:p>
        </p:txBody>
      </p:sp>
      <p:sp>
        <p:nvSpPr>
          <p:cNvPr id="33" name="decision-body-7">
            <a:extLst xmlns:a="http://schemas.openxmlformats.org/drawingml/2006/main">
              <a:ext uri="{FF2B5EF4-FFF2-40B4-BE49-F238E27FC236}">
                <a16:creationId xmlns:a16="http://schemas.microsoft.com/office/drawing/2014/main" id="{AEA8D57A-1384-40EF-89A4-A392B7F9E62E}"/>
              </a:ext>
            </a:extLst>
          </p:cNvPr>
          <p:cNvSpPr>
            <a:spLocks xmlns:a="http://schemas.openxmlformats.org/drawingml/2006/main" noGrp="1"/>
          </p:cNvSpPr>
          <p:nvPr/>
        </p:nvSpPr>
        <p:spPr>
          <a:xfrm xmlns:a="http://schemas.openxmlformats.org/drawingml/2006/main">
            <a:off x="8639175" y="6553200"/>
            <a:ext cx="5886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Manual, conversational, and event starts share governed services, with persona-specific evidence and decisions.</a:t>
            </a:r>
          </a:p>
        </p:txBody>
      </p:sp>
      <p:sp>
        <p:nvSpPr>
          <p:cNvPr id="34" name="line-86">
            <a:extLst xmlns:a="http://schemas.openxmlformats.org/drawingml/2006/main">
              <a:ext uri="{FF2B5EF4-FFF2-40B4-BE49-F238E27FC236}">
                <a16:creationId xmlns:a16="http://schemas.microsoft.com/office/drawing/2014/main" id="{CE236319-F663-401C-9B39-246056969FD1}"/>
              </a:ext>
            </a:extLst>
          </p:cNvPr>
          <p:cNvSpPr>
            <a:spLocks xmlns:a="http://schemas.openxmlformats.org/drawingml/2006/main" noGrp="1"/>
          </p:cNvSpPr>
          <p:nvPr/>
        </p:nvSpPr>
        <p:spPr>
          <a:xfrm xmlns:a="http://schemas.openxmlformats.org/drawingml/2006/main" flipV="0">
            <a:off x="7962900" y="7315200"/>
            <a:ext cx="66675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35" name="governance-caption">
            <a:extLst xmlns:a="http://schemas.openxmlformats.org/drawingml/2006/main">
              <a:ext uri="{FF2B5EF4-FFF2-40B4-BE49-F238E27FC236}">
                <a16:creationId xmlns:a16="http://schemas.microsoft.com/office/drawing/2014/main" id="{8D4CC163-589A-4DB2-AD0D-135A2FBF4F6C}"/>
              </a:ext>
            </a:extLst>
          </p:cNvPr>
          <p:cNvSpPr>
            <a:spLocks xmlns:a="http://schemas.openxmlformats.org/drawingml/2006/main" noGrp="1"/>
          </p:cNvSpPr>
          <p:nvPr/>
        </p:nvSpPr>
        <p:spPr>
          <a:xfrm xmlns:a="http://schemas.openxmlformats.org/drawingml/2006/main">
            <a:off x="628650" y="7810500"/>
            <a:ext cx="13811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76CC6"/>
                </a:solidFill>
                <a:latin typeface="Helvetica Neue"/>
                <a:ea typeface="Helvetica Neue"/>
                <a:cs typeface="Helvetica Neue"/>
              </a:defRPr>
            </a:pPr>
            <a:r>
              <a:rPr sz="1650" b="0">
                <a:solidFill>
                  <a:srgbClr val="176CC6"/>
                </a:solidFill>
                <a:latin typeface="Helvetica Neue"/>
                <a:ea typeface="Helvetica Neue"/>
                <a:cs typeface="Helvetica Neue"/>
              </a:rPr>
              <a:t>Synthetic data and demo identities today. Production authentication and operational controls are the next step.</a:t>
            </a:r>
          </a:p>
        </p:txBody>
      </p:sp>
    </p:spTree>
    <p:extLst>
      <p:ext uri="{BB962C8B-B14F-4D97-AF65-F5344CB8AC3E}">
        <p14:creationId xmlns:p14="http://schemas.microsoft.com/office/powerpoint/2010/main" val="17446671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itle">
            <a:extLst xmlns:a="http://schemas.openxmlformats.org/drawingml/2006/main">
              <a:ext uri="{FF2B5EF4-FFF2-40B4-BE49-F238E27FC236}">
                <a16:creationId xmlns:a16="http://schemas.microsoft.com/office/drawing/2014/main" id="{0AA4C3EA-70CE-44D7-8614-F8EFFCB56EB6}"/>
              </a:ext>
            </a:extLst>
          </p:cNvPr>
          <p:cNvSpPr>
            <a:spLocks xmlns:a="http://schemas.openxmlformats.org/drawingml/2006/main" noGrp="1"/>
          </p:cNvSpPr>
          <p:nvPr/>
        </p:nvSpPr>
        <p:spPr>
          <a:xfrm xmlns:a="http://schemas.openxmlformats.org/drawingml/2006/main">
            <a:off x="609600" y="428625"/>
            <a:ext cx="14020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6191C"/>
                </a:solidFill>
                <a:latin typeface="Helvetica Neue"/>
                <a:ea typeface="Helvetica Neue"/>
                <a:cs typeface="Helvetica Neue"/>
              </a:defRPr>
            </a:pPr>
            <a:r>
              <a:rPr sz="3525" b="1">
                <a:solidFill>
                  <a:srgbClr val="16191C"/>
                </a:solidFill>
                <a:latin typeface="Helvetica Neue"/>
                <a:ea typeface="Helvetica Neue"/>
                <a:cs typeface="Helvetica Neue"/>
              </a:rPr>
              <a:t>Production and future expansion</a:t>
            </a:r>
          </a:p>
        </p:txBody>
      </p:sp>
      <p:sp>
        <p:nvSpPr>
          <p:cNvPr id="2" name="subtitle">
            <a:extLst xmlns:a="http://schemas.openxmlformats.org/drawingml/2006/main">
              <a:ext uri="{FF2B5EF4-FFF2-40B4-BE49-F238E27FC236}">
                <a16:creationId xmlns:a16="http://schemas.microsoft.com/office/drawing/2014/main" id="{F2E67C78-F940-4DA6-94AB-88D0ABFDFC60}"/>
              </a:ext>
            </a:extLst>
          </p:cNvPr>
          <p:cNvSpPr>
            <a:spLocks xmlns:a="http://schemas.openxmlformats.org/drawingml/2006/main" noGrp="1"/>
          </p:cNvSpPr>
          <p:nvPr/>
        </p:nvSpPr>
        <p:spPr>
          <a:xfrm xmlns:a="http://schemas.openxmlformats.org/drawingml/2006/main">
            <a:off x="628650" y="1143000"/>
            <a:ext cx="1381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16B75"/>
                </a:solidFill>
                <a:latin typeface="Helvetica Neue"/>
                <a:ea typeface="Helvetica Neue"/>
                <a:cs typeface="Helvetica Neue"/>
              </a:defRPr>
            </a:pPr>
            <a:r>
              <a:rPr sz="1800" b="0">
                <a:solidFill>
                  <a:srgbClr val="616B75"/>
                </a:solidFill>
                <a:latin typeface="Helvetica Neue"/>
                <a:ea typeface="Helvetica Neue"/>
                <a:cs typeface="Helvetica Neue"/>
              </a:rPr>
              <a:t>Harden the same architecture, then expand autonomy as measured results allow</a:t>
            </a:r>
          </a:p>
        </p:txBody>
      </p:sp>
      <p:sp>
        <p:nvSpPr>
          <p:cNvPr id="3" name="phase-01">
            <a:extLst xmlns:a="http://schemas.openxmlformats.org/drawingml/2006/main">
              <a:ext uri="{FF2B5EF4-FFF2-40B4-BE49-F238E27FC236}">
                <a16:creationId xmlns:a16="http://schemas.microsoft.com/office/drawing/2014/main" id="{DAB6B2DC-E768-4C8A-A730-C79B1FB02AC3}"/>
              </a:ext>
            </a:extLst>
          </p:cNvPr>
          <p:cNvSpPr>
            <a:spLocks xmlns:a="http://schemas.openxmlformats.org/drawingml/2006/main" noGrp="1"/>
          </p:cNvSpPr>
          <p:nvPr/>
        </p:nvSpPr>
        <p:spPr>
          <a:xfrm xmlns:a="http://schemas.openxmlformats.org/drawingml/2006/main">
            <a:off x="628650" y="1924050"/>
            <a:ext cx="723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176CC6"/>
                </a:solidFill>
                <a:latin typeface="Helvetica Neue"/>
                <a:ea typeface="Helvetica Neue"/>
                <a:cs typeface="Helvetica Neue"/>
              </a:defRPr>
            </a:pPr>
            <a:r>
              <a:rPr sz="2925" b="1">
                <a:solidFill>
                  <a:srgbClr val="176CC6"/>
                </a:solidFill>
                <a:latin typeface="Helvetica Neue"/>
                <a:ea typeface="Helvetica Neue"/>
                <a:cs typeface="Helvetica Neue"/>
              </a:rPr>
              <a:t>01</a:t>
            </a:r>
          </a:p>
        </p:txBody>
      </p:sp>
      <p:sp>
        <p:nvSpPr>
          <p:cNvPr id="4" name="phase-title-01">
            <a:extLst xmlns:a="http://schemas.openxmlformats.org/drawingml/2006/main">
              <a:ext uri="{FF2B5EF4-FFF2-40B4-BE49-F238E27FC236}">
                <a16:creationId xmlns:a16="http://schemas.microsoft.com/office/drawing/2014/main" id="{0182EC0A-49E4-4A43-9E4F-ACFA30B6F87D}"/>
              </a:ext>
            </a:extLst>
          </p:cNvPr>
          <p:cNvSpPr>
            <a:spLocks xmlns:a="http://schemas.openxmlformats.org/drawingml/2006/main" noGrp="1"/>
          </p:cNvSpPr>
          <p:nvPr/>
        </p:nvSpPr>
        <p:spPr>
          <a:xfrm xmlns:a="http://schemas.openxmlformats.org/drawingml/2006/main">
            <a:off x="628650" y="2590800"/>
            <a:ext cx="441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6191C"/>
                </a:solidFill>
                <a:latin typeface="Helvetica Neue"/>
                <a:ea typeface="Helvetica Neue"/>
                <a:cs typeface="Helvetica Neue"/>
              </a:defRPr>
            </a:pPr>
            <a:r>
              <a:rPr sz="2400" b="1">
                <a:solidFill>
                  <a:srgbClr val="16191C"/>
                </a:solidFill>
                <a:latin typeface="Helvetica Neue"/>
                <a:ea typeface="Helvetica Neue"/>
                <a:cs typeface="Helvetica Neue"/>
              </a:rPr>
              <a:t>Connect and secure</a:t>
            </a:r>
          </a:p>
        </p:txBody>
      </p:sp>
      <p:sp>
        <p:nvSpPr>
          <p:cNvPr id="5" name="phase-sub-01">
            <a:extLst xmlns:a="http://schemas.openxmlformats.org/drawingml/2006/main">
              <a:ext uri="{FF2B5EF4-FFF2-40B4-BE49-F238E27FC236}">
                <a16:creationId xmlns:a16="http://schemas.microsoft.com/office/drawing/2014/main" id="{8A177251-2798-4056-A3E0-E4808D9E5501}"/>
              </a:ext>
            </a:extLst>
          </p:cNvPr>
          <p:cNvSpPr>
            <a:spLocks xmlns:a="http://schemas.openxmlformats.org/drawingml/2006/main" noGrp="1"/>
          </p:cNvSpPr>
          <p:nvPr/>
        </p:nvSpPr>
        <p:spPr>
          <a:xfrm xmlns:a="http://schemas.openxmlformats.org/drawingml/2006/main">
            <a:off x="628650" y="3124200"/>
            <a:ext cx="4400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Identity, real systems, and data</a:t>
            </a:r>
          </a:p>
        </p:txBody>
      </p:sp>
      <p:sp>
        <p:nvSpPr>
          <p:cNvPr id="6" name="line-87">
            <a:extLst xmlns:a="http://schemas.openxmlformats.org/drawingml/2006/main">
              <a:ext uri="{FF2B5EF4-FFF2-40B4-BE49-F238E27FC236}">
                <a16:creationId xmlns:a16="http://schemas.microsoft.com/office/drawing/2014/main" id="{15CCCC92-D90E-4872-99D3-DA7552F8C074}"/>
              </a:ext>
            </a:extLst>
          </p:cNvPr>
          <p:cNvSpPr>
            <a:spLocks xmlns:a="http://schemas.openxmlformats.org/drawingml/2006/main" noGrp="1"/>
          </p:cNvSpPr>
          <p:nvPr/>
        </p:nvSpPr>
        <p:spPr>
          <a:xfrm xmlns:a="http://schemas.openxmlformats.org/drawingml/2006/main" flipV="0">
            <a:off x="628650" y="3657600"/>
            <a:ext cx="421005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7" name="next-01-0">
            <a:extLst xmlns:a="http://schemas.openxmlformats.org/drawingml/2006/main">
              <a:ext uri="{FF2B5EF4-FFF2-40B4-BE49-F238E27FC236}">
                <a16:creationId xmlns:a16="http://schemas.microsoft.com/office/drawing/2014/main" id="{96405CE3-1641-4E2B-B2E2-343029215CCD}"/>
              </a:ext>
            </a:extLst>
          </p:cNvPr>
          <p:cNvSpPr>
            <a:spLocks xmlns:a="http://schemas.openxmlformats.org/drawingml/2006/main" noGrp="1"/>
          </p:cNvSpPr>
          <p:nvPr/>
        </p:nvSpPr>
        <p:spPr>
          <a:xfrm xmlns:a="http://schemas.openxmlformats.org/drawingml/2006/main">
            <a:off x="628650" y="3905250"/>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Enterprise identity</a:t>
            </a:r>
          </a:p>
        </p:txBody>
      </p:sp>
      <p:sp>
        <p:nvSpPr>
          <p:cNvPr id="8" name="next-body-01-0">
            <a:extLst xmlns:a="http://schemas.openxmlformats.org/drawingml/2006/main">
              <a:ext uri="{FF2B5EF4-FFF2-40B4-BE49-F238E27FC236}">
                <a16:creationId xmlns:a16="http://schemas.microsoft.com/office/drawing/2014/main" id="{553F36FF-5F9B-4265-9476-D98828619E75}"/>
              </a:ext>
            </a:extLst>
          </p:cNvPr>
          <p:cNvSpPr>
            <a:spLocks xmlns:a="http://schemas.openxmlformats.org/drawingml/2006/main" noGrp="1"/>
          </p:cNvSpPr>
          <p:nvPr/>
        </p:nvSpPr>
        <p:spPr>
          <a:xfrm xmlns:a="http://schemas.openxmlformats.org/drawingml/2006/main">
            <a:off x="628650" y="4286250"/>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SSO, enterprise groups, RBAC, and least-privilege access to tools, data, and actions.</a:t>
            </a:r>
          </a:p>
        </p:txBody>
      </p:sp>
      <p:sp>
        <p:nvSpPr>
          <p:cNvPr id="9" name="next-01-1">
            <a:extLst xmlns:a="http://schemas.openxmlformats.org/drawingml/2006/main">
              <a:ext uri="{FF2B5EF4-FFF2-40B4-BE49-F238E27FC236}">
                <a16:creationId xmlns:a16="http://schemas.microsoft.com/office/drawing/2014/main" id="{95F9D437-ECE7-4284-9A87-774051F81E61}"/>
              </a:ext>
            </a:extLst>
          </p:cNvPr>
          <p:cNvSpPr>
            <a:spLocks xmlns:a="http://schemas.openxmlformats.org/drawingml/2006/main" noGrp="1"/>
          </p:cNvSpPr>
          <p:nvPr/>
        </p:nvSpPr>
        <p:spPr>
          <a:xfrm xmlns:a="http://schemas.openxmlformats.org/drawingml/2006/main">
            <a:off x="628650" y="5133975"/>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Real integrations</a:t>
            </a:r>
          </a:p>
        </p:txBody>
      </p:sp>
      <p:sp>
        <p:nvSpPr>
          <p:cNvPr id="10" name="next-body-01-1">
            <a:extLst xmlns:a="http://schemas.openxmlformats.org/drawingml/2006/main">
              <a:ext uri="{FF2B5EF4-FFF2-40B4-BE49-F238E27FC236}">
                <a16:creationId xmlns:a16="http://schemas.microsoft.com/office/drawing/2014/main" id="{F9E93DF8-68EE-4934-A09F-77D7D1EE041D}"/>
              </a:ext>
            </a:extLst>
          </p:cNvPr>
          <p:cNvSpPr>
            <a:spLocks xmlns:a="http://schemas.openxmlformats.org/drawingml/2006/main" noGrp="1"/>
          </p:cNvSpPr>
          <p:nvPr/>
        </p:nvSpPr>
        <p:spPr>
          <a:xfrm xmlns:a="http://schemas.openxmlformats.org/drawingml/2006/main">
            <a:off x="628650" y="5514975"/>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Connect production PLM, MES, ERP, TestOps, and planning. Preserve source authority.</a:t>
            </a:r>
          </a:p>
        </p:txBody>
      </p:sp>
      <p:sp>
        <p:nvSpPr>
          <p:cNvPr id="11" name="next-01-2">
            <a:extLst xmlns:a="http://schemas.openxmlformats.org/drawingml/2006/main">
              <a:ext uri="{FF2B5EF4-FFF2-40B4-BE49-F238E27FC236}">
                <a16:creationId xmlns:a16="http://schemas.microsoft.com/office/drawing/2014/main" id="{9D876D6C-982F-470A-8538-8C04676DEA04}"/>
              </a:ext>
            </a:extLst>
          </p:cNvPr>
          <p:cNvSpPr>
            <a:spLocks xmlns:a="http://schemas.openxmlformats.org/drawingml/2006/main" noGrp="1"/>
          </p:cNvSpPr>
          <p:nvPr/>
        </p:nvSpPr>
        <p:spPr>
          <a:xfrm xmlns:a="http://schemas.openxmlformats.org/drawingml/2006/main">
            <a:off x="628650" y="6362700"/>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Security and data governance</a:t>
            </a:r>
          </a:p>
        </p:txBody>
      </p:sp>
      <p:sp>
        <p:nvSpPr>
          <p:cNvPr id="12" name="next-body-01-2">
            <a:extLst xmlns:a="http://schemas.openxmlformats.org/drawingml/2006/main">
              <a:ext uri="{FF2B5EF4-FFF2-40B4-BE49-F238E27FC236}">
                <a16:creationId xmlns:a16="http://schemas.microsoft.com/office/drawing/2014/main" id="{ED510689-5E83-4A45-B14A-954E83F76D84}"/>
              </a:ext>
            </a:extLst>
          </p:cNvPr>
          <p:cNvSpPr>
            <a:spLocks xmlns:a="http://schemas.openxmlformats.org/drawingml/2006/main" noGrp="1"/>
          </p:cNvSpPr>
          <p:nvPr/>
        </p:nvSpPr>
        <p:spPr>
          <a:xfrm xmlns:a="http://schemas.openxmlformats.org/drawingml/2006/main">
            <a:off x="628650" y="6743700"/>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Secrets, encryption, isolation, retention, audit logging, and prompt/tool abuse protections.</a:t>
            </a:r>
          </a:p>
        </p:txBody>
      </p:sp>
      <p:sp>
        <p:nvSpPr>
          <p:cNvPr id="13" name="phase-02">
            <a:extLst xmlns:a="http://schemas.openxmlformats.org/drawingml/2006/main">
              <a:ext uri="{FF2B5EF4-FFF2-40B4-BE49-F238E27FC236}">
                <a16:creationId xmlns:a16="http://schemas.microsoft.com/office/drawing/2014/main" id="{05743D7A-E5C8-49F6-9144-33B7CDED9BCD}"/>
              </a:ext>
            </a:extLst>
          </p:cNvPr>
          <p:cNvSpPr>
            <a:spLocks xmlns:a="http://schemas.openxmlformats.org/drawingml/2006/main" noGrp="1"/>
          </p:cNvSpPr>
          <p:nvPr/>
        </p:nvSpPr>
        <p:spPr>
          <a:xfrm xmlns:a="http://schemas.openxmlformats.org/drawingml/2006/main">
            <a:off x="5505450" y="1924050"/>
            <a:ext cx="723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176CC6"/>
                </a:solidFill>
                <a:latin typeface="Helvetica Neue"/>
                <a:ea typeface="Helvetica Neue"/>
                <a:cs typeface="Helvetica Neue"/>
              </a:defRPr>
            </a:pPr>
            <a:r>
              <a:rPr sz="2925" b="1">
                <a:solidFill>
                  <a:srgbClr val="176CC6"/>
                </a:solidFill>
                <a:latin typeface="Helvetica Neue"/>
                <a:ea typeface="Helvetica Neue"/>
                <a:cs typeface="Helvetica Neue"/>
              </a:rPr>
              <a:t>02</a:t>
            </a:r>
          </a:p>
        </p:txBody>
      </p:sp>
      <p:sp>
        <p:nvSpPr>
          <p:cNvPr id="14" name="phase-title-02">
            <a:extLst xmlns:a="http://schemas.openxmlformats.org/drawingml/2006/main">
              <a:ext uri="{FF2B5EF4-FFF2-40B4-BE49-F238E27FC236}">
                <a16:creationId xmlns:a16="http://schemas.microsoft.com/office/drawing/2014/main" id="{79F657BF-00FF-4222-9955-75A349CCE8C6}"/>
              </a:ext>
            </a:extLst>
          </p:cNvPr>
          <p:cNvSpPr>
            <a:spLocks xmlns:a="http://schemas.openxmlformats.org/drawingml/2006/main" noGrp="1"/>
          </p:cNvSpPr>
          <p:nvPr/>
        </p:nvSpPr>
        <p:spPr>
          <a:xfrm xmlns:a="http://schemas.openxmlformats.org/drawingml/2006/main">
            <a:off x="5505450" y="2590800"/>
            <a:ext cx="441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6191C"/>
                </a:solidFill>
                <a:latin typeface="Helvetica Neue"/>
                <a:ea typeface="Helvetica Neue"/>
                <a:cs typeface="Helvetica Neue"/>
              </a:defRPr>
            </a:pPr>
            <a:r>
              <a:rPr sz="2400" b="1">
                <a:solidFill>
                  <a:srgbClr val="16191C"/>
                </a:solidFill>
                <a:latin typeface="Helvetica Neue"/>
                <a:ea typeface="Helvetica Neue"/>
                <a:cs typeface="Helvetica Neue"/>
              </a:rPr>
              <a:t>Run reliably at scale</a:t>
            </a:r>
          </a:p>
        </p:txBody>
      </p:sp>
      <p:sp>
        <p:nvSpPr>
          <p:cNvPr id="15" name="phase-sub-02">
            <a:extLst xmlns:a="http://schemas.openxmlformats.org/drawingml/2006/main">
              <a:ext uri="{FF2B5EF4-FFF2-40B4-BE49-F238E27FC236}">
                <a16:creationId xmlns:a16="http://schemas.microsoft.com/office/drawing/2014/main" id="{119266DE-BF6D-4C7B-AF11-0CCD30789970}"/>
              </a:ext>
            </a:extLst>
          </p:cNvPr>
          <p:cNvSpPr>
            <a:spLocks xmlns:a="http://schemas.openxmlformats.org/drawingml/2006/main" noGrp="1"/>
          </p:cNvSpPr>
          <p:nvPr/>
        </p:nvSpPr>
        <p:spPr>
          <a:xfrm xmlns:a="http://schemas.openxmlformats.org/drawingml/2006/main">
            <a:off x="5505450" y="3124200"/>
            <a:ext cx="4400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Runtime, routing, and resilience</a:t>
            </a:r>
          </a:p>
        </p:txBody>
      </p:sp>
      <p:sp>
        <p:nvSpPr>
          <p:cNvPr id="16" name="line-88">
            <a:extLst xmlns:a="http://schemas.openxmlformats.org/drawingml/2006/main">
              <a:ext uri="{FF2B5EF4-FFF2-40B4-BE49-F238E27FC236}">
                <a16:creationId xmlns:a16="http://schemas.microsoft.com/office/drawing/2014/main" id="{2D1AF2A7-5ADF-44D6-963B-C743F31EB128}"/>
              </a:ext>
            </a:extLst>
          </p:cNvPr>
          <p:cNvSpPr>
            <a:spLocks xmlns:a="http://schemas.openxmlformats.org/drawingml/2006/main" noGrp="1"/>
          </p:cNvSpPr>
          <p:nvPr/>
        </p:nvSpPr>
        <p:spPr>
          <a:xfrm xmlns:a="http://schemas.openxmlformats.org/drawingml/2006/main" flipV="0">
            <a:off x="5505450" y="3657600"/>
            <a:ext cx="421005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17" name="next-02-0">
            <a:extLst xmlns:a="http://schemas.openxmlformats.org/drawingml/2006/main">
              <a:ext uri="{FF2B5EF4-FFF2-40B4-BE49-F238E27FC236}">
                <a16:creationId xmlns:a16="http://schemas.microsoft.com/office/drawing/2014/main" id="{F659CFE2-4A29-41E5-8346-02C540B9C16B}"/>
              </a:ext>
            </a:extLst>
          </p:cNvPr>
          <p:cNvSpPr>
            <a:spLocks xmlns:a="http://schemas.openxmlformats.org/drawingml/2006/main" noGrp="1"/>
          </p:cNvSpPr>
          <p:nvPr/>
        </p:nvSpPr>
        <p:spPr>
          <a:xfrm xmlns:a="http://schemas.openxmlformats.org/drawingml/2006/main">
            <a:off x="5505450" y="3905250"/>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Dynamic model routing</a:t>
            </a:r>
          </a:p>
        </p:txBody>
      </p:sp>
      <p:sp>
        <p:nvSpPr>
          <p:cNvPr id="18" name="next-body-02-0">
            <a:extLst xmlns:a="http://schemas.openxmlformats.org/drawingml/2006/main">
              <a:ext uri="{FF2B5EF4-FFF2-40B4-BE49-F238E27FC236}">
                <a16:creationId xmlns:a16="http://schemas.microsoft.com/office/drawing/2014/main" id="{843BD316-08B0-407E-8498-000986E54025}"/>
              </a:ext>
            </a:extLst>
          </p:cNvPr>
          <p:cNvSpPr>
            <a:spLocks xmlns:a="http://schemas.openxmlformats.org/drawingml/2006/main" noGrp="1"/>
          </p:cNvSpPr>
          <p:nvPr/>
        </p:nvSpPr>
        <p:spPr>
          <a:xfrm xmlns:a="http://schemas.openxmlformats.org/drawingml/2006/main">
            <a:off x="5505450" y="4286250"/>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Choose models by quality, complexity, latency, and cost, with fallback or escalation.</a:t>
            </a:r>
          </a:p>
        </p:txBody>
      </p:sp>
      <p:sp>
        <p:nvSpPr>
          <p:cNvPr id="19" name="next-02-1">
            <a:extLst xmlns:a="http://schemas.openxmlformats.org/drawingml/2006/main">
              <a:ext uri="{FF2B5EF4-FFF2-40B4-BE49-F238E27FC236}">
                <a16:creationId xmlns:a16="http://schemas.microsoft.com/office/drawing/2014/main" id="{92424821-B5DC-4866-91CB-C407FECE944E}"/>
              </a:ext>
            </a:extLst>
          </p:cNvPr>
          <p:cNvSpPr>
            <a:spLocks xmlns:a="http://schemas.openxmlformats.org/drawingml/2006/main" noGrp="1"/>
          </p:cNvSpPr>
          <p:nvPr/>
        </p:nvSpPr>
        <p:spPr>
          <a:xfrm xmlns:a="http://schemas.openxmlformats.org/drawingml/2006/main">
            <a:off x="5505450" y="5133975"/>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Durable execution</a:t>
            </a:r>
          </a:p>
        </p:txBody>
      </p:sp>
      <p:sp>
        <p:nvSpPr>
          <p:cNvPr id="20" name="next-body-02-1">
            <a:extLst xmlns:a="http://schemas.openxmlformats.org/drawingml/2006/main">
              <a:ext uri="{FF2B5EF4-FFF2-40B4-BE49-F238E27FC236}">
                <a16:creationId xmlns:a16="http://schemas.microsoft.com/office/drawing/2014/main" id="{50220E9E-F035-47BF-BFE4-AB1868F986D0}"/>
              </a:ext>
            </a:extLst>
          </p:cNvPr>
          <p:cNvSpPr>
            <a:spLocks xmlns:a="http://schemas.openxmlformats.org/drawingml/2006/main" noGrp="1"/>
          </p:cNvSpPr>
          <p:nvPr/>
        </p:nvSpPr>
        <p:spPr>
          <a:xfrm xmlns:a="http://schemas.openxmlformats.org/drawingml/2006/main">
            <a:off x="5505450" y="5514975"/>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Queues, stateless workers, checkpoints, and bounded retries for concurrent cases.</a:t>
            </a:r>
          </a:p>
        </p:txBody>
      </p:sp>
      <p:sp>
        <p:nvSpPr>
          <p:cNvPr id="21" name="next-02-2">
            <a:extLst xmlns:a="http://schemas.openxmlformats.org/drawingml/2006/main">
              <a:ext uri="{FF2B5EF4-FFF2-40B4-BE49-F238E27FC236}">
                <a16:creationId xmlns:a16="http://schemas.microsoft.com/office/drawing/2014/main" id="{C9B7C4F0-2E13-4195-B2CB-11913FAC3C88}"/>
              </a:ext>
            </a:extLst>
          </p:cNvPr>
          <p:cNvSpPr>
            <a:spLocks xmlns:a="http://schemas.openxmlformats.org/drawingml/2006/main" noGrp="1"/>
          </p:cNvSpPr>
          <p:nvPr/>
        </p:nvSpPr>
        <p:spPr>
          <a:xfrm xmlns:a="http://schemas.openxmlformats.org/drawingml/2006/main">
            <a:off x="5505450" y="6362700"/>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Execution safety</a:t>
            </a:r>
          </a:p>
        </p:txBody>
      </p:sp>
      <p:sp>
        <p:nvSpPr>
          <p:cNvPr id="22" name="next-body-02-2">
            <a:extLst xmlns:a="http://schemas.openxmlformats.org/drawingml/2006/main">
              <a:ext uri="{FF2B5EF4-FFF2-40B4-BE49-F238E27FC236}">
                <a16:creationId xmlns:a16="http://schemas.microsoft.com/office/drawing/2014/main" id="{4F3A7A66-E4EF-4196-B0CE-C5F1E10415EA}"/>
              </a:ext>
            </a:extLst>
          </p:cNvPr>
          <p:cNvSpPr>
            <a:spLocks xmlns:a="http://schemas.openxmlformats.org/drawingml/2006/main" noGrp="1"/>
          </p:cNvSpPr>
          <p:nvPr/>
        </p:nvSpPr>
        <p:spPr>
          <a:xfrm xmlns:a="http://schemas.openxmlformats.org/drawingml/2006/main">
            <a:off x="5505450" y="6743700"/>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Keep idempotency, version checks, partial-failure handling, and source readback.</a:t>
            </a:r>
          </a:p>
        </p:txBody>
      </p:sp>
      <p:sp>
        <p:nvSpPr>
          <p:cNvPr id="23" name="phase-03">
            <a:extLst xmlns:a="http://schemas.openxmlformats.org/drawingml/2006/main">
              <a:ext uri="{FF2B5EF4-FFF2-40B4-BE49-F238E27FC236}">
                <a16:creationId xmlns:a16="http://schemas.microsoft.com/office/drawing/2014/main" id="{8BA59D9A-06C0-44FF-B508-2AF572AF3404}"/>
              </a:ext>
            </a:extLst>
          </p:cNvPr>
          <p:cNvSpPr>
            <a:spLocks xmlns:a="http://schemas.openxmlformats.org/drawingml/2006/main" noGrp="1"/>
          </p:cNvSpPr>
          <p:nvPr/>
        </p:nvSpPr>
        <p:spPr>
          <a:xfrm xmlns:a="http://schemas.openxmlformats.org/drawingml/2006/main">
            <a:off x="10382250" y="1924050"/>
            <a:ext cx="723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176CC6"/>
                </a:solidFill>
                <a:latin typeface="Helvetica Neue"/>
                <a:ea typeface="Helvetica Neue"/>
                <a:cs typeface="Helvetica Neue"/>
              </a:defRPr>
            </a:pPr>
            <a:r>
              <a:rPr sz="2925" b="1">
                <a:solidFill>
                  <a:srgbClr val="176CC6"/>
                </a:solidFill>
                <a:latin typeface="Helvetica Neue"/>
                <a:ea typeface="Helvetica Neue"/>
                <a:cs typeface="Helvetica Neue"/>
              </a:rPr>
              <a:t>03</a:t>
            </a:r>
          </a:p>
        </p:txBody>
      </p:sp>
      <p:sp>
        <p:nvSpPr>
          <p:cNvPr id="24" name="phase-title-03">
            <a:extLst xmlns:a="http://schemas.openxmlformats.org/drawingml/2006/main">
              <a:ext uri="{FF2B5EF4-FFF2-40B4-BE49-F238E27FC236}">
                <a16:creationId xmlns:a16="http://schemas.microsoft.com/office/drawing/2014/main" id="{1FFF5590-8960-4156-85D8-C527E86920C1}"/>
              </a:ext>
            </a:extLst>
          </p:cNvPr>
          <p:cNvSpPr>
            <a:spLocks xmlns:a="http://schemas.openxmlformats.org/drawingml/2006/main" noGrp="1"/>
          </p:cNvSpPr>
          <p:nvPr/>
        </p:nvSpPr>
        <p:spPr>
          <a:xfrm xmlns:a="http://schemas.openxmlformats.org/drawingml/2006/main">
            <a:off x="10382250" y="2590800"/>
            <a:ext cx="441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6191C"/>
                </a:solidFill>
                <a:latin typeface="Helvetica Neue"/>
                <a:ea typeface="Helvetica Neue"/>
                <a:cs typeface="Helvetica Neue"/>
              </a:defRPr>
            </a:pPr>
            <a:r>
              <a:rPr sz="2400" b="1">
                <a:solidFill>
                  <a:srgbClr val="16191C"/>
                </a:solidFill>
                <a:latin typeface="Helvetica Neue"/>
                <a:ea typeface="Helvetica Neue"/>
                <a:cs typeface="Helvetica Neue"/>
              </a:rPr>
              <a:t>Improve and expand</a:t>
            </a:r>
          </a:p>
        </p:txBody>
      </p:sp>
      <p:sp>
        <p:nvSpPr>
          <p:cNvPr id="25" name="phase-sub-03">
            <a:extLst xmlns:a="http://schemas.openxmlformats.org/drawingml/2006/main">
              <a:ext uri="{FF2B5EF4-FFF2-40B4-BE49-F238E27FC236}">
                <a16:creationId xmlns:a16="http://schemas.microsoft.com/office/drawing/2014/main" id="{1609102D-81FB-4E05-9AEF-6A5247533291}"/>
              </a:ext>
            </a:extLst>
          </p:cNvPr>
          <p:cNvSpPr>
            <a:spLocks xmlns:a="http://schemas.openxmlformats.org/drawingml/2006/main" noGrp="1"/>
          </p:cNvSpPr>
          <p:nvPr/>
        </p:nvSpPr>
        <p:spPr>
          <a:xfrm xmlns:a="http://schemas.openxmlformats.org/drawingml/2006/main">
            <a:off x="10382250" y="3124200"/>
            <a:ext cx="44005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16B75"/>
                </a:solidFill>
                <a:latin typeface="Helvetica Neue"/>
                <a:ea typeface="Helvetica Neue"/>
                <a:cs typeface="Helvetica Neue"/>
              </a:defRPr>
            </a:pPr>
            <a:r>
              <a:rPr sz="1575" b="0">
                <a:solidFill>
                  <a:srgbClr val="616B75"/>
                </a:solidFill>
                <a:latin typeface="Helvetica Neue"/>
                <a:ea typeface="Helvetica Neue"/>
                <a:cs typeface="Helvetica Neue"/>
              </a:rPr>
              <a:t>Evaluation and earned autonomy</a:t>
            </a:r>
          </a:p>
        </p:txBody>
      </p:sp>
      <p:sp>
        <p:nvSpPr>
          <p:cNvPr id="26" name="line-89">
            <a:extLst xmlns:a="http://schemas.openxmlformats.org/drawingml/2006/main">
              <a:ext uri="{FF2B5EF4-FFF2-40B4-BE49-F238E27FC236}">
                <a16:creationId xmlns:a16="http://schemas.microsoft.com/office/drawing/2014/main" id="{598E99B8-8C80-4760-A6AF-545A66C9A67B}"/>
              </a:ext>
            </a:extLst>
          </p:cNvPr>
          <p:cNvSpPr>
            <a:spLocks xmlns:a="http://schemas.openxmlformats.org/drawingml/2006/main" noGrp="1"/>
          </p:cNvSpPr>
          <p:nvPr/>
        </p:nvSpPr>
        <p:spPr>
          <a:xfrm xmlns:a="http://schemas.openxmlformats.org/drawingml/2006/main" flipV="0">
            <a:off x="10382250" y="3657600"/>
            <a:ext cx="421005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27" name="next-03-0">
            <a:extLst xmlns:a="http://schemas.openxmlformats.org/drawingml/2006/main">
              <a:ext uri="{FF2B5EF4-FFF2-40B4-BE49-F238E27FC236}">
                <a16:creationId xmlns:a16="http://schemas.microsoft.com/office/drawing/2014/main" id="{69113401-3C3B-4470-B5CC-D42A6CA32058}"/>
              </a:ext>
            </a:extLst>
          </p:cNvPr>
          <p:cNvSpPr>
            <a:spLocks xmlns:a="http://schemas.openxmlformats.org/drawingml/2006/main" noGrp="1"/>
          </p:cNvSpPr>
          <p:nvPr/>
        </p:nvSpPr>
        <p:spPr>
          <a:xfrm xmlns:a="http://schemas.openxmlformats.org/drawingml/2006/main">
            <a:off x="10382250" y="3905250"/>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Observability and evals</a:t>
            </a:r>
          </a:p>
        </p:txBody>
      </p:sp>
      <p:sp>
        <p:nvSpPr>
          <p:cNvPr id="28" name="next-body-03-0">
            <a:extLst xmlns:a="http://schemas.openxmlformats.org/drawingml/2006/main">
              <a:ext uri="{FF2B5EF4-FFF2-40B4-BE49-F238E27FC236}">
                <a16:creationId xmlns:a16="http://schemas.microsoft.com/office/drawing/2014/main" id="{8CFBA0CE-03B9-4406-8045-DB1A6563358D}"/>
              </a:ext>
            </a:extLst>
          </p:cNvPr>
          <p:cNvSpPr>
            <a:spLocks xmlns:a="http://schemas.openxmlformats.org/drawingml/2006/main" noGrp="1"/>
          </p:cNvSpPr>
          <p:nvPr/>
        </p:nvSpPr>
        <p:spPr>
          <a:xfrm xmlns:a="http://schemas.openxmlformats.org/drawingml/2006/main">
            <a:off x="10382250" y="4286250"/>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Combine OpenAI traces, usage, latency, and cost with workflow outcomes and regression evals.</a:t>
            </a:r>
          </a:p>
        </p:txBody>
      </p:sp>
      <p:sp>
        <p:nvSpPr>
          <p:cNvPr id="29" name="next-03-1">
            <a:extLst xmlns:a="http://schemas.openxmlformats.org/drawingml/2006/main">
              <a:ext uri="{FF2B5EF4-FFF2-40B4-BE49-F238E27FC236}">
                <a16:creationId xmlns:a16="http://schemas.microsoft.com/office/drawing/2014/main" id="{ABB065CF-E03E-4FB2-882E-B6315C9BFBDE}"/>
              </a:ext>
            </a:extLst>
          </p:cNvPr>
          <p:cNvSpPr>
            <a:spLocks xmlns:a="http://schemas.openxmlformats.org/drawingml/2006/main" noGrp="1"/>
          </p:cNvSpPr>
          <p:nvPr/>
        </p:nvSpPr>
        <p:spPr>
          <a:xfrm xmlns:a="http://schemas.openxmlformats.org/drawingml/2006/main">
            <a:off x="10382250" y="5133975"/>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Continuous improvement</a:t>
            </a:r>
          </a:p>
        </p:txBody>
      </p:sp>
      <p:sp>
        <p:nvSpPr>
          <p:cNvPr id="30" name="next-body-03-1">
            <a:extLst xmlns:a="http://schemas.openxmlformats.org/drawingml/2006/main">
              <a:ext uri="{FF2B5EF4-FFF2-40B4-BE49-F238E27FC236}">
                <a16:creationId xmlns:a16="http://schemas.microsoft.com/office/drawing/2014/main" id="{D51C6886-4B1A-4507-8BE6-F9EDF86729F5}"/>
              </a:ext>
            </a:extLst>
          </p:cNvPr>
          <p:cNvSpPr>
            <a:spLocks xmlns:a="http://schemas.openxmlformats.org/drawingml/2006/main" noGrp="1"/>
          </p:cNvSpPr>
          <p:nvPr/>
        </p:nvSpPr>
        <p:spPr>
          <a:xfrm xmlns:a="http://schemas.openxmlformats.org/drawingml/2006/main">
            <a:off x="10382250" y="5514975"/>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Refine prompts, retrieval, tools, and policies against measured failures and business outcomes.</a:t>
            </a:r>
          </a:p>
        </p:txBody>
      </p:sp>
      <p:sp>
        <p:nvSpPr>
          <p:cNvPr id="31" name="next-03-2">
            <a:extLst xmlns:a="http://schemas.openxmlformats.org/drawingml/2006/main">
              <a:ext uri="{FF2B5EF4-FFF2-40B4-BE49-F238E27FC236}">
                <a16:creationId xmlns:a16="http://schemas.microsoft.com/office/drawing/2014/main" id="{BADA45AD-0B0E-4A6F-AB70-79169778FBA9}"/>
              </a:ext>
            </a:extLst>
          </p:cNvPr>
          <p:cNvSpPr>
            <a:spLocks xmlns:a="http://schemas.openxmlformats.org/drawingml/2006/main" noGrp="1"/>
          </p:cNvSpPr>
          <p:nvPr/>
        </p:nvSpPr>
        <p:spPr>
          <a:xfrm xmlns:a="http://schemas.openxmlformats.org/drawingml/2006/main">
            <a:off x="10382250" y="6362700"/>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6191C"/>
                </a:solidFill>
                <a:latin typeface="Helvetica Neue"/>
                <a:ea typeface="Helvetica Neue"/>
                <a:cs typeface="Helvetica Neue"/>
              </a:defRPr>
            </a:pPr>
            <a:r>
              <a:rPr sz="1725" b="1">
                <a:solidFill>
                  <a:srgbClr val="16191C"/>
                </a:solidFill>
                <a:latin typeface="Helvetica Neue"/>
                <a:ea typeface="Helvetica Neue"/>
                <a:cs typeface="Helvetica Neue"/>
              </a:rPr>
              <a:t>Measured autonomy</a:t>
            </a:r>
          </a:p>
        </p:txBody>
      </p:sp>
      <p:sp>
        <p:nvSpPr>
          <p:cNvPr id="32" name="next-body-03-2">
            <a:extLst xmlns:a="http://schemas.openxmlformats.org/drawingml/2006/main">
              <a:ext uri="{FF2B5EF4-FFF2-40B4-BE49-F238E27FC236}">
                <a16:creationId xmlns:a16="http://schemas.microsoft.com/office/drawing/2014/main" id="{FC588961-63E9-41E7-A682-C6DBF76B5C45}"/>
              </a:ext>
            </a:extLst>
          </p:cNvPr>
          <p:cNvSpPr>
            <a:spLocks xmlns:a="http://schemas.openxmlformats.org/drawingml/2006/main" noGrp="1"/>
          </p:cNvSpPr>
          <p:nvPr/>
        </p:nvSpPr>
        <p:spPr>
          <a:xfrm xmlns:a="http://schemas.openxmlformats.org/drawingml/2006/main">
            <a:off x="10382250" y="6743700"/>
            <a:ext cx="4200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16B75"/>
                </a:solidFill>
                <a:latin typeface="Helvetica Neue"/>
                <a:ea typeface="Helvetica Neue"/>
                <a:cs typeface="Helvetica Neue"/>
              </a:defRPr>
            </a:pPr>
            <a:r>
              <a:rPr sz="1725" b="0">
                <a:solidFill>
                  <a:srgbClr val="616B75"/>
                </a:solidFill>
                <a:latin typeface="Helvetica Neue"/>
                <a:ea typeface="Helvetica Neue"/>
                <a:cs typeface="Helvetica Neue"/>
              </a:rPr>
              <a:t>Expand from assistive to touchless only after predefined quality, safety, and value thresholds.</a:t>
            </a:r>
          </a:p>
        </p:txBody>
      </p:sp>
      <p:sp>
        <p:nvSpPr>
          <p:cNvPr id="33" name="line-90">
            <a:extLst xmlns:a="http://schemas.openxmlformats.org/drawingml/2006/main">
              <a:ext uri="{FF2B5EF4-FFF2-40B4-BE49-F238E27FC236}">
                <a16:creationId xmlns:a16="http://schemas.microsoft.com/office/drawing/2014/main" id="{BFD4D1F6-F9E5-4D82-8F4C-1A38581F1EFA}"/>
              </a:ext>
            </a:extLst>
          </p:cNvPr>
          <p:cNvSpPr>
            <a:spLocks xmlns:a="http://schemas.openxmlformats.org/drawingml/2006/main" noGrp="1"/>
          </p:cNvSpPr>
          <p:nvPr/>
        </p:nvSpPr>
        <p:spPr>
          <a:xfrm xmlns:a="http://schemas.openxmlformats.org/drawingml/2006/main" flipV="0">
            <a:off x="628650" y="7743825"/>
            <a:ext cx="13982700" cy="0"/>
          </a:xfrm>
          <a:prstGeom xmlns:a="http://schemas.openxmlformats.org/drawingml/2006/main" prst="line">
            <a:avLst/>
          </a:prstGeom>
          <a:noFill xmlns:a="http://schemas.openxmlformats.org/drawingml/2006/main"/>
          <a:ln xmlns:a="http://schemas.openxmlformats.org/drawingml/2006/main" w="14288">
            <a:solidFill>
              <a:srgbClr val="D9E0E6"/>
            </a:solidFill>
          </a:ln>
        </p:spPr>
      </p:sp>
      <p:sp>
        <p:nvSpPr>
          <p:cNvPr id="34" name="pilot-gate">
            <a:extLst xmlns:a="http://schemas.openxmlformats.org/drawingml/2006/main">
              <a:ext uri="{FF2B5EF4-FFF2-40B4-BE49-F238E27FC236}">
                <a16:creationId xmlns:a16="http://schemas.microsoft.com/office/drawing/2014/main" id="{0574563F-3155-4F1B-B337-71EF27DD4233}"/>
              </a:ext>
            </a:extLst>
          </p:cNvPr>
          <p:cNvSpPr>
            <a:spLocks xmlns:a="http://schemas.openxmlformats.org/drawingml/2006/main" noGrp="1"/>
          </p:cNvSpPr>
          <p:nvPr/>
        </p:nvSpPr>
        <p:spPr>
          <a:xfrm xmlns:a="http://schemas.openxmlformats.org/drawingml/2006/main">
            <a:off x="628650" y="7934325"/>
            <a:ext cx="1514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6CC6"/>
                </a:solidFill>
                <a:latin typeface="Helvetica Neue"/>
                <a:ea typeface="Helvetica Neue"/>
                <a:cs typeface="Helvetica Neue"/>
              </a:defRPr>
            </a:pPr>
            <a:r>
              <a:rPr sz="1650" b="1">
                <a:solidFill>
                  <a:srgbClr val="176CC6"/>
                </a:solidFill>
                <a:latin typeface="Helvetica Neue"/>
                <a:ea typeface="Helvetica Neue"/>
                <a:cs typeface="Helvetica Neue"/>
              </a:rPr>
              <a:t>Pilot gate</a:t>
            </a:r>
          </a:p>
        </p:txBody>
      </p:sp>
      <p:sp>
        <p:nvSpPr>
          <p:cNvPr id="35" name="pilot-outcomes">
            <a:extLst xmlns:a="http://schemas.openxmlformats.org/drawingml/2006/main">
              <a:ext uri="{FF2B5EF4-FFF2-40B4-BE49-F238E27FC236}">
                <a16:creationId xmlns:a16="http://schemas.microsoft.com/office/drawing/2014/main" id="{C4396ACF-1A70-4E37-AB78-4E6A15E7D962}"/>
              </a:ext>
            </a:extLst>
          </p:cNvPr>
          <p:cNvSpPr>
            <a:spLocks xmlns:a="http://schemas.openxmlformats.org/drawingml/2006/main" noGrp="1"/>
          </p:cNvSpPr>
          <p:nvPr/>
        </p:nvSpPr>
        <p:spPr>
          <a:xfrm xmlns:a="http://schemas.openxmlformats.org/drawingml/2006/main">
            <a:off x="2400300" y="7934325"/>
            <a:ext cx="118205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6191C"/>
                </a:solidFill>
                <a:latin typeface="Helvetica Neue"/>
                <a:ea typeface="Helvetica Neue"/>
                <a:cs typeface="Helvetica Neue"/>
              </a:defRPr>
            </a:pPr>
            <a:r>
              <a:rPr sz="1575" b="0">
                <a:solidFill>
                  <a:srgbClr val="16191C"/>
                </a:solidFill>
                <a:latin typeface="Helvetica Neue"/>
                <a:ea typeface="Helvetica Neue"/>
                <a:cs typeface="Helvetica Neue"/>
              </a:rPr>
              <a:t>Measure decision time, execution success, evidence quality, operating cost, and attributable business value.</a:t>
            </a:r>
          </a:p>
        </p:txBody>
      </p:sp>
    </p:spTree>
    <p:extLst>
      <p:ext uri="{BB962C8B-B14F-4D97-AF65-F5344CB8AC3E}">
        <p14:creationId xmlns:p14="http://schemas.microsoft.com/office/powerpoint/2010/main" val="1380190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2026-09-14T01:32:54.4770000Z</dcterms:created>
  <dcterms:modified xsi:type="dcterms:W3CDTF">2026-09-14T01:32:54.4770000Z</dcterms:modified>
</coreProperties>
</file>