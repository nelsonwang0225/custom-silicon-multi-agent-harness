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0f2962ea374f61" /><Relationship Type="http://schemas.openxmlformats.org/officeDocument/2006/relationships/extended-properties" Target="/docProps/app.xml" Id="R5d361d88d51d4815" /><Relationship Type="http://schemas.openxmlformats.org/officeDocument/2006/relationships/officeDocument" Target="/ppt/presentation.xml" Id="Rf0da38441f6e4d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b5e3a856234d07"/>
  </p:sldMasterIdLst>
  <p:notesMasterIdLst>
    <p:notesMasterId xmlns:r="http://schemas.openxmlformats.org/officeDocument/2006/relationships" r:id="R63c59b7908a34a98"/>
  </p:notesMasterIdLst>
  <p:sldIdLst>
    <p:sldId xmlns:r="http://schemas.openxmlformats.org/officeDocument/2006/relationships" id="256" r:id="R528b30a0134b43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577894ce78482e" /><Relationship Type="http://schemas.openxmlformats.org/officeDocument/2006/relationships/slideMaster" Target="/ppt/slideMasters/slideMaster1.xml" Id="R48b5e3a856234d07" /><Relationship Type="http://schemas.openxmlformats.org/officeDocument/2006/relationships/notesMaster" Target="/ppt/notesMasters/notesMaster1.xml" Id="R63c59b7908a34a98" /><Relationship Type="http://schemas.openxmlformats.org/officeDocument/2006/relationships/presProps" Target="/ppt/presProps.xml" Id="R7f3335b5ae5b4375" /><Relationship Type="http://schemas.openxmlformats.org/officeDocument/2006/relationships/viewProps" Target="/ppt/viewProps.xml" Id="R949f5d9e763d487c" /><Relationship Type="http://schemas.openxmlformats.org/officeDocument/2006/relationships/tableStyles" Target="/ppt/tableStyles.xml" Id="R4d0ab2cb8a1c40b9" /><Relationship Type="http://schemas.openxmlformats.org/officeDocument/2006/relationships/slide" Target="/ppt/slides/slide1.xml" Id="R528b30a0134b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0d7e1df18143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b1ef53ff84cae" /><Relationship Type="http://schemas.openxmlformats.org/officeDocument/2006/relationships/notesMaster" Target="/ppt/notesMasters/notesMaster1.xml" Id="R5cfb08a05ed84b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f08fdbd4d422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8aca284f934e5c" /><Relationship Type="http://schemas.openxmlformats.org/officeDocument/2006/relationships/slideLayout" Target="/ppt/slideLayouts/slideLayout1.xml" Id="R45aebe6832294a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aebe6832294a1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fe36f9dc7463e" /><Relationship Type="http://schemas.openxmlformats.org/officeDocument/2006/relationships/image" Target="/ppt/media/image.png" Id="R2581a754c76e4950" /><Relationship Type="http://schemas.openxmlformats.org/officeDocument/2006/relationships/image" Target="/ppt/media/image2.png" Id="R9c1b769dd9c44f95" /><Relationship Type="http://schemas.openxmlformats.org/officeDocument/2006/relationships/image" Target="/ppt/media/image3.png" Id="R8574af22ae2a4716" /><Relationship Type="http://schemas.openxmlformats.org/officeDocument/2006/relationships/image" Target="/ppt/media/image4.png" Id="R28b609e4557c41d4" /><Relationship Type="http://schemas.openxmlformats.org/officeDocument/2006/relationships/image" Target="/ppt/media/image5.png" Id="Rb9d3ee43bfa84f08" /><Relationship Type="http://schemas.openxmlformats.org/officeDocument/2006/relationships/image" Target="/ppt/media/image6.png" Id="R47a12e37c7b14797" /><Relationship Type="http://schemas.openxmlformats.org/officeDocument/2006/relationships/image" Target="/ppt/media/image7.png" Id="R2575c1a781fa4e5c" /><Relationship Type="http://schemas.openxmlformats.org/officeDocument/2006/relationships/image" Target="/ppt/media/image8.png" Id="R5a3cb25a82e34bfd" /><Relationship Type="http://schemas.openxmlformats.org/officeDocument/2006/relationships/image" Target="/ppt/media/image9.png" Id="R6404f3f24a3244ef" /><Relationship Type="http://schemas.openxmlformats.org/officeDocument/2006/relationships/image" Target="/ppt/media/image10.png" Id="R90396fd0a4194d88" /><Relationship Type="http://schemas.openxmlformats.org/officeDocument/2006/relationships/image" Target="/ppt/media/image11.png" Id="R9f95fadcd74747af" /><Relationship Type="http://schemas.openxmlformats.org/officeDocument/2006/relationships/image" Target="/ppt/media/image12.png" Id="Rb1bb8d9e25d542fe" /><Relationship Type="http://schemas.openxmlformats.org/officeDocument/2006/relationships/image" Target="/ppt/media/image13.png" Id="R6b37263ce2d64d1f" /><Relationship Type="http://schemas.openxmlformats.org/officeDocument/2006/relationships/image" Target="/ppt/media/image14.png" Id="Rbad6691cb97f4b9d" /><Relationship Type="http://schemas.openxmlformats.org/officeDocument/2006/relationships/image" Target="/ppt/media/image15.png" Id="Rdbd352daa62c465f" /><Relationship Type="http://schemas.openxmlformats.org/officeDocument/2006/relationships/image" Target="/ppt/media/image16.png" Id="R7318ea26ed40466d" /><Relationship Type="http://schemas.openxmlformats.org/officeDocument/2006/relationships/image" Target="/ppt/media/image17.png" Id="Ra3d08ca2cb5d404c" /><Relationship Type="http://schemas.openxmlformats.org/officeDocument/2006/relationships/image" Target="/ppt/media/image18.png" Id="R6366004a95c544a2" /><Relationship Type="http://schemas.openxmlformats.org/officeDocument/2006/relationships/image" Target="/ppt/media/image19.png" Id="R48798268c5e64ea7" /><Relationship Type="http://schemas.openxmlformats.org/officeDocument/2006/relationships/image" Target="/ppt/media/image20.png" Id="R6202772a4d8e4c69" /><Relationship Type="http://schemas.openxmlformats.org/officeDocument/2006/relationships/image" Target="/ppt/media/image21.png" Id="Rfcdfd6a7e5e946db" /><Relationship Type="http://schemas.openxmlformats.org/officeDocument/2006/relationships/image" Target="/ppt/media/image22.png" Id="Re0cdfea59e7d4f49" /><Relationship Type="http://schemas.openxmlformats.org/officeDocument/2006/relationships/image" Target="/ppt/media/image23.png" Id="R5f10135993b446bc" /><Relationship Type="http://schemas.openxmlformats.org/officeDocument/2006/relationships/image" Target="/ppt/media/image24.png" Id="R2c445053d12d409c" /><Relationship Type="http://schemas.openxmlformats.org/officeDocument/2006/relationships/image" Target="/ppt/media/image25.png" Id="R79d908b0caa940e5" /><Relationship Type="http://schemas.openxmlformats.org/officeDocument/2006/relationships/notesSlide" Target="/ppt/notesSlides/notesSlide1.xml" Id="Raf4895cf2e764c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628C97-242B-4DBB-B7E8-ECD07473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9875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The Solution Architecture</a:t>
            </a:r>
          </a:p>
          <a:p xmlns:a="http://schemas.openxmlformats.org/drawingml/2006/main">
            <a:pPr marL="0" indent="0">
              <a:buNone/>
            </a:pPr>
            <a:endParaRPr sz="2200">
              <a:latin typeface="Helvetica"/>
              <a:ea typeface="Helvetica"/>
              <a:cs typeface="Helvetica"/>
            </a:endParaRP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7CACA97-D29B-49ED-AFCC-0A9596B5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11277295" cy="4169664"/>
          </a:xfrm>
          <a:prstGeom xmlns:a="http://schemas.openxmlformats.org/drawingml/2006/main" prst="roundRect">
            <a:avLst>
              <a:gd name="adj" fmla="val 2193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1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1a754c76e49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1353312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7218637-3806-4BFE-8E55-B22375A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335024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Stratos agentic system</a:t>
            </a:r>
            <a:endParaRPr sz="1100">
              <a:latin typeface="Helvetica"/>
              <a:ea typeface="Helvetica"/>
              <a:cs typeface="Helvetica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CFA57B4-22E6-4D44-B076-BA0C37D4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35024"/>
            <a:ext cx="5532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Built on OpenAI API Platform &amp; Codex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5D2CFC8-3727-4C31-970E-30A76332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91056"/>
            <a:ext cx="10908792" cy="4572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00566BA-360F-449E-A9C8-0CFB155A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4592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Front end UI</a:t>
            </a:r>
            <a:endParaRPr sz="1100">
              <a:latin typeface="Helvetica"/>
              <a:ea typeface="Helvetica"/>
              <a:cs typeface="Helvetica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26D847-6564-4C35-85CB-84EFF82B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37944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Stratos workspace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pic>
        <p:nvPicPr>
          <p:cNvPr id="1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b769dd9c44f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8960" y="17373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13DCDBB-DC26-459C-B794-031CA5F1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627632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Case workbench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pic>
        <p:nvPicPr>
          <p:cNvPr id="16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4af22ae2a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7373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39EF767-4E54-4C13-845C-5D7D76C5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627632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Concierge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pic>
        <p:nvPicPr>
          <p:cNvPr id="1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609e4557c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2240" y="17373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C7F8C641-BCE5-409E-8FD6-4FF25D00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627632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Decisions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pic>
        <p:nvPicPr>
          <p:cNvPr id="16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3ee43bfa84f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83880" y="17373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D60EC533-2840-4DE3-82EC-40CF5A75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1627632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Escalations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pic>
        <p:nvPicPr>
          <p:cNvPr id="1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12e37c7b14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5520" y="17373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B1D725DD-EDF0-4A46-9493-A576A001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627632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Operations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pic>
        <p:nvPicPr>
          <p:cNvPr id="17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5c1a781fa4e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0" y="2093976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FF3CCF2B-DB42-4B61-899F-470FB118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075688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Host API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55D79BB1-407E-4D69-BE58-47A5D504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10908792" cy="2633472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487D23CF-E670-4E26-AEC9-1F948B57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376966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Multi-agent harness</a:t>
            </a:r>
            <a:endParaRPr sz="1100">
              <a:latin typeface="Helvetica"/>
              <a:ea typeface="Helvetica"/>
              <a:cs typeface="Helvetica"/>
            </a:endParaRPr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707A5A86-334F-4E2F-8E23-20874D4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648" y="2392165"/>
            <a:ext cx="3172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Manager and specialists pattern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A069E56D-E6C7-416F-8CB6-92CC7830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930" y="2515016"/>
            <a:ext cx="1005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Runs start from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27" name="Shape 18">
            <a:extLst xmlns:a="http://schemas.openxmlformats.org/drawingml/2006/main">
              <a:ext uri="{FF2B5EF4-FFF2-40B4-BE49-F238E27FC236}">
                <a16:creationId xmlns:a16="http://schemas.microsoft.com/office/drawing/2014/main" id="{626E12EB-9F15-4366-A018-0945574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808" y="2512398"/>
            <a:ext cx="969204" cy="219456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1EFE8"/>
          </a:solidFill>
          <a:ln xmlns:a="http://schemas.openxmlformats.org/drawingml/2006/main" w="12700">
            <a:solidFill>
              <a:srgbClr val="F1EF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17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cb25a82e34b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1565" y="2543041"/>
            <a:ext cx="146304" cy="146304"/>
          </a:xfrm>
          <a:prstGeom xmlns:a="http://schemas.openxmlformats.org/drawingml/2006/main" prst="rect">
            <a:avLst/>
          </a:prstGeom>
        </p:spPr>
      </p:pic>
      <p:sp>
        <p:nvSpPr>
          <p:cNvPr id="29" name="Text 19">
            <a:extLst xmlns:a="http://schemas.openxmlformats.org/drawingml/2006/main">
              <a:ext uri="{FF2B5EF4-FFF2-40B4-BE49-F238E27FC236}">
                <a16:creationId xmlns:a16="http://schemas.microsoft.com/office/drawing/2014/main" id="{ED3EA46D-96FD-464A-B7BE-6878210A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445" y="2506465"/>
            <a:ext cx="922447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444441"/>
                </a:solidFill>
                <a:latin typeface="Helvetica"/>
                <a:ea typeface="Helvetica"/>
                <a:cs typeface="Helvetica"/>
              </a:rPr>
              <a:t>Trigger event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30" name="Shape 20">
            <a:extLst xmlns:a="http://schemas.openxmlformats.org/drawingml/2006/main">
              <a:ext uri="{FF2B5EF4-FFF2-40B4-BE49-F238E27FC236}">
                <a16:creationId xmlns:a16="http://schemas.microsoft.com/office/drawing/2014/main" id="{AA678B71-74EC-4222-931F-E8336531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826" y="2513294"/>
            <a:ext cx="1137222" cy="219456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1EFE8"/>
          </a:solidFill>
          <a:ln xmlns:a="http://schemas.openxmlformats.org/drawingml/2006/main" w="12700">
            <a:solidFill>
              <a:srgbClr val="F1EF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181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4f3f24a3244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8578" y="2556757"/>
            <a:ext cx="146304" cy="146304"/>
          </a:xfrm>
          <a:prstGeom xmlns:a="http://schemas.openxmlformats.org/drawingml/2006/main" prst="rect">
            <a:avLst/>
          </a:prstGeom>
        </p:spPr>
      </p:pic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BB817B63-712E-4A45-B144-D148D8EE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057" y="2520181"/>
            <a:ext cx="1058711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444441"/>
                </a:solidFill>
                <a:latin typeface="Helvetica"/>
                <a:ea typeface="Helvetica"/>
                <a:cs typeface="Helvetica"/>
              </a:rPr>
              <a:t>Operator action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33" name="Shape 22">
            <a:extLst xmlns:a="http://schemas.openxmlformats.org/drawingml/2006/main">
              <a:ext uri="{FF2B5EF4-FFF2-40B4-BE49-F238E27FC236}">
                <a16:creationId xmlns:a16="http://schemas.microsoft.com/office/drawing/2014/main" id="{4523C1C7-8D22-48CC-B0A1-67D07EB7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42" y="2509019"/>
            <a:ext cx="1276320" cy="219456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1EFE8"/>
          </a:solidFill>
          <a:ln xmlns:a="http://schemas.openxmlformats.org/drawingml/2006/main" w="12700">
            <a:solidFill>
              <a:srgbClr val="F1EF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184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96fd0a4194d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3666" y="2548919"/>
            <a:ext cx="146304" cy="146304"/>
          </a:xfrm>
          <a:prstGeom xmlns:a="http://schemas.openxmlformats.org/drawingml/2006/main" prst="rect">
            <a:avLst/>
          </a:prstGeom>
        </p:spPr>
      </p:pic>
      <p:sp>
        <p:nvSpPr>
          <p:cNvPr id="35" name="Text 23">
            <a:extLst xmlns:a="http://schemas.openxmlformats.org/drawingml/2006/main">
              <a:ext uri="{FF2B5EF4-FFF2-40B4-BE49-F238E27FC236}">
                <a16:creationId xmlns:a16="http://schemas.microsoft.com/office/drawing/2014/main" id="{E0EE2A68-6BB1-495E-A2C3-8D6C197E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546" y="2512343"/>
            <a:ext cx="1276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444441"/>
                </a:solidFill>
                <a:latin typeface="Helvetica"/>
                <a:ea typeface="Helvetica"/>
                <a:cs typeface="Helvetica"/>
              </a:rPr>
              <a:t>Concierge request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36" name="Shape 24">
            <a:extLst xmlns:a="http://schemas.openxmlformats.org/drawingml/2006/main">
              <a:ext uri="{FF2B5EF4-FFF2-40B4-BE49-F238E27FC236}">
                <a16:creationId xmlns:a16="http://schemas.microsoft.com/office/drawing/2014/main" id="{29AF482F-F3AD-4D94-A0BD-0BC16754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96" y="2501357"/>
            <a:ext cx="868315" cy="219456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1EFE8"/>
          </a:solidFill>
          <a:ln xmlns:a="http://schemas.openxmlformats.org/drawingml/2006/main" w="12700">
            <a:solidFill>
              <a:srgbClr val="F1EF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187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5fadcd74747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7409" y="2549870"/>
            <a:ext cx="146304" cy="146304"/>
          </a:xfrm>
          <a:prstGeom xmlns:a="http://schemas.openxmlformats.org/drawingml/2006/main" prst="rect">
            <a:avLst/>
          </a:prstGeom>
        </p:spPr>
      </p:pic>
      <p:sp>
        <p:nvSpPr>
          <p:cNvPr id="38" name="Text 25">
            <a:extLst xmlns:a="http://schemas.openxmlformats.org/drawingml/2006/main">
              <a:ext uri="{FF2B5EF4-FFF2-40B4-BE49-F238E27FC236}">
                <a16:creationId xmlns:a16="http://schemas.microsoft.com/office/drawing/2014/main" id="{B75E2FA5-B258-4A40-A135-7A83E731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289" y="2513294"/>
            <a:ext cx="710123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444441"/>
                </a:solidFill>
                <a:latin typeface="Helvetica"/>
                <a:ea typeface="Helvetica"/>
                <a:cs typeface="Helvetica"/>
              </a:rPr>
              <a:t>Scheduled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39" name="Shape 26">
            <a:extLst xmlns:a="http://schemas.openxmlformats.org/drawingml/2006/main">
              <a:ext uri="{FF2B5EF4-FFF2-40B4-BE49-F238E27FC236}">
                <a16:creationId xmlns:a16="http://schemas.microsoft.com/office/drawing/2014/main" id="{758BFEF1-D68A-4167-8E4D-56120EC3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996" y="2836062"/>
            <a:ext cx="53949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6F1FB"/>
          </a:solidFill>
          <a:ln xmlns:a="http://schemas.openxmlformats.org/drawingml/2006/main" w="6350">
            <a:solidFill>
              <a:srgbClr val="85B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40" name="Shape 27">
            <a:extLst xmlns:a="http://schemas.openxmlformats.org/drawingml/2006/main">
              <a:ext uri="{FF2B5EF4-FFF2-40B4-BE49-F238E27FC236}">
                <a16:creationId xmlns:a16="http://schemas.microsoft.com/office/drawing/2014/main" id="{8B84B6A2-C7B3-41BD-BB7A-8B56001D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724" y="2909214"/>
            <a:ext cx="6400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5D4F4"/>
          </a:solidFill>
          <a:ln xmlns:a="http://schemas.openxmlformats.org/drawingml/2006/main" w="12700">
            <a:solidFill>
              <a:srgbClr val="B5D4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41" name="Text 28">
            <a:extLst xmlns:a="http://schemas.openxmlformats.org/drawingml/2006/main">
              <a:ext uri="{FF2B5EF4-FFF2-40B4-BE49-F238E27FC236}">
                <a16:creationId xmlns:a16="http://schemas.microsoft.com/office/drawing/2014/main" id="{A258E983-C56A-4B71-AEC5-5FECB653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164" y="2909214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42C53"/>
                </a:solidFill>
                <a:latin typeface="Helvetica"/>
                <a:ea typeface="Helvetica"/>
                <a:cs typeface="Helvetica"/>
              </a:rPr>
              <a:t>Manager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pic>
        <p:nvPicPr>
          <p:cNvPr id="192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b8d9e25d542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9956" y="2909214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43" name="Text 29">
            <a:extLst xmlns:a="http://schemas.openxmlformats.org/drawingml/2006/main">
              <a:ext uri="{FF2B5EF4-FFF2-40B4-BE49-F238E27FC236}">
                <a16:creationId xmlns:a16="http://schemas.microsoft.com/office/drawing/2014/main" id="{F1C3A777-3C2B-47F2-9068-A39D6FCC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81782"/>
            <a:ext cx="25603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C447C"/>
                </a:solidFill>
                <a:latin typeface="Helvetica"/>
                <a:ea typeface="Helvetica"/>
                <a:cs typeface="Helvetica"/>
              </a:rPr>
              <a:t>Program coordinator</a:t>
            </a:r>
            <a:endParaRPr sz="1100">
              <a:latin typeface="Helvetica"/>
              <a:ea typeface="Helvetica"/>
              <a:cs typeface="Helvetica"/>
            </a:endParaRPr>
          </a:p>
        </p:txBody>
      </p:sp>
      <p:sp>
        <p:nvSpPr>
          <p:cNvPr id="44" name="Text 30">
            <a:extLst xmlns:a="http://schemas.openxmlformats.org/drawingml/2006/main">
              <a:ext uri="{FF2B5EF4-FFF2-40B4-BE49-F238E27FC236}">
                <a16:creationId xmlns:a16="http://schemas.microsoft.com/office/drawing/2014/main" id="{C0A46E63-E169-4E9C-8FB3-E38EDCEB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724" y="3146958"/>
            <a:ext cx="51755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85FA5"/>
                </a:solidFill>
                <a:latin typeface="Helvetica"/>
                <a:ea typeface="Helvetica"/>
                <a:cs typeface="Helvetica"/>
              </a:rPr>
              <a:t>Assigns work to the right specialists, reconciles their findings, and recommends the next action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45" name="Shape 31">
            <a:extLst xmlns:a="http://schemas.openxmlformats.org/drawingml/2006/main">
              <a:ext uri="{FF2B5EF4-FFF2-40B4-BE49-F238E27FC236}">
                <a16:creationId xmlns:a16="http://schemas.microsoft.com/office/drawing/2014/main" id="{3675610A-A67A-44F5-A7A2-635B5489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044" y="3393846"/>
            <a:ext cx="2432" cy="2454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5B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46" name="Shape 32">
            <a:extLst xmlns:a="http://schemas.openxmlformats.org/drawingml/2006/main">
              <a:ext uri="{FF2B5EF4-FFF2-40B4-BE49-F238E27FC236}">
                <a16:creationId xmlns:a16="http://schemas.microsoft.com/office/drawing/2014/main" id="{762E9487-A83C-42A4-A796-E13DFED8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114" y="3639312"/>
            <a:ext cx="80787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5B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47" name="Shape 33">
            <a:extLst xmlns:a="http://schemas.openxmlformats.org/drawingml/2006/main">
              <a:ext uri="{FF2B5EF4-FFF2-40B4-BE49-F238E27FC236}">
                <a16:creationId xmlns:a16="http://schemas.microsoft.com/office/drawing/2014/main" id="{4A3F04AB-19F3-450B-805C-BAC32FBE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114" y="363931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5B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48" name="Shape 34">
            <a:extLst xmlns:a="http://schemas.openxmlformats.org/drawingml/2006/main">
              <a:ext uri="{FF2B5EF4-FFF2-40B4-BE49-F238E27FC236}">
                <a16:creationId xmlns:a16="http://schemas.microsoft.com/office/drawing/2014/main" id="{6AE4809E-9156-4051-B578-4C14655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022" y="363931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5B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49" name="Shape 35">
            <a:extLst xmlns:a="http://schemas.openxmlformats.org/drawingml/2006/main">
              <a:ext uri="{FF2B5EF4-FFF2-40B4-BE49-F238E27FC236}">
                <a16:creationId xmlns:a16="http://schemas.microsoft.com/office/drawing/2014/main" id="{0F312AEC-BC52-46AF-A710-46E4329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363931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5B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50" name="Shape 36">
            <a:extLst xmlns:a="http://schemas.openxmlformats.org/drawingml/2006/main">
              <a:ext uri="{FF2B5EF4-FFF2-40B4-BE49-F238E27FC236}">
                <a16:creationId xmlns:a16="http://schemas.microsoft.com/office/drawing/2014/main" id="{9383D7F0-2BAC-4D4C-9522-65DF7065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838" y="363931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5B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51" name="Text 37">
            <a:extLst xmlns:a="http://schemas.openxmlformats.org/drawingml/2006/main">
              <a:ext uri="{FF2B5EF4-FFF2-40B4-BE49-F238E27FC236}">
                <a16:creationId xmlns:a16="http://schemas.microsoft.com/office/drawing/2014/main" id="{DB7D8474-FAD2-464B-A452-BA7A0591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236" y="3465576"/>
            <a:ext cx="1828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delegates work ↓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52" name="Text 38">
            <a:extLst xmlns:a="http://schemas.openxmlformats.org/drawingml/2006/main">
              <a:ext uri="{FF2B5EF4-FFF2-40B4-BE49-F238E27FC236}">
                <a16:creationId xmlns:a16="http://schemas.microsoft.com/office/drawing/2014/main" id="{F4C5A955-CED6-40B2-9A02-0CAF2620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16" y="3465576"/>
            <a:ext cx="1828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↑ reports results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53" name="Shape 39">
            <a:extLst xmlns:a="http://schemas.openxmlformats.org/drawingml/2006/main">
              <a:ext uri="{FF2B5EF4-FFF2-40B4-BE49-F238E27FC236}">
                <a16:creationId xmlns:a16="http://schemas.microsoft.com/office/drawing/2014/main" id="{A21B28DF-F8BB-4940-81AC-8FE47EEF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67328"/>
            <a:ext cx="255574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54" name="Shape 40">
            <a:extLst xmlns:a="http://schemas.openxmlformats.org/drawingml/2006/main">
              <a:ext uri="{FF2B5EF4-FFF2-40B4-BE49-F238E27FC236}">
                <a16:creationId xmlns:a16="http://schemas.microsoft.com/office/drawing/2014/main" id="{1613348F-C5FA-43F1-932E-3E66C5A2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" y="3840480"/>
            <a:ext cx="734489" cy="164592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5D4F4"/>
          </a:solidFill>
          <a:ln xmlns:a="http://schemas.openxmlformats.org/drawingml/2006/main" w="12700">
            <a:solidFill>
              <a:srgbClr val="B5D4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55" name="Text 41">
            <a:extLst xmlns:a="http://schemas.openxmlformats.org/drawingml/2006/main">
              <a:ext uri="{FF2B5EF4-FFF2-40B4-BE49-F238E27FC236}">
                <a16:creationId xmlns:a16="http://schemas.microsoft.com/office/drawing/2014/main" id="{B4CC2D1B-3E48-4892-946D-2F70F4FF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3840480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42C53"/>
                </a:solidFill>
                <a:latin typeface="Helvetica"/>
                <a:ea typeface="Helvetica"/>
                <a:cs typeface="Helvetica"/>
              </a:rPr>
              <a:t>Specialist</a:t>
            </a:r>
            <a:endParaRPr sz="800">
              <a:latin typeface="Helvetica"/>
              <a:ea typeface="Helvetica"/>
              <a:cs typeface="Helvetica"/>
            </a:endParaRPr>
          </a:p>
        </p:txBody>
      </p:sp>
      <p:pic>
        <p:nvPicPr>
          <p:cNvPr id="206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7263ce2d64d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4069080"/>
            <a:ext cx="173736" cy="173736"/>
          </a:xfrm>
          <a:prstGeom xmlns:a="http://schemas.openxmlformats.org/drawingml/2006/main" prst="rect">
            <a:avLst/>
          </a:prstGeom>
        </p:spPr>
      </p:pic>
      <p:sp>
        <p:nvSpPr>
          <p:cNvPr id="57" name="Text 42">
            <a:extLst xmlns:a="http://schemas.openxmlformats.org/drawingml/2006/main">
              <a:ext uri="{FF2B5EF4-FFF2-40B4-BE49-F238E27FC236}">
                <a16:creationId xmlns:a16="http://schemas.microsoft.com/office/drawing/2014/main" id="{04D45326-0A3C-4B5A-A4DF-1162DB66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4041648"/>
            <a:ext cx="21534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Change impact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sp>
        <p:nvSpPr>
          <p:cNvPr id="58" name="Text 43">
            <a:extLst xmlns:a="http://schemas.openxmlformats.org/drawingml/2006/main">
              <a:ext uri="{FF2B5EF4-FFF2-40B4-BE49-F238E27FC236}">
                <a16:creationId xmlns:a16="http://schemas.microsoft.com/office/drawing/2014/main" id="{9C90AC9E-C725-40F1-BD33-5EA21E83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" y="4312287"/>
            <a:ext cx="23728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Analyzes requirements to determine potential impact on engineering, manufacturing, and delivery</a:t>
            </a:r>
            <a:endParaRPr sz="800">
              <a:latin typeface="Helvetica"/>
              <a:ea typeface="Helvetica"/>
              <a:cs typeface="Helvetica"/>
            </a:endParaRPr>
          </a:p>
        </p:txBody>
      </p:sp>
      <p:sp>
        <p:nvSpPr>
          <p:cNvPr id="60" name="Shape 45">
            <a:extLst xmlns:a="http://schemas.openxmlformats.org/drawingml/2006/main">
              <a:ext uri="{FF2B5EF4-FFF2-40B4-BE49-F238E27FC236}">
                <a16:creationId xmlns:a16="http://schemas.microsoft.com/office/drawing/2014/main" id="{15392F84-41DE-4BF6-8D42-13829A2F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148" y="3767328"/>
            <a:ext cx="255574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210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6691cb97f4b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1588" y="4069080"/>
            <a:ext cx="173736" cy="173736"/>
          </a:xfrm>
          <a:prstGeom xmlns:a="http://schemas.openxmlformats.org/drawingml/2006/main" prst="rect">
            <a:avLst/>
          </a:prstGeom>
        </p:spPr>
      </p:pic>
      <p:sp>
        <p:nvSpPr>
          <p:cNvPr id="64" name="Text 48">
            <a:extLst xmlns:a="http://schemas.openxmlformats.org/drawingml/2006/main">
              <a:ext uri="{FF2B5EF4-FFF2-40B4-BE49-F238E27FC236}">
                <a16:creationId xmlns:a16="http://schemas.microsoft.com/office/drawing/2014/main" id="{BC007D5A-6C15-4A6D-BAE4-B73612C4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044" y="4041648"/>
            <a:ext cx="21534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Validation and evidence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sp>
        <p:nvSpPr>
          <p:cNvPr id="65" name="Text 49">
            <a:extLst xmlns:a="http://schemas.openxmlformats.org/drawingml/2006/main">
              <a:ext uri="{FF2B5EF4-FFF2-40B4-BE49-F238E27FC236}">
                <a16:creationId xmlns:a16="http://schemas.microsoft.com/office/drawing/2014/main" id="{78D341FD-2D18-491C-A7CA-6B077DD9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608" y="4318699"/>
            <a:ext cx="23728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Checks existing test evidence against the requirements and flags what still needs testing.</a:t>
            </a:r>
            <a:endParaRPr sz="800">
              <a:latin typeface="Helvetica"/>
              <a:ea typeface="Helvetica"/>
              <a:cs typeface="Helvetica"/>
            </a:endParaRPr>
          </a:p>
        </p:txBody>
      </p:sp>
      <p:sp>
        <p:nvSpPr>
          <p:cNvPr id="67" name="Shape 51">
            <a:extLst xmlns:a="http://schemas.openxmlformats.org/drawingml/2006/main">
              <a:ext uri="{FF2B5EF4-FFF2-40B4-BE49-F238E27FC236}">
                <a16:creationId xmlns:a16="http://schemas.microsoft.com/office/drawing/2014/main" id="{8B71BAE9-2A9C-45E3-89BD-EC46FA97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767328"/>
            <a:ext cx="255574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214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352daa62c46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4496" y="4069080"/>
            <a:ext cx="173736" cy="173736"/>
          </a:xfrm>
          <a:prstGeom xmlns:a="http://schemas.openxmlformats.org/drawingml/2006/main" prst="rect">
            <a:avLst/>
          </a:prstGeom>
        </p:spPr>
      </p:pic>
      <p:sp>
        <p:nvSpPr>
          <p:cNvPr id="71" name="Text 54">
            <a:extLst xmlns:a="http://schemas.openxmlformats.org/drawingml/2006/main">
              <a:ext uri="{FF2B5EF4-FFF2-40B4-BE49-F238E27FC236}">
                <a16:creationId xmlns:a16="http://schemas.microsoft.com/office/drawing/2014/main" id="{D4D5453D-3455-4FFD-B4E6-72982D1E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41648"/>
            <a:ext cx="21534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Manufacturing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sp>
        <p:nvSpPr>
          <p:cNvPr id="72" name="Text 55">
            <a:extLst xmlns:a="http://schemas.openxmlformats.org/drawingml/2006/main">
              <a:ext uri="{FF2B5EF4-FFF2-40B4-BE49-F238E27FC236}">
                <a16:creationId xmlns:a16="http://schemas.microsoft.com/office/drawing/2014/main" id="{40FB392C-B045-4290-8E33-6459F1F7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638" y="4324637"/>
            <a:ext cx="23728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Investigates yield and quality issues, material restrictions, and available supply.</a:t>
            </a:r>
            <a:endParaRPr sz="800">
              <a:latin typeface="Helvetica"/>
              <a:ea typeface="Helvetica"/>
              <a:cs typeface="Helvetica"/>
            </a:endParaRPr>
          </a:p>
        </p:txBody>
      </p:sp>
      <p:sp>
        <p:nvSpPr>
          <p:cNvPr id="74" name="Shape 57">
            <a:extLst xmlns:a="http://schemas.openxmlformats.org/drawingml/2006/main">
              <a:ext uri="{FF2B5EF4-FFF2-40B4-BE49-F238E27FC236}">
                <a16:creationId xmlns:a16="http://schemas.microsoft.com/office/drawing/2014/main" id="{F937BDC9-17C9-48F3-9606-D000DD3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964" y="3767328"/>
            <a:ext cx="2555748" cy="9509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218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8ea26ed40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7404" y="4069080"/>
            <a:ext cx="173736" cy="173736"/>
          </a:xfrm>
          <a:prstGeom xmlns:a="http://schemas.openxmlformats.org/drawingml/2006/main" prst="rect">
            <a:avLst/>
          </a:prstGeom>
        </p:spPr>
      </p:pic>
      <p:sp>
        <p:nvSpPr>
          <p:cNvPr id="78" name="Text 60">
            <a:extLst xmlns:a="http://schemas.openxmlformats.org/drawingml/2006/main">
              <a:ext uri="{FF2B5EF4-FFF2-40B4-BE49-F238E27FC236}">
                <a16:creationId xmlns:a16="http://schemas.microsoft.com/office/drawing/2014/main" id="{15A95685-FC1A-475D-8B66-05668264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860" y="4041648"/>
            <a:ext cx="21534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Program and commercial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sp>
        <p:nvSpPr>
          <p:cNvPr id="79" name="Text 61">
            <a:extLst xmlns:a="http://schemas.openxmlformats.org/drawingml/2006/main">
              <a:ext uri="{FF2B5EF4-FFF2-40B4-BE49-F238E27FC236}">
                <a16:creationId xmlns:a16="http://schemas.microsoft.com/office/drawing/2014/main" id="{13513A25-2AEF-441E-A34F-4D1FAB4B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118" y="4315968"/>
            <a:ext cx="23728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Weighs the impact on schedule, cost, and commitments, then compares response options.</a:t>
            </a:r>
            <a:endParaRPr sz="800">
              <a:latin typeface="Helvetica"/>
              <a:ea typeface="Helvetica"/>
              <a:cs typeface="Helvetica"/>
            </a:endParaRPr>
          </a:p>
        </p:txBody>
      </p:sp>
      <p:sp>
        <p:nvSpPr>
          <p:cNvPr id="81" name="Text 63">
            <a:extLst xmlns:a="http://schemas.openxmlformats.org/drawingml/2006/main">
              <a:ext uri="{FF2B5EF4-FFF2-40B4-BE49-F238E27FC236}">
                <a16:creationId xmlns:a16="http://schemas.microsoft.com/office/drawing/2014/main" id="{E5E16A2F-48B7-47E8-8677-0D38E69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64024"/>
            <a:ext cx="1063447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Delegate  ·  Consult  ·  Reconcile  ·  Synthesize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pic>
        <p:nvPicPr>
          <p:cNvPr id="222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08ca2cb5d40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21" y="5038344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83" name="Text 64">
            <a:extLst xmlns:a="http://schemas.openxmlformats.org/drawingml/2006/main">
              <a:ext uri="{FF2B5EF4-FFF2-40B4-BE49-F238E27FC236}">
                <a16:creationId xmlns:a16="http://schemas.microsoft.com/office/drawing/2014/main" id="{E1C65EE6-E0D0-4F65-B7DC-8033B947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365" y="5010912"/>
            <a:ext cx="113019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Scoped tools</a:t>
            </a:r>
            <a:endParaRPr sz="1050">
              <a:latin typeface="Helvetica"/>
              <a:ea typeface="Helvetica"/>
              <a:cs typeface="Helvetica"/>
            </a:endParaRPr>
          </a:p>
        </p:txBody>
      </p:sp>
      <p:sp>
        <p:nvSpPr>
          <p:cNvPr id="84" name="Text 65">
            <a:extLst xmlns:a="http://schemas.openxmlformats.org/drawingml/2006/main">
              <a:ext uri="{FF2B5EF4-FFF2-40B4-BE49-F238E27FC236}">
                <a16:creationId xmlns:a16="http://schemas.microsoft.com/office/drawing/2014/main" id="{3F791984-4D05-4954-80E9-32467760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48656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Bounded read tools per specialist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pic>
        <p:nvPicPr>
          <p:cNvPr id="225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6004a95c544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2761" y="5038344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86" name="Text 66">
            <a:extLst xmlns:a="http://schemas.openxmlformats.org/drawingml/2006/main">
              <a:ext uri="{FF2B5EF4-FFF2-40B4-BE49-F238E27FC236}">
                <a16:creationId xmlns:a16="http://schemas.microsoft.com/office/drawing/2014/main" id="{4255FD14-9F02-4CB0-8537-2570C17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505" y="5010912"/>
            <a:ext cx="184343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Knowledge and evidence</a:t>
            </a:r>
            <a:endParaRPr sz="1050">
              <a:latin typeface="Helvetica"/>
              <a:ea typeface="Helvetica"/>
              <a:cs typeface="Helvetica"/>
            </a:endParaRPr>
          </a:p>
        </p:txBody>
      </p:sp>
      <p:sp>
        <p:nvSpPr>
          <p:cNvPr id="87" name="Text 67">
            <a:extLst xmlns:a="http://schemas.openxmlformats.org/drawingml/2006/main">
              <a:ext uri="{FF2B5EF4-FFF2-40B4-BE49-F238E27FC236}">
                <a16:creationId xmlns:a16="http://schemas.microsoft.com/office/drawing/2014/main" id="{275B6AA1-AB0D-4E39-A7AF-7D46F4FE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676" y="5248656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Shared RAG with exact-source checks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pic>
        <p:nvPicPr>
          <p:cNvPr id="228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98268c5e64e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8163" y="5038344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89" name="Text 68">
            <a:extLst xmlns:a="http://schemas.openxmlformats.org/drawingml/2006/main">
              <a:ext uri="{FF2B5EF4-FFF2-40B4-BE49-F238E27FC236}">
                <a16:creationId xmlns:a16="http://schemas.microsoft.com/office/drawing/2014/main" id="{0D300099-8296-4C05-8858-59F8E31B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907" y="5010912"/>
            <a:ext cx="155813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Governed execution</a:t>
            </a:r>
            <a:endParaRPr sz="1050">
              <a:latin typeface="Helvetica"/>
              <a:ea typeface="Helvetica"/>
              <a:cs typeface="Helvetica"/>
            </a:endParaRPr>
          </a:p>
        </p:txBody>
      </p:sp>
      <p:sp>
        <p:nvSpPr>
          <p:cNvPr id="90" name="Text 69">
            <a:extLst xmlns:a="http://schemas.openxmlformats.org/drawingml/2006/main">
              <a:ext uri="{FF2B5EF4-FFF2-40B4-BE49-F238E27FC236}">
                <a16:creationId xmlns:a16="http://schemas.microsoft.com/office/drawing/2014/main" id="{B75251BE-3F07-43A2-9301-652FA42B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5248656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Policy gates and guardrails applied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pic>
        <p:nvPicPr>
          <p:cNvPr id="231" name="Imag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2772a4d8e4c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3040" y="55595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2" name="Text 70">
            <a:extLst xmlns:a="http://schemas.openxmlformats.org/drawingml/2006/main">
              <a:ext uri="{FF2B5EF4-FFF2-40B4-BE49-F238E27FC236}">
                <a16:creationId xmlns:a16="http://schemas.microsoft.com/office/drawing/2014/main" id="{2FEBA25A-748A-4C56-9191-FE0F24D1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5513832"/>
            <a:ext cx="1828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C447C"/>
                </a:solidFill>
                <a:latin typeface="Helvetica"/>
                <a:ea typeface="Helvetica"/>
                <a:cs typeface="Helvetica"/>
              </a:rPr>
              <a:t>Tool calls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93" name="Text 71">
            <a:extLst xmlns:a="http://schemas.openxmlformats.org/drawingml/2006/main">
              <a:ext uri="{FF2B5EF4-FFF2-40B4-BE49-F238E27FC236}">
                <a16:creationId xmlns:a16="http://schemas.microsoft.com/office/drawing/2014/main" id="{6057EA92-43CE-4FC2-A31B-F36B4AEF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1" y="5678424"/>
            <a:ext cx="2290573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Execute API calls through Stratos MCP server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pic>
        <p:nvPicPr>
          <p:cNvPr id="234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fd6a7e5e946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25796" y="55595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5" name="Text 72">
            <a:extLst xmlns:a="http://schemas.openxmlformats.org/drawingml/2006/main">
              <a:ext uri="{FF2B5EF4-FFF2-40B4-BE49-F238E27FC236}">
                <a16:creationId xmlns:a16="http://schemas.microsoft.com/office/drawing/2014/main" id="{EF4FDF4E-52E8-4ADE-A8BB-8F2AC1B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48" y="5513832"/>
            <a:ext cx="1828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3C3489"/>
                </a:solidFill>
                <a:latin typeface="Helvetica"/>
                <a:ea typeface="Helvetica"/>
                <a:cs typeface="Helvetica"/>
              </a:rPr>
              <a:t>Knowledge context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pic>
        <p:nvPicPr>
          <p:cNvPr id="236" name="Im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dfea59e7d4f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8552" y="55595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8" name="Text 74">
            <a:extLst xmlns:a="http://schemas.openxmlformats.org/drawingml/2006/main">
              <a:ext uri="{FF2B5EF4-FFF2-40B4-BE49-F238E27FC236}">
                <a16:creationId xmlns:a16="http://schemas.microsoft.com/office/drawing/2014/main" id="{75C98586-A2FF-49FA-A263-E51F2005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513832"/>
            <a:ext cx="1828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85041"/>
                </a:solidFill>
                <a:latin typeface="Helvetica"/>
                <a:ea typeface="Helvetica"/>
                <a:cs typeface="Helvetica"/>
              </a:rPr>
              <a:t>API updates</a:t>
            </a:r>
            <a:endParaRPr sz="900">
              <a:latin typeface="Helvetica"/>
              <a:ea typeface="Helvetica"/>
              <a:cs typeface="Helvetica"/>
            </a:endParaRPr>
          </a:p>
        </p:txBody>
      </p:sp>
      <p:sp>
        <p:nvSpPr>
          <p:cNvPr id="99" name="Text 75">
            <a:extLst xmlns:a="http://schemas.openxmlformats.org/drawingml/2006/main">
              <a:ext uri="{FF2B5EF4-FFF2-40B4-BE49-F238E27FC236}">
                <a16:creationId xmlns:a16="http://schemas.microsoft.com/office/drawing/2014/main" id="{203CAF8D-4511-4AD2-939C-1C077406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3" y="5678424"/>
            <a:ext cx="2444191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Update source systems deterministically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100" name="Shape 76">
            <a:extLst xmlns:a="http://schemas.openxmlformats.org/drawingml/2006/main">
              <a:ext uri="{FF2B5EF4-FFF2-40B4-BE49-F238E27FC236}">
                <a16:creationId xmlns:a16="http://schemas.microsoft.com/office/drawing/2014/main" id="{1B1189E0-D122-4868-90C9-6502DD6C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5312"/>
            <a:ext cx="11277295" cy="713232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101" name="Text 77">
            <a:extLst xmlns:a="http://schemas.openxmlformats.org/drawingml/2006/main">
              <a:ext uri="{FF2B5EF4-FFF2-40B4-BE49-F238E27FC236}">
                <a16:creationId xmlns:a16="http://schemas.microsoft.com/office/drawing/2014/main" id="{49EB569D-BDFE-49BF-91EA-994A2F1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971032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Source systems</a:t>
            </a:r>
            <a:endParaRPr sz="1000">
              <a:latin typeface="Helvetica"/>
              <a:ea typeface="Helvetica"/>
              <a:cs typeface="Helvetica"/>
            </a:endParaRPr>
          </a:p>
        </p:txBody>
      </p:sp>
      <p:sp>
        <p:nvSpPr>
          <p:cNvPr id="102" name="Shape 78">
            <a:extLst xmlns:a="http://schemas.openxmlformats.org/drawingml/2006/main">
              <a:ext uri="{FF2B5EF4-FFF2-40B4-BE49-F238E27FC236}">
                <a16:creationId xmlns:a16="http://schemas.microsoft.com/office/drawing/2014/main" id="{6C961743-4A8A-48BB-8979-ECBE56CF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172200"/>
            <a:ext cx="2112264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242" name="Im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0135993b446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" y="6227064"/>
            <a:ext cx="155448" cy="155448"/>
          </a:xfrm>
          <a:prstGeom xmlns:a="http://schemas.openxmlformats.org/drawingml/2006/main" prst="rect">
            <a:avLst/>
          </a:prstGeom>
        </p:spPr>
      </p:pic>
      <p:sp>
        <p:nvSpPr>
          <p:cNvPr id="104" name="Text 79">
            <a:extLst xmlns:a="http://schemas.openxmlformats.org/drawingml/2006/main">
              <a:ext uri="{FF2B5EF4-FFF2-40B4-BE49-F238E27FC236}">
                <a16:creationId xmlns:a16="http://schemas.microsoft.com/office/drawing/2014/main" id="{DCB1F5E1-8D34-4F30-B2FD-62E9EF3B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6199632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PLM</a:t>
            </a:r>
            <a:endParaRPr sz="950">
              <a:latin typeface="Helvetica"/>
              <a:ea typeface="Helvetica"/>
              <a:cs typeface="Helvetica"/>
            </a:endParaRPr>
          </a:p>
        </p:txBody>
      </p:sp>
      <p:sp>
        <p:nvSpPr>
          <p:cNvPr id="105" name="Text 80">
            <a:extLst xmlns:a="http://schemas.openxmlformats.org/drawingml/2006/main">
              <a:ext uri="{FF2B5EF4-FFF2-40B4-BE49-F238E27FC236}">
                <a16:creationId xmlns:a16="http://schemas.microsoft.com/office/drawing/2014/main" id="{3846FA1B-E59D-46CD-8F28-F65A23F7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382512"/>
            <a:ext cx="19293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Engineering records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106" name="Shape 81">
            <a:extLst xmlns:a="http://schemas.openxmlformats.org/drawingml/2006/main">
              <a:ext uri="{FF2B5EF4-FFF2-40B4-BE49-F238E27FC236}">
                <a16:creationId xmlns:a16="http://schemas.microsoft.com/office/drawing/2014/main" id="{D22BD9E0-152F-4661-8264-198720A0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6172200"/>
            <a:ext cx="2112264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246" name="Imag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6691cb97f4b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6936" y="6227064"/>
            <a:ext cx="155448" cy="155448"/>
          </a:xfrm>
          <a:prstGeom xmlns:a="http://schemas.openxmlformats.org/drawingml/2006/main" prst="rect">
            <a:avLst/>
          </a:prstGeom>
        </p:spPr>
      </p:pic>
      <p:sp>
        <p:nvSpPr>
          <p:cNvPr id="108" name="Text 82">
            <a:extLst xmlns:a="http://schemas.openxmlformats.org/drawingml/2006/main">
              <a:ext uri="{FF2B5EF4-FFF2-40B4-BE49-F238E27FC236}">
                <a16:creationId xmlns:a16="http://schemas.microsoft.com/office/drawing/2014/main" id="{C6D79A5D-A3DA-43AF-8DEF-84741902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6199632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TestOps</a:t>
            </a:r>
            <a:endParaRPr sz="950">
              <a:latin typeface="Helvetica"/>
              <a:ea typeface="Helvetica"/>
              <a:cs typeface="Helvetica"/>
            </a:endParaRPr>
          </a:p>
        </p:txBody>
      </p:sp>
      <p:sp>
        <p:nvSpPr>
          <p:cNvPr id="109" name="Text 83">
            <a:extLst xmlns:a="http://schemas.openxmlformats.org/drawingml/2006/main">
              <a:ext uri="{FF2B5EF4-FFF2-40B4-BE49-F238E27FC236}">
                <a16:creationId xmlns:a16="http://schemas.microsoft.com/office/drawing/2014/main" id="{3E656651-6B4B-4503-B5A3-EEAA0CFA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6382512"/>
            <a:ext cx="19293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Test evidence and jobs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110" name="Shape 84">
            <a:extLst xmlns:a="http://schemas.openxmlformats.org/drawingml/2006/main">
              <a:ext uri="{FF2B5EF4-FFF2-40B4-BE49-F238E27FC236}">
                <a16:creationId xmlns:a16="http://schemas.microsoft.com/office/drawing/2014/main" id="{F0400DAA-D8AE-473F-9E5C-08035B04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6172200"/>
            <a:ext cx="2112264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250" name="Imag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352daa62c46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8928" y="6227064"/>
            <a:ext cx="155448" cy="155448"/>
          </a:xfrm>
          <a:prstGeom xmlns:a="http://schemas.openxmlformats.org/drawingml/2006/main" prst="rect">
            <a:avLst/>
          </a:prstGeom>
        </p:spPr>
      </p:pic>
      <p:sp>
        <p:nvSpPr>
          <p:cNvPr id="112" name="Text 85">
            <a:extLst xmlns:a="http://schemas.openxmlformats.org/drawingml/2006/main">
              <a:ext uri="{FF2B5EF4-FFF2-40B4-BE49-F238E27FC236}">
                <a16:creationId xmlns:a16="http://schemas.microsoft.com/office/drawing/2014/main" id="{F108CFF4-1158-41FE-89F9-37F8A1D6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6199632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MES</a:t>
            </a:r>
            <a:endParaRPr sz="950">
              <a:latin typeface="Helvetica"/>
              <a:ea typeface="Helvetica"/>
              <a:cs typeface="Helvetica"/>
            </a:endParaRPr>
          </a:p>
        </p:txBody>
      </p:sp>
      <p:sp>
        <p:nvSpPr>
          <p:cNvPr id="113" name="Text 86">
            <a:extLst xmlns:a="http://schemas.openxmlformats.org/drawingml/2006/main">
              <a:ext uri="{FF2B5EF4-FFF2-40B4-BE49-F238E27FC236}">
                <a16:creationId xmlns:a16="http://schemas.microsoft.com/office/drawing/2014/main" id="{87D08669-2187-4034-B6EA-2A783616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6382512"/>
            <a:ext cx="19293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Quality and materials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114" name="Shape 87">
            <a:extLst xmlns:a="http://schemas.openxmlformats.org/drawingml/2006/main">
              <a:ext uri="{FF2B5EF4-FFF2-40B4-BE49-F238E27FC236}">
                <a16:creationId xmlns:a16="http://schemas.microsoft.com/office/drawing/2014/main" id="{D09D5216-BB90-4316-9252-652BF934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72200"/>
            <a:ext cx="2112264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254" name="Imag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45053d12d40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0920" y="6227064"/>
            <a:ext cx="155448" cy="155448"/>
          </a:xfrm>
          <a:prstGeom xmlns:a="http://schemas.openxmlformats.org/drawingml/2006/main" prst="rect">
            <a:avLst/>
          </a:prstGeom>
        </p:spPr>
      </p:pic>
      <p:sp>
        <p:nvSpPr>
          <p:cNvPr id="116" name="Text 88">
            <a:extLst xmlns:a="http://schemas.openxmlformats.org/drawingml/2006/main">
              <a:ext uri="{FF2B5EF4-FFF2-40B4-BE49-F238E27FC236}">
                <a16:creationId xmlns:a16="http://schemas.microsoft.com/office/drawing/2014/main" id="{2C98D3A0-EC3A-4205-AD5C-3E8A158A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6199632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ERP</a:t>
            </a:r>
            <a:endParaRPr sz="950">
              <a:latin typeface="Helvetica"/>
              <a:ea typeface="Helvetica"/>
              <a:cs typeface="Helvetica"/>
            </a:endParaRPr>
          </a:p>
        </p:txBody>
      </p:sp>
      <p:sp>
        <p:nvSpPr>
          <p:cNvPr id="117" name="Text 89">
            <a:extLst xmlns:a="http://schemas.openxmlformats.org/drawingml/2006/main">
              <a:ext uri="{FF2B5EF4-FFF2-40B4-BE49-F238E27FC236}">
                <a16:creationId xmlns:a16="http://schemas.microsoft.com/office/drawing/2014/main" id="{0C5F7B8F-FFD0-4D1B-8041-71D3B62F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6382512"/>
            <a:ext cx="19293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Orders and commitments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118" name="Shape 90">
            <a:extLst xmlns:a="http://schemas.openxmlformats.org/drawingml/2006/main">
              <a:ext uri="{FF2B5EF4-FFF2-40B4-BE49-F238E27FC236}">
                <a16:creationId xmlns:a16="http://schemas.microsoft.com/office/drawing/2014/main" id="{59306D77-EB63-4C0F-B09E-D7A6E688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6172200"/>
            <a:ext cx="2112264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3D1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pic>
        <p:nvPicPr>
          <p:cNvPr id="258" name="Imag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908b0caa940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912" y="6227064"/>
            <a:ext cx="155448" cy="155448"/>
          </a:xfrm>
          <a:prstGeom xmlns:a="http://schemas.openxmlformats.org/drawingml/2006/main" prst="rect">
            <a:avLst/>
          </a:prstGeom>
        </p:spPr>
      </p:pic>
      <p:sp>
        <p:nvSpPr>
          <p:cNvPr id="120" name="Text 91">
            <a:extLst xmlns:a="http://schemas.openxmlformats.org/drawingml/2006/main">
              <a:ext uri="{FF2B5EF4-FFF2-40B4-BE49-F238E27FC236}">
                <a16:creationId xmlns:a16="http://schemas.microsoft.com/office/drawing/2014/main" id="{6DBF8FA6-07F9-49D3-9774-81195F65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6199632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F1F1E"/>
                </a:solidFill>
                <a:latin typeface="Helvetica"/>
                <a:ea typeface="Helvetica"/>
                <a:cs typeface="Helvetica"/>
              </a:rPr>
              <a:t>ProgramOps</a:t>
            </a:r>
            <a:endParaRPr sz="950">
              <a:latin typeface="Helvetica"/>
              <a:ea typeface="Helvetica"/>
              <a:cs typeface="Helvetica"/>
            </a:endParaRPr>
          </a:p>
        </p:txBody>
      </p:sp>
      <p:sp>
        <p:nvSpPr>
          <p:cNvPr id="121" name="Text 92">
            <a:extLst xmlns:a="http://schemas.openxmlformats.org/drawingml/2006/main">
              <a:ext uri="{FF2B5EF4-FFF2-40B4-BE49-F238E27FC236}">
                <a16:creationId xmlns:a16="http://schemas.microsoft.com/office/drawing/2014/main" id="{27159318-23DB-4EAB-BEAF-0997DFBC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6382512"/>
            <a:ext cx="19293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Milestones and tasks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124" name="Text 71">
            <a:extLst xmlns:a="http://schemas.openxmlformats.org/drawingml/2006/main">
              <a:ext uri="{FF2B5EF4-FFF2-40B4-BE49-F238E27FC236}">
                <a16:creationId xmlns:a16="http://schemas.microsoft.com/office/drawing/2014/main" id="{DABC4534-BCCA-0D7C-405D-7AE5EDE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053" y="5678423"/>
            <a:ext cx="2544167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88780"/>
                </a:solidFill>
                <a:latin typeface="Helvetica"/>
                <a:ea typeface="Helvetica"/>
                <a:cs typeface="Helvetica"/>
              </a:rPr>
              <a:t>Retrieve contextual information from vector database</a:t>
            </a:r>
            <a:endParaRPr sz="850">
              <a:latin typeface="Helvetica"/>
              <a:ea typeface="Helvetica"/>
              <a:cs typeface="Helvetica"/>
            </a:endParaRPr>
          </a:p>
        </p:txBody>
      </p:sp>
      <p:sp>
        <p:nvSpPr>
          <p:cNvPr id="125" name="Text 7">
            <a:extLst xmlns:a="http://schemas.openxmlformats.org/drawingml/2006/main">
              <a:ext uri="{FF2B5EF4-FFF2-40B4-BE49-F238E27FC236}">
                <a16:creationId xmlns:a16="http://schemas.microsoft.com/office/drawing/2014/main" id="{BEEE4FF5-7010-6AAF-9E47-C7AB34E3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0" y="896112"/>
            <a:ext cx="9953351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5E5A"/>
                </a:solidFill>
                <a:latin typeface="Helvetica"/>
                <a:ea typeface="Helvetica"/>
                <a:cs typeface="Helvetica"/>
              </a:rPr>
              <a:t>The OpenAI demo solution built for our imaginary customer: Stratos Silicon </a:t>
            </a:r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" name="Shape 40">
            <a:extLst xmlns:a="http://schemas.openxmlformats.org/drawingml/2006/main">
              <a:ext uri="{FF2B5EF4-FFF2-40B4-BE49-F238E27FC236}">
                <a16:creationId xmlns:a16="http://schemas.microsoft.com/office/drawing/2014/main" id="{355B018D-BACF-7149-5E8C-A6EBA34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125" y="3840481"/>
            <a:ext cx="734489" cy="164592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5D4F4"/>
          </a:solidFill>
          <a:ln xmlns:a="http://schemas.openxmlformats.org/drawingml/2006/main" w="12700">
            <a:solidFill>
              <a:srgbClr val="B5D4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59" name="Text 41">
            <a:extLst xmlns:a="http://schemas.openxmlformats.org/drawingml/2006/main">
              <a:ext uri="{FF2B5EF4-FFF2-40B4-BE49-F238E27FC236}">
                <a16:creationId xmlns:a16="http://schemas.microsoft.com/office/drawing/2014/main" id="{108076D7-D9B5-359C-5950-DFB8F0A9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565" y="3840481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42C53"/>
                </a:solidFill>
                <a:latin typeface="Helvetica"/>
                <a:ea typeface="Helvetica"/>
                <a:cs typeface="Helvetica"/>
              </a:rPr>
              <a:t>Specialist</a:t>
            </a:r>
            <a:endParaRPr sz="800">
              <a:latin typeface="Helvetica"/>
              <a:ea typeface="Helvetica"/>
              <a:cs typeface="Helvetica"/>
            </a:endParaRPr>
          </a:p>
        </p:txBody>
      </p:sp>
      <p:sp>
        <p:nvSpPr>
          <p:cNvPr id="66" name="Shape 40">
            <a:extLst xmlns:a="http://schemas.openxmlformats.org/drawingml/2006/main">
              <a:ext uri="{FF2B5EF4-FFF2-40B4-BE49-F238E27FC236}">
                <a16:creationId xmlns:a16="http://schemas.microsoft.com/office/drawing/2014/main" id="{21D30B72-3BDA-EC05-0506-8F2348BB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843211"/>
            <a:ext cx="734489" cy="164592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5D4F4"/>
          </a:solidFill>
          <a:ln xmlns:a="http://schemas.openxmlformats.org/drawingml/2006/main" w="12700">
            <a:solidFill>
              <a:srgbClr val="B5D4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73" name="Text 41">
            <a:extLst xmlns:a="http://schemas.openxmlformats.org/drawingml/2006/main">
              <a:ext uri="{FF2B5EF4-FFF2-40B4-BE49-F238E27FC236}">
                <a16:creationId xmlns:a16="http://schemas.microsoft.com/office/drawing/2014/main" id="{BE5D28BB-FD4E-C64C-6DED-BB314C1F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843211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42C53"/>
                </a:solidFill>
                <a:latin typeface="Helvetica"/>
                <a:ea typeface="Helvetica"/>
                <a:cs typeface="Helvetica"/>
              </a:rPr>
              <a:t>Specialist</a:t>
            </a:r>
            <a:endParaRPr sz="800">
              <a:latin typeface="Helvetica"/>
              <a:ea typeface="Helvetica"/>
              <a:cs typeface="Helvetica"/>
            </a:endParaRPr>
          </a:p>
        </p:txBody>
      </p:sp>
      <p:sp>
        <p:nvSpPr>
          <p:cNvPr id="80" name="Shape 40">
            <a:extLst xmlns:a="http://schemas.openxmlformats.org/drawingml/2006/main">
              <a:ext uri="{FF2B5EF4-FFF2-40B4-BE49-F238E27FC236}">
                <a16:creationId xmlns:a16="http://schemas.microsoft.com/office/drawing/2014/main" id="{527E1297-E068-7C03-32E1-452B7974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662" y="3837274"/>
            <a:ext cx="734489" cy="164592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5D4F4"/>
          </a:solidFill>
          <a:ln xmlns:a="http://schemas.openxmlformats.org/drawingml/2006/main" w="12700">
            <a:solidFill>
              <a:srgbClr val="B5D4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Helvetica"/>
              <a:ea typeface="Helvetica"/>
              <a:cs typeface="Helvetica"/>
            </a:endParaRPr>
          </a:p>
        </p:txBody>
      </p:sp>
      <p:sp>
        <p:nvSpPr>
          <p:cNvPr id="96" name="Text 41">
            <a:extLst xmlns:a="http://schemas.openxmlformats.org/drawingml/2006/main">
              <a:ext uri="{FF2B5EF4-FFF2-40B4-BE49-F238E27FC236}">
                <a16:creationId xmlns:a16="http://schemas.microsoft.com/office/drawing/2014/main" id="{BC8BD591-670C-5609-A2CE-611D86AF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102" y="383727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42C53"/>
                </a:solidFill>
                <a:latin typeface="Helvetica"/>
                <a:ea typeface="Helvetica"/>
                <a:cs typeface="Helvetica"/>
              </a:rPr>
              <a:t>Specialist</a:t>
            </a:r>
            <a:endParaRPr sz="800">
              <a:latin typeface="Helvetica"/>
              <a:ea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902634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2026-09-14T01:13:06.8480000Z</dcterms:created>
  <dcterms:modified xsi:type="dcterms:W3CDTF">2026-09-14T01:13:06.8480000Z</dcterms:modified>
</coreProperties>
</file>