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fntdata" ContentType="application/x-fontdata"/>
</Types>
</file>

<file path=_rels/.rels>&#65279;<?xml version="1.0" encoding="utf-8"?><Relationships xmlns="http://schemas.openxmlformats.org/package/2006/relationships"><Relationship Type="http://schemas.openxmlformats.org/package/2006/relationships/metadata/core-properties" Target="/docProps/core.xml" Id="Rd0181f594684475b" /><Relationship Type="http://schemas.openxmlformats.org/officeDocument/2006/relationships/extended-properties" Target="/docProps/app.xml" Id="R899116357bda4f1f" /><Relationship Type="http://schemas.openxmlformats.org/officeDocument/2006/relationships/officeDocument" Target="/ppt/presentation.xml" Id="R5a9372ff4a444750" /></Relationships>
</file>

<file path=ppt/presentation.xml><?xml version="1.0" encoding="utf-8"?>
<p:presentation xmlns:p="http://schemas.openxmlformats.org/presentationml/2006/main" xmlns:r="http://schemas.openxmlformats.org/officeDocument/2006/relationships" embedTrueTypeFonts="1" saveSubsetFonts="0">
  <p:sldMasterIdLst>
    <p:sldMasterId id="2147483648" r:id="R2b65f8294eaa4573"/>
  </p:sldMasterIdLst>
  <p:notesMasterIdLst>
    <p:notesMasterId r:id="R6ca972ff7b204cec"/>
  </p:notesMasterIdLst>
  <p:sldIdLst>
    <p:sldId id="256" r:id="Rf3fa679f2f9d4359"/>
    <p:sldId id="257" r:id="Rd022e4264e144344"/>
    <p:sldId id="258" r:id="Ra68ca22d9d184632"/>
    <p:sldId id="259" r:id="R89bf682756344588"/>
    <p:sldId id="260" r:id="Rb6b6f110fb974a22"/>
  </p:sldIdLst>
  <p:sldSz cx="12192000" cy="6858000"/>
  <p:notesSz cx="6858000" cy="9144000"/>
  <p:embeddedFontLst>
    <p:embeddedFont>
      <p:font typeface="Open Sans" pitchFamily="34" charset="0"/>
      <p:regular r:id="rId1"/>
      <p:bold r:id="rId2"/>
      <p:italic r:id="rId3"/>
      <p:boldItalic r:id="rId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rel:Relationships xmlns:rel="http://schemas.openxmlformats.org/package/2006/relationships"><rel:Relationship Type="http://schemas.openxmlformats.org/officeDocument/2006/relationships/theme" Target="/ppt/theme/theme1.xml" Id="Rc802d7ca3765428b" /><rel:Relationship Type="http://schemas.openxmlformats.org/officeDocument/2006/relationships/slideMaster" Target="/ppt/slideMasters/slideMaster1.xml" Id="R2b65f8294eaa4573" /><rel:Relationship Type="http://schemas.openxmlformats.org/officeDocument/2006/relationships/notesMaster" Target="/ppt/notesMasters/notesMaster1.xml" Id="R6ca972ff7b204cec" /><rel:Relationship Type="http://schemas.openxmlformats.org/officeDocument/2006/relationships/presProps" Target="/ppt/presProps.xml" Id="R3eef398239984c64" /><rel:Relationship Type="http://schemas.openxmlformats.org/officeDocument/2006/relationships/viewProps" Target="/ppt/viewProps.xml" Id="Rfd1393f6db464625" /><rel:Relationship Type="http://schemas.openxmlformats.org/officeDocument/2006/relationships/tableStyles" Target="/ppt/tableStyles.xml" Id="R35bed30a4c0049de" /><rel:Relationship Type="http://schemas.openxmlformats.org/officeDocument/2006/relationships/slide" Target="/ppt/slides/slide1.xml" Id="Rf3fa679f2f9d4359" /><rel:Relationship Type="http://schemas.openxmlformats.org/officeDocument/2006/relationships/slide" Target="/ppt/slides/slide2.xml" Id="Rd022e4264e144344" /><rel:Relationship Type="http://schemas.openxmlformats.org/officeDocument/2006/relationships/slide" Target="/ppt/slides/slide3.xml" Id="Ra68ca22d9d184632" /><rel:Relationship Type="http://schemas.openxmlformats.org/officeDocument/2006/relationships/slide" Target="/ppt/slides/slide4.xml" Id="R89bf682756344588" /><rel:Relationship Type="http://schemas.openxmlformats.org/officeDocument/2006/relationships/slide" Target="/ppt/slides/slide5.xml" Id="Rb6b6f110fb974a22" /><rel:Relationship Id="rId1" Type="http://schemas.openxmlformats.org/officeDocument/2006/relationships/font" Target="fonts/OpenSans-Regular.fntdata" /><rel:Relationship Id="rId2" Type="http://schemas.openxmlformats.org/officeDocument/2006/relationships/font" Target="fonts/OpenSans-Bold.fntdata" /><rel:Relationship Id="rId3" Type="http://schemas.openxmlformats.org/officeDocument/2006/relationships/font" Target="fonts/OpenSans-Italic.fntdata" /><rel:Relationship Id="rId4" Type="http://schemas.openxmlformats.org/officeDocument/2006/relationships/font" Target="fonts/OpenSans-BoldItalic.fntdata" /></re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b4a1dc1b33445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penAI palette / Open Sans">
  <a:themeElements>
    <a:clrScheme name="User supplied OpenAI palette">
      <a:dk1>
        <a:srgbClr val="000000"/>
      </a:dk1>
      <a:lt1>
        <a:srgbClr val="FFFFFF"/>
      </a:lt1>
      <a:dk2>
        <a:srgbClr val="0E315C"/>
      </a:dk2>
      <a:lt2>
        <a:srgbClr val="FFFFFF"/>
      </a:lt2>
      <a:accent1>
        <a:srgbClr val="0071CF"/>
      </a:accent1>
      <a:accent2>
        <a:srgbClr val="0E315C"/>
      </a:accent2>
      <a:accent3>
        <a:srgbClr val="86DAFF"/>
      </a:accent3>
      <a:accent4>
        <a:srgbClr val="C5BFEE"/>
      </a:accent4>
      <a:accent5>
        <a:srgbClr val="0000FF"/>
      </a:accent5>
      <a:accent6>
        <a:srgbClr val="000000"/>
      </a:accent6>
      <a:hlink>
        <a:srgbClr val="0071CF"/>
      </a:hlink>
      <a:folHlink>
        <a:srgbClr val="0000FF"/>
      </a:folHlink>
    </a:clrScheme>
    <a:fontScheme name="Open Sans">
      <a:maj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font script="Armn" typeface="Open Sans"/>
        <a:font script="Bugi" typeface="Open Sans"/>
        <a:font script="Bopo" typeface="Open Sans"/>
        <a:font script="Java" typeface="Open Sans"/>
        <a:font script="Lisu" typeface="Open Sans"/>
        <a:font script="Mymr" typeface="Open Sans"/>
        <a:font script="Nkoo" typeface="Open Sans"/>
        <a:font script="Olck" typeface="Open Sans"/>
        <a:font script="Osma" typeface="Open Sans"/>
        <a:font script="Phag" typeface="Open Sans"/>
        <a:font script="Syrn" typeface="Open Sans"/>
        <a:font script="Syrj" typeface="Open Sans"/>
        <a:font script="Syre" typeface="Open Sans"/>
        <a:font script="Sora" typeface="Open Sans"/>
        <a:font script="Tale" typeface="Open Sans"/>
        <a:font script="Talu" typeface="Open Sans"/>
        <a:font script="Tfng" typeface="Open Sans"/>
      </a:majorFont>
      <a:min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font script="Armn" typeface="Open Sans"/>
        <a:font script="Bugi" typeface="Open Sans"/>
        <a:font script="Bopo" typeface="Open Sans"/>
        <a:font script="Java" typeface="Open Sans"/>
        <a:font script="Lisu" typeface="Open Sans"/>
        <a:font script="Mymr" typeface="Open Sans"/>
        <a:font script="Nkoo" typeface="Open Sans"/>
        <a:font script="Olck" typeface="Open Sans"/>
        <a:font script="Osma" typeface="Open Sans"/>
        <a:font script="Phag" typeface="Open Sans"/>
        <a:font script="Syrn" typeface="Open Sans"/>
        <a:font script="Syrj" typeface="Open Sans"/>
        <a:font script="Syre" typeface="Open Sans"/>
        <a:font script="Sora" typeface="Open Sans"/>
        <a:font script="Tale" typeface="Open Sans"/>
        <a:font script="Talu" typeface="Open Sans"/>
        <a:font script="Tfng" typeface="Open Sans"/>
      </a:minorFont>
    </a:fontScheme>
    <a:fmtScheme name="User supplied OpenAI palett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0a313f12964d52" /><Relationship Type="http://schemas.openxmlformats.org/officeDocument/2006/relationships/notesMaster" Target="/ppt/notesMasters/notesMaster1.xml" Id="R64c93c5d885e4a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c042fed25b4db9" /><Relationship Type="http://schemas.openxmlformats.org/officeDocument/2006/relationships/notesMaster" Target="/ppt/notesMasters/notesMaster1.xml" Id="R8ea6904b76e845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560a4b80864885" /><Relationship Type="http://schemas.openxmlformats.org/officeDocument/2006/relationships/notesMaster" Target="/ppt/notesMasters/notesMaster1.xml" Id="Ra6200c7407ba48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9ded390ef94289" /><Relationship Type="http://schemas.openxmlformats.org/officeDocument/2006/relationships/notesMaster" Target="/ppt/notesMasters/notesMaster1.xml" Id="Re5ab95436e744e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bb9275718f4cd8" /><Relationship Type="http://schemas.openxmlformats.org/officeDocument/2006/relationships/notesMaster" Target="/ppt/notesMasters/notesMaster1.xml" Id="R76006ad4d41e47ef"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Industry references for the value drivers: McKinsey on the commercial impact of on-time delivery in semiconductors; Microchip FY2026 filing on inventory ($1.04B, 185 inventory days). Time-to-decision assumes a material decision moving from 5 days to 1 day (80% cycle-time reduction), which on a $500M run-rate is roughly $5.5M of shipment value removed from delay exposure when the issue is on the critical path.</a:t>
            </a:r>
          </a:p>
        </p:txBody>
      </p:sp>
      <p:sp>
        <p:nvSpPr>
          <p:cNvPr id="4" name="Slide Number Placeholder 3"/>
          <p:cNvSpPr>
            <a:spLocks noGrp="1"/>
          </p:cNvSpPr>
          <p:nvPr>
            <p:ph type="sldNum" idx="5"/>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fld id="{F7021451-1387-4CA6-816F-3879F97B5CBC}" type="slidenum">
              <a:rPr lang="en-US"/>
              <a:t>5</a:t>
            </a:fld>
            <a:endParaRPr lang="en-US"/>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fb44d5fd1c4c4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59b11020d14ddd" /><Relationship Type="http://schemas.openxmlformats.org/officeDocument/2006/relationships/slideLayout" Target="/ppt/slideLayouts/slideLayout1.xml" Id="Rd07fedac8d34466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7fedac8d344667"/>
  </p:sldLayoutIdLst>
  <p:hf sldNum="0" hdr="0" ftr="0" dt="0"/>
  <p:txStyles>
    <p:titleStyle>
      <a:lvl1pPr xmlns:a="http://schemas.openxmlformats.org/drawingml/2006/main" algn="ctr" defTabSz="914400">
        <a:spcBef>
          <a:spcPct val="0"/>
        </a:spcBef>
        <a:buNone/>
        <a:defRPr sz="4400" kern="1200">
          <a:solidFill>
            <a:schemeClr val="tx1"/>
          </a:solidFill>
          <a:latin typeface="Open Sans"/>
          <a:ea typeface="Open Sans"/>
          <a:cs typeface="Open Sans"/>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Open Sans"/>
          <a:ea typeface="Open Sans"/>
          <a:cs typeface="Open Sans"/>
        </a:defRPr>
      </a:lvl1pPr>
      <a:lvl2pPr xmlns:a="http://schemas.openxmlformats.org/drawingml/2006/main" marL="742950" indent="-285750" algn="l" defTabSz="914400">
        <a:spcBef>
          <a:spcPct val="20000"/>
        </a:spcBef>
        <a:buFont typeface="Arial"/>
        <a:buChar char="–"/>
        <a:defRPr sz="2800" kern="1200">
          <a:solidFill>
            <a:schemeClr val="tx1"/>
          </a:solidFill>
          <a:latin typeface="Open Sans"/>
          <a:ea typeface="Open Sans"/>
          <a:cs typeface="Open Sans"/>
        </a:defRPr>
      </a:lvl2pPr>
      <a:lvl3pPr xmlns:a="http://schemas.openxmlformats.org/drawingml/2006/main" marL="1143000" indent="-228600" algn="l" defTabSz="914400">
        <a:spcBef>
          <a:spcPct val="20000"/>
        </a:spcBef>
        <a:buFont typeface="Arial"/>
        <a:buChar char="•"/>
        <a:defRPr sz="2400" kern="1200">
          <a:solidFill>
            <a:schemeClr val="tx1"/>
          </a:solidFill>
          <a:latin typeface="Open Sans"/>
          <a:ea typeface="Open Sans"/>
          <a:cs typeface="Open Sans"/>
        </a:defRPr>
      </a:lvl3pPr>
      <a:lvl4pPr xmlns:a="http://schemas.openxmlformats.org/drawingml/2006/main" marL="1600200" indent="-228600" algn="l" defTabSz="914400">
        <a:spcBef>
          <a:spcPct val="20000"/>
        </a:spcBef>
        <a:buFont typeface="Arial"/>
        <a:buChar char="–"/>
        <a:defRPr sz="2000" kern="1200">
          <a:solidFill>
            <a:schemeClr val="tx1"/>
          </a:solidFill>
          <a:latin typeface="Open Sans"/>
          <a:ea typeface="Open Sans"/>
          <a:cs typeface="Open Sans"/>
        </a:defRPr>
      </a:lvl4pPr>
      <a:lvl5pPr xmlns:a="http://schemas.openxmlformats.org/drawingml/2006/main" marL="2057400" indent="-228600" algn="l" defTabSz="914400">
        <a:spcBef>
          <a:spcPct val="20000"/>
        </a:spcBef>
        <a:buFont typeface="Arial"/>
        <a:buChar char="»"/>
        <a:defRPr sz="2000" kern="1200">
          <a:solidFill>
            <a:schemeClr val="tx1"/>
          </a:solidFill>
          <a:latin typeface="Open Sans"/>
          <a:ea typeface="Open Sans"/>
          <a:cs typeface="Open Sans"/>
        </a:defRPr>
      </a:lvl5pPr>
      <a:lvl6pPr xmlns:a="http://schemas.openxmlformats.org/drawingml/2006/main" marL="2514600" indent="-228600" algn="l" defTabSz="914400">
        <a:spcBef>
          <a:spcPct val="20000"/>
        </a:spcBef>
        <a:buFont typeface="Arial"/>
        <a:buChar char="•"/>
        <a:defRPr sz="2000" kern="1200">
          <a:solidFill>
            <a:schemeClr val="tx1"/>
          </a:solidFill>
          <a:latin typeface="Open Sans"/>
          <a:ea typeface="Open Sans"/>
          <a:cs typeface="Open Sans"/>
        </a:defRPr>
      </a:lvl6pPr>
      <a:lvl7pPr xmlns:a="http://schemas.openxmlformats.org/drawingml/2006/main" marL="2971800" indent="-228600" algn="l" defTabSz="914400">
        <a:spcBef>
          <a:spcPct val="20000"/>
        </a:spcBef>
        <a:buFont typeface="Arial"/>
        <a:buChar char="•"/>
        <a:defRPr sz="2000" kern="1200">
          <a:solidFill>
            <a:schemeClr val="tx1"/>
          </a:solidFill>
          <a:latin typeface="Open Sans"/>
          <a:ea typeface="Open Sans"/>
          <a:cs typeface="Open Sans"/>
        </a:defRPr>
      </a:lvl7pPr>
      <a:lvl8pPr xmlns:a="http://schemas.openxmlformats.org/drawingml/2006/main" marL="3429000" indent="-228600" algn="l" defTabSz="914400">
        <a:spcBef>
          <a:spcPct val="20000"/>
        </a:spcBef>
        <a:buFont typeface="Arial"/>
        <a:buChar char="•"/>
        <a:defRPr sz="2000" kern="1200">
          <a:solidFill>
            <a:schemeClr val="tx1"/>
          </a:solidFill>
          <a:latin typeface="Open Sans"/>
          <a:ea typeface="Open Sans"/>
          <a:cs typeface="Open Sans"/>
        </a:defRPr>
      </a:lvl8pPr>
      <a:lvl9pPr xmlns:a="http://schemas.openxmlformats.org/drawingml/2006/main" marL="3886200" indent="-228600" algn="l" defTabSz="914400">
        <a:spcBef>
          <a:spcPct val="20000"/>
        </a:spcBef>
        <a:buFont typeface="Arial"/>
        <a:buChar char="•"/>
        <a:defRPr sz="2000" kern="1200">
          <a:solidFill>
            <a:schemeClr val="tx1"/>
          </a:solidFill>
          <a:latin typeface="Open Sans"/>
          <a:ea typeface="Open Sans"/>
          <a:cs typeface="Open Sans"/>
        </a:defRPr>
      </a:lvl9pPr>
    </p:bodyStyle>
    <p:otherStyle>
      <a:lvl1pPr xmlns:a="http://schemas.openxmlformats.org/drawingml/2006/main" marL="0" algn="l" defTabSz="914400">
        <a:buNone/>
        <a:defRPr sz="1800" kern="1200">
          <a:solidFill>
            <a:schemeClr val="tx1"/>
          </a:solidFill>
          <a:latin typeface="Open Sans"/>
          <a:ea typeface="Open Sans"/>
          <a:cs typeface="Open Sans"/>
        </a:defRPr>
      </a:lvl1pPr>
      <a:lvl2pPr xmlns:a="http://schemas.openxmlformats.org/drawingml/2006/main" marL="457200" algn="l" defTabSz="914400">
        <a:buNone/>
        <a:defRPr sz="1800" kern="1200">
          <a:solidFill>
            <a:schemeClr val="tx1"/>
          </a:solidFill>
          <a:latin typeface="Open Sans"/>
          <a:ea typeface="Open Sans"/>
          <a:cs typeface="Open Sans"/>
        </a:defRPr>
      </a:lvl2pPr>
      <a:lvl3pPr xmlns:a="http://schemas.openxmlformats.org/drawingml/2006/main" marL="914400" algn="l" defTabSz="914400">
        <a:buNone/>
        <a:defRPr sz="1800" kern="1200">
          <a:solidFill>
            <a:schemeClr val="tx1"/>
          </a:solidFill>
          <a:latin typeface="Open Sans"/>
          <a:ea typeface="Open Sans"/>
          <a:cs typeface="Open Sans"/>
        </a:defRPr>
      </a:lvl3pPr>
      <a:lvl4pPr xmlns:a="http://schemas.openxmlformats.org/drawingml/2006/main" marL="1371600" algn="l" defTabSz="914400">
        <a:buNone/>
        <a:defRPr sz="1800" kern="1200">
          <a:solidFill>
            <a:schemeClr val="tx1"/>
          </a:solidFill>
          <a:latin typeface="Open Sans"/>
          <a:ea typeface="Open Sans"/>
          <a:cs typeface="Open Sans"/>
        </a:defRPr>
      </a:lvl4pPr>
      <a:lvl5pPr xmlns:a="http://schemas.openxmlformats.org/drawingml/2006/main" marL="1828800" algn="l" defTabSz="914400">
        <a:buNone/>
        <a:defRPr sz="1800" kern="1200">
          <a:solidFill>
            <a:schemeClr val="tx1"/>
          </a:solidFill>
          <a:latin typeface="Open Sans"/>
          <a:ea typeface="Open Sans"/>
          <a:cs typeface="Open Sans"/>
        </a:defRPr>
      </a:lvl5pPr>
      <a:lvl6pPr xmlns:a="http://schemas.openxmlformats.org/drawingml/2006/main" marL="2286000" algn="l" defTabSz="914400">
        <a:buNone/>
        <a:defRPr sz="1800" kern="1200">
          <a:solidFill>
            <a:schemeClr val="tx1"/>
          </a:solidFill>
          <a:latin typeface="Open Sans"/>
          <a:ea typeface="Open Sans"/>
          <a:cs typeface="Open Sans"/>
        </a:defRPr>
      </a:lvl6pPr>
      <a:lvl7pPr xmlns:a="http://schemas.openxmlformats.org/drawingml/2006/main" marL="2743200" algn="l" defTabSz="914400">
        <a:buNone/>
        <a:defRPr sz="1800" kern="1200">
          <a:solidFill>
            <a:schemeClr val="tx1"/>
          </a:solidFill>
          <a:latin typeface="Open Sans"/>
          <a:ea typeface="Open Sans"/>
          <a:cs typeface="Open Sans"/>
        </a:defRPr>
      </a:lvl7pPr>
      <a:lvl8pPr xmlns:a="http://schemas.openxmlformats.org/drawingml/2006/main" marL="3200400" algn="l" defTabSz="914400">
        <a:buNone/>
        <a:defRPr sz="1800" kern="1200">
          <a:solidFill>
            <a:schemeClr val="tx1"/>
          </a:solidFill>
          <a:latin typeface="Open Sans"/>
          <a:ea typeface="Open Sans"/>
          <a:cs typeface="Open Sans"/>
        </a:defRPr>
      </a:lvl8pPr>
      <a:lvl9pPr xmlns:a="http://schemas.openxmlformats.org/drawingml/2006/main" marL="3657600" algn="l" defTabSz="914400">
        <a:buNone/>
        <a:defRPr sz="1800" kern="1200">
          <a:solidFill>
            <a:schemeClr val="tx1"/>
          </a:solidFill>
          <a:latin typeface="Open Sans"/>
          <a:ea typeface="Open Sans"/>
          <a:cs typeface="Open San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font script="Armn" typeface="Open Sans"/>
        <a:font script="Bugi" typeface="Open Sans"/>
        <a:font script="Bopo" typeface="Open Sans"/>
        <a:font script="Java" typeface="Open Sans"/>
        <a:font script="Lisu" typeface="Open Sans"/>
        <a:font script="Mymr" typeface="Open Sans"/>
        <a:font script="Nkoo" typeface="Open Sans"/>
        <a:font script="Olck" typeface="Open Sans"/>
        <a:font script="Osma" typeface="Open Sans"/>
        <a:font script="Phag" typeface="Open Sans"/>
        <a:font script="Syrn" typeface="Open Sans"/>
        <a:font script="Syrj" typeface="Open Sans"/>
        <a:font script="Syre" typeface="Open Sans"/>
        <a:font script="Sora" typeface="Open Sans"/>
        <a:font script="Tale" typeface="Open Sans"/>
        <a:font script="Talu" typeface="Open Sans"/>
        <a:font script="Tfng" typeface="Open Sans"/>
      </a:majorFont>
      <a:minorFont>
        <a:latin typeface="Calibri"/>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font script="Armn" typeface="Open Sans"/>
        <a:font script="Bugi" typeface="Open Sans"/>
        <a:font script="Bopo" typeface="Open Sans"/>
        <a:font script="Java" typeface="Open Sans"/>
        <a:font script="Lisu" typeface="Open Sans"/>
        <a:font script="Mymr" typeface="Open Sans"/>
        <a:font script="Nkoo" typeface="Open Sans"/>
        <a:font script="Olck" typeface="Open Sans"/>
        <a:font script="Osma" typeface="Open Sans"/>
        <a:font script="Phag" typeface="Open Sans"/>
        <a:font script="Syrn" typeface="Open Sans"/>
        <a:font script="Syrj" typeface="Open Sans"/>
        <a:font script="Syre" typeface="Open Sans"/>
        <a:font script="Sora" typeface="Open Sans"/>
        <a:font script="Tale" typeface="Open Sans"/>
        <a:font script="Talu" typeface="Open Sans"/>
        <a:font script="Tfng" typeface="Open Sans"/>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67bb14e8894c7f" /><Relationship Type="http://schemas.openxmlformats.org/officeDocument/2006/relationships/image" Target="/ppt/media/image.png" Id="R85f543167c2c43ba" /><Relationship Type="http://schemas.openxmlformats.org/officeDocument/2006/relationships/image" Target="/ppt/media/image2.png" Id="Re11e6896071e402e" /><Relationship Type="http://schemas.openxmlformats.org/officeDocument/2006/relationships/image" Target="/ppt/media/image3.png" Id="Rd662d1c759d744be" /><Relationship Type="http://schemas.openxmlformats.org/officeDocument/2006/relationships/image" Target="/ppt/media/image4.png" Id="Rc8bbe894901e4aa0" /><Relationship Type="http://schemas.openxmlformats.org/officeDocument/2006/relationships/image" Target="/ppt/media/image5.png" Id="R713fb2631cbc4bac" /><Relationship Type="http://schemas.openxmlformats.org/officeDocument/2006/relationships/notesSlide" Target="/ppt/notesSlides/notesSlide1.xml" Id="R0b0b7edd69e640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f9e16201af4fe5" /><Relationship Type="http://schemas.openxmlformats.org/officeDocument/2006/relationships/image" Target="/ppt/media/image6.png" Id="Rc10898c56def405b" /><Relationship Type="http://schemas.openxmlformats.org/officeDocument/2006/relationships/image" Target="/ppt/media/image7.png" Id="R862ee95591ef4bff" /><Relationship Type="http://schemas.openxmlformats.org/officeDocument/2006/relationships/image" Target="/ppt/media/image8.png" Id="R32cfaa38a89d4233" /><Relationship Type="http://schemas.openxmlformats.org/officeDocument/2006/relationships/image" Target="/ppt/media/image9.png" Id="R9684345f464c4518" /><Relationship Type="http://schemas.openxmlformats.org/officeDocument/2006/relationships/image" Target="/ppt/media/image10.png" Id="Re887f44f62e84631" /><Relationship Type="http://schemas.openxmlformats.org/officeDocument/2006/relationships/image" Target="/ppt/media/image11.png" Id="R15effb45239b4920" /><Relationship Type="http://schemas.openxmlformats.org/officeDocument/2006/relationships/image" Target="/ppt/media/image12.png" Id="R0a82929c3d3841e1" /><Relationship Type="http://schemas.openxmlformats.org/officeDocument/2006/relationships/image" Target="/ppt/media/image13.png" Id="Rf7031999b69c472d" /><Relationship Type="http://schemas.openxmlformats.org/officeDocument/2006/relationships/image" Target="/ppt/media/image14.png" Id="Rd5627871a5174bc0" /><Relationship Type="http://schemas.openxmlformats.org/officeDocument/2006/relationships/image" Target="/ppt/media/image15.png" Id="Re153988a723e4de0" /><Relationship Type="http://schemas.openxmlformats.org/officeDocument/2006/relationships/image" Target="/ppt/media/image16.png" Id="Rdd2c5cc9a85f4915" /><Relationship Type="http://schemas.openxmlformats.org/officeDocument/2006/relationships/image" Target="/ppt/media/image17.png" Id="R5246b19f82434bdb" /><Relationship Type="http://schemas.openxmlformats.org/officeDocument/2006/relationships/image" Target="/ppt/media/image18.png" Id="R3d4bfc7437a642cd" /><Relationship Type="http://schemas.openxmlformats.org/officeDocument/2006/relationships/image" Target="/ppt/media/image19.png" Id="Rfe3fccc044a444ae" /><Relationship Type="http://schemas.openxmlformats.org/officeDocument/2006/relationships/image" Target="/ppt/media/image20.png" Id="R8d740a24756d448e" /><Relationship Type="http://schemas.openxmlformats.org/officeDocument/2006/relationships/image" Target="/ppt/media/image21.png" Id="Rba2a14e0a2eb4984" /><Relationship Type="http://schemas.openxmlformats.org/officeDocument/2006/relationships/image" Target="/ppt/media/image22.png" Id="R2167d71ead4947f0" /><Relationship Type="http://schemas.openxmlformats.org/officeDocument/2006/relationships/image" Target="/ppt/media/image23.png" Id="R99c2f218700f4c8f" /><Relationship Type="http://schemas.openxmlformats.org/officeDocument/2006/relationships/image" Target="/ppt/media/image24.png" Id="Rc7c3139e518841bc" /><Relationship Type="http://schemas.openxmlformats.org/officeDocument/2006/relationships/image" Target="/ppt/media/image25.png" Id="R1d8fa5bcc00c453b" /><Relationship Type="http://schemas.openxmlformats.org/officeDocument/2006/relationships/image" Target="/ppt/media/image26.png" Id="R6974eee172d7476e" /><Relationship Type="http://schemas.openxmlformats.org/officeDocument/2006/relationships/image" Target="/ppt/media/image27.png" Id="R6c462bc379634266" /><Relationship Type="http://schemas.openxmlformats.org/officeDocument/2006/relationships/image" Target="/ppt/media/image28.png" Id="R15a24d04860e42eb" /><Relationship Type="http://schemas.openxmlformats.org/officeDocument/2006/relationships/image" Target="/ppt/media/image29.png" Id="R870af84e90df4383" /><Relationship Type="http://schemas.openxmlformats.org/officeDocument/2006/relationships/image" Target="/ppt/media/image30.png" Id="Rab31a3cfbeb14b07" /><Relationship Type="http://schemas.openxmlformats.org/officeDocument/2006/relationships/image" Target="/ppt/media/image31.png" Id="Re97899b5cecd470c" /><Relationship Type="http://schemas.openxmlformats.org/officeDocument/2006/relationships/image" Target="/ppt/media/image.svg" Id="R6d18c06121254dd3" /><Relationship Type="http://schemas.openxmlformats.org/officeDocument/2006/relationships/notesSlide" Target="/ppt/notesSlides/notesSlide2.xml" Id="R3b48bb4f66b04f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22d69de9d44ee5" /><Relationship Type="http://schemas.openxmlformats.org/officeDocument/2006/relationships/image" Target="/ppt/media/image32.png" Id="Ra652c65a94bd4dfa" /><Relationship Type="http://schemas.openxmlformats.org/officeDocument/2006/relationships/image" Target="/ppt/media/image33.png" Id="R8bd272b4dc254a2f" /><Relationship Type="http://schemas.openxmlformats.org/officeDocument/2006/relationships/image" Target="/ppt/media/image34.png" Id="R00cad7865d4743e2" /><Relationship Type="http://schemas.openxmlformats.org/officeDocument/2006/relationships/image" Target="/ppt/media/image35.png" Id="R68e847e4ff3842c9" /><Relationship Type="http://schemas.openxmlformats.org/officeDocument/2006/relationships/image" Target="/ppt/media/image36.png" Id="Rb91be2bead964265" /><Relationship Type="http://schemas.openxmlformats.org/officeDocument/2006/relationships/image" Target="/ppt/media/image37.png" Id="R9e796b749d014ce0" /><Relationship Type="http://schemas.openxmlformats.org/officeDocument/2006/relationships/image" Target="/ppt/media/image38.png" Id="R4484cf68005340fb" /><Relationship Type="http://schemas.openxmlformats.org/officeDocument/2006/relationships/image" Target="/ppt/media/image39.png" Id="Rce692f5510d445e6" /><Relationship Type="http://schemas.openxmlformats.org/officeDocument/2006/relationships/image" Target="/ppt/media/image40.png" Id="R3a59096fa8934854" /><Relationship Type="http://schemas.openxmlformats.org/officeDocument/2006/relationships/image" Target="/ppt/media/image41.png" Id="R9c7d6d9946c14e81" /><Relationship Type="http://schemas.openxmlformats.org/officeDocument/2006/relationships/image" Target="/ppt/media/image42.png" Id="R2905df6fac24497c" /><Relationship Type="http://schemas.openxmlformats.org/officeDocument/2006/relationships/image" Target="/ppt/media/image43.png" Id="R1b916bc3919a4374" /><Relationship Type="http://schemas.openxmlformats.org/officeDocument/2006/relationships/image" Target="/ppt/media/image44.png" Id="R2c4098d2ef174ba1" /><Relationship Type="http://schemas.openxmlformats.org/officeDocument/2006/relationships/notesSlide" Target="/ppt/notesSlides/notesSlide3.xml" Id="R23b4385d627147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49a37afe3240a1" /><Relationship Type="http://schemas.openxmlformats.org/officeDocument/2006/relationships/image" Target="/ppt/media/image45.png" Id="R832739a7e75d433d" /><Relationship Type="http://schemas.openxmlformats.org/officeDocument/2006/relationships/image" Target="/ppt/media/image46.png" Id="R1145b436ce9e4e60" /><Relationship Type="http://schemas.openxmlformats.org/officeDocument/2006/relationships/image" Target="/ppt/media/image22.png" Id="R762203b3df8e4eea" /><Relationship Type="http://schemas.openxmlformats.org/officeDocument/2006/relationships/image" Target="/ppt/media/image47.png" Id="Rab0286af4afa498f" /><Relationship Type="http://schemas.openxmlformats.org/officeDocument/2006/relationships/image" Target="/ppt/media/image37.png" Id="Rd878a254611b4346" /><Relationship Type="http://schemas.openxmlformats.org/officeDocument/2006/relationships/image" Target="/ppt/media/image48.png" Id="R87587e6ab32b49a5" /><Relationship Type="http://schemas.openxmlformats.org/officeDocument/2006/relationships/image" Target="/ppt/media/image49.png" Id="R9c76f64a733d448d" /><Relationship Type="http://schemas.openxmlformats.org/officeDocument/2006/relationships/image" Target="/ppt/media/image50.png" Id="Ra2ced874de094e1e" /><Relationship Type="http://schemas.openxmlformats.org/officeDocument/2006/relationships/notesSlide" Target="/ppt/notesSlides/notesSlide4.xml" Id="R8e584b7388524e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f23ee8ac7b43e8" /><Relationship Type="http://schemas.openxmlformats.org/officeDocument/2006/relationships/image" Target="/ppt/media/image51.png" Id="R89bd44429b9c4768" /><Relationship Type="http://schemas.openxmlformats.org/officeDocument/2006/relationships/image" Target="/ppt/media/image22.png" Id="R77fdcfaeb51b4a2a" /><Relationship Type="http://schemas.openxmlformats.org/officeDocument/2006/relationships/image" Target="/ppt/media/image52.png" Id="Rc05ae2144b5b41aa" /><Relationship Type="http://schemas.openxmlformats.org/officeDocument/2006/relationships/image" Target="/ppt/media/image53.png" Id="Rc23131eb6bb24283" /><Relationship Type="http://schemas.openxmlformats.org/officeDocument/2006/relationships/image" Target="/ppt/media/image54.png" Id="R85779d415a0f4eca" /><Relationship Type="http://schemas.openxmlformats.org/officeDocument/2006/relationships/image" Target="/ppt/media/image37.png" Id="R156efe0ba4f14638" /><Relationship Type="http://schemas.openxmlformats.org/officeDocument/2006/relationships/image" Target="/ppt/media/image11.png" Id="Rdfb7ef2f17ed4a6a" /><Relationship Type="http://schemas.openxmlformats.org/officeDocument/2006/relationships/image" Target="/ppt/media/image55.png" Id="R32f1aeb1833b4445" /><Relationship Type="http://schemas.openxmlformats.org/officeDocument/2006/relationships/notesSlide" Target="/ppt/notesSlides/notesSlide5.xml" Id="R511759b721aa471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610F7-C3F4-4B2F-804E-373C9C51A272}"/>
              </a:ext>
            </a:extLst>
          </p:cNvPr>
          <p:cNvSpPr>
            <a:spLocks xmlns:a="http://schemas.openxmlformats.org/drawingml/2006/main" noGrp="1"/>
          </p:cNvSpPr>
          <p:nvPr/>
        </p:nvSpPr>
        <p:spPr>
          <a:xfrm xmlns:a="http://schemas.openxmlformats.org/drawingml/2006/main">
            <a:off x="457200" y="323850"/>
            <a:ext cx="11277600" cy="5619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400" b="0">
                <a:solidFill>
                  <a:srgbClr val="000000"/>
                </a:solidFill>
                <a:latin typeface="Open Sans"/>
                <a:ea typeface="Open Sans"/>
                <a:cs typeface="Open Sans"/>
              </a:rPr>
              <a:t>Custom Silicon Programs are Inherently Difficult to Operate</a:t>
            </a:r>
            <a:endParaRPr sz="2400">
              <a:latin typeface="Open Sans"/>
              <a:ea typeface="Open Sans"/>
              <a:cs typeface="Open Sans"/>
            </a:endParaRPr>
          </a:p>
        </p:txBody>
      </p:sp>
      <p:sp>
        <p:nvSpPr>
          <p:cNvPr id="3" name="Text 1">
            <a:extLst xmlns:a="http://schemas.openxmlformats.org/drawingml/2006/main">
              <a:ext uri="{FF2B5EF4-FFF2-40B4-BE49-F238E27FC236}">
                <a16:creationId xmlns:a16="http://schemas.microsoft.com/office/drawing/2014/main" id="{738DC741-CD11-4EB1-9AAF-DAE4F5883D68}"/>
              </a:ext>
            </a:extLst>
          </p:cNvPr>
          <p:cNvSpPr>
            <a:spLocks xmlns:a="http://schemas.openxmlformats.org/drawingml/2006/main" noGrp="1"/>
          </p:cNvSpPr>
          <p:nvPr/>
        </p:nvSpPr>
        <p:spPr>
          <a:xfrm xmlns:a="http://schemas.openxmlformats.org/drawingml/2006/main">
            <a:off x="457200" y="1047880"/>
            <a:ext cx="36118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71CF"/>
                </a:solidFill>
                <a:latin typeface="Open Sans"/>
                <a:ea typeface="Open Sans"/>
                <a:cs typeface="Open Sans"/>
              </a:rPr>
              <a:t>Industry context</a:t>
            </a:r>
            <a:endParaRPr sz="1000">
              <a:latin typeface="Open Sans"/>
              <a:ea typeface="Open Sans"/>
              <a:cs typeface="Open Sans"/>
            </a:endParaRPr>
          </a:p>
        </p:txBody>
      </p:sp>
      <p:sp>
        <p:nvSpPr>
          <p:cNvPr id="4" name="Text 2">
            <a:extLst xmlns:a="http://schemas.openxmlformats.org/drawingml/2006/main">
              <a:ext uri="{FF2B5EF4-FFF2-40B4-BE49-F238E27FC236}">
                <a16:creationId xmlns:a16="http://schemas.microsoft.com/office/drawing/2014/main" id="{635EB8D8-7C8A-4F54-AC2E-761088F34AC7}"/>
              </a:ext>
            </a:extLst>
          </p:cNvPr>
          <p:cNvSpPr>
            <a:spLocks xmlns:a="http://schemas.openxmlformats.org/drawingml/2006/main" noGrp="1"/>
          </p:cNvSpPr>
          <p:nvPr/>
        </p:nvSpPr>
        <p:spPr>
          <a:xfrm xmlns:a="http://schemas.openxmlformats.org/drawingml/2006/main">
            <a:off x="457200" y="1247775"/>
            <a:ext cx="3609975" cy="800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a:solidFill>
                  <a:srgbClr val="000000">
                    <a:alpha val="76000"/>
                  </a:srgbClr>
                </a:solidFill>
                <a:latin typeface="Open Sans"/>
                <a:ea typeface="Open Sans"/>
                <a:cs typeface="Open Sans"/>
              </a:rPr>
              <a:t>As AI models become more compute-intensive, high-compute companies are increasingly investing in custom silicon tailored to their training and inference workloads. Delivering these chips requires close coordination with semiconductor partners across design, testing, validation, and manufacturing.</a:t>
            </a:r>
            <a:endParaRPr sz="920">
              <a:latin typeface="Open Sans"/>
              <a:ea typeface="Open Sans"/>
              <a:cs typeface="Open Sans"/>
            </a:endParaRPr>
          </a:p>
        </p:txBody>
      </p:sp>
      <p:sp>
        <p:nvSpPr>
          <p:cNvPr id="5" name="Text 3">
            <a:extLst xmlns:a="http://schemas.openxmlformats.org/drawingml/2006/main">
              <a:ext uri="{FF2B5EF4-FFF2-40B4-BE49-F238E27FC236}">
                <a16:creationId xmlns:a16="http://schemas.microsoft.com/office/drawing/2014/main" id="{A8D286BA-BD1A-4AAE-AF3D-39432A330357}"/>
              </a:ext>
            </a:extLst>
          </p:cNvPr>
          <p:cNvSpPr>
            <a:spLocks xmlns:a="http://schemas.openxmlformats.org/drawingml/2006/main" noGrp="1"/>
          </p:cNvSpPr>
          <p:nvPr/>
        </p:nvSpPr>
        <p:spPr>
          <a:xfrm xmlns:a="http://schemas.openxmlformats.org/drawingml/2006/main">
            <a:off x="457200" y="2053720"/>
            <a:ext cx="36118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71CF"/>
                </a:solidFill>
                <a:latin typeface="Open Sans"/>
                <a:ea typeface="Open Sans"/>
                <a:cs typeface="Open Sans"/>
              </a:rPr>
              <a:t>Target persona</a:t>
            </a:r>
            <a:endParaRPr sz="1000">
              <a:latin typeface="Open Sans"/>
              <a:ea typeface="Open Sans"/>
              <a:cs typeface="Open Sans"/>
            </a:endParaRPr>
          </a:p>
        </p:txBody>
      </p:sp>
      <p:sp>
        <p:nvSpPr>
          <p:cNvPr id="6" name="Text 4">
            <a:extLst xmlns:a="http://schemas.openxmlformats.org/drawingml/2006/main">
              <a:ext uri="{FF2B5EF4-FFF2-40B4-BE49-F238E27FC236}">
                <a16:creationId xmlns:a16="http://schemas.microsoft.com/office/drawing/2014/main" id="{4965CCB4-30EF-4DD3-B098-EBFB2A1B3304}"/>
              </a:ext>
            </a:extLst>
          </p:cNvPr>
          <p:cNvSpPr>
            <a:spLocks xmlns:a="http://schemas.openxmlformats.org/drawingml/2006/main" noGrp="1"/>
          </p:cNvSpPr>
          <p:nvPr/>
        </p:nvSpPr>
        <p:spPr>
          <a:xfrm xmlns:a="http://schemas.openxmlformats.org/drawingml/2006/main">
            <a:off x="457200" y="2257425"/>
            <a:ext cx="3609975" cy="438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b="1">
                <a:solidFill>
                  <a:srgbClr val="000000"/>
                </a:solidFill>
                <a:latin typeface="Open Sans"/>
                <a:ea typeface="Open Sans"/>
                <a:cs typeface="Open Sans"/>
              </a:rPr>
              <a:t>Semiconductor companies </a:t>
            </a:r>
            <a:r>
              <a:rPr sz="920">
                <a:solidFill>
                  <a:srgbClr val="000000">
                    <a:alpha val="76000"/>
                  </a:srgbClr>
                </a:solidFill>
                <a:latin typeface="Open Sans"/>
                <a:ea typeface="Open Sans"/>
                <a:cs typeface="Open Sans"/>
              </a:rPr>
              <a:t>running custom-silicon programs for high-compute customers, such as Broadcom, Micron, and Intel.</a:t>
            </a:r>
            <a:endParaRPr sz="920">
              <a:latin typeface="Open Sans"/>
              <a:ea typeface="Open Sans"/>
              <a:cs typeface="Open Sans"/>
            </a:endParaRPr>
          </a:p>
        </p:txBody>
      </p:sp>
      <p:sp>
        <p:nvSpPr>
          <p:cNvPr id="7" name="Text 5">
            <a:extLst xmlns:a="http://schemas.openxmlformats.org/drawingml/2006/main">
              <a:ext uri="{FF2B5EF4-FFF2-40B4-BE49-F238E27FC236}">
                <a16:creationId xmlns:a16="http://schemas.microsoft.com/office/drawing/2014/main" id="{37542C33-3290-4F45-98C2-81BA11F90F20}"/>
              </a:ext>
            </a:extLst>
          </p:cNvPr>
          <p:cNvSpPr>
            <a:spLocks xmlns:a="http://schemas.openxmlformats.org/drawingml/2006/main" noGrp="1"/>
          </p:cNvSpPr>
          <p:nvPr/>
        </p:nvSpPr>
        <p:spPr>
          <a:xfrm xmlns:a="http://schemas.openxmlformats.org/drawingml/2006/main">
            <a:off x="457200" y="2693800"/>
            <a:ext cx="36118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71CF"/>
                </a:solidFill>
                <a:latin typeface="Open Sans"/>
                <a:ea typeface="Open Sans"/>
                <a:cs typeface="Open Sans"/>
              </a:rPr>
              <a:t>Business problem</a:t>
            </a:r>
            <a:endParaRPr sz="1000">
              <a:latin typeface="Open Sans"/>
              <a:ea typeface="Open Sans"/>
              <a:cs typeface="Open Sans"/>
            </a:endParaRPr>
          </a:p>
        </p:txBody>
      </p:sp>
      <p:sp>
        <p:nvSpPr>
          <p:cNvPr id="8" name="Text 6">
            <a:extLst xmlns:a="http://schemas.openxmlformats.org/drawingml/2006/main">
              <a:ext uri="{FF2B5EF4-FFF2-40B4-BE49-F238E27FC236}">
                <a16:creationId xmlns:a16="http://schemas.microsoft.com/office/drawing/2014/main" id="{6EEEAB0C-674C-4930-B0EB-C07B81EC5E2A}"/>
              </a:ext>
            </a:extLst>
          </p:cNvPr>
          <p:cNvSpPr>
            <a:spLocks xmlns:a="http://schemas.openxmlformats.org/drawingml/2006/main" noGrp="1"/>
          </p:cNvSpPr>
          <p:nvPr/>
        </p:nvSpPr>
        <p:spPr>
          <a:xfrm xmlns:a="http://schemas.openxmlformats.org/drawingml/2006/main">
            <a:off x="457200" y="2895600"/>
            <a:ext cx="360997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a:solidFill>
                  <a:srgbClr val="000000">
                    <a:alpha val="76000"/>
                  </a:srgbClr>
                </a:solidFill>
                <a:latin typeface="Open Sans"/>
                <a:ea typeface="Open Sans"/>
                <a:cs typeface="Open Sans"/>
              </a:rPr>
              <a:t>Requirement changes and yield excursions ripple quickly across validation, supply, schedule, and customer commitments. Teams must reconcile fragmented evidence across multiple systems to understand impact, protect yield, and decide how to respond.</a:t>
            </a:r>
            <a:endParaRPr sz="920">
              <a:latin typeface="Open Sans"/>
              <a:ea typeface="Open Sans"/>
              <a:cs typeface="Open Sans"/>
            </a:endParaRPr>
          </a:p>
        </p:txBody>
      </p:sp>
      <p:sp>
        <p:nvSpPr>
          <p:cNvPr id="9" name="Text 7">
            <a:extLst xmlns:a="http://schemas.openxmlformats.org/drawingml/2006/main">
              <a:ext uri="{FF2B5EF4-FFF2-40B4-BE49-F238E27FC236}">
                <a16:creationId xmlns:a16="http://schemas.microsoft.com/office/drawing/2014/main" id="{6D1EA92F-48A5-4A0F-AED4-381B879E5A14}"/>
              </a:ext>
            </a:extLst>
          </p:cNvPr>
          <p:cNvSpPr>
            <a:spLocks xmlns:a="http://schemas.openxmlformats.org/drawingml/2006/main" noGrp="1"/>
          </p:cNvSpPr>
          <p:nvPr/>
        </p:nvSpPr>
        <p:spPr>
          <a:xfrm xmlns:a="http://schemas.openxmlformats.org/drawingml/2006/main">
            <a:off x="4343400" y="1047880"/>
            <a:ext cx="37033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71CF"/>
                </a:solidFill>
                <a:latin typeface="Open Sans"/>
                <a:ea typeface="Open Sans"/>
                <a:cs typeface="Open Sans"/>
              </a:rPr>
              <a:t>Current challenges</a:t>
            </a:r>
            <a:endParaRPr sz="1000">
              <a:latin typeface="Open Sans"/>
              <a:ea typeface="Open Sans"/>
              <a:cs typeface="Open Sans"/>
            </a:endParaRPr>
          </a:p>
        </p:txBody>
      </p:sp>
      <p:sp>
        <p:nvSpPr>
          <p:cNvPr id="10" name="Text 8">
            <a:extLst xmlns:a="http://schemas.openxmlformats.org/drawingml/2006/main">
              <a:ext uri="{FF2B5EF4-FFF2-40B4-BE49-F238E27FC236}">
                <a16:creationId xmlns:a16="http://schemas.microsoft.com/office/drawing/2014/main" id="{CA698BDC-77E5-4961-8D7A-B2A8D2E5E07B}"/>
              </a:ext>
            </a:extLst>
          </p:cNvPr>
          <p:cNvSpPr>
            <a:spLocks xmlns:a="http://schemas.openxmlformats.org/drawingml/2006/main" noGrp="1"/>
          </p:cNvSpPr>
          <p:nvPr/>
        </p:nvSpPr>
        <p:spPr>
          <a:xfrm xmlns:a="http://schemas.openxmlformats.org/drawingml/2006/main">
            <a:off x="4343400" y="1247775"/>
            <a:ext cx="3703320" cy="2514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spcAft>
                <a:spcPts val="500"/>
              </a:spcAft>
              <a:buNone/>
              <a:defRPr>
                <a:latin typeface="Open Sans"/>
                <a:ea typeface="Open Sans"/>
                <a:cs typeface="Open Sans"/>
              </a:defRPr>
            </a:pPr>
            <a:r>
              <a:rPr sz="920" b="1">
                <a:solidFill>
                  <a:srgbClr val="000000"/>
                </a:solidFill>
                <a:latin typeface="Open Sans"/>
                <a:ea typeface="Open Sans"/>
                <a:cs typeface="Open Sans"/>
              </a:rPr>
              <a:t>Requirements evolve throughout the program. </a:t>
            </a:r>
            <a:r>
              <a:rPr sz="920">
                <a:solidFill>
                  <a:srgbClr val="000000">
                    <a:alpha val="76000"/>
                  </a:srgbClr>
                </a:solidFill>
                <a:latin typeface="Open Sans"/>
                <a:ea typeface="Open Sans"/>
                <a:cs typeface="Open Sans"/>
              </a:rPr>
              <a:t>As model sizes, context windows, throughput targets, and other requirements change, customers ask the program to support new or updated workloads.</a:t>
            </a:r>
            <a:endParaRPr sz="920">
              <a:latin typeface="Open Sans"/>
              <a:ea typeface="Open Sans"/>
              <a:cs typeface="Open Sans"/>
            </a:endParaRPr>
          </a:p>
          <a:p xmlns:a="http://schemas.openxmlformats.org/drawingml/2006/main">
            <a:pPr marL="0" indent="0">
              <a:spcAft>
                <a:spcPts val="500"/>
              </a:spcAft>
              <a:buNone/>
              <a:defRPr>
                <a:latin typeface="Open Sans"/>
                <a:ea typeface="Open Sans"/>
                <a:cs typeface="Open Sans"/>
              </a:defRPr>
            </a:pPr>
            <a:r>
              <a:rPr sz="920" b="1">
                <a:solidFill>
                  <a:srgbClr val="000000"/>
                </a:solidFill>
                <a:latin typeface="Open Sans"/>
                <a:ea typeface="Open Sans"/>
                <a:cs typeface="Open Sans"/>
              </a:rPr>
              <a:t>Impact assessment is fragmented. </a:t>
            </a:r>
            <a:r>
              <a:rPr sz="920">
                <a:solidFill>
                  <a:srgbClr val="000000">
                    <a:alpha val="76000"/>
                  </a:srgbClr>
                </a:solidFill>
                <a:latin typeface="Open Sans"/>
                <a:ea typeface="Open Sans"/>
                <a:cs typeface="Open Sans"/>
              </a:rPr>
              <a:t>The evidence needed to understand a change is spread across engineering, validation, manufacturing, planning, and commercial systems, slowing confident decisions.</a:t>
            </a:r>
            <a:endParaRPr sz="920">
              <a:latin typeface="Open Sans"/>
              <a:ea typeface="Open Sans"/>
              <a:cs typeface="Open Sans"/>
            </a:endParaRPr>
          </a:p>
          <a:p xmlns:a="http://schemas.openxmlformats.org/drawingml/2006/main">
            <a:pPr marL="0" indent="0">
              <a:spcAft>
                <a:spcPts val="500"/>
              </a:spcAft>
              <a:buNone/>
              <a:defRPr>
                <a:latin typeface="Open Sans"/>
                <a:ea typeface="Open Sans"/>
                <a:cs typeface="Open Sans"/>
              </a:defRPr>
            </a:pPr>
            <a:r>
              <a:rPr sz="920" b="1">
                <a:solidFill>
                  <a:srgbClr val="000000"/>
                </a:solidFill>
                <a:latin typeface="Open Sans"/>
                <a:ea typeface="Open Sans"/>
                <a:cs typeface="Open Sans"/>
              </a:rPr>
              <a:t>Execution is fragmented across systems. </a:t>
            </a:r>
            <a:r>
              <a:rPr sz="920">
                <a:solidFill>
                  <a:srgbClr val="000000">
                    <a:alpha val="76000"/>
                  </a:srgbClr>
                </a:solidFill>
                <a:latin typeface="Open Sans"/>
                <a:ea typeface="Open Sans"/>
                <a:cs typeface="Open Sans"/>
              </a:rPr>
              <a:t>Once a decision is made, the required actions span multiple systems making coordination, follow-through, and verification difficult.</a:t>
            </a:r>
            <a:endParaRPr sz="920">
              <a:latin typeface="Open Sans"/>
              <a:ea typeface="Open Sans"/>
              <a:cs typeface="Open Sans"/>
            </a:endParaRPr>
          </a:p>
          <a:p xmlns:a="http://schemas.openxmlformats.org/drawingml/2006/main">
            <a:pPr marL="0" indent="0">
              <a:spcAft>
                <a:spcPts val="500"/>
              </a:spcAft>
              <a:buNone/>
              <a:defRPr>
                <a:latin typeface="Open Sans"/>
                <a:ea typeface="Open Sans"/>
                <a:cs typeface="Open Sans"/>
              </a:defRPr>
            </a:pPr>
            <a:r>
              <a:rPr sz="920" b="1">
                <a:solidFill>
                  <a:srgbClr val="000000"/>
                </a:solidFill>
                <a:latin typeface="Open Sans"/>
                <a:ea typeface="Open Sans"/>
                <a:cs typeface="Open Sans"/>
              </a:rPr>
              <a:t>Program exposure grows. </a:t>
            </a:r>
            <a:r>
              <a:rPr sz="920">
                <a:solidFill>
                  <a:srgbClr val="000000">
                    <a:alpha val="76000"/>
                  </a:srgbClr>
                </a:solidFill>
                <a:latin typeface="Open Sans"/>
                <a:ea typeface="Open Sans"/>
                <a:cs typeface="Open Sans"/>
              </a:rPr>
              <a:t>Slow impact assessment leads to missed milestones, unnecessary validation, inventory exposure, unreliable commitments, and revenue at risk.</a:t>
            </a:r>
            <a:endParaRPr sz="920">
              <a:latin typeface="Open Sans"/>
              <a:ea typeface="Open Sans"/>
              <a:cs typeface="Open Sans"/>
            </a:endParaRPr>
          </a:p>
        </p:txBody>
      </p:sp>
      <p:sp>
        <p:nvSpPr>
          <p:cNvPr id="11" name="Shape 9">
            <a:extLst xmlns:a="http://schemas.openxmlformats.org/drawingml/2006/main">
              <a:ext uri="{FF2B5EF4-FFF2-40B4-BE49-F238E27FC236}">
                <a16:creationId xmlns:a16="http://schemas.microsoft.com/office/drawing/2014/main" id="{0906754C-2CA4-4BD5-8AED-305315A82027}"/>
              </a:ext>
            </a:extLst>
          </p:cNvPr>
          <p:cNvSpPr>
            <a:spLocks xmlns:a="http://schemas.openxmlformats.org/drawingml/2006/main" noGrp="1"/>
          </p:cNvSpPr>
          <p:nvPr/>
        </p:nvSpPr>
        <p:spPr>
          <a:xfrm xmlns:a="http://schemas.openxmlformats.org/drawingml/2006/main">
            <a:off x="8211311" y="1047880"/>
            <a:ext cx="475" cy="2752344"/>
          </a:xfrm>
          <a:prstGeom xmlns:a="http://schemas.openxmlformats.org/drawingml/2006/main" prst="line">
            <a:avLst/>
          </a:prstGeom>
          <a:noFill xmlns:a="http://schemas.openxmlformats.org/drawingml/2006/main"/>
          <a:ln xmlns:a="http://schemas.openxmlformats.org/drawingml/2006/main" w="9525">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12" name="Text 10">
            <a:extLst xmlns:a="http://schemas.openxmlformats.org/drawingml/2006/main">
              <a:ext uri="{FF2B5EF4-FFF2-40B4-BE49-F238E27FC236}">
                <a16:creationId xmlns:a16="http://schemas.microsoft.com/office/drawing/2014/main" id="{F32BB019-E5FD-4871-8A23-BF8A0EFB83BC}"/>
              </a:ext>
            </a:extLst>
          </p:cNvPr>
          <p:cNvSpPr>
            <a:spLocks xmlns:a="http://schemas.openxmlformats.org/drawingml/2006/main" noGrp="1"/>
          </p:cNvSpPr>
          <p:nvPr/>
        </p:nvSpPr>
        <p:spPr>
          <a:xfrm xmlns:a="http://schemas.openxmlformats.org/drawingml/2006/main">
            <a:off x="8439150" y="2943225"/>
            <a:ext cx="32956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$2M</a:t>
            </a:r>
            <a:endParaRPr sz="2700">
              <a:latin typeface="Open Sans"/>
              <a:ea typeface="Open Sans"/>
              <a:cs typeface="Open Sans"/>
            </a:endParaRPr>
          </a:p>
        </p:txBody>
      </p:sp>
      <p:sp>
        <p:nvSpPr>
          <p:cNvPr id="13" name="Text 11">
            <a:extLst xmlns:a="http://schemas.openxmlformats.org/drawingml/2006/main">
              <a:ext uri="{FF2B5EF4-FFF2-40B4-BE49-F238E27FC236}">
                <a16:creationId xmlns:a16="http://schemas.microsoft.com/office/drawing/2014/main" id="{F0E33F23-AF81-481C-8C13-768C5AF1FFAB}"/>
              </a:ext>
            </a:extLst>
          </p:cNvPr>
          <p:cNvSpPr>
            <a:spLocks xmlns:a="http://schemas.openxmlformats.org/drawingml/2006/main" noGrp="1"/>
          </p:cNvSpPr>
          <p:nvPr/>
        </p:nvSpPr>
        <p:spPr>
          <a:xfrm xmlns:a="http://schemas.openxmlformats.org/drawingml/2006/main">
            <a:off x="8439150" y="3400425"/>
            <a:ext cx="329565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a:solidFill>
                  <a:srgbClr val="000000">
                    <a:alpha val="76000"/>
                  </a:srgbClr>
                </a:solidFill>
                <a:latin typeface="Open Sans"/>
                <a:ea typeface="Open Sans"/>
                <a:cs typeface="Open Sans"/>
              </a:rPr>
              <a:t>Per day of market opportunity at risk if deadlines are missed</a:t>
            </a:r>
            <a:endParaRPr sz="950">
              <a:latin typeface="Open Sans"/>
              <a:ea typeface="Open Sans"/>
              <a:cs typeface="Open Sans"/>
            </a:endParaRPr>
          </a:p>
        </p:txBody>
      </p:sp>
      <p:sp>
        <p:nvSpPr>
          <p:cNvPr id="14" name="Text 12">
            <a:extLst xmlns:a="http://schemas.openxmlformats.org/drawingml/2006/main">
              <a:ext uri="{FF2B5EF4-FFF2-40B4-BE49-F238E27FC236}">
                <a16:creationId xmlns:a16="http://schemas.microsoft.com/office/drawing/2014/main" id="{0B4AC319-6F1E-4AA1-A7A5-7E0205206BC5}"/>
              </a:ext>
            </a:extLst>
          </p:cNvPr>
          <p:cNvSpPr>
            <a:spLocks xmlns:a="http://schemas.openxmlformats.org/drawingml/2006/main" noGrp="1"/>
          </p:cNvSpPr>
          <p:nvPr/>
        </p:nvSpPr>
        <p:spPr>
          <a:xfrm xmlns:a="http://schemas.openxmlformats.org/drawingml/2006/main">
            <a:off x="8439150" y="1104900"/>
            <a:ext cx="32956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$203.6B</a:t>
            </a:r>
            <a:endParaRPr sz="2700">
              <a:latin typeface="Open Sans"/>
              <a:ea typeface="Open Sans"/>
              <a:cs typeface="Open Sans"/>
            </a:endParaRPr>
          </a:p>
        </p:txBody>
      </p:sp>
      <p:sp>
        <p:nvSpPr>
          <p:cNvPr id="15" name="Text 13">
            <a:extLst xmlns:a="http://schemas.openxmlformats.org/drawingml/2006/main">
              <a:ext uri="{FF2B5EF4-FFF2-40B4-BE49-F238E27FC236}">
                <a16:creationId xmlns:a16="http://schemas.microsoft.com/office/drawing/2014/main" id="{1564E6E1-F260-4D21-9C1F-F3DB958C4413}"/>
              </a:ext>
            </a:extLst>
          </p:cNvPr>
          <p:cNvSpPr>
            <a:spLocks xmlns:a="http://schemas.openxmlformats.org/drawingml/2006/main" noGrp="1"/>
          </p:cNvSpPr>
          <p:nvPr/>
        </p:nvSpPr>
        <p:spPr>
          <a:xfrm xmlns:a="http://schemas.openxmlformats.org/drawingml/2006/main">
            <a:off x="8439150" y="1571625"/>
            <a:ext cx="329565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a:solidFill>
                  <a:srgbClr val="000000">
                    <a:alpha val="76000"/>
                  </a:srgbClr>
                </a:solidFill>
                <a:latin typeface="Open Sans"/>
                <a:ea typeface="Open Sans"/>
                <a:cs typeface="Open Sans"/>
              </a:rPr>
              <a:t>Total market for custom semiconductor ASIC market by 2030</a:t>
            </a:r>
            <a:endParaRPr sz="950">
              <a:latin typeface="Open Sans"/>
              <a:ea typeface="Open Sans"/>
              <a:cs typeface="Open Sans"/>
            </a:endParaRPr>
          </a:p>
        </p:txBody>
      </p:sp>
      <p:sp>
        <p:nvSpPr>
          <p:cNvPr id="16" name="Text 14">
            <a:extLst xmlns:a="http://schemas.openxmlformats.org/drawingml/2006/main">
              <a:ext uri="{FF2B5EF4-FFF2-40B4-BE49-F238E27FC236}">
                <a16:creationId xmlns:a16="http://schemas.microsoft.com/office/drawing/2014/main" id="{BEC74643-4981-4E83-98C0-19062DA583A2}"/>
              </a:ext>
            </a:extLst>
          </p:cNvPr>
          <p:cNvSpPr>
            <a:spLocks xmlns:a="http://schemas.openxmlformats.org/drawingml/2006/main" noGrp="1"/>
          </p:cNvSpPr>
          <p:nvPr/>
        </p:nvSpPr>
        <p:spPr>
          <a:xfrm xmlns:a="http://schemas.openxmlformats.org/drawingml/2006/main">
            <a:off x="8439150" y="2028825"/>
            <a:ext cx="32956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$10M+</a:t>
            </a:r>
            <a:endParaRPr sz="2700">
              <a:latin typeface="Open Sans"/>
              <a:ea typeface="Open Sans"/>
              <a:cs typeface="Open Sans"/>
            </a:endParaRPr>
          </a:p>
        </p:txBody>
      </p:sp>
      <p:sp>
        <p:nvSpPr>
          <p:cNvPr id="17" name="Text 15">
            <a:extLst xmlns:a="http://schemas.openxmlformats.org/drawingml/2006/main">
              <a:ext uri="{FF2B5EF4-FFF2-40B4-BE49-F238E27FC236}">
                <a16:creationId xmlns:a16="http://schemas.microsoft.com/office/drawing/2014/main" id="{1FABE189-4306-4A64-80E0-505A8D16AE94}"/>
              </a:ext>
            </a:extLst>
          </p:cNvPr>
          <p:cNvSpPr>
            <a:spLocks xmlns:a="http://schemas.openxmlformats.org/drawingml/2006/main" noGrp="1"/>
          </p:cNvSpPr>
          <p:nvPr/>
        </p:nvSpPr>
        <p:spPr>
          <a:xfrm xmlns:a="http://schemas.openxmlformats.org/drawingml/2006/main">
            <a:off x="8439150" y="2486025"/>
            <a:ext cx="3295650" cy="4286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a:solidFill>
                  <a:srgbClr val="000000">
                    <a:alpha val="76000"/>
                  </a:srgbClr>
                </a:solidFill>
                <a:latin typeface="Open Sans"/>
                <a:ea typeface="Open Sans"/>
                <a:cs typeface="Open Sans"/>
              </a:rPr>
              <a:t>1% drop in yield percentage causes tens of millions of dollars in revenue loss</a:t>
            </a:r>
            <a:endParaRPr sz="950">
              <a:latin typeface="Open Sans"/>
              <a:ea typeface="Open Sans"/>
              <a:cs typeface="Open Sans"/>
            </a:endParaRPr>
          </a:p>
        </p:txBody>
      </p:sp>
      <p:pic>
        <p:nvPicPr>
          <p:cNvPr id="99" name="Image 0"/>
          <p:cNvPicPr>
            <a:picLocks xmlns:a="http://schemas.openxmlformats.org/drawingml/2006/main" noChangeAspect="1"/>
          </p:cNvPicPr>
          <p:nvPr/>
        </p:nvPicPr>
        <p:blipFill>
          <a:blip xmlns:r="http://schemas.openxmlformats.org/officeDocument/2006/relationships" xmlns:a="http://schemas.openxmlformats.org/drawingml/2006/main" r:embed="R85f543167c2c43ba">
            <a:duotone>
              <a:srgbClr val="0E315C"/>
              <a:srgbClr val="0E315C"/>
            </a:duotone>
          </a:blip>
          <a:stretch xmlns:a="http://schemas.openxmlformats.org/drawingml/2006/main">
            <a:fillRect l="0" t="0" r="0" b="0"/>
          </a:stretch>
        </p:blipFill>
        <p:spPr>
          <a:xfrm xmlns:a="http://schemas.openxmlformats.org/drawingml/2006/main">
            <a:off x="585216" y="3739895"/>
            <a:ext cx="146304" cy="146304"/>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CFE05B5E-8FBF-4B46-9A8A-D513822A3A6A}"/>
              </a:ext>
            </a:extLst>
          </p:cNvPr>
          <p:cNvSpPr>
            <a:spLocks xmlns:a="http://schemas.openxmlformats.org/drawingml/2006/main" noGrp="1"/>
          </p:cNvSpPr>
          <p:nvPr/>
        </p:nvSpPr>
        <p:spPr>
          <a:xfrm xmlns:a="http://schemas.openxmlformats.org/drawingml/2006/main">
            <a:off x="781050" y="3743325"/>
            <a:ext cx="5524500" cy="2381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b="0">
                <a:solidFill>
                  <a:srgbClr val="0E315C"/>
                </a:solidFill>
                <a:latin typeface="Open Sans"/>
                <a:ea typeface="Open Sans"/>
                <a:cs typeface="Open Sans"/>
              </a:rPr>
              <a:t>As-is: manual, time-consuming, and error-prone</a:t>
            </a:r>
            <a:endParaRPr sz="900">
              <a:latin typeface="Open Sans"/>
              <a:ea typeface="Open Sans"/>
              <a:cs typeface="Open Sans"/>
            </a:endParaRPr>
          </a:p>
        </p:txBody>
      </p:sp>
      <p:sp>
        <p:nvSpPr>
          <p:cNvPr id="22" name="Shape 19">
            <a:extLst xmlns:a="http://schemas.openxmlformats.org/drawingml/2006/main">
              <a:ext uri="{FF2B5EF4-FFF2-40B4-BE49-F238E27FC236}">
                <a16:creationId xmlns:a16="http://schemas.microsoft.com/office/drawing/2014/main" id="{5293B85A-7804-481D-A88B-4837E0654059}"/>
              </a:ext>
            </a:extLst>
          </p:cNvPr>
          <p:cNvSpPr>
            <a:spLocks xmlns:a="http://schemas.openxmlformats.org/drawingml/2006/main" noGrp="1"/>
          </p:cNvSpPr>
          <p:nvPr/>
        </p:nvSpPr>
        <p:spPr>
          <a:xfrm xmlns:a="http://schemas.openxmlformats.org/drawingml/2006/main">
            <a:off x="457200" y="3977640"/>
            <a:ext cx="11277295" cy="2212849"/>
          </a:xfrm>
          <a:prstGeom xmlns:a="http://schemas.openxmlformats.org/drawingml/2006/main" prst="roundRect">
            <a:avLst>
              <a:gd name="adj" fmla="val 3704"/>
            </a:avLst>
          </a:prstGeom>
          <a:noFill xmlns:a="http://schemas.openxmlformats.org/drawingml/2006/main"/>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02" name="Image 1"/>
          <p:cNvPicPr>
            <a:picLocks xmlns:a="http://schemas.openxmlformats.org/drawingml/2006/main" noChangeAspect="1"/>
          </p:cNvPicPr>
          <p:nvPr/>
        </p:nvPicPr>
        <p:blipFill>
          <a:blip xmlns:r="http://schemas.openxmlformats.org/officeDocument/2006/relationships" xmlns:a="http://schemas.openxmlformats.org/drawingml/2006/main" r:embed="Re11e6896071e402e">
            <a:duotone>
              <a:srgbClr val="0E315C"/>
              <a:srgbClr val="0E315C"/>
            </a:duotone>
          </a:blip>
          <a:stretch xmlns:a="http://schemas.openxmlformats.org/drawingml/2006/main">
            <a:fillRect l="0" t="0" r="0" b="0"/>
          </a:stretch>
        </p:blipFill>
        <p:spPr>
          <a:xfrm xmlns:a="http://schemas.openxmlformats.org/drawingml/2006/main">
            <a:off x="640080" y="4076700"/>
            <a:ext cx="219075" cy="219075"/>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F554D107-611B-4E52-8F97-BDD72B0585EE}"/>
              </a:ext>
            </a:extLst>
          </p:cNvPr>
          <p:cNvSpPr>
            <a:spLocks xmlns:a="http://schemas.openxmlformats.org/drawingml/2006/main" noGrp="1"/>
          </p:cNvSpPr>
          <p:nvPr/>
        </p:nvSpPr>
        <p:spPr>
          <a:xfrm xmlns:a="http://schemas.openxmlformats.org/drawingml/2006/main">
            <a:off x="981075" y="4048125"/>
            <a:ext cx="10563225" cy="3333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30" b="1">
                <a:solidFill>
                  <a:srgbClr val="0E315C"/>
                </a:solidFill>
                <a:latin typeface="Open Sans"/>
                <a:ea typeface="Open Sans"/>
                <a:cs typeface="Open Sans"/>
              </a:rPr>
              <a:t>Program operator </a:t>
            </a:r>
            <a:r>
              <a:rPr sz="930">
                <a:solidFill>
                  <a:srgbClr val="0E315C"/>
                </a:solidFill>
                <a:latin typeface="Open Sans"/>
                <a:ea typeface="Open Sans"/>
                <a:cs typeface="Open Sans"/>
              </a:rPr>
              <a:t>chases every stage by hand: emails, portals, and spreadsheets to learn what changed, what is ready, and who must approve next</a:t>
            </a:r>
            <a:endParaRPr sz="930">
              <a:latin typeface="Open Sans"/>
              <a:ea typeface="Open Sans"/>
              <a:cs typeface="Open Sans"/>
            </a:endParaRPr>
          </a:p>
        </p:txBody>
      </p:sp>
      <p:sp>
        <p:nvSpPr>
          <p:cNvPr id="26" name="Shape 22">
            <a:extLst xmlns:a="http://schemas.openxmlformats.org/drawingml/2006/main">
              <a:ext uri="{FF2B5EF4-FFF2-40B4-BE49-F238E27FC236}">
                <a16:creationId xmlns:a16="http://schemas.microsoft.com/office/drawing/2014/main" id="{8B4BF17A-3441-44FE-A208-568F14ED237C}"/>
              </a:ext>
            </a:extLst>
          </p:cNvPr>
          <p:cNvSpPr>
            <a:spLocks xmlns:a="http://schemas.openxmlformats.org/drawingml/2006/main" noGrp="1"/>
          </p:cNvSpPr>
          <p:nvPr/>
        </p:nvSpPr>
        <p:spPr>
          <a:xfrm xmlns:a="http://schemas.openxmlformats.org/drawingml/2006/main">
            <a:off x="1865376" y="4453128"/>
            <a:ext cx="8449056" cy="0"/>
          </a:xfrm>
          <a:prstGeom xmlns:a="http://schemas.openxmlformats.org/drawingml/2006/main" prst="line">
            <a:avLst/>
          </a:prstGeom>
          <a:noFill xmlns:a="http://schemas.openxmlformats.org/drawingml/2006/main"/>
          <a:ln xmlns:a="http://schemas.openxmlformats.org/drawingml/2006/main" w="12700">
            <a:solidFill>
              <a:srgbClr val="0071CF">
                <a:alpha val="5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7" name="Shape 23">
            <a:extLst xmlns:a="http://schemas.openxmlformats.org/drawingml/2006/main">
              <a:ext uri="{FF2B5EF4-FFF2-40B4-BE49-F238E27FC236}">
                <a16:creationId xmlns:a16="http://schemas.microsoft.com/office/drawing/2014/main" id="{B5CE5E5B-7B1C-4D8A-AD8A-95486AB1CF4B}"/>
              </a:ext>
            </a:extLst>
          </p:cNvPr>
          <p:cNvSpPr>
            <a:spLocks xmlns:a="http://schemas.openxmlformats.org/drawingml/2006/main" noGrp="1"/>
          </p:cNvSpPr>
          <p:nvPr/>
        </p:nvSpPr>
        <p:spPr>
          <a:xfrm xmlns:a="http://schemas.openxmlformats.org/drawingml/2006/main">
            <a:off x="1865376" y="4453128"/>
            <a:ext cx="0" cy="91440"/>
          </a:xfrm>
          <a:prstGeom xmlns:a="http://schemas.openxmlformats.org/drawingml/2006/main" prst="line">
            <a:avLst/>
          </a:prstGeom>
          <a:noFill xmlns:a="http://schemas.openxmlformats.org/drawingml/2006/main"/>
          <a:ln xmlns:a="http://schemas.openxmlformats.org/drawingml/2006/main" w="12700">
            <a:solidFill>
              <a:srgbClr val="0071CF">
                <a:alpha val="5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8" name="Shape 24">
            <a:extLst xmlns:a="http://schemas.openxmlformats.org/drawingml/2006/main">
              <a:ext uri="{FF2B5EF4-FFF2-40B4-BE49-F238E27FC236}">
                <a16:creationId xmlns:a16="http://schemas.microsoft.com/office/drawing/2014/main" id="{47DC9DFD-0155-4AE4-8B12-F37ECDB67AC9}"/>
              </a:ext>
            </a:extLst>
          </p:cNvPr>
          <p:cNvSpPr>
            <a:spLocks xmlns:a="http://schemas.openxmlformats.org/drawingml/2006/main" noGrp="1"/>
          </p:cNvSpPr>
          <p:nvPr/>
        </p:nvSpPr>
        <p:spPr>
          <a:xfrm xmlns:a="http://schemas.openxmlformats.org/drawingml/2006/main">
            <a:off x="4681728" y="4453128"/>
            <a:ext cx="0" cy="91440"/>
          </a:xfrm>
          <a:prstGeom xmlns:a="http://schemas.openxmlformats.org/drawingml/2006/main" prst="line">
            <a:avLst/>
          </a:prstGeom>
          <a:noFill xmlns:a="http://schemas.openxmlformats.org/drawingml/2006/main"/>
          <a:ln xmlns:a="http://schemas.openxmlformats.org/drawingml/2006/main" w="12700">
            <a:solidFill>
              <a:srgbClr val="0071CF">
                <a:alpha val="5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9" name="Shape 25">
            <a:extLst xmlns:a="http://schemas.openxmlformats.org/drawingml/2006/main">
              <a:ext uri="{FF2B5EF4-FFF2-40B4-BE49-F238E27FC236}">
                <a16:creationId xmlns:a16="http://schemas.microsoft.com/office/drawing/2014/main" id="{77B3EB7E-71F4-4422-81D6-0C5BD12056F1}"/>
              </a:ext>
            </a:extLst>
          </p:cNvPr>
          <p:cNvSpPr>
            <a:spLocks xmlns:a="http://schemas.openxmlformats.org/drawingml/2006/main" noGrp="1"/>
          </p:cNvSpPr>
          <p:nvPr/>
        </p:nvSpPr>
        <p:spPr>
          <a:xfrm xmlns:a="http://schemas.openxmlformats.org/drawingml/2006/main">
            <a:off x="7498080" y="4453128"/>
            <a:ext cx="0" cy="91440"/>
          </a:xfrm>
          <a:prstGeom xmlns:a="http://schemas.openxmlformats.org/drawingml/2006/main" prst="line">
            <a:avLst/>
          </a:prstGeom>
          <a:noFill xmlns:a="http://schemas.openxmlformats.org/drawingml/2006/main"/>
          <a:ln xmlns:a="http://schemas.openxmlformats.org/drawingml/2006/main" w="12700">
            <a:solidFill>
              <a:srgbClr val="0071CF">
                <a:alpha val="5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0" name="Shape 26">
            <a:extLst xmlns:a="http://schemas.openxmlformats.org/drawingml/2006/main">
              <a:ext uri="{FF2B5EF4-FFF2-40B4-BE49-F238E27FC236}">
                <a16:creationId xmlns:a16="http://schemas.microsoft.com/office/drawing/2014/main" id="{ECFAF4E3-E552-46E8-B804-982C82264A50}"/>
              </a:ext>
            </a:extLst>
          </p:cNvPr>
          <p:cNvSpPr>
            <a:spLocks xmlns:a="http://schemas.openxmlformats.org/drawingml/2006/main" noGrp="1"/>
          </p:cNvSpPr>
          <p:nvPr/>
        </p:nvSpPr>
        <p:spPr>
          <a:xfrm xmlns:a="http://schemas.openxmlformats.org/drawingml/2006/main">
            <a:off x="10314432" y="4453128"/>
            <a:ext cx="0" cy="91440"/>
          </a:xfrm>
          <a:prstGeom xmlns:a="http://schemas.openxmlformats.org/drawingml/2006/main" prst="line">
            <a:avLst/>
          </a:prstGeom>
          <a:noFill xmlns:a="http://schemas.openxmlformats.org/drawingml/2006/main"/>
          <a:ln xmlns:a="http://schemas.openxmlformats.org/drawingml/2006/main" w="12700">
            <a:solidFill>
              <a:srgbClr val="0071CF">
                <a:alpha val="5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1" name="Shape 27">
            <a:extLst xmlns:a="http://schemas.openxmlformats.org/drawingml/2006/main">
              <a:ext uri="{FF2B5EF4-FFF2-40B4-BE49-F238E27FC236}">
                <a16:creationId xmlns:a16="http://schemas.microsoft.com/office/drawing/2014/main" id="{03E7D634-2F53-4D6D-BCE2-B253F8561D0B}"/>
              </a:ext>
            </a:extLst>
          </p:cNvPr>
          <p:cNvSpPr>
            <a:spLocks xmlns:a="http://schemas.openxmlformats.org/drawingml/2006/main" noGrp="1"/>
          </p:cNvSpPr>
          <p:nvPr/>
        </p:nvSpPr>
        <p:spPr>
          <a:xfrm xmlns:a="http://schemas.openxmlformats.org/drawingml/2006/main">
            <a:off x="640080"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2" name="Text 28">
            <a:extLst xmlns:a="http://schemas.openxmlformats.org/drawingml/2006/main">
              <a:ext uri="{FF2B5EF4-FFF2-40B4-BE49-F238E27FC236}">
                <a16:creationId xmlns:a16="http://schemas.microsoft.com/office/drawing/2014/main" id="{D9B0864D-8694-4899-BA69-DBD2AACD46C6}"/>
              </a:ext>
            </a:extLst>
          </p:cNvPr>
          <p:cNvSpPr>
            <a:spLocks xmlns:a="http://schemas.openxmlformats.org/drawingml/2006/main" noGrp="1"/>
          </p:cNvSpPr>
          <p:nvPr/>
        </p:nvSpPr>
        <p:spPr>
          <a:xfrm xmlns:a="http://schemas.openxmlformats.org/drawingml/2006/main">
            <a:off x="749808"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Requirements</a:t>
            </a:r>
            <a:endParaRPr sz="1050">
              <a:latin typeface="Open Sans"/>
              <a:ea typeface="Open Sans"/>
              <a:cs typeface="Open Sans"/>
            </a:endParaRPr>
          </a:p>
        </p:txBody>
      </p:sp>
      <p:sp>
        <p:nvSpPr>
          <p:cNvPr id="33" name="Text 29">
            <a:extLst xmlns:a="http://schemas.openxmlformats.org/drawingml/2006/main">
              <a:ext uri="{FF2B5EF4-FFF2-40B4-BE49-F238E27FC236}">
                <a16:creationId xmlns:a16="http://schemas.microsoft.com/office/drawing/2014/main" id="{36FB38D7-8D55-49FC-82E9-2C7A9CFE0797}"/>
              </a:ext>
            </a:extLst>
          </p:cNvPr>
          <p:cNvSpPr>
            <a:spLocks xmlns:a="http://schemas.openxmlformats.org/drawingml/2006/main" noGrp="1"/>
          </p:cNvSpPr>
          <p:nvPr/>
        </p:nvSpPr>
        <p:spPr>
          <a:xfrm xmlns:a="http://schemas.openxmlformats.org/drawingml/2006/main">
            <a:off x="749808"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E315C"/>
                </a:solidFill>
                <a:latin typeface="Open Sans"/>
                <a:ea typeface="Open Sans"/>
                <a:cs typeface="Open Sans"/>
              </a:rPr>
              <a:t>Engineering</a:t>
            </a:r>
            <a:endParaRPr sz="900">
              <a:latin typeface="Open Sans"/>
              <a:ea typeface="Open Sans"/>
              <a:cs typeface="Open Sans"/>
            </a:endParaRPr>
          </a:p>
        </p:txBody>
      </p:sp>
      <p:pic>
        <p:nvPicPr>
          <p:cNvPr id="112" name="Image 2"/>
          <p:cNvPicPr>
            <a:picLocks xmlns:a="http://schemas.openxmlformats.org/drawingml/2006/main" noChangeAspect="1"/>
          </p:cNvPicPr>
          <p:nvPr/>
        </p:nvPicPr>
        <p:blipFill>
          <a:blip xmlns:r="http://schemas.openxmlformats.org/officeDocument/2006/relationships" xmlns:a="http://schemas.openxmlformats.org/drawingml/2006/main" r:embed="Rd662d1c759d744be">
            <a:duotone>
              <a:srgbClr val="0E315C"/>
              <a:srgbClr val="0E315C"/>
            </a:duotone>
          </a:blip>
          <a:stretch xmlns:a="http://schemas.openxmlformats.org/drawingml/2006/main">
            <a:fillRect l="0" t="0" r="0" b="0"/>
          </a:stretch>
        </p:blipFill>
        <p:spPr>
          <a:xfrm xmlns:a="http://schemas.openxmlformats.org/drawingml/2006/main">
            <a:off x="745058" y="5111082"/>
            <a:ext cx="137160" cy="137160"/>
          </a:xfrm>
          <a:prstGeom xmlns:a="http://schemas.openxmlformats.org/drawingml/2006/main" prst="rect">
            <a:avLst/>
          </a:prstGeom>
        </p:spPr>
      </p:pic>
      <p:sp>
        <p:nvSpPr>
          <p:cNvPr id="36" name="Text 31">
            <a:extLst xmlns:a="http://schemas.openxmlformats.org/drawingml/2006/main">
              <a:ext uri="{FF2B5EF4-FFF2-40B4-BE49-F238E27FC236}">
                <a16:creationId xmlns:a16="http://schemas.microsoft.com/office/drawing/2014/main" id="{41B98E24-F879-4DD1-892D-8BECFA3F78A5}"/>
              </a:ext>
            </a:extLst>
          </p:cNvPr>
          <p:cNvSpPr>
            <a:spLocks xmlns:a="http://schemas.openxmlformats.org/drawingml/2006/main" noGrp="1"/>
          </p:cNvSpPr>
          <p:nvPr/>
        </p:nvSpPr>
        <p:spPr>
          <a:xfrm xmlns:a="http://schemas.openxmlformats.org/drawingml/2006/main">
            <a:off x="927938" y="5086350"/>
            <a:ext cx="2038350" cy="504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50">
                <a:solidFill>
                  <a:srgbClr val="000000">
                    <a:alpha val="76000"/>
                  </a:srgbClr>
                </a:solidFill>
                <a:latin typeface="Open Sans"/>
                <a:ea typeface="Open Sans"/>
                <a:cs typeface="Open Sans"/>
              </a:rPr>
              <a:t>Requirement and impact analyzed manually across different systems</a:t>
            </a:r>
            <a:endParaRPr sz="850">
              <a:latin typeface="Open Sans"/>
              <a:ea typeface="Open Sans"/>
              <a:cs typeface="Open Sans"/>
            </a:endParaRPr>
          </a:p>
        </p:txBody>
      </p:sp>
      <p:sp>
        <p:nvSpPr>
          <p:cNvPr id="37" name="Shape 32">
            <a:extLst xmlns:a="http://schemas.openxmlformats.org/drawingml/2006/main">
              <a:ext uri="{FF2B5EF4-FFF2-40B4-BE49-F238E27FC236}">
                <a16:creationId xmlns:a16="http://schemas.microsoft.com/office/drawing/2014/main" id="{3A5E03C3-2129-46E7-B733-DF2987B37866}"/>
              </a:ext>
            </a:extLst>
          </p:cNvPr>
          <p:cNvSpPr>
            <a:spLocks xmlns:a="http://schemas.openxmlformats.org/drawingml/2006/main" noGrp="1"/>
          </p:cNvSpPr>
          <p:nvPr/>
        </p:nvSpPr>
        <p:spPr>
          <a:xfrm xmlns:a="http://schemas.openxmlformats.org/drawingml/2006/main">
            <a:off x="3145536" y="5001768"/>
            <a:ext cx="256032" cy="0"/>
          </a:xfrm>
          <a:prstGeom xmlns:a="http://schemas.openxmlformats.org/drawingml/2006/main" prst="line">
            <a:avLst/>
          </a:prstGeom>
          <a:noFill xmlns:a="http://schemas.openxmlformats.org/drawingml/2006/main"/>
          <a:ln xmlns:a="http://schemas.openxmlformats.org/drawingml/2006/main" w="15875">
            <a:solidFill>
              <a:srgbClr val="0071CF"/>
            </a:solidFill>
            <a:prstDash val="dash"/>
            <a:tailEnd type="triangle"/>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8" name="Shape 33">
            <a:extLst xmlns:a="http://schemas.openxmlformats.org/drawingml/2006/main">
              <a:ext uri="{FF2B5EF4-FFF2-40B4-BE49-F238E27FC236}">
                <a16:creationId xmlns:a16="http://schemas.microsoft.com/office/drawing/2014/main" id="{95334A31-D7A0-4553-8010-ADDC7DF32CA1}"/>
              </a:ext>
            </a:extLst>
          </p:cNvPr>
          <p:cNvSpPr>
            <a:spLocks xmlns:a="http://schemas.openxmlformats.org/drawingml/2006/main" noGrp="1"/>
          </p:cNvSpPr>
          <p:nvPr/>
        </p:nvSpPr>
        <p:spPr>
          <a:xfrm xmlns:a="http://schemas.openxmlformats.org/drawingml/2006/main">
            <a:off x="3456432"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9" name="Text 34">
            <a:extLst xmlns:a="http://schemas.openxmlformats.org/drawingml/2006/main">
              <a:ext uri="{FF2B5EF4-FFF2-40B4-BE49-F238E27FC236}">
                <a16:creationId xmlns:a16="http://schemas.microsoft.com/office/drawing/2014/main" id="{ACA82B62-5E9B-4B96-A2E0-0324D2670D20}"/>
              </a:ext>
            </a:extLst>
          </p:cNvPr>
          <p:cNvSpPr>
            <a:spLocks xmlns:a="http://schemas.openxmlformats.org/drawingml/2006/main" noGrp="1"/>
          </p:cNvSpPr>
          <p:nvPr/>
        </p:nvSpPr>
        <p:spPr>
          <a:xfrm xmlns:a="http://schemas.openxmlformats.org/drawingml/2006/main">
            <a:off x="3566160"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Validation</a:t>
            </a:r>
            <a:endParaRPr sz="1050">
              <a:latin typeface="Open Sans"/>
              <a:ea typeface="Open Sans"/>
              <a:cs typeface="Open Sans"/>
            </a:endParaRPr>
          </a:p>
        </p:txBody>
      </p:sp>
      <p:sp>
        <p:nvSpPr>
          <p:cNvPr id="40" name="Text 35">
            <a:extLst xmlns:a="http://schemas.openxmlformats.org/drawingml/2006/main">
              <a:ext uri="{FF2B5EF4-FFF2-40B4-BE49-F238E27FC236}">
                <a16:creationId xmlns:a16="http://schemas.microsoft.com/office/drawing/2014/main" id="{A95E68C4-0A42-49BC-A78E-E3F6600D268A}"/>
              </a:ext>
            </a:extLst>
          </p:cNvPr>
          <p:cNvSpPr>
            <a:spLocks xmlns:a="http://schemas.openxmlformats.org/drawingml/2006/main" noGrp="1"/>
          </p:cNvSpPr>
          <p:nvPr/>
        </p:nvSpPr>
        <p:spPr>
          <a:xfrm xmlns:a="http://schemas.openxmlformats.org/drawingml/2006/main">
            <a:off x="3566160"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E315C"/>
                </a:solidFill>
                <a:latin typeface="Open Sans"/>
                <a:ea typeface="Open Sans"/>
                <a:cs typeface="Open Sans"/>
              </a:rPr>
              <a:t>Validation lab</a:t>
            </a:r>
            <a:endParaRPr sz="900">
              <a:latin typeface="Open Sans"/>
              <a:ea typeface="Open Sans"/>
              <a:cs typeface="Open Sans"/>
            </a:endParaRPr>
          </a:p>
        </p:txBody>
      </p:sp>
      <p:pic>
        <p:nvPicPr>
          <p:cNvPr id="118" name="Image 4"/>
          <p:cNvPicPr>
            <a:picLocks xmlns:a="http://schemas.openxmlformats.org/drawingml/2006/main" noChangeAspect="1"/>
          </p:cNvPicPr>
          <p:nvPr/>
        </p:nvPicPr>
        <p:blipFill>
          <a:blip xmlns:r="http://schemas.openxmlformats.org/officeDocument/2006/relationships" xmlns:a="http://schemas.openxmlformats.org/drawingml/2006/main" r:embed="Rd662d1c759d744be">
            <a:duotone>
              <a:srgbClr val="0E315C"/>
              <a:srgbClr val="0E315C"/>
            </a:duotone>
          </a:blip>
          <a:stretch xmlns:a="http://schemas.openxmlformats.org/drawingml/2006/main">
            <a:fillRect l="0" t="0" r="0" b="0"/>
          </a:stretch>
        </p:blipFill>
        <p:spPr>
          <a:xfrm xmlns:a="http://schemas.openxmlformats.org/drawingml/2006/main">
            <a:off x="3566160" y="5106569"/>
            <a:ext cx="137160" cy="137160"/>
          </a:xfrm>
          <a:prstGeom xmlns:a="http://schemas.openxmlformats.org/drawingml/2006/main" prst="rect">
            <a:avLst/>
          </a:prstGeom>
        </p:spPr>
      </p:pic>
      <p:sp>
        <p:nvSpPr>
          <p:cNvPr id="44" name="Text 37">
            <a:extLst xmlns:a="http://schemas.openxmlformats.org/drawingml/2006/main">
              <a:ext uri="{FF2B5EF4-FFF2-40B4-BE49-F238E27FC236}">
                <a16:creationId xmlns:a16="http://schemas.microsoft.com/office/drawing/2014/main" id="{C341F137-9F02-4D27-AD6B-6311A5F026A2}"/>
              </a:ext>
            </a:extLst>
          </p:cNvPr>
          <p:cNvSpPr>
            <a:spLocks xmlns:a="http://schemas.openxmlformats.org/drawingml/2006/main" noGrp="1"/>
          </p:cNvSpPr>
          <p:nvPr/>
        </p:nvSpPr>
        <p:spPr>
          <a:xfrm xmlns:a="http://schemas.openxmlformats.org/drawingml/2006/main">
            <a:off x="3749040" y="5086350"/>
            <a:ext cx="2038350" cy="504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50">
                <a:solidFill>
                  <a:srgbClr val="000000">
                    <a:alpha val="76000"/>
                  </a:srgbClr>
                </a:solidFill>
                <a:latin typeface="Open Sans"/>
                <a:ea typeface="Open Sans"/>
                <a:cs typeface="Open Sans"/>
              </a:rPr>
              <a:t>Tester receives updated chip design specs and  perform testing</a:t>
            </a:r>
            <a:endParaRPr sz="850">
              <a:latin typeface="Open Sans"/>
              <a:ea typeface="Open Sans"/>
              <a:cs typeface="Open Sans"/>
            </a:endParaRPr>
          </a:p>
        </p:txBody>
      </p:sp>
      <p:sp>
        <p:nvSpPr>
          <p:cNvPr id="45" name="Shape 38">
            <a:extLst xmlns:a="http://schemas.openxmlformats.org/drawingml/2006/main">
              <a:ext uri="{FF2B5EF4-FFF2-40B4-BE49-F238E27FC236}">
                <a16:creationId xmlns:a16="http://schemas.microsoft.com/office/drawing/2014/main" id="{5C1E332E-D9CF-4E36-B210-16FCFA5DDB74}"/>
              </a:ext>
            </a:extLst>
          </p:cNvPr>
          <p:cNvSpPr>
            <a:spLocks xmlns:a="http://schemas.openxmlformats.org/drawingml/2006/main" noGrp="1"/>
          </p:cNvSpPr>
          <p:nvPr/>
        </p:nvSpPr>
        <p:spPr>
          <a:xfrm xmlns:a="http://schemas.openxmlformats.org/drawingml/2006/main">
            <a:off x="5961888" y="5001768"/>
            <a:ext cx="256032" cy="0"/>
          </a:xfrm>
          <a:prstGeom xmlns:a="http://schemas.openxmlformats.org/drawingml/2006/main" prst="line">
            <a:avLst/>
          </a:prstGeom>
          <a:noFill xmlns:a="http://schemas.openxmlformats.org/drawingml/2006/main"/>
          <a:ln xmlns:a="http://schemas.openxmlformats.org/drawingml/2006/main" w="15875">
            <a:solidFill>
              <a:srgbClr val="0071CF"/>
            </a:solidFill>
            <a:prstDash val="dash"/>
            <a:tailEnd type="triangle"/>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6" name="Shape 39">
            <a:extLst xmlns:a="http://schemas.openxmlformats.org/drawingml/2006/main">
              <a:ext uri="{FF2B5EF4-FFF2-40B4-BE49-F238E27FC236}">
                <a16:creationId xmlns:a16="http://schemas.microsoft.com/office/drawing/2014/main" id="{45AA984B-B338-45CC-AC79-DE672214B788}"/>
              </a:ext>
            </a:extLst>
          </p:cNvPr>
          <p:cNvSpPr>
            <a:spLocks xmlns:a="http://schemas.openxmlformats.org/drawingml/2006/main" noGrp="1"/>
          </p:cNvSpPr>
          <p:nvPr/>
        </p:nvSpPr>
        <p:spPr>
          <a:xfrm xmlns:a="http://schemas.openxmlformats.org/drawingml/2006/main">
            <a:off x="6272784"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7" name="Text 40">
            <a:extLst xmlns:a="http://schemas.openxmlformats.org/drawingml/2006/main">
              <a:ext uri="{FF2B5EF4-FFF2-40B4-BE49-F238E27FC236}">
                <a16:creationId xmlns:a16="http://schemas.microsoft.com/office/drawing/2014/main" id="{E14D3419-DEC5-473F-8D2D-38FEC841BB1B}"/>
              </a:ext>
            </a:extLst>
          </p:cNvPr>
          <p:cNvSpPr>
            <a:spLocks xmlns:a="http://schemas.openxmlformats.org/drawingml/2006/main" noGrp="1"/>
          </p:cNvSpPr>
          <p:nvPr/>
        </p:nvSpPr>
        <p:spPr>
          <a:xfrm xmlns:a="http://schemas.openxmlformats.org/drawingml/2006/main">
            <a:off x="6382512"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Quality and supply</a:t>
            </a:r>
            <a:endParaRPr sz="1050">
              <a:latin typeface="Open Sans"/>
              <a:ea typeface="Open Sans"/>
              <a:cs typeface="Open Sans"/>
            </a:endParaRPr>
          </a:p>
        </p:txBody>
      </p:sp>
      <p:sp>
        <p:nvSpPr>
          <p:cNvPr id="48" name="Text 41">
            <a:extLst xmlns:a="http://schemas.openxmlformats.org/drawingml/2006/main">
              <a:ext uri="{FF2B5EF4-FFF2-40B4-BE49-F238E27FC236}">
                <a16:creationId xmlns:a16="http://schemas.microsoft.com/office/drawing/2014/main" id="{9A4BF7AE-9417-48E9-9568-9BDD81FE34F0}"/>
              </a:ext>
            </a:extLst>
          </p:cNvPr>
          <p:cNvSpPr>
            <a:spLocks xmlns:a="http://schemas.openxmlformats.org/drawingml/2006/main" noGrp="1"/>
          </p:cNvSpPr>
          <p:nvPr/>
        </p:nvSpPr>
        <p:spPr>
          <a:xfrm xmlns:a="http://schemas.openxmlformats.org/drawingml/2006/main">
            <a:off x="6382512"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E315C"/>
                </a:solidFill>
                <a:latin typeface="Open Sans"/>
                <a:ea typeface="Open Sans"/>
                <a:cs typeface="Open Sans"/>
              </a:rPr>
              <a:t>Manufacturing</a:t>
            </a:r>
            <a:endParaRPr sz="900">
              <a:latin typeface="Open Sans"/>
              <a:ea typeface="Open Sans"/>
              <a:cs typeface="Open Sans"/>
            </a:endParaRPr>
          </a:p>
        </p:txBody>
      </p:sp>
      <p:pic>
        <p:nvPicPr>
          <p:cNvPr id="124" name="Image 5"/>
          <p:cNvPicPr>
            <a:picLocks xmlns:a="http://schemas.openxmlformats.org/drawingml/2006/main" noChangeAspect="1"/>
          </p:cNvPicPr>
          <p:nvPr/>
        </p:nvPicPr>
        <p:blipFill>
          <a:blip xmlns:r="http://schemas.openxmlformats.org/officeDocument/2006/relationships" xmlns:a="http://schemas.openxmlformats.org/drawingml/2006/main" r:embed="Rd662d1c759d744be">
            <a:duotone>
              <a:srgbClr val="0E315C"/>
              <a:srgbClr val="0E315C"/>
            </a:duotone>
          </a:blip>
          <a:stretch xmlns:a="http://schemas.openxmlformats.org/drawingml/2006/main">
            <a:fillRect l="0" t="0" r="0" b="0"/>
          </a:stretch>
        </p:blipFill>
        <p:spPr>
          <a:xfrm xmlns:a="http://schemas.openxmlformats.org/drawingml/2006/main">
            <a:off x="6370625" y="5088458"/>
            <a:ext cx="137160" cy="137160"/>
          </a:xfrm>
          <a:prstGeom xmlns:a="http://schemas.openxmlformats.org/drawingml/2006/main" prst="rect">
            <a:avLst/>
          </a:prstGeom>
        </p:spPr>
      </p:pic>
      <p:sp>
        <p:nvSpPr>
          <p:cNvPr id="51" name="Text 43">
            <a:extLst xmlns:a="http://schemas.openxmlformats.org/drawingml/2006/main">
              <a:ext uri="{FF2B5EF4-FFF2-40B4-BE49-F238E27FC236}">
                <a16:creationId xmlns:a16="http://schemas.microsoft.com/office/drawing/2014/main" id="{7AD51BD8-AA78-4B75-990A-2BD5A4CD7A21}"/>
              </a:ext>
            </a:extLst>
          </p:cNvPr>
          <p:cNvSpPr>
            <a:spLocks xmlns:a="http://schemas.openxmlformats.org/drawingml/2006/main" noGrp="1"/>
          </p:cNvSpPr>
          <p:nvPr/>
        </p:nvSpPr>
        <p:spPr>
          <a:xfrm xmlns:a="http://schemas.openxmlformats.org/drawingml/2006/main">
            <a:off x="6565392" y="5086350"/>
            <a:ext cx="2038350" cy="504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50">
                <a:solidFill>
                  <a:srgbClr val="000000">
                    <a:alpha val="76000"/>
                  </a:srgbClr>
                </a:solidFill>
                <a:latin typeface="Open Sans"/>
                <a:ea typeface="Open Sans"/>
                <a:cs typeface="Open Sans"/>
              </a:rPr>
              <a:t>Yield alerts are analyzed and actions still need to be performed manually</a:t>
            </a:r>
            <a:endParaRPr sz="850">
              <a:latin typeface="Open Sans"/>
              <a:ea typeface="Open Sans"/>
              <a:cs typeface="Open Sans"/>
            </a:endParaRPr>
          </a:p>
        </p:txBody>
      </p:sp>
      <p:sp>
        <p:nvSpPr>
          <p:cNvPr id="52" name="Shape 44">
            <a:extLst xmlns:a="http://schemas.openxmlformats.org/drawingml/2006/main">
              <a:ext uri="{FF2B5EF4-FFF2-40B4-BE49-F238E27FC236}">
                <a16:creationId xmlns:a16="http://schemas.microsoft.com/office/drawing/2014/main" id="{26E1A58B-5022-4EF9-B2C2-0DFBD248121B}"/>
              </a:ext>
            </a:extLst>
          </p:cNvPr>
          <p:cNvSpPr>
            <a:spLocks xmlns:a="http://schemas.openxmlformats.org/drawingml/2006/main" noGrp="1"/>
          </p:cNvSpPr>
          <p:nvPr/>
        </p:nvSpPr>
        <p:spPr>
          <a:xfrm xmlns:a="http://schemas.openxmlformats.org/drawingml/2006/main">
            <a:off x="8778240" y="5001768"/>
            <a:ext cx="256032" cy="0"/>
          </a:xfrm>
          <a:prstGeom xmlns:a="http://schemas.openxmlformats.org/drawingml/2006/main" prst="line">
            <a:avLst/>
          </a:prstGeom>
          <a:noFill xmlns:a="http://schemas.openxmlformats.org/drawingml/2006/main"/>
          <a:ln xmlns:a="http://schemas.openxmlformats.org/drawingml/2006/main" w="15875">
            <a:solidFill>
              <a:srgbClr val="0071CF"/>
            </a:solidFill>
            <a:prstDash val="dash"/>
            <a:tailEnd type="triangle"/>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3" name="Shape 45">
            <a:extLst xmlns:a="http://schemas.openxmlformats.org/drawingml/2006/main">
              <a:ext uri="{FF2B5EF4-FFF2-40B4-BE49-F238E27FC236}">
                <a16:creationId xmlns:a16="http://schemas.microsoft.com/office/drawing/2014/main" id="{49871141-E342-4A60-ADEE-6FF6668ADAFC}"/>
              </a:ext>
            </a:extLst>
          </p:cNvPr>
          <p:cNvSpPr>
            <a:spLocks xmlns:a="http://schemas.openxmlformats.org/drawingml/2006/main" noGrp="1"/>
          </p:cNvSpPr>
          <p:nvPr/>
        </p:nvSpPr>
        <p:spPr>
          <a:xfrm xmlns:a="http://schemas.openxmlformats.org/drawingml/2006/main">
            <a:off x="9089136" y="4544568"/>
            <a:ext cx="24505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4" name="Text 46">
            <a:extLst xmlns:a="http://schemas.openxmlformats.org/drawingml/2006/main">
              <a:ext uri="{FF2B5EF4-FFF2-40B4-BE49-F238E27FC236}">
                <a16:creationId xmlns:a16="http://schemas.microsoft.com/office/drawing/2014/main" id="{FF519D06-E31C-4A9D-AA83-D0ACBFFDF1DB}"/>
              </a:ext>
            </a:extLst>
          </p:cNvPr>
          <p:cNvSpPr>
            <a:spLocks xmlns:a="http://schemas.openxmlformats.org/drawingml/2006/main" noGrp="1"/>
          </p:cNvSpPr>
          <p:nvPr/>
        </p:nvSpPr>
        <p:spPr>
          <a:xfrm xmlns:a="http://schemas.openxmlformats.org/drawingml/2006/main">
            <a:off x="9198864" y="4608576"/>
            <a:ext cx="22311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Delivery</a:t>
            </a:r>
            <a:endParaRPr sz="1050">
              <a:latin typeface="Open Sans"/>
              <a:ea typeface="Open Sans"/>
              <a:cs typeface="Open Sans"/>
            </a:endParaRPr>
          </a:p>
        </p:txBody>
      </p:sp>
      <p:sp>
        <p:nvSpPr>
          <p:cNvPr id="55" name="Text 47">
            <a:extLst xmlns:a="http://schemas.openxmlformats.org/drawingml/2006/main">
              <a:ext uri="{FF2B5EF4-FFF2-40B4-BE49-F238E27FC236}">
                <a16:creationId xmlns:a16="http://schemas.microsoft.com/office/drawing/2014/main" id="{6318FD41-671A-4D2E-ACF8-3948A83CA469}"/>
              </a:ext>
            </a:extLst>
          </p:cNvPr>
          <p:cNvSpPr>
            <a:spLocks xmlns:a="http://schemas.openxmlformats.org/drawingml/2006/main" noGrp="1"/>
          </p:cNvSpPr>
          <p:nvPr/>
        </p:nvSpPr>
        <p:spPr>
          <a:xfrm xmlns:a="http://schemas.openxmlformats.org/drawingml/2006/main">
            <a:off x="9198864" y="4809744"/>
            <a:ext cx="223113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E315C"/>
                </a:solidFill>
                <a:latin typeface="Open Sans"/>
                <a:ea typeface="Open Sans"/>
                <a:cs typeface="Open Sans"/>
              </a:rPr>
              <a:t>Commercial</a:t>
            </a:r>
            <a:endParaRPr sz="900">
              <a:latin typeface="Open Sans"/>
              <a:ea typeface="Open Sans"/>
              <a:cs typeface="Open Sans"/>
            </a:endParaRPr>
          </a:p>
        </p:txBody>
      </p:sp>
      <p:pic>
        <p:nvPicPr>
          <p:cNvPr id="130" name="Image 6"/>
          <p:cNvPicPr>
            <a:picLocks xmlns:a="http://schemas.openxmlformats.org/drawingml/2006/main" noChangeAspect="1"/>
          </p:cNvPicPr>
          <p:nvPr/>
        </p:nvPicPr>
        <p:blipFill>
          <a:blip xmlns:r="http://schemas.openxmlformats.org/officeDocument/2006/relationships" xmlns:a="http://schemas.openxmlformats.org/drawingml/2006/main" r:embed="Rd662d1c759d744be">
            <a:duotone>
              <a:srgbClr val="0E315C"/>
              <a:srgbClr val="0E315C"/>
            </a:duotone>
          </a:blip>
          <a:stretch xmlns:a="http://schemas.openxmlformats.org/drawingml/2006/main">
            <a:fillRect l="0" t="0" r="0" b="0"/>
          </a:stretch>
        </p:blipFill>
        <p:spPr>
          <a:xfrm xmlns:a="http://schemas.openxmlformats.org/drawingml/2006/main">
            <a:off x="9166860" y="5106924"/>
            <a:ext cx="137160" cy="137160"/>
          </a:xfrm>
          <a:prstGeom xmlns:a="http://schemas.openxmlformats.org/drawingml/2006/main" prst="rect">
            <a:avLst/>
          </a:prstGeom>
        </p:spPr>
      </p:pic>
      <p:sp>
        <p:nvSpPr>
          <p:cNvPr id="58" name="Text 49">
            <a:extLst xmlns:a="http://schemas.openxmlformats.org/drawingml/2006/main">
              <a:ext uri="{FF2B5EF4-FFF2-40B4-BE49-F238E27FC236}">
                <a16:creationId xmlns:a16="http://schemas.microsoft.com/office/drawing/2014/main" id="{D59F6E6D-01EB-4AF2-BDB3-CF4493BA59EE}"/>
              </a:ext>
            </a:extLst>
          </p:cNvPr>
          <p:cNvSpPr>
            <a:spLocks xmlns:a="http://schemas.openxmlformats.org/drawingml/2006/main" noGrp="1"/>
          </p:cNvSpPr>
          <p:nvPr/>
        </p:nvSpPr>
        <p:spPr>
          <a:xfrm xmlns:a="http://schemas.openxmlformats.org/drawingml/2006/main">
            <a:off x="9381744" y="5086350"/>
            <a:ext cx="2038350" cy="5048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50">
                <a:solidFill>
                  <a:srgbClr val="000000">
                    <a:alpha val="76000"/>
                  </a:srgbClr>
                </a:solidFill>
                <a:latin typeface="Open Sans"/>
                <a:ea typeface="Open Sans"/>
                <a:cs typeface="Open Sans"/>
              </a:rPr>
              <a:t>Delivery data needs to be managed and updated</a:t>
            </a:r>
            <a:endParaRPr sz="850">
              <a:latin typeface="Open Sans"/>
              <a:ea typeface="Open Sans"/>
              <a:cs typeface="Open Sans"/>
            </a:endParaRPr>
          </a:p>
        </p:txBody>
      </p:sp>
      <p:pic>
        <p:nvPicPr>
          <p:cNvPr id="132" name="Image 7"/>
          <p:cNvPicPr>
            <a:picLocks xmlns:a="http://schemas.openxmlformats.org/drawingml/2006/main" noChangeAspect="1"/>
          </p:cNvPicPr>
          <p:nvPr/>
        </p:nvPicPr>
        <p:blipFill>
          <a:blip xmlns:r="http://schemas.openxmlformats.org/officeDocument/2006/relationships" xmlns:a="http://schemas.openxmlformats.org/drawingml/2006/main" r:embed="Rc8bbe894901e4aa0">
            <a:duotone>
              <a:srgbClr val="0E315C"/>
              <a:srgbClr val="0E315C"/>
            </a:duotone>
          </a:blip>
          <a:stretch xmlns:a="http://schemas.openxmlformats.org/drawingml/2006/main">
            <a:fillRect l="0" t="0" r="0" b="0"/>
          </a:stretch>
        </p:blipFill>
        <p:spPr>
          <a:xfrm xmlns:a="http://schemas.openxmlformats.org/drawingml/2006/main">
            <a:off x="733425" y="5753100"/>
            <a:ext cx="182880" cy="182880"/>
          </a:xfrm>
          <a:prstGeom xmlns:a="http://schemas.openxmlformats.org/drawingml/2006/main" prst="rect">
            <a:avLst/>
          </a:prstGeom>
        </p:spPr>
      </p:pic>
      <p:sp>
        <p:nvSpPr>
          <p:cNvPr id="61" name="Text 51">
            <a:extLst xmlns:a="http://schemas.openxmlformats.org/drawingml/2006/main">
              <a:ext uri="{FF2B5EF4-FFF2-40B4-BE49-F238E27FC236}">
                <a16:creationId xmlns:a16="http://schemas.microsoft.com/office/drawing/2014/main" id="{D5BE67DB-B085-47B0-8CAA-FB74EA80111D}"/>
              </a:ext>
            </a:extLst>
          </p:cNvPr>
          <p:cNvSpPr>
            <a:spLocks xmlns:a="http://schemas.openxmlformats.org/drawingml/2006/main" noGrp="1"/>
          </p:cNvSpPr>
          <p:nvPr/>
        </p:nvSpPr>
        <p:spPr>
          <a:xfrm xmlns:a="http://schemas.openxmlformats.org/drawingml/2006/main">
            <a:off x="1009650" y="5686425"/>
            <a:ext cx="4829175" cy="4476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b="1">
                <a:solidFill>
                  <a:srgbClr val="0E315C"/>
                </a:solidFill>
                <a:latin typeface="Open Sans"/>
                <a:ea typeface="Open Sans"/>
                <a:cs typeface="Open Sans"/>
              </a:rPr>
              <a:t>Engineering approver </a:t>
            </a:r>
            <a:r>
              <a:rPr sz="900">
                <a:solidFill>
                  <a:srgbClr val="0E315C"/>
                </a:solidFill>
                <a:latin typeface="Open Sans"/>
                <a:ea typeface="Open Sans"/>
                <a:cs typeface="Open Sans"/>
              </a:rPr>
              <a:t>signs off test plans and evidence that were gathered manually</a:t>
            </a:r>
            <a:endParaRPr sz="900">
              <a:latin typeface="Open Sans"/>
              <a:ea typeface="Open Sans"/>
              <a:cs typeface="Open Sans"/>
            </a:endParaRPr>
          </a:p>
        </p:txBody>
      </p:sp>
      <p:pic>
        <p:nvPicPr>
          <p:cNvPr id="134" name="Image 8"/>
          <p:cNvPicPr>
            <a:picLocks xmlns:a="http://schemas.openxmlformats.org/drawingml/2006/main" noChangeAspect="1"/>
          </p:cNvPicPr>
          <p:nvPr/>
        </p:nvPicPr>
        <p:blipFill>
          <a:blip xmlns:r="http://schemas.openxmlformats.org/officeDocument/2006/relationships" xmlns:a="http://schemas.openxmlformats.org/drawingml/2006/main" r:embed="R713fb2631cbc4bac">
            <a:duotone>
              <a:srgbClr val="0E315C"/>
              <a:srgbClr val="0E315C"/>
            </a:duotone>
          </a:blip>
          <a:stretch xmlns:a="http://schemas.openxmlformats.org/drawingml/2006/main">
            <a:fillRect l="0" t="0" r="0" b="0"/>
          </a:stretch>
        </p:blipFill>
        <p:spPr>
          <a:xfrm xmlns:a="http://schemas.openxmlformats.org/drawingml/2006/main">
            <a:off x="6410325" y="5753100"/>
            <a:ext cx="182880" cy="182880"/>
          </a:xfrm>
          <a:prstGeom xmlns:a="http://schemas.openxmlformats.org/drawingml/2006/main" prst="rect">
            <a:avLst/>
          </a:prstGeom>
        </p:spPr>
      </p:pic>
      <p:sp>
        <p:nvSpPr>
          <p:cNvPr id="64" name="Text 53">
            <a:extLst xmlns:a="http://schemas.openxmlformats.org/drawingml/2006/main">
              <a:ext uri="{FF2B5EF4-FFF2-40B4-BE49-F238E27FC236}">
                <a16:creationId xmlns:a16="http://schemas.microsoft.com/office/drawing/2014/main" id="{D665BD51-E490-4FC8-BE04-8A4B998374AD}"/>
              </a:ext>
            </a:extLst>
          </p:cNvPr>
          <p:cNvSpPr>
            <a:spLocks xmlns:a="http://schemas.openxmlformats.org/drawingml/2006/main" noGrp="1"/>
          </p:cNvSpPr>
          <p:nvPr/>
        </p:nvSpPr>
        <p:spPr>
          <a:xfrm xmlns:a="http://schemas.openxmlformats.org/drawingml/2006/main">
            <a:off x="6686550" y="5686425"/>
            <a:ext cx="4857750" cy="4476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b="1">
                <a:solidFill>
                  <a:srgbClr val="0E315C"/>
                </a:solidFill>
                <a:latin typeface="Open Sans"/>
                <a:ea typeface="Open Sans"/>
                <a:cs typeface="Open Sans"/>
              </a:rPr>
              <a:t>Program owner </a:t>
            </a:r>
            <a:r>
              <a:rPr sz="900">
                <a:solidFill>
                  <a:srgbClr val="0E315C"/>
                </a:solidFill>
                <a:latin typeface="Open Sans"/>
                <a:ea typeface="Open Sans"/>
                <a:cs typeface="Open Sans"/>
              </a:rPr>
              <a:t>approves recovery plans and delivery dates</a:t>
            </a:r>
            <a:endParaRPr sz="900">
              <a:latin typeface="Open Sans"/>
              <a:ea typeface="Open Sans"/>
              <a:cs typeface="Open Sans"/>
            </a:endParaRPr>
          </a:p>
        </p:txBody>
      </p:sp>
      <p:sp>
        <p:nvSpPr>
          <p:cNvPr id="68" name="Text 56">
            <a:extLst xmlns:a="http://schemas.openxmlformats.org/drawingml/2006/main">
              <a:ext uri="{FF2B5EF4-FFF2-40B4-BE49-F238E27FC236}">
                <a16:creationId xmlns:a16="http://schemas.microsoft.com/office/drawing/2014/main" id="{E67B51EA-F743-4EA0-B918-10A74176AD40}"/>
              </a:ext>
            </a:extLst>
          </p:cNvPr>
          <p:cNvSpPr>
            <a:spLocks xmlns:a="http://schemas.openxmlformats.org/drawingml/2006/main" noGrp="1"/>
          </p:cNvSpPr>
          <p:nvPr/>
        </p:nvSpPr>
        <p:spPr>
          <a:xfrm xmlns:a="http://schemas.openxmlformats.org/drawingml/2006/main">
            <a:off x="457200" y="6419850"/>
            <a:ext cx="11277600" cy="342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750">
                <a:solidFill>
                  <a:srgbClr val="000000">
                    <a:alpha val="55000"/>
                  </a:srgbClr>
                </a:solidFill>
                <a:latin typeface="Open Sans"/>
                <a:ea typeface="Open Sans"/>
                <a:cs typeface="Open Sans"/>
              </a:rPr>
              <a:t>Sources: Meta, ISCA 2025, §6. Marvell, Jun 2025.</a:t>
            </a:r>
            <a:endParaRPr sz="750"/>
          </a:p>
          <a:p xmlns:a="http://schemas.openxmlformats.org/drawingml/2006/main">
            <a:pPr>
              <a:defRPr>
                <a:latin typeface="Open Sans"/>
                <a:ea typeface="Open Sans"/>
                <a:cs typeface="Open Sans"/>
              </a:defRPr>
            </a:pPr>
            <a:r>
              <a:rPr sz="750">
                <a:solidFill>
                  <a:srgbClr val="000000">
                    <a:alpha val="55000"/>
                  </a:srgbClr>
                </a:solidFill>
                <a:latin typeface="Open Sans"/>
                <a:ea typeface="Open Sans"/>
                <a:cs typeface="Open Sans"/>
              </a:rPr>
              <a:t>Gartner, "Forecasting the $204 Billion Opportunity in Custom Semiconductor Chips (ASIC)," 26 Aug 2026</a:t>
            </a:r>
            <a:endParaRPr sz="750">
              <a:solidFill>
                <a:schemeClr val="bg1">
                  <a:lumMod val="75000"/>
                </a:schemeClr>
              </a:solidFill>
              <a:latin typeface="Open Sans"/>
              <a:ea typeface="Open Sans"/>
              <a:cs typeface="Open Sans"/>
            </a:endParaRPr>
          </a:p>
          <a:p xmlns:a="http://schemas.openxmlformats.org/drawingml/2006/main">
            <a:pPr marL="0" indent="0">
              <a:buNone/>
              <a:defRPr>
                <a:latin typeface="Open Sans"/>
                <a:ea typeface="Open Sans"/>
                <a:cs typeface="Open Sans"/>
              </a:defRPr>
            </a:pPr>
            <a:endParaRPr sz="750">
              <a:solidFill>
                <a:schemeClr val="bg1">
                  <a:lumMod val="75000"/>
                </a:schemeClr>
              </a:solidFill>
              <a:latin typeface="Open Sans"/>
              <a:ea typeface="Open Sans"/>
              <a:cs typeface="Open Sans"/>
            </a:endParaRPr>
          </a:p>
        </p:txBody>
      </p:sp>
      <p:sp>
        <p:nvSpPr>
          <p:cNvPr id="77" name="brand-rule-1">
            <a:extLst xmlns:a="http://schemas.openxmlformats.org/drawingml/2006/main">
              <a:ext uri="{FF2B5EF4-FFF2-40B4-BE49-F238E27FC236}">
                <a16:creationId xmlns:a16="http://schemas.microsoft.com/office/drawing/2014/main" id="{A1675392-9AFC-44F3-B00F-272B4A74BFBA}"/>
              </a:ext>
            </a:extLst>
          </p:cNvPr>
          <p:cNvSpPr>
            <a:spLocks xmlns:a="http://schemas.openxmlformats.org/drawingml/2006/main" noGrp="1"/>
          </p:cNvSpPr>
          <p:nvPr/>
        </p:nvSpPr>
        <p:spPr>
          <a:xfrm xmlns:a="http://schemas.openxmlformats.org/drawingml/2006/main">
            <a:off x="640080" y="4543425"/>
            <a:ext cx="24507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78" name="brand-rule-2">
            <a:extLst xmlns:a="http://schemas.openxmlformats.org/drawingml/2006/main">
              <a:ext uri="{FF2B5EF4-FFF2-40B4-BE49-F238E27FC236}">
                <a16:creationId xmlns:a16="http://schemas.microsoft.com/office/drawing/2014/main" id="{33B551F5-B170-47B3-B4B4-4AB67E407AE5}"/>
              </a:ext>
            </a:extLst>
          </p:cNvPr>
          <p:cNvSpPr>
            <a:spLocks xmlns:a="http://schemas.openxmlformats.org/drawingml/2006/main" noGrp="1"/>
          </p:cNvSpPr>
          <p:nvPr/>
        </p:nvSpPr>
        <p:spPr>
          <a:xfrm xmlns:a="http://schemas.openxmlformats.org/drawingml/2006/main">
            <a:off x="3456432" y="4543425"/>
            <a:ext cx="24507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79" name="brand-rule-3">
            <a:extLst xmlns:a="http://schemas.openxmlformats.org/drawingml/2006/main">
              <a:ext uri="{FF2B5EF4-FFF2-40B4-BE49-F238E27FC236}">
                <a16:creationId xmlns:a16="http://schemas.microsoft.com/office/drawing/2014/main" id="{D5255A5B-E307-45ED-9D3F-0035485DD6AF}"/>
              </a:ext>
            </a:extLst>
          </p:cNvPr>
          <p:cNvSpPr>
            <a:spLocks xmlns:a="http://schemas.openxmlformats.org/drawingml/2006/main" noGrp="1"/>
          </p:cNvSpPr>
          <p:nvPr/>
        </p:nvSpPr>
        <p:spPr>
          <a:xfrm xmlns:a="http://schemas.openxmlformats.org/drawingml/2006/main">
            <a:off x="6272784" y="4543425"/>
            <a:ext cx="24507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80" name="brand-rule-4">
            <a:extLst xmlns:a="http://schemas.openxmlformats.org/drawingml/2006/main">
              <a:ext uri="{FF2B5EF4-FFF2-40B4-BE49-F238E27FC236}">
                <a16:creationId xmlns:a16="http://schemas.microsoft.com/office/drawing/2014/main" id="{4FF03CF5-8562-434D-A140-D889CE17DA0D}"/>
              </a:ext>
            </a:extLst>
          </p:cNvPr>
          <p:cNvSpPr>
            <a:spLocks xmlns:a="http://schemas.openxmlformats.org/drawingml/2006/main" noGrp="1"/>
          </p:cNvSpPr>
          <p:nvPr/>
        </p:nvSpPr>
        <p:spPr>
          <a:xfrm xmlns:a="http://schemas.openxmlformats.org/drawingml/2006/main">
            <a:off x="9089136" y="4543425"/>
            <a:ext cx="24507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81" name="brand-rule-5">
            <a:extLst xmlns:a="http://schemas.openxmlformats.org/drawingml/2006/main">
              <a:ext uri="{FF2B5EF4-FFF2-40B4-BE49-F238E27FC236}">
                <a16:creationId xmlns:a16="http://schemas.microsoft.com/office/drawing/2014/main" id="{F1CD7A87-40BF-4F8F-B276-D9B6815ABDFC}"/>
              </a:ext>
            </a:extLst>
          </p:cNvPr>
          <p:cNvSpPr>
            <a:spLocks xmlns:a="http://schemas.openxmlformats.org/drawingml/2006/main" noGrp="1"/>
          </p:cNvSpPr>
          <p:nvPr/>
        </p:nvSpPr>
        <p:spPr>
          <a:xfrm xmlns:a="http://schemas.openxmlformats.org/drawingml/2006/main">
            <a:off x="640080" y="5629275"/>
            <a:ext cx="5276850"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82" name="brand-rule-6">
            <a:extLst xmlns:a="http://schemas.openxmlformats.org/drawingml/2006/main">
              <a:ext uri="{FF2B5EF4-FFF2-40B4-BE49-F238E27FC236}">
                <a16:creationId xmlns:a16="http://schemas.microsoft.com/office/drawing/2014/main" id="{E2524AB6-38A3-48FB-8D8A-4E154111F2E8}"/>
              </a:ext>
            </a:extLst>
          </p:cNvPr>
          <p:cNvSpPr>
            <a:spLocks xmlns:a="http://schemas.openxmlformats.org/drawingml/2006/main" noGrp="1"/>
          </p:cNvSpPr>
          <p:nvPr/>
        </p:nvSpPr>
        <p:spPr>
          <a:xfrm xmlns:a="http://schemas.openxmlformats.org/drawingml/2006/main">
            <a:off x="6334125" y="5629275"/>
            <a:ext cx="5210175" cy="0"/>
          </a:xfrm>
          <a:prstGeom xmlns:a="http://schemas.openxmlformats.org/drawingml/2006/main" prst="line">
            <a:avLst/>
          </a:prstGeom>
          <a:noFill xmlns:a="http://schemas.openxmlformats.org/drawingml/2006/main"/>
          <a:ln xmlns:a="http://schemas.openxmlformats.org/drawingml/2006/main" w="6668">
            <a:solidFill>
              <a:srgbClr val="C5BFEE"/>
            </a:solidFill>
            <a:prstDash val="solid"/>
          </a:ln>
        </p:spPr>
      </p:sp>
    </p:spTree>
    <p:extLst>
      <p:ext uri="{BB962C8B-B14F-4D97-AF65-F5344CB8AC3E}">
        <p14:creationId xmlns:p14="http://schemas.microsoft.com/office/powerpoint/2010/main" val="6420267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FCAC3FA7-8379-40AA-9580-4C6E51089930}"/>
              </a:ext>
            </a:extLst>
          </p:cNvPr>
          <p:cNvSpPr>
            <a:spLocks xmlns:a="http://schemas.openxmlformats.org/drawingml/2006/main" noGrp="1"/>
          </p:cNvSpPr>
          <p:nvPr/>
        </p:nvSpPr>
        <p:spPr>
          <a:xfrm xmlns:a="http://schemas.openxmlformats.org/drawingml/2006/main">
            <a:off x="457200" y="381000"/>
            <a:ext cx="9334500" cy="5143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0000"/>
                </a:solidFill>
                <a:latin typeface="Open Sans"/>
                <a:ea typeface="Open Sans"/>
                <a:cs typeface="Open Sans"/>
              </a:rPr>
              <a:t>The Solution Architecture</a:t>
            </a:r>
            <a:endParaRPr sz="2700"/>
          </a:p>
          <a:p xmlns:a="http://schemas.openxmlformats.org/drawingml/2006/main">
            <a:pPr marL="0" indent="0">
              <a:buNone/>
              <a:defRPr>
                <a:latin typeface="Open Sans"/>
                <a:ea typeface="Open Sans"/>
                <a:cs typeface="Open Sans"/>
              </a:defRPr>
            </a:pPr>
            <a:endParaRPr sz="2700">
              <a:latin typeface="Open Sans"/>
              <a:ea typeface="Open Sans"/>
              <a:cs typeface="Open Sans"/>
            </a:endParaRPr>
          </a:p>
        </p:txBody>
      </p:sp>
      <p:sp>
        <p:nvSpPr>
          <p:cNvPr id="4" name="Shape 2">
            <a:extLst xmlns:a="http://schemas.openxmlformats.org/drawingml/2006/main">
              <a:ext uri="{FF2B5EF4-FFF2-40B4-BE49-F238E27FC236}">
                <a16:creationId xmlns:a16="http://schemas.microsoft.com/office/drawing/2014/main" id="{BA6D03E3-4D41-44D8-8BDC-B7E0855776C9}"/>
              </a:ext>
            </a:extLst>
          </p:cNvPr>
          <p:cNvSpPr>
            <a:spLocks xmlns:a="http://schemas.openxmlformats.org/drawingml/2006/main" noGrp="1"/>
          </p:cNvSpPr>
          <p:nvPr/>
        </p:nvSpPr>
        <p:spPr>
          <a:xfrm xmlns:a="http://schemas.openxmlformats.org/drawingml/2006/main">
            <a:off x="457200" y="1280160"/>
            <a:ext cx="11277600" cy="4171950"/>
          </a:xfrm>
          <a:prstGeom xmlns:a="http://schemas.openxmlformats.org/drawingml/2006/main" prst="roundRect">
            <a:avLst>
              <a:gd name="adj" fmla="val 0"/>
            </a:avLst>
          </a:prstGeom>
          <a:solidFill xmlns:a="http://schemas.openxmlformats.org/drawingml/2006/main">
            <a:srgbClr val="0E315C">
              <a:alpha val="3500"/>
            </a:srgbClr>
          </a:solidFill>
          <a:ln xmlns:a="http://schemas.openxmlformats.org/drawingml/2006/main" w="9525">
            <a:solidFill>
              <a:srgbClr val="0E315C">
                <a:alpha val="2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60" name="Image 0"/>
          <p:cNvPicPr>
            <a:picLocks xmlns:a="http://schemas.openxmlformats.org/drawingml/2006/main" noChangeAspect="1"/>
          </p:cNvPicPr>
          <p:nvPr/>
        </p:nvPicPr>
        <p:blipFill>
          <a:blip xmlns:r="http://schemas.openxmlformats.org/officeDocument/2006/relationships" xmlns:a="http://schemas.openxmlformats.org/drawingml/2006/main" r:embed="Rc10898c56def405b">
            <a:duotone>
              <a:srgbClr val="0071CF"/>
              <a:srgbClr val="0071CF"/>
            </a:duotone>
          </a:blip>
          <a:stretch xmlns:a="http://schemas.openxmlformats.org/drawingml/2006/main">
            <a:fillRect l="0" t="0" r="0" b="0"/>
          </a:stretch>
        </p:blipFill>
        <p:spPr>
          <a:xfrm xmlns:a="http://schemas.openxmlformats.org/drawingml/2006/main">
            <a:off x="621792" y="1353312"/>
            <a:ext cx="201168" cy="201168"/>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042227FC-EF52-4208-8444-CD6684D10B64}"/>
              </a:ext>
            </a:extLst>
          </p:cNvPr>
          <p:cNvSpPr>
            <a:spLocks xmlns:a="http://schemas.openxmlformats.org/drawingml/2006/main" noGrp="1"/>
          </p:cNvSpPr>
          <p:nvPr/>
        </p:nvSpPr>
        <p:spPr>
          <a:xfrm xmlns:a="http://schemas.openxmlformats.org/drawingml/2006/main">
            <a:off x="877824" y="1335024"/>
            <a:ext cx="3657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100" b="1">
                <a:solidFill>
                  <a:srgbClr val="000000"/>
                </a:solidFill>
                <a:latin typeface="Open Sans"/>
                <a:ea typeface="Open Sans"/>
                <a:cs typeface="Open Sans"/>
              </a:rPr>
              <a:t>Stratos agentic system</a:t>
            </a:r>
            <a:endParaRPr sz="1100">
              <a:latin typeface="Open Sans"/>
              <a:ea typeface="Open Sans"/>
              <a:cs typeface="Open Sans"/>
            </a:endParaRPr>
          </a:p>
        </p:txBody>
      </p:sp>
      <p:sp>
        <p:nvSpPr>
          <p:cNvPr id="7" name="Text 4">
            <a:extLst xmlns:a="http://schemas.openxmlformats.org/drawingml/2006/main">
              <a:ext uri="{FF2B5EF4-FFF2-40B4-BE49-F238E27FC236}">
                <a16:creationId xmlns:a16="http://schemas.microsoft.com/office/drawing/2014/main" id="{0B53EBBD-415B-4E5E-BD5B-3CA40B88DC19}"/>
              </a:ext>
            </a:extLst>
          </p:cNvPr>
          <p:cNvSpPr>
            <a:spLocks xmlns:a="http://schemas.openxmlformats.org/drawingml/2006/main" noGrp="1"/>
          </p:cNvSpPr>
          <p:nvPr/>
        </p:nvSpPr>
        <p:spPr>
          <a:xfrm xmlns:a="http://schemas.openxmlformats.org/drawingml/2006/main">
            <a:off x="6035040" y="1335024"/>
            <a:ext cx="55321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defRPr>
                <a:latin typeface="Open Sans"/>
                <a:ea typeface="Open Sans"/>
                <a:cs typeface="Open Sans"/>
              </a:defRPr>
            </a:pPr>
            <a:r>
              <a:rPr sz="850">
                <a:solidFill>
                  <a:srgbClr val="000000">
                    <a:alpha val="60000"/>
                  </a:srgbClr>
                </a:solidFill>
                <a:latin typeface="Open Sans"/>
                <a:ea typeface="Open Sans"/>
                <a:cs typeface="Open Sans"/>
              </a:rPr>
              <a:t>Built on OpenAI API Platform &amp; Codex</a:t>
            </a:r>
            <a:endParaRPr sz="850">
              <a:latin typeface="Open Sans"/>
              <a:ea typeface="Open Sans"/>
              <a:cs typeface="Open Sans"/>
            </a:endParaRPr>
          </a:p>
        </p:txBody>
      </p:sp>
      <p:sp>
        <p:nvSpPr>
          <p:cNvPr id="8" name="Shape 5">
            <a:extLst xmlns:a="http://schemas.openxmlformats.org/drawingml/2006/main">
              <a:ext uri="{FF2B5EF4-FFF2-40B4-BE49-F238E27FC236}">
                <a16:creationId xmlns:a16="http://schemas.microsoft.com/office/drawing/2014/main" id="{B651FBD9-F7EF-4344-9F43-5148EC03B15F}"/>
              </a:ext>
            </a:extLst>
          </p:cNvPr>
          <p:cNvSpPr>
            <a:spLocks xmlns:a="http://schemas.openxmlformats.org/drawingml/2006/main" noGrp="1"/>
          </p:cNvSpPr>
          <p:nvPr/>
        </p:nvSpPr>
        <p:spPr>
          <a:xfrm xmlns:a="http://schemas.openxmlformats.org/drawingml/2006/main">
            <a:off x="640080" y="1591056"/>
            <a:ext cx="10908792" cy="457200"/>
          </a:xfrm>
          <a:prstGeom xmlns:a="http://schemas.openxmlformats.org/drawingml/2006/main" prst="roundRect">
            <a:avLst>
              <a:gd name="adj" fmla="val 0"/>
            </a:avLst>
          </a:prstGeom>
          <a:solidFill xmlns:a="http://schemas.openxmlformats.org/drawingml/2006/main">
            <a:srgbClr val="FFFFFF"/>
          </a:solidFill>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9" name="Text 6">
            <a:extLst xmlns:a="http://schemas.openxmlformats.org/drawingml/2006/main">
              <a:ext uri="{FF2B5EF4-FFF2-40B4-BE49-F238E27FC236}">
                <a16:creationId xmlns:a16="http://schemas.microsoft.com/office/drawing/2014/main" id="{5BE1B9CF-DDAA-4863-9C16-E005E74CF9FF}"/>
              </a:ext>
            </a:extLst>
          </p:cNvPr>
          <p:cNvSpPr>
            <a:spLocks xmlns:a="http://schemas.openxmlformats.org/drawingml/2006/main" noGrp="1"/>
          </p:cNvSpPr>
          <p:nvPr/>
        </p:nvSpPr>
        <p:spPr>
          <a:xfrm xmlns:a="http://schemas.openxmlformats.org/drawingml/2006/main">
            <a:off x="786384" y="1645920"/>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100" b="1">
                <a:solidFill>
                  <a:srgbClr val="000000"/>
                </a:solidFill>
                <a:latin typeface="Open Sans"/>
                <a:ea typeface="Open Sans"/>
                <a:cs typeface="Open Sans"/>
              </a:rPr>
              <a:t>Front end UI</a:t>
            </a:r>
            <a:endParaRPr sz="1100">
              <a:latin typeface="Open Sans"/>
              <a:ea typeface="Open Sans"/>
              <a:cs typeface="Open Sans"/>
            </a:endParaRPr>
          </a:p>
        </p:txBody>
      </p:sp>
      <p:sp>
        <p:nvSpPr>
          <p:cNvPr id="10" name="Text 7">
            <a:extLst xmlns:a="http://schemas.openxmlformats.org/drawingml/2006/main">
              <a:ext uri="{FF2B5EF4-FFF2-40B4-BE49-F238E27FC236}">
                <a16:creationId xmlns:a16="http://schemas.microsoft.com/office/drawing/2014/main" id="{4C440B68-6FE3-41F2-9648-BECE70E2676D}"/>
              </a:ext>
            </a:extLst>
          </p:cNvPr>
          <p:cNvSpPr>
            <a:spLocks xmlns:a="http://schemas.openxmlformats.org/drawingml/2006/main" noGrp="1"/>
          </p:cNvSpPr>
          <p:nvPr/>
        </p:nvSpPr>
        <p:spPr>
          <a:xfrm xmlns:a="http://schemas.openxmlformats.org/drawingml/2006/main">
            <a:off x="786384" y="1837944"/>
            <a:ext cx="18288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Stratos workspace</a:t>
            </a:r>
            <a:endParaRPr sz="900">
              <a:latin typeface="Open Sans"/>
              <a:ea typeface="Open Sans"/>
              <a:cs typeface="Open Sans"/>
            </a:endParaRPr>
          </a:p>
        </p:txBody>
      </p:sp>
      <p:pic>
        <p:nvPicPr>
          <p:cNvPr id="166" name="Image 1"/>
          <p:cNvPicPr>
            <a:picLocks xmlns:a="http://schemas.openxmlformats.org/drawingml/2006/main" noChangeAspect="1"/>
          </p:cNvPicPr>
          <p:nvPr/>
        </p:nvPicPr>
        <p:blipFill>
          <a:blip xmlns:r="http://schemas.openxmlformats.org/officeDocument/2006/relationships" xmlns:a="http://schemas.openxmlformats.org/drawingml/2006/main" r:embed="R862ee95591ef4bff">
            <a:duotone>
              <a:srgbClr val="0071CF"/>
              <a:srgbClr val="0071CF"/>
            </a:duotone>
          </a:blip>
          <a:stretch xmlns:a="http://schemas.openxmlformats.org/drawingml/2006/main">
            <a:fillRect l="0" t="0" r="0" b="0"/>
          </a:stretch>
        </p:blipFill>
        <p:spPr>
          <a:xfrm xmlns:a="http://schemas.openxmlformats.org/drawingml/2006/main">
            <a:off x="3108960" y="1737360"/>
            <a:ext cx="201168" cy="201168"/>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1597B051-A996-4FFB-9DB9-53AF49CBE25F}"/>
              </a:ext>
            </a:extLst>
          </p:cNvPr>
          <p:cNvSpPr>
            <a:spLocks xmlns:a="http://schemas.openxmlformats.org/drawingml/2006/main" noGrp="1"/>
          </p:cNvSpPr>
          <p:nvPr/>
        </p:nvSpPr>
        <p:spPr>
          <a:xfrm xmlns:a="http://schemas.openxmlformats.org/drawingml/2006/main">
            <a:off x="336499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Case workbench</a:t>
            </a:r>
            <a:endParaRPr sz="1000">
              <a:latin typeface="Open Sans"/>
              <a:ea typeface="Open Sans"/>
              <a:cs typeface="Open Sans"/>
            </a:endParaRPr>
          </a:p>
        </p:txBody>
      </p:sp>
      <p:pic>
        <p:nvPicPr>
          <p:cNvPr id="168" name="Image 2"/>
          <p:cNvPicPr>
            <a:picLocks xmlns:a="http://schemas.openxmlformats.org/drawingml/2006/main" noChangeAspect="1"/>
          </p:cNvPicPr>
          <p:nvPr/>
        </p:nvPicPr>
        <p:blipFill>
          <a:blip xmlns:r="http://schemas.openxmlformats.org/officeDocument/2006/relationships" xmlns:a="http://schemas.openxmlformats.org/drawingml/2006/main" r:embed="R32cfaa38a89d4233">
            <a:duotone>
              <a:srgbClr val="0071CF"/>
              <a:srgbClr val="0071CF"/>
            </a:duotone>
          </a:blip>
          <a:stretch xmlns:a="http://schemas.openxmlformats.org/drawingml/2006/main">
            <a:fillRect l="0" t="0" r="0" b="0"/>
          </a:stretch>
        </p:blipFill>
        <p:spPr>
          <a:xfrm xmlns:a="http://schemas.openxmlformats.org/drawingml/2006/main">
            <a:off x="4800600" y="1737360"/>
            <a:ext cx="201168" cy="201168"/>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68ADF3CB-3A93-4AA0-B58B-C069F1A5A9F2}"/>
              </a:ext>
            </a:extLst>
          </p:cNvPr>
          <p:cNvSpPr>
            <a:spLocks xmlns:a="http://schemas.openxmlformats.org/drawingml/2006/main" noGrp="1"/>
          </p:cNvSpPr>
          <p:nvPr/>
        </p:nvSpPr>
        <p:spPr>
          <a:xfrm xmlns:a="http://schemas.openxmlformats.org/drawingml/2006/main">
            <a:off x="505663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Concierge</a:t>
            </a:r>
            <a:endParaRPr sz="1000">
              <a:latin typeface="Open Sans"/>
              <a:ea typeface="Open Sans"/>
              <a:cs typeface="Open Sans"/>
            </a:endParaRPr>
          </a:p>
        </p:txBody>
      </p:sp>
      <p:pic>
        <p:nvPicPr>
          <p:cNvPr id="170" name="Image 3"/>
          <p:cNvPicPr>
            <a:picLocks xmlns:a="http://schemas.openxmlformats.org/drawingml/2006/main" noChangeAspect="1"/>
          </p:cNvPicPr>
          <p:nvPr/>
        </p:nvPicPr>
        <p:blipFill>
          <a:blip xmlns:r="http://schemas.openxmlformats.org/officeDocument/2006/relationships" xmlns:a="http://schemas.openxmlformats.org/drawingml/2006/main" r:embed="R9684345f464c4518">
            <a:duotone>
              <a:srgbClr val="0071CF"/>
              <a:srgbClr val="0071CF"/>
            </a:duotone>
          </a:blip>
          <a:stretch xmlns:a="http://schemas.openxmlformats.org/drawingml/2006/main">
            <a:fillRect l="0" t="0" r="0" b="0"/>
          </a:stretch>
        </p:blipFill>
        <p:spPr>
          <a:xfrm xmlns:a="http://schemas.openxmlformats.org/drawingml/2006/main">
            <a:off x="6492240" y="1737360"/>
            <a:ext cx="201168" cy="201168"/>
          </a:xfrm>
          <a:prstGeom xmlns:a="http://schemas.openxmlformats.org/drawingml/2006/main" prst="rect">
            <a:avLst/>
          </a:prstGeom>
        </p:spPr>
      </p:pic>
      <p:sp>
        <p:nvSpPr>
          <p:cNvPr id="16" name="Text 10">
            <a:extLst xmlns:a="http://schemas.openxmlformats.org/drawingml/2006/main">
              <a:ext uri="{FF2B5EF4-FFF2-40B4-BE49-F238E27FC236}">
                <a16:creationId xmlns:a16="http://schemas.microsoft.com/office/drawing/2014/main" id="{9558FAB2-79B7-4829-BF39-1725B3FE8291}"/>
              </a:ext>
            </a:extLst>
          </p:cNvPr>
          <p:cNvSpPr>
            <a:spLocks xmlns:a="http://schemas.openxmlformats.org/drawingml/2006/main" noGrp="1"/>
          </p:cNvSpPr>
          <p:nvPr/>
        </p:nvSpPr>
        <p:spPr>
          <a:xfrm xmlns:a="http://schemas.openxmlformats.org/drawingml/2006/main">
            <a:off x="674827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Decisions</a:t>
            </a:r>
            <a:endParaRPr sz="1000">
              <a:latin typeface="Open Sans"/>
              <a:ea typeface="Open Sans"/>
              <a:cs typeface="Open Sans"/>
            </a:endParaRPr>
          </a:p>
        </p:txBody>
      </p:sp>
      <p:pic>
        <p:nvPicPr>
          <p:cNvPr id="172" name="Image 4"/>
          <p:cNvPicPr>
            <a:picLocks xmlns:a="http://schemas.openxmlformats.org/drawingml/2006/main" noChangeAspect="1"/>
          </p:cNvPicPr>
          <p:nvPr/>
        </p:nvPicPr>
        <p:blipFill>
          <a:blip xmlns:r="http://schemas.openxmlformats.org/officeDocument/2006/relationships" xmlns:a="http://schemas.openxmlformats.org/drawingml/2006/main" r:embed="Re887f44f62e84631">
            <a:duotone>
              <a:srgbClr val="0071CF"/>
              <a:srgbClr val="0071CF"/>
            </a:duotone>
          </a:blip>
          <a:stretch xmlns:a="http://schemas.openxmlformats.org/drawingml/2006/main">
            <a:fillRect l="0" t="0" r="0" b="0"/>
          </a:stretch>
        </p:blipFill>
        <p:spPr>
          <a:xfrm xmlns:a="http://schemas.openxmlformats.org/drawingml/2006/main">
            <a:off x="8183880" y="1737360"/>
            <a:ext cx="201168" cy="201168"/>
          </a:xfrm>
          <a:prstGeom xmlns:a="http://schemas.openxmlformats.org/drawingml/2006/main" prst="rect">
            <a:avLst/>
          </a:prstGeom>
        </p:spPr>
      </p:pic>
      <p:sp>
        <p:nvSpPr>
          <p:cNvPr id="18" name="Text 11">
            <a:extLst xmlns:a="http://schemas.openxmlformats.org/drawingml/2006/main">
              <a:ext uri="{FF2B5EF4-FFF2-40B4-BE49-F238E27FC236}">
                <a16:creationId xmlns:a16="http://schemas.microsoft.com/office/drawing/2014/main" id="{3A58B41E-BE7C-4719-BC5C-55821DCA5BE3}"/>
              </a:ext>
            </a:extLst>
          </p:cNvPr>
          <p:cNvSpPr>
            <a:spLocks xmlns:a="http://schemas.openxmlformats.org/drawingml/2006/main" noGrp="1"/>
          </p:cNvSpPr>
          <p:nvPr/>
        </p:nvSpPr>
        <p:spPr>
          <a:xfrm xmlns:a="http://schemas.openxmlformats.org/drawingml/2006/main">
            <a:off x="843991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Escalations</a:t>
            </a:r>
            <a:endParaRPr sz="1000">
              <a:latin typeface="Open Sans"/>
              <a:ea typeface="Open Sans"/>
              <a:cs typeface="Open Sans"/>
            </a:endParaRPr>
          </a:p>
        </p:txBody>
      </p:sp>
      <p:pic>
        <p:nvPicPr>
          <p:cNvPr id="174" name="Image 5"/>
          <p:cNvPicPr>
            <a:picLocks xmlns:a="http://schemas.openxmlformats.org/drawingml/2006/main" noChangeAspect="1"/>
          </p:cNvPicPr>
          <p:nvPr/>
        </p:nvPicPr>
        <p:blipFill>
          <a:blip xmlns:r="http://schemas.openxmlformats.org/officeDocument/2006/relationships" xmlns:a="http://schemas.openxmlformats.org/drawingml/2006/main" r:embed="R15effb45239b4920">
            <a:duotone>
              <a:srgbClr val="0071CF"/>
              <a:srgbClr val="0071CF"/>
            </a:duotone>
          </a:blip>
          <a:stretch xmlns:a="http://schemas.openxmlformats.org/drawingml/2006/main">
            <a:fillRect l="0" t="0" r="0" b="0"/>
          </a:stretch>
        </p:blipFill>
        <p:spPr>
          <a:xfrm xmlns:a="http://schemas.openxmlformats.org/drawingml/2006/main">
            <a:off x="9875520" y="1737360"/>
            <a:ext cx="201168" cy="201168"/>
          </a:xfrm>
          <a:prstGeom xmlns:a="http://schemas.openxmlformats.org/drawingml/2006/main" prst="rect">
            <a:avLst/>
          </a:prstGeom>
        </p:spPr>
      </p:pic>
      <p:sp>
        <p:nvSpPr>
          <p:cNvPr id="20" name="Text 12">
            <a:extLst xmlns:a="http://schemas.openxmlformats.org/drawingml/2006/main">
              <a:ext uri="{FF2B5EF4-FFF2-40B4-BE49-F238E27FC236}">
                <a16:creationId xmlns:a16="http://schemas.microsoft.com/office/drawing/2014/main" id="{26E04CF3-1872-464E-8908-95C6C6DBE979}"/>
              </a:ext>
            </a:extLst>
          </p:cNvPr>
          <p:cNvSpPr>
            <a:spLocks xmlns:a="http://schemas.openxmlformats.org/drawingml/2006/main" noGrp="1"/>
          </p:cNvSpPr>
          <p:nvPr/>
        </p:nvSpPr>
        <p:spPr>
          <a:xfrm xmlns:a="http://schemas.openxmlformats.org/drawingml/2006/main">
            <a:off x="10131552" y="1627632"/>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Operations</a:t>
            </a:r>
            <a:endParaRPr sz="1000">
              <a:latin typeface="Open Sans"/>
              <a:ea typeface="Open Sans"/>
              <a:cs typeface="Open Sans"/>
            </a:endParaRPr>
          </a:p>
        </p:txBody>
      </p:sp>
      <p:pic>
        <p:nvPicPr>
          <p:cNvPr id="176" name="Image 6"/>
          <p:cNvPicPr>
            <a:picLocks xmlns:a="http://schemas.openxmlformats.org/drawingml/2006/main" noChangeAspect="1"/>
          </p:cNvPicPr>
          <p:nvPr/>
        </p:nvPicPr>
        <p:blipFill>
          <a:blip xmlns:r="http://schemas.openxmlformats.org/officeDocument/2006/relationships" xmlns:a="http://schemas.openxmlformats.org/drawingml/2006/main" r:embed="R0a82929c3d3841e1">
            <a:duotone>
              <a:srgbClr val="0071CF"/>
              <a:srgbClr val="0071CF"/>
            </a:duotone>
          </a:blip>
          <a:stretch xmlns:a="http://schemas.openxmlformats.org/drawingml/2006/main">
            <a:fillRect l="0" t="0" r="0" b="0"/>
          </a:stretch>
        </p:blipFill>
        <p:spPr>
          <a:xfrm xmlns:a="http://schemas.openxmlformats.org/drawingml/2006/main">
            <a:off x="5669280" y="2093976"/>
            <a:ext cx="164592" cy="164592"/>
          </a:xfrm>
          <a:prstGeom xmlns:a="http://schemas.openxmlformats.org/drawingml/2006/main" prst="rect">
            <a:avLst/>
          </a:prstGeom>
        </p:spPr>
      </p:pic>
      <p:sp>
        <p:nvSpPr>
          <p:cNvPr id="22" name="Text 13">
            <a:extLst xmlns:a="http://schemas.openxmlformats.org/drawingml/2006/main">
              <a:ext uri="{FF2B5EF4-FFF2-40B4-BE49-F238E27FC236}">
                <a16:creationId xmlns:a16="http://schemas.microsoft.com/office/drawing/2014/main" id="{7F1C9ED4-FA3A-4FBF-8224-418E46316099}"/>
              </a:ext>
            </a:extLst>
          </p:cNvPr>
          <p:cNvSpPr>
            <a:spLocks xmlns:a="http://schemas.openxmlformats.org/drawingml/2006/main" noGrp="1"/>
          </p:cNvSpPr>
          <p:nvPr/>
        </p:nvSpPr>
        <p:spPr>
          <a:xfrm xmlns:a="http://schemas.openxmlformats.org/drawingml/2006/main">
            <a:off x="5870448" y="2075688"/>
            <a:ext cx="914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Host API</a:t>
            </a:r>
            <a:endParaRPr sz="900">
              <a:latin typeface="Open Sans"/>
              <a:ea typeface="Open Sans"/>
              <a:cs typeface="Open Sans"/>
            </a:endParaRPr>
          </a:p>
        </p:txBody>
      </p:sp>
      <p:sp>
        <p:nvSpPr>
          <p:cNvPr id="23" name="Shape 14">
            <a:extLst xmlns:a="http://schemas.openxmlformats.org/drawingml/2006/main">
              <a:ext uri="{FF2B5EF4-FFF2-40B4-BE49-F238E27FC236}">
                <a16:creationId xmlns:a16="http://schemas.microsoft.com/office/drawing/2014/main" id="{B0701B81-25FD-46D9-A738-EECE3A903FBF}"/>
              </a:ext>
            </a:extLst>
          </p:cNvPr>
          <p:cNvSpPr>
            <a:spLocks xmlns:a="http://schemas.openxmlformats.org/drawingml/2006/main" noGrp="1"/>
          </p:cNvSpPr>
          <p:nvPr/>
        </p:nvSpPr>
        <p:spPr>
          <a:xfrm xmlns:a="http://schemas.openxmlformats.org/drawingml/2006/main">
            <a:off x="640080" y="2304288"/>
            <a:ext cx="10908792" cy="2633472"/>
          </a:xfrm>
          <a:prstGeom xmlns:a="http://schemas.openxmlformats.org/drawingml/2006/main" prst="roundRect">
            <a:avLst>
              <a:gd name="adj" fmla="val 0"/>
            </a:avLst>
          </a:prstGeom>
          <a:solidFill xmlns:a="http://schemas.openxmlformats.org/drawingml/2006/main">
            <a:srgbClr val="FFFFFF"/>
          </a:solidFill>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4" name="Text 15">
            <a:extLst xmlns:a="http://schemas.openxmlformats.org/drawingml/2006/main">
              <a:ext uri="{FF2B5EF4-FFF2-40B4-BE49-F238E27FC236}">
                <a16:creationId xmlns:a16="http://schemas.microsoft.com/office/drawing/2014/main" id="{648DB693-7BD7-4C92-B2AB-87E222CC80DF}"/>
              </a:ext>
            </a:extLst>
          </p:cNvPr>
          <p:cNvSpPr>
            <a:spLocks xmlns:a="http://schemas.openxmlformats.org/drawingml/2006/main" noGrp="1"/>
          </p:cNvSpPr>
          <p:nvPr/>
        </p:nvSpPr>
        <p:spPr>
          <a:xfrm xmlns:a="http://schemas.openxmlformats.org/drawingml/2006/main">
            <a:off x="786384" y="2376966"/>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100" b="1">
                <a:solidFill>
                  <a:srgbClr val="000000"/>
                </a:solidFill>
                <a:latin typeface="Open Sans"/>
                <a:ea typeface="Open Sans"/>
                <a:cs typeface="Open Sans"/>
              </a:rPr>
              <a:t>Multi-agent harness</a:t>
            </a:r>
            <a:endParaRPr sz="1100">
              <a:latin typeface="Open Sans"/>
              <a:ea typeface="Open Sans"/>
              <a:cs typeface="Open Sans"/>
            </a:endParaRPr>
          </a:p>
        </p:txBody>
      </p:sp>
      <p:sp>
        <p:nvSpPr>
          <p:cNvPr id="25" name="Text 16">
            <a:extLst xmlns:a="http://schemas.openxmlformats.org/drawingml/2006/main">
              <a:ext uri="{FF2B5EF4-FFF2-40B4-BE49-F238E27FC236}">
                <a16:creationId xmlns:a16="http://schemas.microsoft.com/office/drawing/2014/main" id="{C71BBBD4-DE1D-401B-B35F-73F7427E48C1}"/>
              </a:ext>
            </a:extLst>
          </p:cNvPr>
          <p:cNvSpPr>
            <a:spLocks xmlns:a="http://schemas.openxmlformats.org/drawingml/2006/main" noGrp="1"/>
          </p:cNvSpPr>
          <p:nvPr/>
        </p:nvSpPr>
        <p:spPr>
          <a:xfrm xmlns:a="http://schemas.openxmlformats.org/drawingml/2006/main">
            <a:off x="8232648" y="2392165"/>
            <a:ext cx="3172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defRPr>
                <a:latin typeface="Open Sans"/>
                <a:ea typeface="Open Sans"/>
                <a:cs typeface="Open Sans"/>
              </a:defRPr>
            </a:pPr>
            <a:r>
              <a:rPr sz="850">
                <a:solidFill>
                  <a:srgbClr val="000000">
                    <a:alpha val="60000"/>
                  </a:srgbClr>
                </a:solidFill>
                <a:latin typeface="Open Sans"/>
                <a:ea typeface="Open Sans"/>
                <a:cs typeface="Open Sans"/>
              </a:rPr>
              <a:t>Manager and specialists pattern</a:t>
            </a:r>
            <a:endParaRPr sz="850">
              <a:latin typeface="Open Sans"/>
              <a:ea typeface="Open Sans"/>
              <a:cs typeface="Open Sans"/>
            </a:endParaRPr>
          </a:p>
        </p:txBody>
      </p:sp>
      <p:sp>
        <p:nvSpPr>
          <p:cNvPr id="26" name="Text 17">
            <a:extLst xmlns:a="http://schemas.openxmlformats.org/drawingml/2006/main">
              <a:ext uri="{FF2B5EF4-FFF2-40B4-BE49-F238E27FC236}">
                <a16:creationId xmlns:a16="http://schemas.microsoft.com/office/drawing/2014/main" id="{EC8AB01F-D389-4F75-84E5-535078B0BE80}"/>
              </a:ext>
            </a:extLst>
          </p:cNvPr>
          <p:cNvSpPr>
            <a:spLocks xmlns:a="http://schemas.openxmlformats.org/drawingml/2006/main" noGrp="1"/>
          </p:cNvSpPr>
          <p:nvPr/>
        </p:nvSpPr>
        <p:spPr>
          <a:xfrm xmlns:a="http://schemas.openxmlformats.org/drawingml/2006/main">
            <a:off x="2724150" y="2543175"/>
            <a:ext cx="85725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50">
                <a:solidFill>
                  <a:srgbClr val="000000">
                    <a:alpha val="60000"/>
                  </a:srgbClr>
                </a:solidFill>
                <a:latin typeface="Open Sans"/>
                <a:ea typeface="Open Sans"/>
                <a:cs typeface="Open Sans"/>
              </a:rPr>
              <a:t>Runs start from</a:t>
            </a:r>
            <a:endParaRPr sz="850">
              <a:latin typeface="Open Sans"/>
              <a:ea typeface="Open Sans"/>
              <a:cs typeface="Open Sans"/>
            </a:endParaRPr>
          </a:p>
        </p:txBody>
      </p:sp>
      <p:sp>
        <p:nvSpPr>
          <p:cNvPr id="27" name="Shape 18">
            <a:extLst xmlns:a="http://schemas.openxmlformats.org/drawingml/2006/main">
              <a:ext uri="{FF2B5EF4-FFF2-40B4-BE49-F238E27FC236}">
                <a16:creationId xmlns:a16="http://schemas.microsoft.com/office/drawing/2014/main" id="{ECC9B794-B882-419C-BB48-1E46283EF259}"/>
              </a:ext>
            </a:extLst>
          </p:cNvPr>
          <p:cNvSpPr>
            <a:spLocks xmlns:a="http://schemas.openxmlformats.org/drawingml/2006/main" noGrp="1"/>
          </p:cNvSpPr>
          <p:nvPr/>
        </p:nvSpPr>
        <p:spPr>
          <a:xfrm xmlns:a="http://schemas.openxmlformats.org/drawingml/2006/main">
            <a:off x="3604808" y="2512398"/>
            <a:ext cx="969204"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83" name="Image 7"/>
          <p:cNvPicPr>
            <a:picLocks xmlns:a="http://schemas.openxmlformats.org/drawingml/2006/main" noChangeAspect="1"/>
          </p:cNvPicPr>
          <p:nvPr/>
        </p:nvPicPr>
        <p:blipFill>
          <a:blip xmlns:r="http://schemas.openxmlformats.org/officeDocument/2006/relationships" xmlns:a="http://schemas.openxmlformats.org/drawingml/2006/main" r:embed="Rf7031999b69c472d">
            <a:duotone>
              <a:srgbClr val="0071CF"/>
              <a:srgbClr val="0071CF"/>
            </a:duotone>
          </a:blip>
          <a:stretch xmlns:a="http://schemas.openxmlformats.org/drawingml/2006/main">
            <a:fillRect l="0" t="0" r="0" b="0"/>
          </a:stretch>
        </p:blipFill>
        <p:spPr>
          <a:xfrm xmlns:a="http://schemas.openxmlformats.org/drawingml/2006/main">
            <a:off x="3651565" y="2543041"/>
            <a:ext cx="146304" cy="146304"/>
          </a:xfrm>
          <a:prstGeom xmlns:a="http://schemas.openxmlformats.org/drawingml/2006/main" prst="rect">
            <a:avLst/>
          </a:prstGeom>
        </p:spPr>
      </p:pic>
      <p:sp>
        <p:nvSpPr>
          <p:cNvPr id="29" name="Text 19">
            <a:extLst xmlns:a="http://schemas.openxmlformats.org/drawingml/2006/main">
              <a:ext uri="{FF2B5EF4-FFF2-40B4-BE49-F238E27FC236}">
                <a16:creationId xmlns:a16="http://schemas.microsoft.com/office/drawing/2014/main" id="{E9761269-627C-4E3C-A30B-6814CDDF8729}"/>
              </a:ext>
            </a:extLst>
          </p:cNvPr>
          <p:cNvSpPr>
            <a:spLocks xmlns:a="http://schemas.openxmlformats.org/drawingml/2006/main" noGrp="1"/>
          </p:cNvSpPr>
          <p:nvPr/>
        </p:nvSpPr>
        <p:spPr>
          <a:xfrm xmlns:a="http://schemas.openxmlformats.org/drawingml/2006/main">
            <a:off x="3829050" y="2543175"/>
            <a:ext cx="96202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70">
                <a:solidFill>
                  <a:srgbClr val="000000"/>
                </a:solidFill>
                <a:latin typeface="Open Sans"/>
                <a:ea typeface="Open Sans"/>
                <a:cs typeface="Open Sans"/>
              </a:rPr>
              <a:t>Trigger event</a:t>
            </a:r>
            <a:endParaRPr sz="870">
              <a:latin typeface="Open Sans"/>
              <a:ea typeface="Open Sans"/>
              <a:cs typeface="Open Sans"/>
            </a:endParaRPr>
          </a:p>
        </p:txBody>
      </p:sp>
      <p:sp>
        <p:nvSpPr>
          <p:cNvPr id="30" name="Shape 20">
            <a:extLst xmlns:a="http://schemas.openxmlformats.org/drawingml/2006/main">
              <a:ext uri="{FF2B5EF4-FFF2-40B4-BE49-F238E27FC236}">
                <a16:creationId xmlns:a16="http://schemas.microsoft.com/office/drawing/2014/main" id="{687EEFCF-8921-4644-B14E-85EF4B24A8E7}"/>
              </a:ext>
            </a:extLst>
          </p:cNvPr>
          <p:cNvSpPr>
            <a:spLocks xmlns:a="http://schemas.openxmlformats.org/drawingml/2006/main" noGrp="1"/>
          </p:cNvSpPr>
          <p:nvPr/>
        </p:nvSpPr>
        <p:spPr>
          <a:xfrm xmlns:a="http://schemas.openxmlformats.org/drawingml/2006/main">
            <a:off x="7247826" y="2513294"/>
            <a:ext cx="1137222"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86" name="Image 8"/>
          <p:cNvPicPr>
            <a:picLocks xmlns:a="http://schemas.openxmlformats.org/drawingml/2006/main" noChangeAspect="1"/>
          </p:cNvPicPr>
          <p:nvPr/>
        </p:nvPicPr>
        <p:blipFill>
          <a:blip xmlns:r="http://schemas.openxmlformats.org/officeDocument/2006/relationships" xmlns:a="http://schemas.openxmlformats.org/drawingml/2006/main" r:embed="Rd5627871a5174bc0">
            <a:duotone>
              <a:srgbClr val="0071CF"/>
              <a:srgbClr val="0071CF"/>
            </a:duotone>
          </a:blip>
          <a:stretch xmlns:a="http://schemas.openxmlformats.org/drawingml/2006/main">
            <a:fillRect l="0" t="0" r="0" b="0"/>
          </a:stretch>
        </p:blipFill>
        <p:spPr>
          <a:xfrm xmlns:a="http://schemas.openxmlformats.org/drawingml/2006/main">
            <a:off x="7298578" y="2556757"/>
            <a:ext cx="146304" cy="146304"/>
          </a:xfrm>
          <a:prstGeom xmlns:a="http://schemas.openxmlformats.org/drawingml/2006/main" prst="rect">
            <a:avLst/>
          </a:prstGeom>
        </p:spPr>
      </p:pic>
      <p:sp>
        <p:nvSpPr>
          <p:cNvPr id="32" name="Text 21">
            <a:extLst xmlns:a="http://schemas.openxmlformats.org/drawingml/2006/main">
              <a:ext uri="{FF2B5EF4-FFF2-40B4-BE49-F238E27FC236}">
                <a16:creationId xmlns:a16="http://schemas.microsoft.com/office/drawing/2014/main" id="{D265C1A6-F420-4166-9EBA-902FC0EE9CF1}"/>
              </a:ext>
            </a:extLst>
          </p:cNvPr>
          <p:cNvSpPr>
            <a:spLocks xmlns:a="http://schemas.openxmlformats.org/drawingml/2006/main" noGrp="1"/>
          </p:cNvSpPr>
          <p:nvPr/>
        </p:nvSpPr>
        <p:spPr>
          <a:xfrm xmlns:a="http://schemas.openxmlformats.org/drawingml/2006/main">
            <a:off x="7524750" y="2543175"/>
            <a:ext cx="10477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70">
                <a:solidFill>
                  <a:srgbClr val="000000"/>
                </a:solidFill>
                <a:latin typeface="Open Sans"/>
                <a:ea typeface="Open Sans"/>
                <a:cs typeface="Open Sans"/>
              </a:rPr>
              <a:t>Operator action</a:t>
            </a:r>
            <a:endParaRPr sz="870">
              <a:latin typeface="Open Sans"/>
              <a:ea typeface="Open Sans"/>
              <a:cs typeface="Open Sans"/>
            </a:endParaRPr>
          </a:p>
        </p:txBody>
      </p:sp>
      <p:sp>
        <p:nvSpPr>
          <p:cNvPr id="33" name="Shape 22">
            <a:extLst xmlns:a="http://schemas.openxmlformats.org/drawingml/2006/main">
              <a:ext uri="{FF2B5EF4-FFF2-40B4-BE49-F238E27FC236}">
                <a16:creationId xmlns:a16="http://schemas.microsoft.com/office/drawing/2014/main" id="{C001AE0F-A014-47E6-9D2C-ECB3D1D7B45C}"/>
              </a:ext>
            </a:extLst>
          </p:cNvPr>
          <p:cNvSpPr>
            <a:spLocks xmlns:a="http://schemas.openxmlformats.org/drawingml/2006/main" noGrp="1"/>
          </p:cNvSpPr>
          <p:nvPr/>
        </p:nvSpPr>
        <p:spPr>
          <a:xfrm xmlns:a="http://schemas.openxmlformats.org/drawingml/2006/main">
            <a:off x="5848442" y="2509019"/>
            <a:ext cx="1276320"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89" name="Image 9"/>
          <p:cNvPicPr>
            <a:picLocks xmlns:a="http://schemas.openxmlformats.org/drawingml/2006/main" noChangeAspect="1"/>
          </p:cNvPicPr>
          <p:nvPr/>
        </p:nvPicPr>
        <p:blipFill>
          <a:blip xmlns:r="http://schemas.openxmlformats.org/officeDocument/2006/relationships" xmlns:a="http://schemas.openxmlformats.org/drawingml/2006/main" r:embed="Re153988a723e4de0">
            <a:duotone>
              <a:srgbClr val="0071CF"/>
              <a:srgbClr val="0071CF"/>
            </a:duotone>
          </a:blip>
          <a:stretch xmlns:a="http://schemas.openxmlformats.org/drawingml/2006/main">
            <a:fillRect l="0" t="0" r="0" b="0"/>
          </a:stretch>
        </p:blipFill>
        <p:spPr>
          <a:xfrm xmlns:a="http://schemas.openxmlformats.org/drawingml/2006/main">
            <a:off x="5923666" y="2548919"/>
            <a:ext cx="146304" cy="146304"/>
          </a:xfrm>
          <a:prstGeom xmlns:a="http://schemas.openxmlformats.org/drawingml/2006/main" prst="rect">
            <a:avLst/>
          </a:prstGeom>
        </p:spPr>
      </p:pic>
      <p:sp>
        <p:nvSpPr>
          <p:cNvPr id="35" name="Text 23">
            <a:extLst xmlns:a="http://schemas.openxmlformats.org/drawingml/2006/main">
              <a:ext uri="{FF2B5EF4-FFF2-40B4-BE49-F238E27FC236}">
                <a16:creationId xmlns:a16="http://schemas.microsoft.com/office/drawing/2014/main" id="{799D749A-AD52-4C26-BD09-CE4BE434F334}"/>
              </a:ext>
            </a:extLst>
          </p:cNvPr>
          <p:cNvSpPr>
            <a:spLocks xmlns:a="http://schemas.openxmlformats.org/drawingml/2006/main" noGrp="1"/>
          </p:cNvSpPr>
          <p:nvPr/>
        </p:nvSpPr>
        <p:spPr>
          <a:xfrm xmlns:a="http://schemas.openxmlformats.org/drawingml/2006/main">
            <a:off x="6124575" y="2543175"/>
            <a:ext cx="123825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70">
                <a:solidFill>
                  <a:srgbClr val="000000"/>
                </a:solidFill>
                <a:latin typeface="Open Sans"/>
                <a:ea typeface="Open Sans"/>
                <a:cs typeface="Open Sans"/>
              </a:rPr>
              <a:t>Concierge request</a:t>
            </a:r>
            <a:endParaRPr sz="870">
              <a:latin typeface="Open Sans"/>
              <a:ea typeface="Open Sans"/>
              <a:cs typeface="Open Sans"/>
            </a:endParaRPr>
          </a:p>
        </p:txBody>
      </p:sp>
      <p:sp>
        <p:nvSpPr>
          <p:cNvPr id="36" name="Shape 24">
            <a:extLst xmlns:a="http://schemas.openxmlformats.org/drawingml/2006/main">
              <a:ext uri="{FF2B5EF4-FFF2-40B4-BE49-F238E27FC236}">
                <a16:creationId xmlns:a16="http://schemas.microsoft.com/office/drawing/2014/main" id="{B03C3A95-5E16-4B25-A9B4-6B7087E855E8}"/>
              </a:ext>
            </a:extLst>
          </p:cNvPr>
          <p:cNvSpPr>
            <a:spLocks xmlns:a="http://schemas.openxmlformats.org/drawingml/2006/main" noGrp="1"/>
          </p:cNvSpPr>
          <p:nvPr/>
        </p:nvSpPr>
        <p:spPr>
          <a:xfrm xmlns:a="http://schemas.openxmlformats.org/drawingml/2006/main">
            <a:off x="4802596" y="2501357"/>
            <a:ext cx="868315" cy="219456"/>
          </a:xfrm>
          <a:prstGeom xmlns:a="http://schemas.openxmlformats.org/drawingml/2006/main" prst="roundRect">
            <a:avLst>
              <a:gd name="adj" fmla="val 20833"/>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92" name="Image 10"/>
          <p:cNvPicPr>
            <a:picLocks xmlns:a="http://schemas.openxmlformats.org/drawingml/2006/main" noChangeAspect="1"/>
          </p:cNvPicPr>
          <p:nvPr/>
        </p:nvPicPr>
        <p:blipFill>
          <a:blip xmlns:r="http://schemas.openxmlformats.org/officeDocument/2006/relationships" xmlns:a="http://schemas.openxmlformats.org/drawingml/2006/main" r:embed="Rdd2c5cc9a85f4915">
            <a:duotone>
              <a:srgbClr val="0071CF"/>
              <a:srgbClr val="0071CF"/>
            </a:duotone>
          </a:blip>
          <a:stretch xmlns:a="http://schemas.openxmlformats.org/drawingml/2006/main">
            <a:fillRect l="0" t="0" r="0" b="0"/>
          </a:stretch>
        </p:blipFill>
        <p:spPr>
          <a:xfrm xmlns:a="http://schemas.openxmlformats.org/drawingml/2006/main">
            <a:off x="4877409" y="2549870"/>
            <a:ext cx="146304" cy="146304"/>
          </a:xfrm>
          <a:prstGeom xmlns:a="http://schemas.openxmlformats.org/drawingml/2006/main" prst="rect">
            <a:avLst/>
          </a:prstGeom>
        </p:spPr>
      </p:pic>
      <p:sp>
        <p:nvSpPr>
          <p:cNvPr id="38" name="Text 25">
            <a:extLst xmlns:a="http://schemas.openxmlformats.org/drawingml/2006/main">
              <a:ext uri="{FF2B5EF4-FFF2-40B4-BE49-F238E27FC236}">
                <a16:creationId xmlns:a16="http://schemas.microsoft.com/office/drawing/2014/main" id="{2B7536BE-27E6-49AC-B95F-B5EAE76F9A74}"/>
              </a:ext>
            </a:extLst>
          </p:cNvPr>
          <p:cNvSpPr>
            <a:spLocks xmlns:a="http://schemas.openxmlformats.org/drawingml/2006/main" noGrp="1"/>
          </p:cNvSpPr>
          <p:nvPr/>
        </p:nvSpPr>
        <p:spPr>
          <a:xfrm xmlns:a="http://schemas.openxmlformats.org/drawingml/2006/main">
            <a:off x="5076825" y="2543175"/>
            <a:ext cx="7620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70">
                <a:solidFill>
                  <a:srgbClr val="000000"/>
                </a:solidFill>
                <a:latin typeface="Open Sans"/>
                <a:ea typeface="Open Sans"/>
                <a:cs typeface="Open Sans"/>
              </a:rPr>
              <a:t>Scheduled</a:t>
            </a:r>
            <a:endParaRPr sz="870">
              <a:latin typeface="Open Sans"/>
              <a:ea typeface="Open Sans"/>
              <a:cs typeface="Open Sans"/>
            </a:endParaRPr>
          </a:p>
        </p:txBody>
      </p:sp>
      <p:sp>
        <p:nvSpPr>
          <p:cNvPr id="39" name="Shape 26">
            <a:extLst xmlns:a="http://schemas.openxmlformats.org/drawingml/2006/main">
              <a:ext uri="{FF2B5EF4-FFF2-40B4-BE49-F238E27FC236}">
                <a16:creationId xmlns:a16="http://schemas.microsoft.com/office/drawing/2014/main" id="{992E049F-8A01-4D8C-AC51-9893CEBA30A1}"/>
              </a:ext>
            </a:extLst>
          </p:cNvPr>
          <p:cNvSpPr>
            <a:spLocks xmlns:a="http://schemas.openxmlformats.org/drawingml/2006/main" noGrp="1"/>
          </p:cNvSpPr>
          <p:nvPr/>
        </p:nvSpPr>
        <p:spPr>
          <a:xfrm xmlns:a="http://schemas.openxmlformats.org/drawingml/2006/main">
            <a:off x="3286125" y="2835593"/>
            <a:ext cx="5619750" cy="566738"/>
          </a:xfrm>
          <a:prstGeom xmlns:a="http://schemas.openxmlformats.org/drawingml/2006/main" prst="roundRect">
            <a:avLst>
              <a:gd name="adj" fmla="val 0"/>
            </a:avLst>
          </a:prstGeom>
          <a:solidFill xmlns:a="http://schemas.openxmlformats.org/drawingml/2006/main">
            <a:srgbClr val="86DAFF">
              <a:alpha val="45000"/>
            </a:srgbClr>
          </a:solidFill>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0" name="Shape 27">
            <a:extLst xmlns:a="http://schemas.openxmlformats.org/drawingml/2006/main">
              <a:ext uri="{FF2B5EF4-FFF2-40B4-BE49-F238E27FC236}">
                <a16:creationId xmlns:a16="http://schemas.microsoft.com/office/drawing/2014/main" id="{B79F8EBA-48B4-4CC5-B00C-137870F52C62}"/>
              </a:ext>
            </a:extLst>
          </p:cNvPr>
          <p:cNvSpPr>
            <a:spLocks xmlns:a="http://schemas.openxmlformats.org/drawingml/2006/main" noGrp="1"/>
          </p:cNvSpPr>
          <p:nvPr/>
        </p:nvSpPr>
        <p:spPr>
          <a:xfrm xmlns:a="http://schemas.openxmlformats.org/drawingml/2006/main">
            <a:off x="3506724" y="2909214"/>
            <a:ext cx="64008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1" name="Text 28">
            <a:extLst xmlns:a="http://schemas.openxmlformats.org/drawingml/2006/main">
              <a:ext uri="{FF2B5EF4-FFF2-40B4-BE49-F238E27FC236}">
                <a16:creationId xmlns:a16="http://schemas.microsoft.com/office/drawing/2014/main" id="{03443C0C-E7A1-42CB-93D1-97C928CCF9D5}"/>
              </a:ext>
            </a:extLst>
          </p:cNvPr>
          <p:cNvSpPr>
            <a:spLocks xmlns:a="http://schemas.openxmlformats.org/drawingml/2006/main" noGrp="1"/>
          </p:cNvSpPr>
          <p:nvPr/>
        </p:nvSpPr>
        <p:spPr>
          <a:xfrm xmlns:a="http://schemas.openxmlformats.org/drawingml/2006/main">
            <a:off x="3429000" y="2905125"/>
            <a:ext cx="62865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50" b="0">
                <a:solidFill>
                  <a:srgbClr val="0E315C"/>
                </a:solidFill>
                <a:latin typeface="Open Sans"/>
                <a:ea typeface="Open Sans"/>
                <a:cs typeface="Open Sans"/>
              </a:rPr>
              <a:t>Manager</a:t>
            </a:r>
            <a:endParaRPr sz="850">
              <a:latin typeface="Open Sans"/>
              <a:ea typeface="Open Sans"/>
              <a:cs typeface="Open Sans"/>
            </a:endParaRPr>
          </a:p>
        </p:txBody>
      </p:sp>
      <p:pic>
        <p:nvPicPr>
          <p:cNvPr id="197" name="Image 11"/>
          <p:cNvPicPr>
            <a:picLocks xmlns:a="http://schemas.openxmlformats.org/drawingml/2006/main" noChangeAspect="1"/>
          </p:cNvPicPr>
          <p:nvPr/>
        </p:nvPicPr>
        <p:blipFill>
          <a:blip xmlns:r="http://schemas.openxmlformats.org/officeDocument/2006/relationships" xmlns:a="http://schemas.openxmlformats.org/drawingml/2006/main" r:embed="R5246b19f82434bdb">
            <a:duotone>
              <a:srgbClr val="0071CF"/>
              <a:srgbClr val="0071CF"/>
            </a:duotone>
          </a:blip>
          <a:stretch xmlns:a="http://schemas.openxmlformats.org/drawingml/2006/main">
            <a:fillRect l="0" t="0" r="0" b="0"/>
          </a:stretch>
        </p:blipFill>
        <p:spPr>
          <a:xfrm xmlns:a="http://schemas.openxmlformats.org/drawingml/2006/main">
            <a:off x="4219956" y="2909214"/>
            <a:ext cx="182880" cy="182880"/>
          </a:xfrm>
          <a:prstGeom xmlns:a="http://schemas.openxmlformats.org/drawingml/2006/main" prst="rect">
            <a:avLst/>
          </a:prstGeom>
        </p:spPr>
      </p:pic>
      <p:sp>
        <p:nvSpPr>
          <p:cNvPr id="43" name="Text 29">
            <a:extLst xmlns:a="http://schemas.openxmlformats.org/drawingml/2006/main">
              <a:ext uri="{FF2B5EF4-FFF2-40B4-BE49-F238E27FC236}">
                <a16:creationId xmlns:a16="http://schemas.microsoft.com/office/drawing/2014/main" id="{D5483D92-18F6-4DF0-B193-D3BFF9F14CC4}"/>
              </a:ext>
            </a:extLst>
          </p:cNvPr>
          <p:cNvSpPr>
            <a:spLocks xmlns:a="http://schemas.openxmlformats.org/drawingml/2006/main" noGrp="1"/>
          </p:cNvSpPr>
          <p:nvPr/>
        </p:nvSpPr>
        <p:spPr>
          <a:xfrm xmlns:a="http://schemas.openxmlformats.org/drawingml/2006/main">
            <a:off x="4448175" y="2867025"/>
            <a:ext cx="38576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200" b="1">
                <a:solidFill>
                  <a:srgbClr val="0E315C"/>
                </a:solidFill>
                <a:latin typeface="Open Sans"/>
                <a:ea typeface="Open Sans"/>
                <a:cs typeface="Open Sans"/>
              </a:rPr>
              <a:t>Program coordinator</a:t>
            </a:r>
            <a:endParaRPr sz="1200">
              <a:latin typeface="Open Sans"/>
              <a:ea typeface="Open Sans"/>
              <a:cs typeface="Open Sans"/>
            </a:endParaRPr>
          </a:p>
        </p:txBody>
      </p:sp>
      <p:sp>
        <p:nvSpPr>
          <p:cNvPr id="44" name="Text 30">
            <a:extLst xmlns:a="http://schemas.openxmlformats.org/drawingml/2006/main">
              <a:ext uri="{FF2B5EF4-FFF2-40B4-BE49-F238E27FC236}">
                <a16:creationId xmlns:a16="http://schemas.microsoft.com/office/drawing/2014/main" id="{05DC7B05-4120-42A6-B4DC-A18BA9BDF48F}"/>
              </a:ext>
            </a:extLst>
          </p:cNvPr>
          <p:cNvSpPr>
            <a:spLocks xmlns:a="http://schemas.openxmlformats.org/drawingml/2006/main" noGrp="1"/>
          </p:cNvSpPr>
          <p:nvPr/>
        </p:nvSpPr>
        <p:spPr>
          <a:xfrm xmlns:a="http://schemas.openxmlformats.org/drawingml/2006/main">
            <a:off x="3429000" y="3152775"/>
            <a:ext cx="5334000" cy="2190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30">
                <a:solidFill>
                  <a:srgbClr val="0E315C"/>
                </a:solidFill>
                <a:latin typeface="Open Sans"/>
                <a:ea typeface="Open Sans"/>
                <a:cs typeface="Open Sans"/>
              </a:rPr>
              <a:t>Assigns work to the right specialists, reconciles their findings, and recommends the next action</a:t>
            </a:r>
            <a:endParaRPr sz="830">
              <a:latin typeface="Open Sans"/>
              <a:ea typeface="Open Sans"/>
              <a:cs typeface="Open Sans"/>
            </a:endParaRPr>
          </a:p>
        </p:txBody>
      </p:sp>
      <p:sp>
        <p:nvSpPr>
          <p:cNvPr id="45" name="Shape 31">
            <a:extLst xmlns:a="http://schemas.openxmlformats.org/drawingml/2006/main">
              <a:ext uri="{FF2B5EF4-FFF2-40B4-BE49-F238E27FC236}">
                <a16:creationId xmlns:a16="http://schemas.microsoft.com/office/drawing/2014/main" id="{D6E88963-0686-4E40-8DBC-6169909A1D80}"/>
              </a:ext>
            </a:extLst>
          </p:cNvPr>
          <p:cNvSpPr>
            <a:spLocks xmlns:a="http://schemas.openxmlformats.org/drawingml/2006/main" noGrp="1"/>
          </p:cNvSpPr>
          <p:nvPr/>
        </p:nvSpPr>
        <p:spPr>
          <a:xfrm xmlns:a="http://schemas.openxmlformats.org/drawingml/2006/main">
            <a:off x="6092044" y="3393846"/>
            <a:ext cx="2432" cy="245466"/>
          </a:xfrm>
          <a:prstGeom xmlns:a="http://schemas.openxmlformats.org/drawingml/2006/main" prst="line">
            <a:avLst/>
          </a:prstGeom>
          <a:noFill xmlns:a="http://schemas.openxmlformats.org/drawingml/2006/main"/>
          <a:ln xmlns:a="http://schemas.openxmlformats.org/drawingml/2006/main" w="12700">
            <a:solidFill>
              <a:srgbClr val="0071CF">
                <a:alpha val="6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6" name="Shape 32">
            <a:extLst xmlns:a="http://schemas.openxmlformats.org/drawingml/2006/main">
              <a:ext uri="{FF2B5EF4-FFF2-40B4-BE49-F238E27FC236}">
                <a16:creationId xmlns:a16="http://schemas.microsoft.com/office/drawing/2014/main" id="{3F7C29D2-8D55-471D-B1D1-DD25CB396DE0}"/>
              </a:ext>
            </a:extLst>
          </p:cNvPr>
          <p:cNvSpPr>
            <a:spLocks xmlns:a="http://schemas.openxmlformats.org/drawingml/2006/main" noGrp="1"/>
          </p:cNvSpPr>
          <p:nvPr/>
        </p:nvSpPr>
        <p:spPr>
          <a:xfrm xmlns:a="http://schemas.openxmlformats.org/drawingml/2006/main">
            <a:off x="2055114" y="3639312"/>
            <a:ext cx="8078724" cy="0"/>
          </a:xfrm>
          <a:prstGeom xmlns:a="http://schemas.openxmlformats.org/drawingml/2006/main" prst="line">
            <a:avLst/>
          </a:prstGeom>
          <a:noFill xmlns:a="http://schemas.openxmlformats.org/drawingml/2006/main"/>
          <a:ln xmlns:a="http://schemas.openxmlformats.org/drawingml/2006/main" w="12700">
            <a:solidFill>
              <a:srgbClr val="0071CF">
                <a:alpha val="6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7" name="Shape 33">
            <a:extLst xmlns:a="http://schemas.openxmlformats.org/drawingml/2006/main">
              <a:ext uri="{FF2B5EF4-FFF2-40B4-BE49-F238E27FC236}">
                <a16:creationId xmlns:a16="http://schemas.microsoft.com/office/drawing/2014/main" id="{623BC00B-A37F-4127-BF76-34AAAA7DABC0}"/>
              </a:ext>
            </a:extLst>
          </p:cNvPr>
          <p:cNvSpPr>
            <a:spLocks xmlns:a="http://schemas.openxmlformats.org/drawingml/2006/main" noGrp="1"/>
          </p:cNvSpPr>
          <p:nvPr/>
        </p:nvSpPr>
        <p:spPr>
          <a:xfrm xmlns:a="http://schemas.openxmlformats.org/drawingml/2006/main">
            <a:off x="2055114" y="3639312"/>
            <a:ext cx="0" cy="128016"/>
          </a:xfrm>
          <a:prstGeom xmlns:a="http://schemas.openxmlformats.org/drawingml/2006/main" prst="line">
            <a:avLst/>
          </a:prstGeom>
          <a:noFill xmlns:a="http://schemas.openxmlformats.org/drawingml/2006/main"/>
          <a:ln xmlns:a="http://schemas.openxmlformats.org/drawingml/2006/main" w="12700">
            <a:solidFill>
              <a:srgbClr val="0071CF">
                <a:alpha val="6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8" name="Shape 34">
            <a:extLst xmlns:a="http://schemas.openxmlformats.org/drawingml/2006/main">
              <a:ext uri="{FF2B5EF4-FFF2-40B4-BE49-F238E27FC236}">
                <a16:creationId xmlns:a16="http://schemas.microsoft.com/office/drawing/2014/main" id="{AC7DADE2-FBC0-4618-9965-1D62F51A6FE7}"/>
              </a:ext>
            </a:extLst>
          </p:cNvPr>
          <p:cNvSpPr>
            <a:spLocks xmlns:a="http://schemas.openxmlformats.org/drawingml/2006/main" noGrp="1"/>
          </p:cNvSpPr>
          <p:nvPr/>
        </p:nvSpPr>
        <p:spPr>
          <a:xfrm xmlns:a="http://schemas.openxmlformats.org/drawingml/2006/main">
            <a:off x="4748022" y="3639312"/>
            <a:ext cx="0" cy="128016"/>
          </a:xfrm>
          <a:prstGeom xmlns:a="http://schemas.openxmlformats.org/drawingml/2006/main" prst="line">
            <a:avLst/>
          </a:prstGeom>
          <a:noFill xmlns:a="http://schemas.openxmlformats.org/drawingml/2006/main"/>
          <a:ln xmlns:a="http://schemas.openxmlformats.org/drawingml/2006/main" w="12700">
            <a:solidFill>
              <a:srgbClr val="0071CF">
                <a:alpha val="6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9" name="Shape 35">
            <a:extLst xmlns:a="http://schemas.openxmlformats.org/drawingml/2006/main">
              <a:ext uri="{FF2B5EF4-FFF2-40B4-BE49-F238E27FC236}">
                <a16:creationId xmlns:a16="http://schemas.microsoft.com/office/drawing/2014/main" id="{443D2095-9433-42B3-95F7-820498D69EB1}"/>
              </a:ext>
            </a:extLst>
          </p:cNvPr>
          <p:cNvSpPr>
            <a:spLocks xmlns:a="http://schemas.openxmlformats.org/drawingml/2006/main" noGrp="1"/>
          </p:cNvSpPr>
          <p:nvPr/>
        </p:nvSpPr>
        <p:spPr>
          <a:xfrm xmlns:a="http://schemas.openxmlformats.org/drawingml/2006/main">
            <a:off x="7440930" y="3639312"/>
            <a:ext cx="0" cy="128016"/>
          </a:xfrm>
          <a:prstGeom xmlns:a="http://schemas.openxmlformats.org/drawingml/2006/main" prst="line">
            <a:avLst/>
          </a:prstGeom>
          <a:noFill xmlns:a="http://schemas.openxmlformats.org/drawingml/2006/main"/>
          <a:ln xmlns:a="http://schemas.openxmlformats.org/drawingml/2006/main" w="12700">
            <a:solidFill>
              <a:srgbClr val="0071CF">
                <a:alpha val="6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0" name="Shape 36">
            <a:extLst xmlns:a="http://schemas.openxmlformats.org/drawingml/2006/main">
              <a:ext uri="{FF2B5EF4-FFF2-40B4-BE49-F238E27FC236}">
                <a16:creationId xmlns:a16="http://schemas.microsoft.com/office/drawing/2014/main" id="{E93B4E67-B116-439D-AED3-BD212AA917D3}"/>
              </a:ext>
            </a:extLst>
          </p:cNvPr>
          <p:cNvSpPr>
            <a:spLocks xmlns:a="http://schemas.openxmlformats.org/drawingml/2006/main" noGrp="1"/>
          </p:cNvSpPr>
          <p:nvPr/>
        </p:nvSpPr>
        <p:spPr>
          <a:xfrm xmlns:a="http://schemas.openxmlformats.org/drawingml/2006/main">
            <a:off x="10133838" y="3639312"/>
            <a:ext cx="0" cy="128016"/>
          </a:xfrm>
          <a:prstGeom xmlns:a="http://schemas.openxmlformats.org/drawingml/2006/main" prst="line">
            <a:avLst/>
          </a:prstGeom>
          <a:noFill xmlns:a="http://schemas.openxmlformats.org/drawingml/2006/main"/>
          <a:ln xmlns:a="http://schemas.openxmlformats.org/drawingml/2006/main" w="12700">
            <a:solidFill>
              <a:srgbClr val="0071CF">
                <a:alpha val="6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1" name="Text 37">
            <a:extLst xmlns:a="http://schemas.openxmlformats.org/drawingml/2006/main">
              <a:ext uri="{FF2B5EF4-FFF2-40B4-BE49-F238E27FC236}">
                <a16:creationId xmlns:a16="http://schemas.microsoft.com/office/drawing/2014/main" id="{2741164E-9693-4B3F-9BE9-CE3CBE277A87}"/>
              </a:ext>
            </a:extLst>
          </p:cNvPr>
          <p:cNvSpPr>
            <a:spLocks xmlns:a="http://schemas.openxmlformats.org/drawingml/2006/main" noGrp="1"/>
          </p:cNvSpPr>
          <p:nvPr/>
        </p:nvSpPr>
        <p:spPr>
          <a:xfrm xmlns:a="http://schemas.openxmlformats.org/drawingml/2006/main">
            <a:off x="4174236" y="3465576"/>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defRPr>
                <a:latin typeface="Open Sans"/>
                <a:ea typeface="Open Sans"/>
                <a:cs typeface="Open Sans"/>
              </a:defRPr>
            </a:pPr>
            <a:r>
              <a:rPr sz="820">
                <a:solidFill>
                  <a:srgbClr val="000000">
                    <a:alpha val="65000"/>
                  </a:srgbClr>
                </a:solidFill>
                <a:latin typeface="Open Sans"/>
                <a:ea typeface="Open Sans"/>
                <a:cs typeface="Open Sans"/>
              </a:rPr>
              <a:t>delegates work ↓</a:t>
            </a:r>
            <a:endParaRPr sz="820">
              <a:latin typeface="Open Sans"/>
              <a:ea typeface="Open Sans"/>
              <a:cs typeface="Open Sans"/>
            </a:endParaRPr>
          </a:p>
        </p:txBody>
      </p:sp>
      <p:sp>
        <p:nvSpPr>
          <p:cNvPr id="52" name="Text 38">
            <a:extLst xmlns:a="http://schemas.openxmlformats.org/drawingml/2006/main">
              <a:ext uri="{FF2B5EF4-FFF2-40B4-BE49-F238E27FC236}">
                <a16:creationId xmlns:a16="http://schemas.microsoft.com/office/drawing/2014/main" id="{6D4496DF-5FA0-4B4D-AE91-1FE5DD18A04E}"/>
              </a:ext>
            </a:extLst>
          </p:cNvPr>
          <p:cNvSpPr>
            <a:spLocks xmlns:a="http://schemas.openxmlformats.org/drawingml/2006/main" noGrp="1"/>
          </p:cNvSpPr>
          <p:nvPr/>
        </p:nvSpPr>
        <p:spPr>
          <a:xfrm xmlns:a="http://schemas.openxmlformats.org/drawingml/2006/main">
            <a:off x="6185916" y="3465576"/>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20">
                <a:solidFill>
                  <a:srgbClr val="000000">
                    <a:alpha val="65000"/>
                  </a:srgbClr>
                </a:solidFill>
                <a:latin typeface="Open Sans"/>
                <a:ea typeface="Open Sans"/>
                <a:cs typeface="Open Sans"/>
              </a:rPr>
              <a:t>↑ reports results</a:t>
            </a:r>
            <a:endParaRPr sz="820">
              <a:latin typeface="Open Sans"/>
              <a:ea typeface="Open Sans"/>
              <a:cs typeface="Open Sans"/>
            </a:endParaRPr>
          </a:p>
        </p:txBody>
      </p:sp>
      <p:sp>
        <p:nvSpPr>
          <p:cNvPr id="53" name="Shape 39">
            <a:extLst xmlns:a="http://schemas.openxmlformats.org/drawingml/2006/main">
              <a:ext uri="{FF2B5EF4-FFF2-40B4-BE49-F238E27FC236}">
                <a16:creationId xmlns:a16="http://schemas.microsoft.com/office/drawing/2014/main" id="{44110946-D5B8-4482-9ABE-2908763BB5C6}"/>
              </a:ext>
            </a:extLst>
          </p:cNvPr>
          <p:cNvSpPr>
            <a:spLocks xmlns:a="http://schemas.openxmlformats.org/drawingml/2006/main" noGrp="1"/>
          </p:cNvSpPr>
          <p:nvPr/>
        </p:nvSpPr>
        <p:spPr>
          <a:xfrm xmlns:a="http://schemas.openxmlformats.org/drawingml/2006/main">
            <a:off x="777240"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4" name="Shape 40">
            <a:extLst xmlns:a="http://schemas.openxmlformats.org/drawingml/2006/main">
              <a:ext uri="{FF2B5EF4-FFF2-40B4-BE49-F238E27FC236}">
                <a16:creationId xmlns:a16="http://schemas.microsoft.com/office/drawing/2014/main" id="{DB9252CB-243E-44E9-BE23-4D5E10AA1AE6}"/>
              </a:ext>
            </a:extLst>
          </p:cNvPr>
          <p:cNvSpPr>
            <a:spLocks xmlns:a="http://schemas.openxmlformats.org/drawingml/2006/main" noGrp="1"/>
          </p:cNvSpPr>
          <p:nvPr/>
        </p:nvSpPr>
        <p:spPr>
          <a:xfrm xmlns:a="http://schemas.openxmlformats.org/drawingml/2006/main">
            <a:off x="868679" y="3840480"/>
            <a:ext cx="734489"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5" name="Text 41">
            <a:extLst xmlns:a="http://schemas.openxmlformats.org/drawingml/2006/main">
              <a:ext uri="{FF2B5EF4-FFF2-40B4-BE49-F238E27FC236}">
                <a16:creationId xmlns:a16="http://schemas.microsoft.com/office/drawing/2014/main" id="{9F9EB872-5859-4186-A14B-2B0747BFF8F1}"/>
              </a:ext>
            </a:extLst>
          </p:cNvPr>
          <p:cNvSpPr>
            <a:spLocks xmlns:a="http://schemas.openxmlformats.org/drawingml/2006/main" noGrp="1"/>
          </p:cNvSpPr>
          <p:nvPr/>
        </p:nvSpPr>
        <p:spPr>
          <a:xfrm xmlns:a="http://schemas.openxmlformats.org/drawingml/2006/main">
            <a:off x="960119" y="3848100"/>
            <a:ext cx="904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b="0">
                <a:solidFill>
                  <a:srgbClr val="0071CF"/>
                </a:solidFill>
                <a:latin typeface="Open Sans"/>
                <a:ea typeface="Open Sans"/>
                <a:cs typeface="Open Sans"/>
              </a:rPr>
              <a:t>Specialist</a:t>
            </a:r>
            <a:endParaRPr sz="800">
              <a:latin typeface="Open Sans"/>
              <a:ea typeface="Open Sans"/>
              <a:cs typeface="Open Sans"/>
            </a:endParaRPr>
          </a:p>
        </p:txBody>
      </p:sp>
      <p:pic>
        <p:nvPicPr>
          <p:cNvPr id="211" name="Image 12"/>
          <p:cNvPicPr>
            <a:picLocks xmlns:a="http://schemas.openxmlformats.org/drawingml/2006/main" noChangeAspect="1"/>
          </p:cNvPicPr>
          <p:nvPr/>
        </p:nvPicPr>
        <p:blipFill>
          <a:blip xmlns:r="http://schemas.openxmlformats.org/officeDocument/2006/relationships" xmlns:a="http://schemas.openxmlformats.org/drawingml/2006/main" r:embed="R3d4bfc7437a642cd">
            <a:duotone>
              <a:srgbClr val="0071CF"/>
              <a:srgbClr val="0071CF"/>
            </a:duotone>
          </a:blip>
          <a:stretch xmlns:a="http://schemas.openxmlformats.org/drawingml/2006/main">
            <a:fillRect l="0" t="0" r="0" b="0"/>
          </a:stretch>
        </p:blipFill>
        <p:spPr>
          <a:xfrm xmlns:a="http://schemas.openxmlformats.org/drawingml/2006/main">
            <a:off x="868680" y="4069080"/>
            <a:ext cx="173736" cy="173736"/>
          </a:xfrm>
          <a:prstGeom xmlns:a="http://schemas.openxmlformats.org/drawingml/2006/main" prst="rect">
            <a:avLst/>
          </a:prstGeom>
        </p:spPr>
      </p:pic>
      <p:sp>
        <p:nvSpPr>
          <p:cNvPr id="57" name="Text 42">
            <a:extLst xmlns:a="http://schemas.openxmlformats.org/drawingml/2006/main">
              <a:ext uri="{FF2B5EF4-FFF2-40B4-BE49-F238E27FC236}">
                <a16:creationId xmlns:a16="http://schemas.microsoft.com/office/drawing/2014/main" id="{B1D7D5AB-F4E4-40E2-9C72-0E02125F0A10}"/>
              </a:ext>
            </a:extLst>
          </p:cNvPr>
          <p:cNvSpPr>
            <a:spLocks xmlns:a="http://schemas.openxmlformats.org/drawingml/2006/main" noGrp="1"/>
          </p:cNvSpPr>
          <p:nvPr/>
        </p:nvSpPr>
        <p:spPr>
          <a:xfrm xmlns:a="http://schemas.openxmlformats.org/drawingml/2006/main">
            <a:off x="1088136" y="4048125"/>
            <a:ext cx="22479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80" b="1">
                <a:solidFill>
                  <a:srgbClr val="000000"/>
                </a:solidFill>
                <a:latin typeface="Open Sans"/>
                <a:ea typeface="Open Sans"/>
                <a:cs typeface="Open Sans"/>
              </a:rPr>
              <a:t>Change impact</a:t>
            </a:r>
            <a:endParaRPr sz="980">
              <a:latin typeface="Open Sans"/>
              <a:ea typeface="Open Sans"/>
              <a:cs typeface="Open Sans"/>
            </a:endParaRPr>
          </a:p>
        </p:txBody>
      </p:sp>
      <p:sp>
        <p:nvSpPr>
          <p:cNvPr id="58" name="Text 43">
            <a:extLst xmlns:a="http://schemas.openxmlformats.org/drawingml/2006/main">
              <a:ext uri="{FF2B5EF4-FFF2-40B4-BE49-F238E27FC236}">
                <a16:creationId xmlns:a16="http://schemas.microsoft.com/office/drawing/2014/main" id="{93962C36-130B-4883-8FA6-2665538FD5D6}"/>
              </a:ext>
            </a:extLst>
          </p:cNvPr>
          <p:cNvSpPr>
            <a:spLocks xmlns:a="http://schemas.openxmlformats.org/drawingml/2006/main" noGrp="1"/>
          </p:cNvSpPr>
          <p:nvPr/>
        </p:nvSpPr>
        <p:spPr>
          <a:xfrm xmlns:a="http://schemas.openxmlformats.org/drawingml/2006/main">
            <a:off x="868679" y="4295775"/>
            <a:ext cx="2409825"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20">
                <a:solidFill>
                  <a:srgbClr val="000000">
                    <a:alpha val="76000"/>
                  </a:srgbClr>
                </a:solidFill>
                <a:latin typeface="Open Sans"/>
                <a:ea typeface="Open Sans"/>
                <a:cs typeface="Open Sans"/>
              </a:rPr>
              <a:t>Analyzes requirements to determine potential impact on engineering, manufacturing, and delivery</a:t>
            </a:r>
            <a:endParaRPr sz="820">
              <a:latin typeface="Open Sans"/>
              <a:ea typeface="Open Sans"/>
              <a:cs typeface="Open Sans"/>
            </a:endParaRPr>
          </a:p>
        </p:txBody>
      </p:sp>
      <p:sp>
        <p:nvSpPr>
          <p:cNvPr id="60" name="Shape 45">
            <a:extLst xmlns:a="http://schemas.openxmlformats.org/drawingml/2006/main">
              <a:ext uri="{FF2B5EF4-FFF2-40B4-BE49-F238E27FC236}">
                <a16:creationId xmlns:a16="http://schemas.microsoft.com/office/drawing/2014/main" id="{C6E4A3F6-55F9-4846-B571-47248099CC39}"/>
              </a:ext>
            </a:extLst>
          </p:cNvPr>
          <p:cNvSpPr>
            <a:spLocks xmlns:a="http://schemas.openxmlformats.org/drawingml/2006/main" noGrp="1"/>
          </p:cNvSpPr>
          <p:nvPr/>
        </p:nvSpPr>
        <p:spPr>
          <a:xfrm xmlns:a="http://schemas.openxmlformats.org/drawingml/2006/main">
            <a:off x="3470148"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15" name="Image 13"/>
          <p:cNvPicPr>
            <a:picLocks xmlns:a="http://schemas.openxmlformats.org/drawingml/2006/main" noChangeAspect="1"/>
          </p:cNvPicPr>
          <p:nvPr/>
        </p:nvPicPr>
        <p:blipFill>
          <a:blip xmlns:r="http://schemas.openxmlformats.org/officeDocument/2006/relationships" xmlns:a="http://schemas.openxmlformats.org/drawingml/2006/main" r:embed="Rfe3fccc044a444ae">
            <a:duotone>
              <a:srgbClr val="0071CF"/>
              <a:srgbClr val="0071CF"/>
            </a:duotone>
          </a:blip>
          <a:stretch xmlns:a="http://schemas.openxmlformats.org/drawingml/2006/main">
            <a:fillRect l="0" t="0" r="0" b="0"/>
          </a:stretch>
        </p:blipFill>
        <p:spPr>
          <a:xfrm xmlns:a="http://schemas.openxmlformats.org/drawingml/2006/main">
            <a:off x="3561588" y="4069080"/>
            <a:ext cx="173736" cy="173736"/>
          </a:xfrm>
          <a:prstGeom xmlns:a="http://schemas.openxmlformats.org/drawingml/2006/main" prst="rect">
            <a:avLst/>
          </a:prstGeom>
        </p:spPr>
      </p:pic>
      <p:sp>
        <p:nvSpPr>
          <p:cNvPr id="64" name="Text 48">
            <a:extLst xmlns:a="http://schemas.openxmlformats.org/drawingml/2006/main">
              <a:ext uri="{FF2B5EF4-FFF2-40B4-BE49-F238E27FC236}">
                <a16:creationId xmlns:a16="http://schemas.microsoft.com/office/drawing/2014/main" id="{C3B23FA7-6523-4961-933D-462E95FAA2B1}"/>
              </a:ext>
            </a:extLst>
          </p:cNvPr>
          <p:cNvSpPr>
            <a:spLocks xmlns:a="http://schemas.openxmlformats.org/drawingml/2006/main" noGrp="1"/>
          </p:cNvSpPr>
          <p:nvPr/>
        </p:nvSpPr>
        <p:spPr>
          <a:xfrm xmlns:a="http://schemas.openxmlformats.org/drawingml/2006/main">
            <a:off x="3781044" y="4048125"/>
            <a:ext cx="22479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80" b="1">
                <a:solidFill>
                  <a:srgbClr val="000000"/>
                </a:solidFill>
                <a:latin typeface="Open Sans"/>
                <a:ea typeface="Open Sans"/>
                <a:cs typeface="Open Sans"/>
              </a:rPr>
              <a:t>Validation and evidence</a:t>
            </a:r>
            <a:endParaRPr sz="980">
              <a:latin typeface="Open Sans"/>
              <a:ea typeface="Open Sans"/>
              <a:cs typeface="Open Sans"/>
            </a:endParaRPr>
          </a:p>
        </p:txBody>
      </p:sp>
      <p:sp>
        <p:nvSpPr>
          <p:cNvPr id="65" name="Text 49">
            <a:extLst xmlns:a="http://schemas.openxmlformats.org/drawingml/2006/main">
              <a:ext uri="{FF2B5EF4-FFF2-40B4-BE49-F238E27FC236}">
                <a16:creationId xmlns:a16="http://schemas.microsoft.com/office/drawing/2014/main" id="{5AD2C156-765A-4FBF-B2F3-11A754058BFD}"/>
              </a:ext>
            </a:extLst>
          </p:cNvPr>
          <p:cNvSpPr>
            <a:spLocks xmlns:a="http://schemas.openxmlformats.org/drawingml/2006/main" noGrp="1"/>
          </p:cNvSpPr>
          <p:nvPr/>
        </p:nvSpPr>
        <p:spPr>
          <a:xfrm xmlns:a="http://schemas.openxmlformats.org/drawingml/2006/main">
            <a:off x="3579608" y="4295775"/>
            <a:ext cx="2409825"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20">
                <a:solidFill>
                  <a:srgbClr val="000000">
                    <a:alpha val="76000"/>
                  </a:srgbClr>
                </a:solidFill>
                <a:latin typeface="Open Sans"/>
                <a:ea typeface="Open Sans"/>
                <a:cs typeface="Open Sans"/>
              </a:rPr>
              <a:t>Checks existing test evidence against the requirements and flags what still needs testing.</a:t>
            </a:r>
            <a:endParaRPr sz="820">
              <a:latin typeface="Open Sans"/>
              <a:ea typeface="Open Sans"/>
              <a:cs typeface="Open Sans"/>
            </a:endParaRPr>
          </a:p>
        </p:txBody>
      </p:sp>
      <p:sp>
        <p:nvSpPr>
          <p:cNvPr id="67" name="Shape 51">
            <a:extLst xmlns:a="http://schemas.openxmlformats.org/drawingml/2006/main">
              <a:ext uri="{FF2B5EF4-FFF2-40B4-BE49-F238E27FC236}">
                <a16:creationId xmlns:a16="http://schemas.microsoft.com/office/drawing/2014/main" id="{08A4D81D-0A44-4753-8553-E6F306C0C8E8}"/>
              </a:ext>
            </a:extLst>
          </p:cNvPr>
          <p:cNvSpPr>
            <a:spLocks xmlns:a="http://schemas.openxmlformats.org/drawingml/2006/main" noGrp="1"/>
          </p:cNvSpPr>
          <p:nvPr/>
        </p:nvSpPr>
        <p:spPr>
          <a:xfrm xmlns:a="http://schemas.openxmlformats.org/drawingml/2006/main">
            <a:off x="6163056"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19" name="Image 14"/>
          <p:cNvPicPr>
            <a:picLocks xmlns:a="http://schemas.openxmlformats.org/drawingml/2006/main" noChangeAspect="1"/>
          </p:cNvPicPr>
          <p:nvPr/>
        </p:nvPicPr>
        <p:blipFill>
          <a:blip xmlns:r="http://schemas.openxmlformats.org/officeDocument/2006/relationships" xmlns:a="http://schemas.openxmlformats.org/drawingml/2006/main" r:embed="R8d740a24756d448e">
            <a:duotone>
              <a:srgbClr val="0071CF"/>
              <a:srgbClr val="0071CF"/>
            </a:duotone>
          </a:blip>
          <a:stretch xmlns:a="http://schemas.openxmlformats.org/drawingml/2006/main">
            <a:fillRect l="0" t="0" r="0" b="0"/>
          </a:stretch>
        </p:blipFill>
        <p:spPr>
          <a:xfrm xmlns:a="http://schemas.openxmlformats.org/drawingml/2006/main">
            <a:off x="6254496" y="4069080"/>
            <a:ext cx="173736" cy="173736"/>
          </a:xfrm>
          <a:prstGeom xmlns:a="http://schemas.openxmlformats.org/drawingml/2006/main" prst="rect">
            <a:avLst/>
          </a:prstGeom>
        </p:spPr>
      </p:pic>
      <p:sp>
        <p:nvSpPr>
          <p:cNvPr id="71" name="Text 54">
            <a:extLst xmlns:a="http://schemas.openxmlformats.org/drawingml/2006/main">
              <a:ext uri="{FF2B5EF4-FFF2-40B4-BE49-F238E27FC236}">
                <a16:creationId xmlns:a16="http://schemas.microsoft.com/office/drawing/2014/main" id="{CB671A8B-002D-4EAC-AB6C-9526AD79992F}"/>
              </a:ext>
            </a:extLst>
          </p:cNvPr>
          <p:cNvSpPr>
            <a:spLocks xmlns:a="http://schemas.openxmlformats.org/drawingml/2006/main" noGrp="1"/>
          </p:cNvSpPr>
          <p:nvPr/>
        </p:nvSpPr>
        <p:spPr>
          <a:xfrm xmlns:a="http://schemas.openxmlformats.org/drawingml/2006/main">
            <a:off x="6473952" y="4048125"/>
            <a:ext cx="22479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80" b="1">
                <a:solidFill>
                  <a:srgbClr val="000000"/>
                </a:solidFill>
                <a:latin typeface="Open Sans"/>
                <a:ea typeface="Open Sans"/>
                <a:cs typeface="Open Sans"/>
              </a:rPr>
              <a:t>Manufacturing</a:t>
            </a:r>
            <a:endParaRPr sz="980">
              <a:latin typeface="Open Sans"/>
              <a:ea typeface="Open Sans"/>
              <a:cs typeface="Open Sans"/>
            </a:endParaRPr>
          </a:p>
        </p:txBody>
      </p:sp>
      <p:sp>
        <p:nvSpPr>
          <p:cNvPr id="72" name="Text 55">
            <a:extLst xmlns:a="http://schemas.openxmlformats.org/drawingml/2006/main">
              <a:ext uri="{FF2B5EF4-FFF2-40B4-BE49-F238E27FC236}">
                <a16:creationId xmlns:a16="http://schemas.microsoft.com/office/drawing/2014/main" id="{03614D96-CD97-4AED-A7EE-60A4D8B19542}"/>
              </a:ext>
            </a:extLst>
          </p:cNvPr>
          <p:cNvSpPr>
            <a:spLocks xmlns:a="http://schemas.openxmlformats.org/drawingml/2006/main" noGrp="1"/>
          </p:cNvSpPr>
          <p:nvPr/>
        </p:nvSpPr>
        <p:spPr>
          <a:xfrm xmlns:a="http://schemas.openxmlformats.org/drawingml/2006/main">
            <a:off x="6247638" y="4295775"/>
            <a:ext cx="2409825"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20">
                <a:solidFill>
                  <a:srgbClr val="000000">
                    <a:alpha val="76000"/>
                  </a:srgbClr>
                </a:solidFill>
                <a:latin typeface="Open Sans"/>
                <a:ea typeface="Open Sans"/>
                <a:cs typeface="Open Sans"/>
              </a:rPr>
              <a:t>Investigates yield and quality issues, material restrictions, and available supply.</a:t>
            </a:r>
            <a:endParaRPr sz="820">
              <a:latin typeface="Open Sans"/>
              <a:ea typeface="Open Sans"/>
              <a:cs typeface="Open Sans"/>
            </a:endParaRPr>
          </a:p>
        </p:txBody>
      </p:sp>
      <p:sp>
        <p:nvSpPr>
          <p:cNvPr id="74" name="Shape 57">
            <a:extLst xmlns:a="http://schemas.openxmlformats.org/drawingml/2006/main">
              <a:ext uri="{FF2B5EF4-FFF2-40B4-BE49-F238E27FC236}">
                <a16:creationId xmlns:a16="http://schemas.microsoft.com/office/drawing/2014/main" id="{09E97215-36BD-401E-9B0B-D021B0B608D7}"/>
              </a:ext>
            </a:extLst>
          </p:cNvPr>
          <p:cNvSpPr>
            <a:spLocks xmlns:a="http://schemas.openxmlformats.org/drawingml/2006/main" noGrp="1"/>
          </p:cNvSpPr>
          <p:nvPr/>
        </p:nvSpPr>
        <p:spPr>
          <a:xfrm xmlns:a="http://schemas.openxmlformats.org/drawingml/2006/main">
            <a:off x="8855964" y="3767328"/>
            <a:ext cx="2555748" cy="950976"/>
          </a:xfrm>
          <a:prstGeom xmlns:a="http://schemas.openxmlformats.org/drawingml/2006/main" prst="roundRect">
            <a:avLst>
              <a:gd name="adj" fmla="val 7692"/>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23" name="Image 15"/>
          <p:cNvPicPr>
            <a:picLocks xmlns:a="http://schemas.openxmlformats.org/drawingml/2006/main" noChangeAspect="1"/>
          </p:cNvPicPr>
          <p:nvPr/>
        </p:nvPicPr>
        <p:blipFill>
          <a:blip xmlns:r="http://schemas.openxmlformats.org/officeDocument/2006/relationships" xmlns:a="http://schemas.openxmlformats.org/drawingml/2006/main" r:embed="Rba2a14e0a2eb4984">
            <a:duotone>
              <a:srgbClr val="0071CF"/>
              <a:srgbClr val="0071CF"/>
            </a:duotone>
          </a:blip>
          <a:stretch xmlns:a="http://schemas.openxmlformats.org/drawingml/2006/main">
            <a:fillRect l="0" t="0" r="0" b="0"/>
          </a:stretch>
        </p:blipFill>
        <p:spPr>
          <a:xfrm xmlns:a="http://schemas.openxmlformats.org/drawingml/2006/main">
            <a:off x="8947404" y="4069080"/>
            <a:ext cx="173736" cy="173736"/>
          </a:xfrm>
          <a:prstGeom xmlns:a="http://schemas.openxmlformats.org/drawingml/2006/main" prst="rect">
            <a:avLst/>
          </a:prstGeom>
        </p:spPr>
      </p:pic>
      <p:sp>
        <p:nvSpPr>
          <p:cNvPr id="78" name="Text 60">
            <a:extLst xmlns:a="http://schemas.openxmlformats.org/drawingml/2006/main">
              <a:ext uri="{FF2B5EF4-FFF2-40B4-BE49-F238E27FC236}">
                <a16:creationId xmlns:a16="http://schemas.microsoft.com/office/drawing/2014/main" id="{476062E5-623E-479C-AEEC-3A0BCA1CFF04}"/>
              </a:ext>
            </a:extLst>
          </p:cNvPr>
          <p:cNvSpPr>
            <a:spLocks xmlns:a="http://schemas.openxmlformats.org/drawingml/2006/main" noGrp="1"/>
          </p:cNvSpPr>
          <p:nvPr/>
        </p:nvSpPr>
        <p:spPr>
          <a:xfrm xmlns:a="http://schemas.openxmlformats.org/drawingml/2006/main">
            <a:off x="9166860" y="4048125"/>
            <a:ext cx="2247900" cy="2476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80" b="1">
                <a:solidFill>
                  <a:srgbClr val="000000"/>
                </a:solidFill>
                <a:latin typeface="Open Sans"/>
                <a:ea typeface="Open Sans"/>
                <a:cs typeface="Open Sans"/>
              </a:rPr>
              <a:t>Program and commercial</a:t>
            </a:r>
            <a:endParaRPr sz="980">
              <a:latin typeface="Open Sans"/>
              <a:ea typeface="Open Sans"/>
              <a:cs typeface="Open Sans"/>
            </a:endParaRPr>
          </a:p>
        </p:txBody>
      </p:sp>
      <p:sp>
        <p:nvSpPr>
          <p:cNvPr id="79" name="Text 61">
            <a:extLst xmlns:a="http://schemas.openxmlformats.org/drawingml/2006/main">
              <a:ext uri="{FF2B5EF4-FFF2-40B4-BE49-F238E27FC236}">
                <a16:creationId xmlns:a16="http://schemas.microsoft.com/office/drawing/2014/main" id="{2C5B66CB-605E-4DAC-A89C-5A6622F265EA}"/>
              </a:ext>
            </a:extLst>
          </p:cNvPr>
          <p:cNvSpPr>
            <a:spLocks xmlns:a="http://schemas.openxmlformats.org/drawingml/2006/main" noGrp="1"/>
          </p:cNvSpPr>
          <p:nvPr/>
        </p:nvSpPr>
        <p:spPr>
          <a:xfrm xmlns:a="http://schemas.openxmlformats.org/drawingml/2006/main">
            <a:off x="8945118" y="4295775"/>
            <a:ext cx="2409825"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20">
                <a:solidFill>
                  <a:srgbClr val="000000">
                    <a:alpha val="76000"/>
                  </a:srgbClr>
                </a:solidFill>
                <a:latin typeface="Open Sans"/>
                <a:ea typeface="Open Sans"/>
                <a:cs typeface="Open Sans"/>
              </a:rPr>
              <a:t>Weighs the impact on schedule, cost, and commitments, then compares response options.</a:t>
            </a:r>
            <a:endParaRPr sz="820">
              <a:latin typeface="Open Sans"/>
              <a:ea typeface="Open Sans"/>
              <a:cs typeface="Open Sans"/>
            </a:endParaRPr>
          </a:p>
        </p:txBody>
      </p:sp>
      <p:sp>
        <p:nvSpPr>
          <p:cNvPr id="81" name="Text 63">
            <a:extLst xmlns:a="http://schemas.openxmlformats.org/drawingml/2006/main">
              <a:ext uri="{FF2B5EF4-FFF2-40B4-BE49-F238E27FC236}">
                <a16:creationId xmlns:a16="http://schemas.microsoft.com/office/drawing/2014/main" id="{EA234DFE-08C6-4851-BC0C-210638B025AE}"/>
              </a:ext>
            </a:extLst>
          </p:cNvPr>
          <p:cNvSpPr>
            <a:spLocks xmlns:a="http://schemas.openxmlformats.org/drawingml/2006/main" noGrp="1"/>
          </p:cNvSpPr>
          <p:nvPr/>
        </p:nvSpPr>
        <p:spPr>
          <a:xfrm xmlns:a="http://schemas.openxmlformats.org/drawingml/2006/main">
            <a:off x="777240" y="4764024"/>
            <a:ext cx="10634472"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30">
                <a:solidFill>
                  <a:srgbClr val="000000">
                    <a:alpha val="60000"/>
                  </a:srgbClr>
                </a:solidFill>
                <a:latin typeface="Open Sans"/>
                <a:ea typeface="Open Sans"/>
                <a:cs typeface="Open Sans"/>
              </a:rPr>
              <a:t>Delegate  ·  Consult  ·  Reconcile  ·  Synthesize</a:t>
            </a:r>
            <a:endParaRPr sz="830">
              <a:latin typeface="Open Sans"/>
              <a:ea typeface="Open Sans"/>
              <a:cs typeface="Open Sans"/>
            </a:endParaRPr>
          </a:p>
        </p:txBody>
      </p:sp>
      <p:pic>
        <p:nvPicPr>
          <p:cNvPr id="227" name="Image 16"/>
          <p:cNvPicPr>
            <a:picLocks xmlns:a="http://schemas.openxmlformats.org/drawingml/2006/main" noChangeAspect="1"/>
          </p:cNvPicPr>
          <p:nvPr/>
        </p:nvPicPr>
        <p:blipFill>
          <a:blip xmlns:r="http://schemas.openxmlformats.org/officeDocument/2006/relationships" xmlns:a="http://schemas.openxmlformats.org/drawingml/2006/main" r:embed="R2167d71ead4947f0">
            <a:duotone>
              <a:srgbClr val="0071CF"/>
              <a:srgbClr val="0071CF"/>
            </a:duotone>
          </a:blip>
          <a:stretch xmlns:a="http://schemas.openxmlformats.org/drawingml/2006/main">
            <a:fillRect l="0" t="0" r="0" b="0"/>
          </a:stretch>
        </p:blipFill>
        <p:spPr>
          <a:xfrm xmlns:a="http://schemas.openxmlformats.org/drawingml/2006/main">
            <a:off x="1766621" y="5038344"/>
            <a:ext cx="182880" cy="182880"/>
          </a:xfrm>
          <a:prstGeom xmlns:a="http://schemas.openxmlformats.org/drawingml/2006/main" prst="rect">
            <a:avLst/>
          </a:prstGeom>
        </p:spPr>
      </p:pic>
      <p:sp>
        <p:nvSpPr>
          <p:cNvPr id="83" name="Text 64">
            <a:extLst xmlns:a="http://schemas.openxmlformats.org/drawingml/2006/main">
              <a:ext uri="{FF2B5EF4-FFF2-40B4-BE49-F238E27FC236}">
                <a16:creationId xmlns:a16="http://schemas.microsoft.com/office/drawing/2014/main" id="{90183F47-0EE7-4D35-BDCD-5388E89E87A8}"/>
              </a:ext>
            </a:extLst>
          </p:cNvPr>
          <p:cNvSpPr>
            <a:spLocks xmlns:a="http://schemas.openxmlformats.org/drawingml/2006/main" noGrp="1"/>
          </p:cNvSpPr>
          <p:nvPr/>
        </p:nvSpPr>
        <p:spPr>
          <a:xfrm xmlns:a="http://schemas.openxmlformats.org/drawingml/2006/main">
            <a:off x="2004365" y="5019675"/>
            <a:ext cx="2143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0000"/>
                </a:solidFill>
                <a:latin typeface="Open Sans"/>
                <a:ea typeface="Open Sans"/>
                <a:cs typeface="Open Sans"/>
              </a:rPr>
              <a:t>Scoped tools</a:t>
            </a:r>
            <a:endParaRPr sz="1000">
              <a:latin typeface="Open Sans"/>
              <a:ea typeface="Open Sans"/>
              <a:cs typeface="Open Sans"/>
            </a:endParaRPr>
          </a:p>
        </p:txBody>
      </p:sp>
      <p:sp>
        <p:nvSpPr>
          <p:cNvPr id="84" name="Text 65">
            <a:extLst xmlns:a="http://schemas.openxmlformats.org/drawingml/2006/main">
              <a:ext uri="{FF2B5EF4-FFF2-40B4-BE49-F238E27FC236}">
                <a16:creationId xmlns:a16="http://schemas.microsoft.com/office/drawing/2014/main" id="{DD03F34E-B8BC-4DCA-A6FC-C447DFA85CF1}"/>
              </a:ext>
            </a:extLst>
          </p:cNvPr>
          <p:cNvSpPr>
            <a:spLocks xmlns:a="http://schemas.openxmlformats.org/drawingml/2006/main" noGrp="1"/>
          </p:cNvSpPr>
          <p:nvPr/>
        </p:nvSpPr>
        <p:spPr>
          <a:xfrm xmlns:a="http://schemas.openxmlformats.org/drawingml/2006/main">
            <a:off x="502920" y="5257800"/>
            <a:ext cx="365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a:solidFill>
                  <a:srgbClr val="000000">
                    <a:alpha val="65000"/>
                  </a:srgbClr>
                </a:solidFill>
                <a:latin typeface="Open Sans"/>
                <a:ea typeface="Open Sans"/>
                <a:cs typeface="Open Sans"/>
              </a:rPr>
              <a:t>Bounded read tools per specialist</a:t>
            </a:r>
            <a:endParaRPr sz="800">
              <a:latin typeface="Open Sans"/>
              <a:ea typeface="Open Sans"/>
              <a:cs typeface="Open Sans"/>
            </a:endParaRPr>
          </a:p>
        </p:txBody>
      </p:sp>
      <p:pic>
        <p:nvPicPr>
          <p:cNvPr id="230" name="Image 17"/>
          <p:cNvPicPr>
            <a:picLocks xmlns:a="http://schemas.openxmlformats.org/drawingml/2006/main" noChangeAspect="1"/>
          </p:cNvPicPr>
          <p:nvPr/>
        </p:nvPicPr>
        <p:blipFill>
          <a:blip xmlns:r="http://schemas.openxmlformats.org/officeDocument/2006/relationships" xmlns:a="http://schemas.openxmlformats.org/drawingml/2006/main" r:embed="R99c2f218700f4c8f">
            <a:duotone>
              <a:srgbClr val="0000FF"/>
              <a:srgbClr val="0000FF"/>
            </a:duotone>
          </a:blip>
          <a:stretch xmlns:a="http://schemas.openxmlformats.org/drawingml/2006/main">
            <a:fillRect l="0" t="0" r="0" b="0"/>
          </a:stretch>
        </p:blipFill>
        <p:spPr>
          <a:xfrm xmlns:a="http://schemas.openxmlformats.org/drawingml/2006/main">
            <a:off x="5172761" y="5038344"/>
            <a:ext cx="182880" cy="182880"/>
          </a:xfrm>
          <a:prstGeom xmlns:a="http://schemas.openxmlformats.org/drawingml/2006/main" prst="rect">
            <a:avLst/>
          </a:prstGeom>
        </p:spPr>
      </p:pic>
      <p:sp>
        <p:nvSpPr>
          <p:cNvPr id="86" name="Text 66">
            <a:extLst xmlns:a="http://schemas.openxmlformats.org/drawingml/2006/main">
              <a:ext uri="{FF2B5EF4-FFF2-40B4-BE49-F238E27FC236}">
                <a16:creationId xmlns:a16="http://schemas.microsoft.com/office/drawing/2014/main" id="{A5967947-2DD4-4739-8D46-3BEB451F061F}"/>
              </a:ext>
            </a:extLst>
          </p:cNvPr>
          <p:cNvSpPr>
            <a:spLocks xmlns:a="http://schemas.openxmlformats.org/drawingml/2006/main" noGrp="1"/>
          </p:cNvSpPr>
          <p:nvPr/>
        </p:nvSpPr>
        <p:spPr>
          <a:xfrm xmlns:a="http://schemas.openxmlformats.org/drawingml/2006/main">
            <a:off x="5410505" y="5019675"/>
            <a:ext cx="2143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0000"/>
                </a:solidFill>
                <a:latin typeface="Open Sans"/>
                <a:ea typeface="Open Sans"/>
                <a:cs typeface="Open Sans"/>
              </a:rPr>
              <a:t>Knowledge and evidence</a:t>
            </a:r>
            <a:endParaRPr sz="1000">
              <a:latin typeface="Open Sans"/>
              <a:ea typeface="Open Sans"/>
              <a:cs typeface="Open Sans"/>
            </a:endParaRPr>
          </a:p>
        </p:txBody>
      </p:sp>
      <p:sp>
        <p:nvSpPr>
          <p:cNvPr id="87" name="Text 67">
            <a:extLst xmlns:a="http://schemas.openxmlformats.org/drawingml/2006/main">
              <a:ext uri="{FF2B5EF4-FFF2-40B4-BE49-F238E27FC236}">
                <a16:creationId xmlns:a16="http://schemas.microsoft.com/office/drawing/2014/main" id="{33B36C37-BD71-42EE-BD28-D3801DD2FA99}"/>
              </a:ext>
            </a:extLst>
          </p:cNvPr>
          <p:cNvSpPr>
            <a:spLocks xmlns:a="http://schemas.openxmlformats.org/drawingml/2006/main" noGrp="1"/>
          </p:cNvSpPr>
          <p:nvPr/>
        </p:nvSpPr>
        <p:spPr>
          <a:xfrm xmlns:a="http://schemas.openxmlformats.org/drawingml/2006/main">
            <a:off x="4265676" y="5257800"/>
            <a:ext cx="365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a:solidFill>
                  <a:srgbClr val="000000">
                    <a:alpha val="65000"/>
                  </a:srgbClr>
                </a:solidFill>
                <a:latin typeface="Open Sans"/>
                <a:ea typeface="Open Sans"/>
                <a:cs typeface="Open Sans"/>
              </a:rPr>
              <a:t>Shared RAG with exact-source checks</a:t>
            </a:r>
            <a:endParaRPr sz="800">
              <a:latin typeface="Open Sans"/>
              <a:ea typeface="Open Sans"/>
              <a:cs typeface="Open Sans"/>
            </a:endParaRPr>
          </a:p>
        </p:txBody>
      </p:sp>
      <p:pic>
        <p:nvPicPr>
          <p:cNvPr id="233" name="Image 18"/>
          <p:cNvPicPr>
            <a:picLocks xmlns:a="http://schemas.openxmlformats.org/drawingml/2006/main" noChangeAspect="1"/>
          </p:cNvPicPr>
          <p:nvPr/>
        </p:nvPicPr>
        <p:blipFill>
          <a:blip xmlns:r="http://schemas.openxmlformats.org/officeDocument/2006/relationships" xmlns:a="http://schemas.openxmlformats.org/drawingml/2006/main" r:embed="Rc7c3139e518841bc">
            <a:duotone>
              <a:srgbClr val="0E315C"/>
              <a:srgbClr val="0E315C"/>
            </a:duotone>
          </a:blip>
          <a:stretch xmlns:a="http://schemas.openxmlformats.org/drawingml/2006/main">
            <a:fillRect l="0" t="0" r="0" b="0"/>
          </a:stretch>
        </p:blipFill>
        <p:spPr>
          <a:xfrm xmlns:a="http://schemas.openxmlformats.org/drawingml/2006/main">
            <a:off x="9078163" y="5038344"/>
            <a:ext cx="182880" cy="182880"/>
          </a:xfrm>
          <a:prstGeom xmlns:a="http://schemas.openxmlformats.org/drawingml/2006/main" prst="rect">
            <a:avLst/>
          </a:prstGeom>
        </p:spPr>
      </p:pic>
      <p:sp>
        <p:nvSpPr>
          <p:cNvPr id="89" name="Text 68">
            <a:extLst xmlns:a="http://schemas.openxmlformats.org/drawingml/2006/main">
              <a:ext uri="{FF2B5EF4-FFF2-40B4-BE49-F238E27FC236}">
                <a16:creationId xmlns:a16="http://schemas.microsoft.com/office/drawing/2014/main" id="{2B7A76A1-C323-4F1C-8AF9-BE2E5F9C14A2}"/>
              </a:ext>
            </a:extLst>
          </p:cNvPr>
          <p:cNvSpPr>
            <a:spLocks xmlns:a="http://schemas.openxmlformats.org/drawingml/2006/main" noGrp="1"/>
          </p:cNvSpPr>
          <p:nvPr/>
        </p:nvSpPr>
        <p:spPr>
          <a:xfrm xmlns:a="http://schemas.openxmlformats.org/drawingml/2006/main">
            <a:off x="9315907" y="5019675"/>
            <a:ext cx="21431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0000"/>
                </a:solidFill>
                <a:latin typeface="Open Sans"/>
                <a:ea typeface="Open Sans"/>
                <a:cs typeface="Open Sans"/>
              </a:rPr>
              <a:t>Governed execution</a:t>
            </a:r>
            <a:endParaRPr sz="1000">
              <a:latin typeface="Open Sans"/>
              <a:ea typeface="Open Sans"/>
              <a:cs typeface="Open Sans"/>
            </a:endParaRPr>
          </a:p>
        </p:txBody>
      </p:sp>
      <p:sp>
        <p:nvSpPr>
          <p:cNvPr id="90" name="Text 69">
            <a:extLst xmlns:a="http://schemas.openxmlformats.org/drawingml/2006/main">
              <a:ext uri="{FF2B5EF4-FFF2-40B4-BE49-F238E27FC236}">
                <a16:creationId xmlns:a16="http://schemas.microsoft.com/office/drawing/2014/main" id="{11FC2138-60B2-40DD-98E9-6F74DF7F11FD}"/>
              </a:ext>
            </a:extLst>
          </p:cNvPr>
          <p:cNvSpPr>
            <a:spLocks xmlns:a="http://schemas.openxmlformats.org/drawingml/2006/main" noGrp="1"/>
          </p:cNvSpPr>
          <p:nvPr/>
        </p:nvSpPr>
        <p:spPr>
          <a:xfrm xmlns:a="http://schemas.openxmlformats.org/drawingml/2006/main">
            <a:off x="8028432" y="5257800"/>
            <a:ext cx="3657600"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a:solidFill>
                  <a:srgbClr val="000000">
                    <a:alpha val="65000"/>
                  </a:srgbClr>
                </a:solidFill>
                <a:latin typeface="Open Sans"/>
                <a:ea typeface="Open Sans"/>
                <a:cs typeface="Open Sans"/>
              </a:rPr>
              <a:t>Policy gates and guardrails applied</a:t>
            </a:r>
            <a:endParaRPr sz="800">
              <a:latin typeface="Open Sans"/>
              <a:ea typeface="Open Sans"/>
              <a:cs typeface="Open Sans"/>
            </a:endParaRPr>
          </a:p>
        </p:txBody>
      </p:sp>
      <p:pic>
        <p:nvPicPr>
          <p:cNvPr id="236" name="Image 19"/>
          <p:cNvPicPr>
            <a:picLocks xmlns:a="http://schemas.openxmlformats.org/drawingml/2006/main" noChangeAspect="1"/>
          </p:cNvPicPr>
          <p:nvPr/>
        </p:nvPicPr>
        <p:blipFill>
          <a:blip xmlns:r="http://schemas.openxmlformats.org/officeDocument/2006/relationships" xmlns:a="http://schemas.openxmlformats.org/drawingml/2006/main" r:embed="R1d8fa5bcc00c453b">
            <a:duotone>
              <a:srgbClr val="0071CF"/>
              <a:srgbClr val="0071CF"/>
            </a:duotone>
          </a:blip>
          <a:stretch xmlns:a="http://schemas.openxmlformats.org/drawingml/2006/main">
            <a:fillRect l="0" t="0" r="0" b="0"/>
          </a:stretch>
        </p:blipFill>
        <p:spPr>
          <a:xfrm xmlns:a="http://schemas.openxmlformats.org/drawingml/2006/main">
            <a:off x="1463040" y="5559552"/>
            <a:ext cx="237744" cy="237744"/>
          </a:xfrm>
          <a:prstGeom xmlns:a="http://schemas.openxmlformats.org/drawingml/2006/main" prst="rect">
            <a:avLst/>
          </a:prstGeom>
        </p:spPr>
      </p:pic>
      <p:sp>
        <p:nvSpPr>
          <p:cNvPr id="92" name="Text 70">
            <a:extLst xmlns:a="http://schemas.openxmlformats.org/drawingml/2006/main">
              <a:ext uri="{FF2B5EF4-FFF2-40B4-BE49-F238E27FC236}">
                <a16:creationId xmlns:a16="http://schemas.microsoft.com/office/drawing/2014/main" id="{42C1C8A8-BD3B-412D-9D9B-43E187832CCA}"/>
              </a:ext>
            </a:extLst>
          </p:cNvPr>
          <p:cNvSpPr>
            <a:spLocks xmlns:a="http://schemas.openxmlformats.org/drawingml/2006/main" noGrp="1"/>
          </p:cNvSpPr>
          <p:nvPr/>
        </p:nvSpPr>
        <p:spPr>
          <a:xfrm xmlns:a="http://schemas.openxmlformats.org/drawingml/2006/main">
            <a:off x="1764792" y="55138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b="1">
                <a:solidFill>
                  <a:srgbClr val="0071CF"/>
                </a:solidFill>
                <a:latin typeface="Open Sans"/>
                <a:ea typeface="Open Sans"/>
                <a:cs typeface="Open Sans"/>
              </a:rPr>
              <a:t>Tool calls</a:t>
            </a:r>
            <a:endParaRPr sz="900">
              <a:latin typeface="Open Sans"/>
              <a:ea typeface="Open Sans"/>
              <a:cs typeface="Open Sans"/>
            </a:endParaRPr>
          </a:p>
        </p:txBody>
      </p:sp>
      <p:sp>
        <p:nvSpPr>
          <p:cNvPr id="93" name="Text 71">
            <a:extLst xmlns:a="http://schemas.openxmlformats.org/drawingml/2006/main">
              <a:ext uri="{FF2B5EF4-FFF2-40B4-BE49-F238E27FC236}">
                <a16:creationId xmlns:a16="http://schemas.microsoft.com/office/drawing/2014/main" id="{D76E500A-D5A6-4C0F-9824-C25810A20CCF}"/>
              </a:ext>
            </a:extLst>
          </p:cNvPr>
          <p:cNvSpPr>
            <a:spLocks xmlns:a="http://schemas.openxmlformats.org/drawingml/2006/main" noGrp="1"/>
          </p:cNvSpPr>
          <p:nvPr/>
        </p:nvSpPr>
        <p:spPr>
          <a:xfrm xmlns:a="http://schemas.openxmlformats.org/drawingml/2006/main">
            <a:off x="1764791" y="5676900"/>
            <a:ext cx="3190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00">
                <a:solidFill>
                  <a:srgbClr val="000000">
                    <a:alpha val="65000"/>
                  </a:srgbClr>
                </a:solidFill>
                <a:latin typeface="Open Sans"/>
                <a:ea typeface="Open Sans"/>
                <a:cs typeface="Open Sans"/>
              </a:rPr>
              <a:t>Execute API calls through Stratos MCP server</a:t>
            </a:r>
            <a:endParaRPr sz="800">
              <a:latin typeface="Open Sans"/>
              <a:ea typeface="Open Sans"/>
              <a:cs typeface="Open Sans"/>
            </a:endParaRPr>
          </a:p>
        </p:txBody>
      </p:sp>
      <p:pic>
        <p:nvPicPr>
          <p:cNvPr id="239" name="Image 20"/>
          <p:cNvPicPr>
            <a:picLocks xmlns:a="http://schemas.openxmlformats.org/drawingml/2006/main" noChangeAspect="1"/>
          </p:cNvPicPr>
          <p:nvPr/>
        </p:nvPicPr>
        <p:blipFill>
          <a:blip xmlns:r="http://schemas.openxmlformats.org/officeDocument/2006/relationships" xmlns:a="http://schemas.openxmlformats.org/drawingml/2006/main" r:embed="R6974eee172d7476e">
            <a:duotone>
              <a:srgbClr val="0000FF"/>
              <a:srgbClr val="0000FF"/>
            </a:duotone>
          </a:blip>
          <a:stretch xmlns:a="http://schemas.openxmlformats.org/drawingml/2006/main">
            <a:fillRect l="0" t="0" r="0" b="0"/>
          </a:stretch>
        </p:blipFill>
        <p:spPr>
          <a:xfrm xmlns:a="http://schemas.openxmlformats.org/drawingml/2006/main">
            <a:off x="5225796" y="5559552"/>
            <a:ext cx="237744" cy="237744"/>
          </a:xfrm>
          <a:prstGeom xmlns:a="http://schemas.openxmlformats.org/drawingml/2006/main" prst="rect">
            <a:avLst/>
          </a:prstGeom>
        </p:spPr>
      </p:pic>
      <p:sp>
        <p:nvSpPr>
          <p:cNvPr id="95" name="Text 72">
            <a:extLst xmlns:a="http://schemas.openxmlformats.org/drawingml/2006/main">
              <a:ext uri="{FF2B5EF4-FFF2-40B4-BE49-F238E27FC236}">
                <a16:creationId xmlns:a16="http://schemas.microsoft.com/office/drawing/2014/main" id="{30FB3052-6782-474D-AE83-96AD5514174F}"/>
              </a:ext>
            </a:extLst>
          </p:cNvPr>
          <p:cNvSpPr>
            <a:spLocks xmlns:a="http://schemas.openxmlformats.org/drawingml/2006/main" noGrp="1"/>
          </p:cNvSpPr>
          <p:nvPr/>
        </p:nvSpPr>
        <p:spPr>
          <a:xfrm xmlns:a="http://schemas.openxmlformats.org/drawingml/2006/main">
            <a:off x="5527548" y="55138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b="1">
                <a:solidFill>
                  <a:srgbClr val="0000FF"/>
                </a:solidFill>
                <a:latin typeface="Open Sans"/>
                <a:ea typeface="Open Sans"/>
                <a:cs typeface="Open Sans"/>
              </a:rPr>
              <a:t>Knowledge context</a:t>
            </a:r>
            <a:endParaRPr sz="900">
              <a:latin typeface="Open Sans"/>
              <a:ea typeface="Open Sans"/>
              <a:cs typeface="Open Sans"/>
            </a:endParaRPr>
          </a:p>
        </p:txBody>
      </p:sp>
      <p:pic>
        <p:nvPicPr>
          <p:cNvPr id="241" name="Image 21"/>
          <p:cNvPicPr>
            <a:picLocks xmlns:a="http://schemas.openxmlformats.org/drawingml/2006/main" noChangeAspect="1"/>
          </p:cNvPicPr>
          <p:nvPr/>
        </p:nvPicPr>
        <p:blipFill>
          <a:blip xmlns:r="http://schemas.openxmlformats.org/officeDocument/2006/relationships" xmlns:a="http://schemas.openxmlformats.org/drawingml/2006/main" r:embed="R6c462bc379634266">
            <a:duotone>
              <a:srgbClr val="0E315C"/>
              <a:srgbClr val="0E315C"/>
            </a:duotone>
          </a:blip>
          <a:stretch xmlns:a="http://schemas.openxmlformats.org/drawingml/2006/main">
            <a:fillRect l="0" t="0" r="0" b="0"/>
          </a:stretch>
        </p:blipFill>
        <p:spPr>
          <a:xfrm xmlns:a="http://schemas.openxmlformats.org/drawingml/2006/main">
            <a:off x="8988552" y="5559552"/>
            <a:ext cx="237744" cy="237744"/>
          </a:xfrm>
          <a:prstGeom xmlns:a="http://schemas.openxmlformats.org/drawingml/2006/main" prst="rect">
            <a:avLst/>
          </a:prstGeom>
        </p:spPr>
      </p:pic>
      <p:sp>
        <p:nvSpPr>
          <p:cNvPr id="98" name="Text 74">
            <a:extLst xmlns:a="http://schemas.openxmlformats.org/drawingml/2006/main">
              <a:ext uri="{FF2B5EF4-FFF2-40B4-BE49-F238E27FC236}">
                <a16:creationId xmlns:a16="http://schemas.microsoft.com/office/drawing/2014/main" id="{052F44D5-AF39-4601-9557-AD728B38147D}"/>
              </a:ext>
            </a:extLst>
          </p:cNvPr>
          <p:cNvSpPr>
            <a:spLocks xmlns:a="http://schemas.openxmlformats.org/drawingml/2006/main" noGrp="1"/>
          </p:cNvSpPr>
          <p:nvPr/>
        </p:nvSpPr>
        <p:spPr>
          <a:xfrm xmlns:a="http://schemas.openxmlformats.org/drawingml/2006/main">
            <a:off x="9290304" y="5513832"/>
            <a:ext cx="18288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b="1">
                <a:solidFill>
                  <a:srgbClr val="0E315C"/>
                </a:solidFill>
                <a:latin typeface="Open Sans"/>
                <a:ea typeface="Open Sans"/>
                <a:cs typeface="Open Sans"/>
              </a:rPr>
              <a:t>API updates</a:t>
            </a:r>
            <a:endParaRPr sz="900">
              <a:latin typeface="Open Sans"/>
              <a:ea typeface="Open Sans"/>
              <a:cs typeface="Open Sans"/>
            </a:endParaRPr>
          </a:p>
        </p:txBody>
      </p:sp>
      <p:sp>
        <p:nvSpPr>
          <p:cNvPr id="99" name="Text 75">
            <a:extLst xmlns:a="http://schemas.openxmlformats.org/drawingml/2006/main">
              <a:ext uri="{FF2B5EF4-FFF2-40B4-BE49-F238E27FC236}">
                <a16:creationId xmlns:a16="http://schemas.microsoft.com/office/drawing/2014/main" id="{D6C0EA3C-BDDC-48AB-AD38-88C0831794EF}"/>
              </a:ext>
            </a:extLst>
          </p:cNvPr>
          <p:cNvSpPr>
            <a:spLocks xmlns:a="http://schemas.openxmlformats.org/drawingml/2006/main" noGrp="1"/>
          </p:cNvSpPr>
          <p:nvPr/>
        </p:nvSpPr>
        <p:spPr>
          <a:xfrm xmlns:a="http://schemas.openxmlformats.org/drawingml/2006/main">
            <a:off x="9286875" y="5676900"/>
            <a:ext cx="23336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00">
                <a:solidFill>
                  <a:srgbClr val="000000">
                    <a:alpha val="65000"/>
                  </a:srgbClr>
                </a:solidFill>
                <a:latin typeface="Open Sans"/>
                <a:ea typeface="Open Sans"/>
                <a:cs typeface="Open Sans"/>
              </a:rPr>
              <a:t>Update source systems deterministically</a:t>
            </a:r>
            <a:endParaRPr sz="800">
              <a:latin typeface="Open Sans"/>
              <a:ea typeface="Open Sans"/>
              <a:cs typeface="Open Sans"/>
            </a:endParaRPr>
          </a:p>
        </p:txBody>
      </p:sp>
      <p:sp>
        <p:nvSpPr>
          <p:cNvPr id="100" name="Shape 76">
            <a:extLst xmlns:a="http://schemas.openxmlformats.org/drawingml/2006/main">
              <a:ext uri="{FF2B5EF4-FFF2-40B4-BE49-F238E27FC236}">
                <a16:creationId xmlns:a16="http://schemas.microsoft.com/office/drawing/2014/main" id="{29D26C2B-A3B5-4188-8905-5989B801DDA2}"/>
              </a:ext>
            </a:extLst>
          </p:cNvPr>
          <p:cNvSpPr>
            <a:spLocks xmlns:a="http://schemas.openxmlformats.org/drawingml/2006/main" noGrp="1"/>
          </p:cNvSpPr>
          <p:nvPr/>
        </p:nvSpPr>
        <p:spPr>
          <a:xfrm xmlns:a="http://schemas.openxmlformats.org/drawingml/2006/main">
            <a:off x="457200" y="5925312"/>
            <a:ext cx="11277295" cy="713232"/>
          </a:xfrm>
          <a:prstGeom xmlns:a="http://schemas.openxmlformats.org/drawingml/2006/main" prst="roundRect">
            <a:avLst>
              <a:gd name="adj" fmla="val 0"/>
            </a:avLst>
          </a:prstGeom>
          <a:solidFill xmlns:a="http://schemas.openxmlformats.org/drawingml/2006/main">
            <a:srgbClr val="0E315C">
              <a:alpha val="3500"/>
            </a:srgbClr>
          </a:solidFill>
          <a:ln xmlns:a="http://schemas.openxmlformats.org/drawingml/2006/main" w="9525">
            <a:solidFill>
              <a:srgbClr val="0E315C">
                <a:alpha val="22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101" name="Text 77">
            <a:extLst xmlns:a="http://schemas.openxmlformats.org/drawingml/2006/main">
              <a:ext uri="{FF2B5EF4-FFF2-40B4-BE49-F238E27FC236}">
                <a16:creationId xmlns:a16="http://schemas.microsoft.com/office/drawing/2014/main" id="{B6CBF09C-32CE-463C-B9BE-33D9E6DD3E4E}"/>
              </a:ext>
            </a:extLst>
          </p:cNvPr>
          <p:cNvSpPr>
            <a:spLocks xmlns:a="http://schemas.openxmlformats.org/drawingml/2006/main" noGrp="1"/>
          </p:cNvSpPr>
          <p:nvPr/>
        </p:nvSpPr>
        <p:spPr>
          <a:xfrm xmlns:a="http://schemas.openxmlformats.org/drawingml/2006/main">
            <a:off x="603504" y="5971032"/>
            <a:ext cx="5486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b="1">
                <a:solidFill>
                  <a:srgbClr val="000000"/>
                </a:solidFill>
                <a:latin typeface="Open Sans"/>
                <a:ea typeface="Open Sans"/>
                <a:cs typeface="Open Sans"/>
              </a:rPr>
              <a:t>Source systems</a:t>
            </a:r>
            <a:endParaRPr sz="1000">
              <a:latin typeface="Open Sans"/>
              <a:ea typeface="Open Sans"/>
              <a:cs typeface="Open Sans"/>
            </a:endParaRPr>
          </a:p>
        </p:txBody>
      </p:sp>
      <p:sp>
        <p:nvSpPr>
          <p:cNvPr id="102" name="Shape 78">
            <a:extLst xmlns:a="http://schemas.openxmlformats.org/drawingml/2006/main">
              <a:ext uri="{FF2B5EF4-FFF2-40B4-BE49-F238E27FC236}">
                <a16:creationId xmlns:a16="http://schemas.microsoft.com/office/drawing/2014/main" id="{8BDF708F-C93A-4B73-B4BA-6C843D862183}"/>
              </a:ext>
            </a:extLst>
          </p:cNvPr>
          <p:cNvSpPr>
            <a:spLocks xmlns:a="http://schemas.openxmlformats.org/drawingml/2006/main" noGrp="1"/>
          </p:cNvSpPr>
          <p:nvPr/>
        </p:nvSpPr>
        <p:spPr>
          <a:xfrm xmlns:a="http://schemas.openxmlformats.org/drawingml/2006/main">
            <a:off x="603504"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47" name="Image 22"/>
          <p:cNvPicPr>
            <a:picLocks xmlns:a="http://schemas.openxmlformats.org/drawingml/2006/main" noChangeAspect="1"/>
          </p:cNvPicPr>
          <p:nvPr/>
        </p:nvPicPr>
        <p:blipFill>
          <a:blip xmlns:r="http://schemas.openxmlformats.org/officeDocument/2006/relationships" xmlns:a="http://schemas.openxmlformats.org/drawingml/2006/main" r:embed="R15a24d04860e42eb">
            <a:duotone>
              <a:srgbClr val="0071CF"/>
              <a:srgbClr val="0071CF"/>
            </a:duotone>
          </a:blip>
          <a:stretch xmlns:a="http://schemas.openxmlformats.org/drawingml/2006/main">
            <a:fillRect l="0" t="0" r="0" b="0"/>
          </a:stretch>
        </p:blipFill>
        <p:spPr>
          <a:xfrm xmlns:a="http://schemas.openxmlformats.org/drawingml/2006/main">
            <a:off x="694944" y="6227064"/>
            <a:ext cx="155448" cy="155448"/>
          </a:xfrm>
          <a:prstGeom xmlns:a="http://schemas.openxmlformats.org/drawingml/2006/main" prst="rect">
            <a:avLst/>
          </a:prstGeom>
        </p:spPr>
      </p:pic>
      <p:sp>
        <p:nvSpPr>
          <p:cNvPr id="104" name="Text 79">
            <a:extLst xmlns:a="http://schemas.openxmlformats.org/drawingml/2006/main">
              <a:ext uri="{FF2B5EF4-FFF2-40B4-BE49-F238E27FC236}">
                <a16:creationId xmlns:a16="http://schemas.microsoft.com/office/drawing/2014/main" id="{5C20401C-60EA-4942-8C23-2750623E7EF4}"/>
              </a:ext>
            </a:extLst>
          </p:cNvPr>
          <p:cNvSpPr>
            <a:spLocks xmlns:a="http://schemas.openxmlformats.org/drawingml/2006/main" noGrp="1"/>
          </p:cNvSpPr>
          <p:nvPr/>
        </p:nvSpPr>
        <p:spPr>
          <a:xfrm xmlns:a="http://schemas.openxmlformats.org/drawingml/2006/main">
            <a:off x="896112"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1">
                <a:solidFill>
                  <a:srgbClr val="000000"/>
                </a:solidFill>
                <a:latin typeface="Open Sans"/>
                <a:ea typeface="Open Sans"/>
                <a:cs typeface="Open Sans"/>
              </a:rPr>
              <a:t>PLM</a:t>
            </a:r>
            <a:endParaRPr sz="950">
              <a:latin typeface="Open Sans"/>
              <a:ea typeface="Open Sans"/>
              <a:cs typeface="Open Sans"/>
            </a:endParaRPr>
          </a:p>
        </p:txBody>
      </p:sp>
      <p:sp>
        <p:nvSpPr>
          <p:cNvPr id="105" name="Text 80">
            <a:extLst xmlns:a="http://schemas.openxmlformats.org/drawingml/2006/main">
              <a:ext uri="{FF2B5EF4-FFF2-40B4-BE49-F238E27FC236}">
                <a16:creationId xmlns:a16="http://schemas.microsoft.com/office/drawing/2014/main" id="{D40BAC7B-F6EC-4997-97F5-A30FF5B3D77E}"/>
              </a:ext>
            </a:extLst>
          </p:cNvPr>
          <p:cNvSpPr>
            <a:spLocks xmlns:a="http://schemas.openxmlformats.org/drawingml/2006/main" noGrp="1"/>
          </p:cNvSpPr>
          <p:nvPr/>
        </p:nvSpPr>
        <p:spPr>
          <a:xfrm xmlns:a="http://schemas.openxmlformats.org/drawingml/2006/main">
            <a:off x="694944" y="6400800"/>
            <a:ext cx="1981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40">
                <a:solidFill>
                  <a:srgbClr val="000000">
                    <a:alpha val="76000"/>
                  </a:srgbClr>
                </a:solidFill>
                <a:latin typeface="Open Sans"/>
                <a:ea typeface="Open Sans"/>
                <a:cs typeface="Open Sans"/>
              </a:rPr>
              <a:t>Engineering records</a:t>
            </a:r>
            <a:endParaRPr sz="840">
              <a:latin typeface="Open Sans"/>
              <a:ea typeface="Open Sans"/>
              <a:cs typeface="Open Sans"/>
            </a:endParaRPr>
          </a:p>
        </p:txBody>
      </p:sp>
      <p:sp>
        <p:nvSpPr>
          <p:cNvPr id="106" name="Shape 81">
            <a:extLst xmlns:a="http://schemas.openxmlformats.org/drawingml/2006/main">
              <a:ext uri="{FF2B5EF4-FFF2-40B4-BE49-F238E27FC236}">
                <a16:creationId xmlns:a16="http://schemas.microsoft.com/office/drawing/2014/main" id="{D8CEB0DD-B3C0-4241-912F-B041CDAF0D6B}"/>
              </a:ext>
            </a:extLst>
          </p:cNvPr>
          <p:cNvSpPr>
            <a:spLocks xmlns:a="http://schemas.openxmlformats.org/drawingml/2006/main" noGrp="1"/>
          </p:cNvSpPr>
          <p:nvPr/>
        </p:nvSpPr>
        <p:spPr>
          <a:xfrm xmlns:a="http://schemas.openxmlformats.org/drawingml/2006/main">
            <a:off x="2825496"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51" name="Image 23"/>
          <p:cNvPicPr>
            <a:picLocks xmlns:a="http://schemas.openxmlformats.org/drawingml/2006/main" noChangeAspect="1"/>
          </p:cNvPicPr>
          <p:nvPr/>
        </p:nvPicPr>
        <p:blipFill>
          <a:blip xmlns:r="http://schemas.openxmlformats.org/officeDocument/2006/relationships" xmlns:a="http://schemas.openxmlformats.org/drawingml/2006/main" r:embed="Rfe3fccc044a444ae">
            <a:duotone>
              <a:srgbClr val="0071CF"/>
              <a:srgbClr val="0071CF"/>
            </a:duotone>
          </a:blip>
          <a:stretch xmlns:a="http://schemas.openxmlformats.org/drawingml/2006/main">
            <a:fillRect l="0" t="0" r="0" b="0"/>
          </a:stretch>
        </p:blipFill>
        <p:spPr>
          <a:xfrm xmlns:a="http://schemas.openxmlformats.org/drawingml/2006/main">
            <a:off x="2916936" y="6227064"/>
            <a:ext cx="155448" cy="155448"/>
          </a:xfrm>
          <a:prstGeom xmlns:a="http://schemas.openxmlformats.org/drawingml/2006/main" prst="rect">
            <a:avLst/>
          </a:prstGeom>
        </p:spPr>
      </p:pic>
      <p:sp>
        <p:nvSpPr>
          <p:cNvPr id="108" name="Text 82">
            <a:extLst xmlns:a="http://schemas.openxmlformats.org/drawingml/2006/main">
              <a:ext uri="{FF2B5EF4-FFF2-40B4-BE49-F238E27FC236}">
                <a16:creationId xmlns:a16="http://schemas.microsoft.com/office/drawing/2014/main" id="{6B5D5E4F-4E60-4573-8CBA-965A3A4C87AB}"/>
              </a:ext>
            </a:extLst>
          </p:cNvPr>
          <p:cNvSpPr>
            <a:spLocks xmlns:a="http://schemas.openxmlformats.org/drawingml/2006/main" noGrp="1"/>
          </p:cNvSpPr>
          <p:nvPr/>
        </p:nvSpPr>
        <p:spPr>
          <a:xfrm xmlns:a="http://schemas.openxmlformats.org/drawingml/2006/main">
            <a:off x="3118104"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1">
                <a:solidFill>
                  <a:srgbClr val="000000"/>
                </a:solidFill>
                <a:latin typeface="Open Sans"/>
                <a:ea typeface="Open Sans"/>
                <a:cs typeface="Open Sans"/>
              </a:rPr>
              <a:t>TestOps</a:t>
            </a:r>
            <a:endParaRPr sz="950">
              <a:latin typeface="Open Sans"/>
              <a:ea typeface="Open Sans"/>
              <a:cs typeface="Open Sans"/>
            </a:endParaRPr>
          </a:p>
        </p:txBody>
      </p:sp>
      <p:sp>
        <p:nvSpPr>
          <p:cNvPr id="109" name="Text 83">
            <a:extLst xmlns:a="http://schemas.openxmlformats.org/drawingml/2006/main">
              <a:ext uri="{FF2B5EF4-FFF2-40B4-BE49-F238E27FC236}">
                <a16:creationId xmlns:a16="http://schemas.microsoft.com/office/drawing/2014/main" id="{7F126E53-44C5-420A-ABF0-0376E26AAF6F}"/>
              </a:ext>
            </a:extLst>
          </p:cNvPr>
          <p:cNvSpPr>
            <a:spLocks xmlns:a="http://schemas.openxmlformats.org/drawingml/2006/main" noGrp="1"/>
          </p:cNvSpPr>
          <p:nvPr/>
        </p:nvSpPr>
        <p:spPr>
          <a:xfrm xmlns:a="http://schemas.openxmlformats.org/drawingml/2006/main">
            <a:off x="2916936" y="6400800"/>
            <a:ext cx="1981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40">
                <a:solidFill>
                  <a:srgbClr val="000000">
                    <a:alpha val="76000"/>
                  </a:srgbClr>
                </a:solidFill>
                <a:latin typeface="Open Sans"/>
                <a:ea typeface="Open Sans"/>
                <a:cs typeface="Open Sans"/>
              </a:rPr>
              <a:t>Test evidence and jobs</a:t>
            </a:r>
            <a:endParaRPr sz="840">
              <a:latin typeface="Open Sans"/>
              <a:ea typeface="Open Sans"/>
              <a:cs typeface="Open Sans"/>
            </a:endParaRPr>
          </a:p>
        </p:txBody>
      </p:sp>
      <p:sp>
        <p:nvSpPr>
          <p:cNvPr id="110" name="Shape 84">
            <a:extLst xmlns:a="http://schemas.openxmlformats.org/drawingml/2006/main">
              <a:ext uri="{FF2B5EF4-FFF2-40B4-BE49-F238E27FC236}">
                <a16:creationId xmlns:a16="http://schemas.microsoft.com/office/drawing/2014/main" id="{EC2D4592-AF76-429D-80FF-12C2FB46588F}"/>
              </a:ext>
            </a:extLst>
          </p:cNvPr>
          <p:cNvSpPr>
            <a:spLocks xmlns:a="http://schemas.openxmlformats.org/drawingml/2006/main" noGrp="1"/>
          </p:cNvSpPr>
          <p:nvPr/>
        </p:nvSpPr>
        <p:spPr>
          <a:xfrm xmlns:a="http://schemas.openxmlformats.org/drawingml/2006/main">
            <a:off x="5047488"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55" name="Image 24"/>
          <p:cNvPicPr>
            <a:picLocks xmlns:a="http://schemas.openxmlformats.org/drawingml/2006/main" noChangeAspect="1"/>
          </p:cNvPicPr>
          <p:nvPr/>
        </p:nvPicPr>
        <p:blipFill>
          <a:blip xmlns:r="http://schemas.openxmlformats.org/officeDocument/2006/relationships" xmlns:a="http://schemas.openxmlformats.org/drawingml/2006/main" r:embed="R8d740a24756d448e">
            <a:duotone>
              <a:srgbClr val="0071CF"/>
              <a:srgbClr val="0071CF"/>
            </a:duotone>
          </a:blip>
          <a:stretch xmlns:a="http://schemas.openxmlformats.org/drawingml/2006/main">
            <a:fillRect l="0" t="0" r="0" b="0"/>
          </a:stretch>
        </p:blipFill>
        <p:spPr>
          <a:xfrm xmlns:a="http://schemas.openxmlformats.org/drawingml/2006/main">
            <a:off x="5138928" y="6227064"/>
            <a:ext cx="155448" cy="155448"/>
          </a:xfrm>
          <a:prstGeom xmlns:a="http://schemas.openxmlformats.org/drawingml/2006/main" prst="rect">
            <a:avLst/>
          </a:prstGeom>
        </p:spPr>
      </p:pic>
      <p:sp>
        <p:nvSpPr>
          <p:cNvPr id="112" name="Text 85">
            <a:extLst xmlns:a="http://schemas.openxmlformats.org/drawingml/2006/main">
              <a:ext uri="{FF2B5EF4-FFF2-40B4-BE49-F238E27FC236}">
                <a16:creationId xmlns:a16="http://schemas.microsoft.com/office/drawing/2014/main" id="{FADCC9FC-8AF1-490E-87E3-A6ACB79696B2}"/>
              </a:ext>
            </a:extLst>
          </p:cNvPr>
          <p:cNvSpPr>
            <a:spLocks xmlns:a="http://schemas.openxmlformats.org/drawingml/2006/main" noGrp="1"/>
          </p:cNvSpPr>
          <p:nvPr/>
        </p:nvSpPr>
        <p:spPr>
          <a:xfrm xmlns:a="http://schemas.openxmlformats.org/drawingml/2006/main">
            <a:off x="5340096"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1">
                <a:solidFill>
                  <a:srgbClr val="000000"/>
                </a:solidFill>
                <a:latin typeface="Open Sans"/>
                <a:ea typeface="Open Sans"/>
                <a:cs typeface="Open Sans"/>
              </a:rPr>
              <a:t>MES</a:t>
            </a:r>
            <a:endParaRPr sz="950">
              <a:latin typeface="Open Sans"/>
              <a:ea typeface="Open Sans"/>
              <a:cs typeface="Open Sans"/>
            </a:endParaRPr>
          </a:p>
        </p:txBody>
      </p:sp>
      <p:sp>
        <p:nvSpPr>
          <p:cNvPr id="113" name="Text 86">
            <a:extLst xmlns:a="http://schemas.openxmlformats.org/drawingml/2006/main">
              <a:ext uri="{FF2B5EF4-FFF2-40B4-BE49-F238E27FC236}">
                <a16:creationId xmlns:a16="http://schemas.microsoft.com/office/drawing/2014/main" id="{167298B7-F650-42DE-809D-2782C1717C12}"/>
              </a:ext>
            </a:extLst>
          </p:cNvPr>
          <p:cNvSpPr>
            <a:spLocks xmlns:a="http://schemas.openxmlformats.org/drawingml/2006/main" noGrp="1"/>
          </p:cNvSpPr>
          <p:nvPr/>
        </p:nvSpPr>
        <p:spPr>
          <a:xfrm xmlns:a="http://schemas.openxmlformats.org/drawingml/2006/main">
            <a:off x="5138928" y="6400800"/>
            <a:ext cx="1981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40">
                <a:solidFill>
                  <a:srgbClr val="000000">
                    <a:alpha val="76000"/>
                  </a:srgbClr>
                </a:solidFill>
                <a:latin typeface="Open Sans"/>
                <a:ea typeface="Open Sans"/>
                <a:cs typeface="Open Sans"/>
              </a:rPr>
              <a:t>Quality and materials</a:t>
            </a:r>
            <a:endParaRPr sz="840">
              <a:latin typeface="Open Sans"/>
              <a:ea typeface="Open Sans"/>
              <a:cs typeface="Open Sans"/>
            </a:endParaRPr>
          </a:p>
        </p:txBody>
      </p:sp>
      <p:sp>
        <p:nvSpPr>
          <p:cNvPr id="114" name="Shape 87">
            <a:extLst xmlns:a="http://schemas.openxmlformats.org/drawingml/2006/main">
              <a:ext uri="{FF2B5EF4-FFF2-40B4-BE49-F238E27FC236}">
                <a16:creationId xmlns:a16="http://schemas.microsoft.com/office/drawing/2014/main" id="{22677D05-6871-4170-859A-50F7CCBAA9F0}"/>
              </a:ext>
            </a:extLst>
          </p:cNvPr>
          <p:cNvSpPr>
            <a:spLocks xmlns:a="http://schemas.openxmlformats.org/drawingml/2006/main" noGrp="1"/>
          </p:cNvSpPr>
          <p:nvPr/>
        </p:nvSpPr>
        <p:spPr>
          <a:xfrm xmlns:a="http://schemas.openxmlformats.org/drawingml/2006/main">
            <a:off x="7269480"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59" name="Image 25"/>
          <p:cNvPicPr>
            <a:picLocks xmlns:a="http://schemas.openxmlformats.org/drawingml/2006/main" noChangeAspect="1"/>
          </p:cNvPicPr>
          <p:nvPr/>
        </p:nvPicPr>
        <p:blipFill>
          <a:blip xmlns:r="http://schemas.openxmlformats.org/officeDocument/2006/relationships" xmlns:a="http://schemas.openxmlformats.org/drawingml/2006/main" r:embed="R870af84e90df4383">
            <a:duotone>
              <a:srgbClr val="0071CF"/>
              <a:srgbClr val="0071CF"/>
            </a:duotone>
          </a:blip>
          <a:stretch xmlns:a="http://schemas.openxmlformats.org/drawingml/2006/main">
            <a:fillRect l="0" t="0" r="0" b="0"/>
          </a:stretch>
        </p:blipFill>
        <p:spPr>
          <a:xfrm xmlns:a="http://schemas.openxmlformats.org/drawingml/2006/main">
            <a:off x="7360920" y="6227064"/>
            <a:ext cx="155448" cy="155448"/>
          </a:xfrm>
          <a:prstGeom xmlns:a="http://schemas.openxmlformats.org/drawingml/2006/main" prst="rect">
            <a:avLst/>
          </a:prstGeom>
        </p:spPr>
      </p:pic>
      <p:sp>
        <p:nvSpPr>
          <p:cNvPr id="116" name="Text 88">
            <a:extLst xmlns:a="http://schemas.openxmlformats.org/drawingml/2006/main">
              <a:ext uri="{FF2B5EF4-FFF2-40B4-BE49-F238E27FC236}">
                <a16:creationId xmlns:a16="http://schemas.microsoft.com/office/drawing/2014/main" id="{6F260375-F174-4E8E-AD63-A8FC0D8F46A2}"/>
              </a:ext>
            </a:extLst>
          </p:cNvPr>
          <p:cNvSpPr>
            <a:spLocks xmlns:a="http://schemas.openxmlformats.org/drawingml/2006/main" noGrp="1"/>
          </p:cNvSpPr>
          <p:nvPr/>
        </p:nvSpPr>
        <p:spPr>
          <a:xfrm xmlns:a="http://schemas.openxmlformats.org/drawingml/2006/main">
            <a:off x="7562088"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1">
                <a:solidFill>
                  <a:srgbClr val="000000"/>
                </a:solidFill>
                <a:latin typeface="Open Sans"/>
                <a:ea typeface="Open Sans"/>
                <a:cs typeface="Open Sans"/>
              </a:rPr>
              <a:t>ERP</a:t>
            </a:r>
            <a:endParaRPr sz="950">
              <a:latin typeface="Open Sans"/>
              <a:ea typeface="Open Sans"/>
              <a:cs typeface="Open Sans"/>
            </a:endParaRPr>
          </a:p>
        </p:txBody>
      </p:sp>
      <p:sp>
        <p:nvSpPr>
          <p:cNvPr id="117" name="Text 89">
            <a:extLst xmlns:a="http://schemas.openxmlformats.org/drawingml/2006/main">
              <a:ext uri="{FF2B5EF4-FFF2-40B4-BE49-F238E27FC236}">
                <a16:creationId xmlns:a16="http://schemas.microsoft.com/office/drawing/2014/main" id="{8DB20472-9196-4F5D-AC20-4E49496BDB24}"/>
              </a:ext>
            </a:extLst>
          </p:cNvPr>
          <p:cNvSpPr>
            <a:spLocks xmlns:a="http://schemas.openxmlformats.org/drawingml/2006/main" noGrp="1"/>
          </p:cNvSpPr>
          <p:nvPr/>
        </p:nvSpPr>
        <p:spPr>
          <a:xfrm xmlns:a="http://schemas.openxmlformats.org/drawingml/2006/main">
            <a:off x="7360920" y="6400800"/>
            <a:ext cx="1981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40">
                <a:solidFill>
                  <a:srgbClr val="000000">
                    <a:alpha val="76000"/>
                  </a:srgbClr>
                </a:solidFill>
                <a:latin typeface="Open Sans"/>
                <a:ea typeface="Open Sans"/>
                <a:cs typeface="Open Sans"/>
              </a:rPr>
              <a:t>Orders and commitments</a:t>
            </a:r>
            <a:endParaRPr sz="840">
              <a:latin typeface="Open Sans"/>
              <a:ea typeface="Open Sans"/>
              <a:cs typeface="Open Sans"/>
            </a:endParaRPr>
          </a:p>
        </p:txBody>
      </p:sp>
      <p:sp>
        <p:nvSpPr>
          <p:cNvPr id="118" name="Shape 90">
            <a:extLst xmlns:a="http://schemas.openxmlformats.org/drawingml/2006/main">
              <a:ext uri="{FF2B5EF4-FFF2-40B4-BE49-F238E27FC236}">
                <a16:creationId xmlns:a16="http://schemas.microsoft.com/office/drawing/2014/main" id="{EA1DA92D-E9C2-4289-9AE1-AF277150ABA3}"/>
              </a:ext>
            </a:extLst>
          </p:cNvPr>
          <p:cNvSpPr>
            <a:spLocks xmlns:a="http://schemas.openxmlformats.org/drawingml/2006/main" noGrp="1"/>
          </p:cNvSpPr>
          <p:nvPr/>
        </p:nvSpPr>
        <p:spPr>
          <a:xfrm xmlns:a="http://schemas.openxmlformats.org/drawingml/2006/main">
            <a:off x="9491472" y="6172200"/>
            <a:ext cx="2112264" cy="402336"/>
          </a:xfrm>
          <a:prstGeom xmlns:a="http://schemas.openxmlformats.org/drawingml/2006/main" prst="roundRect">
            <a:avLst>
              <a:gd name="adj" fmla="val 13636"/>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263" name="Image 26"/>
          <p:cNvPicPr>
            <a:picLocks xmlns:a="http://schemas.openxmlformats.org/drawingml/2006/main" noChangeAspect="1"/>
          </p:cNvPicPr>
          <p:nvPr/>
        </p:nvPicPr>
        <p:blipFill>
          <a:blip xmlns:r="http://schemas.openxmlformats.org/officeDocument/2006/relationships" xmlns:a="http://schemas.openxmlformats.org/drawingml/2006/main" r:embed="Rab31a3cfbeb14b07">
            <a:duotone>
              <a:srgbClr val="0071CF"/>
              <a:srgbClr val="0071CF"/>
            </a:duotone>
          </a:blip>
          <a:stretch xmlns:a="http://schemas.openxmlformats.org/drawingml/2006/main">
            <a:fillRect l="0" t="0" r="0" b="0"/>
          </a:stretch>
        </p:blipFill>
        <p:spPr>
          <a:xfrm xmlns:a="http://schemas.openxmlformats.org/drawingml/2006/main">
            <a:off x="9582912" y="6227064"/>
            <a:ext cx="155448" cy="155448"/>
          </a:xfrm>
          <a:prstGeom xmlns:a="http://schemas.openxmlformats.org/drawingml/2006/main" prst="rect">
            <a:avLst/>
          </a:prstGeom>
        </p:spPr>
      </p:pic>
      <p:sp>
        <p:nvSpPr>
          <p:cNvPr id="120" name="Text 91">
            <a:extLst xmlns:a="http://schemas.openxmlformats.org/drawingml/2006/main">
              <a:ext uri="{FF2B5EF4-FFF2-40B4-BE49-F238E27FC236}">
                <a16:creationId xmlns:a16="http://schemas.microsoft.com/office/drawing/2014/main" id="{24C5032F-0300-4641-BEB9-B674F695CDB5}"/>
              </a:ext>
            </a:extLst>
          </p:cNvPr>
          <p:cNvSpPr>
            <a:spLocks xmlns:a="http://schemas.openxmlformats.org/drawingml/2006/main" noGrp="1"/>
          </p:cNvSpPr>
          <p:nvPr/>
        </p:nvSpPr>
        <p:spPr>
          <a:xfrm xmlns:a="http://schemas.openxmlformats.org/drawingml/2006/main">
            <a:off x="9784080" y="6199632"/>
            <a:ext cx="174650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1">
                <a:solidFill>
                  <a:srgbClr val="000000"/>
                </a:solidFill>
                <a:latin typeface="Open Sans"/>
                <a:ea typeface="Open Sans"/>
                <a:cs typeface="Open Sans"/>
              </a:rPr>
              <a:t>ProgramOps</a:t>
            </a:r>
            <a:endParaRPr sz="950">
              <a:latin typeface="Open Sans"/>
              <a:ea typeface="Open Sans"/>
              <a:cs typeface="Open Sans"/>
            </a:endParaRPr>
          </a:p>
        </p:txBody>
      </p:sp>
      <p:sp>
        <p:nvSpPr>
          <p:cNvPr id="121" name="Text 92">
            <a:extLst xmlns:a="http://schemas.openxmlformats.org/drawingml/2006/main">
              <a:ext uri="{FF2B5EF4-FFF2-40B4-BE49-F238E27FC236}">
                <a16:creationId xmlns:a16="http://schemas.microsoft.com/office/drawing/2014/main" id="{05784C2C-5CEE-4556-9250-E901ACDE7BEC}"/>
              </a:ext>
            </a:extLst>
          </p:cNvPr>
          <p:cNvSpPr>
            <a:spLocks xmlns:a="http://schemas.openxmlformats.org/drawingml/2006/main" noGrp="1"/>
          </p:cNvSpPr>
          <p:nvPr/>
        </p:nvSpPr>
        <p:spPr>
          <a:xfrm xmlns:a="http://schemas.openxmlformats.org/drawingml/2006/main">
            <a:off x="9582912" y="6400800"/>
            <a:ext cx="19812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40">
                <a:solidFill>
                  <a:srgbClr val="000000">
                    <a:alpha val="76000"/>
                  </a:srgbClr>
                </a:solidFill>
                <a:latin typeface="Open Sans"/>
                <a:ea typeface="Open Sans"/>
                <a:cs typeface="Open Sans"/>
              </a:rPr>
              <a:t>Milestones and tasks</a:t>
            </a:r>
            <a:endParaRPr sz="840">
              <a:latin typeface="Open Sans"/>
              <a:ea typeface="Open Sans"/>
              <a:cs typeface="Open Sans"/>
            </a:endParaRPr>
          </a:p>
        </p:txBody>
      </p:sp>
      <p:sp>
        <p:nvSpPr>
          <p:cNvPr id="124" name="Text 71">
            <a:extLst xmlns:a="http://schemas.openxmlformats.org/drawingml/2006/main">
              <a:ext uri="{FF2B5EF4-FFF2-40B4-BE49-F238E27FC236}">
                <a16:creationId xmlns:a16="http://schemas.microsoft.com/office/drawing/2014/main" id="{DABC4534-BCCA-0D7C-405D-7AE5EDEEFBB6}"/>
              </a:ext>
            </a:extLst>
          </p:cNvPr>
          <p:cNvSpPr>
            <a:spLocks xmlns:a="http://schemas.openxmlformats.org/drawingml/2006/main" noGrp="1"/>
          </p:cNvSpPr>
          <p:nvPr/>
        </p:nvSpPr>
        <p:spPr>
          <a:xfrm xmlns:a="http://schemas.openxmlformats.org/drawingml/2006/main">
            <a:off x="5531053" y="5676900"/>
            <a:ext cx="31908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00">
                <a:solidFill>
                  <a:srgbClr val="000000">
                    <a:alpha val="65000"/>
                  </a:srgbClr>
                </a:solidFill>
                <a:latin typeface="Open Sans"/>
                <a:ea typeface="Open Sans"/>
                <a:cs typeface="Open Sans"/>
              </a:rPr>
              <a:t>Retrieve contextual information from vector database</a:t>
            </a:r>
            <a:endParaRPr sz="800">
              <a:latin typeface="Open Sans"/>
              <a:ea typeface="Open Sans"/>
              <a:cs typeface="Open Sans"/>
            </a:endParaRPr>
          </a:p>
        </p:txBody>
      </p:sp>
      <p:sp>
        <p:nvSpPr>
          <p:cNvPr id="125" name="Text 7">
            <a:extLst xmlns:a="http://schemas.openxmlformats.org/drawingml/2006/main">
              <a:ext uri="{FF2B5EF4-FFF2-40B4-BE49-F238E27FC236}">
                <a16:creationId xmlns:a16="http://schemas.microsoft.com/office/drawing/2014/main" id="{BEEE4FF5-7010-6AAF-9E47-C7AB34E356D5}"/>
              </a:ext>
            </a:extLst>
          </p:cNvPr>
          <p:cNvSpPr>
            <a:spLocks xmlns:a="http://schemas.openxmlformats.org/drawingml/2006/main" noGrp="1"/>
          </p:cNvSpPr>
          <p:nvPr/>
        </p:nvSpPr>
        <p:spPr>
          <a:xfrm xmlns:a="http://schemas.openxmlformats.org/drawingml/2006/main">
            <a:off x="457200" y="923925"/>
            <a:ext cx="106680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150" b="0">
                <a:solidFill>
                  <a:srgbClr val="000000">
                    <a:alpha val="70000"/>
                  </a:srgbClr>
                </a:solidFill>
                <a:latin typeface="Open Sans"/>
                <a:ea typeface="Open Sans"/>
                <a:cs typeface="Open Sans"/>
              </a:rPr>
              <a:t>The OpenAI demo solution built for our imaginary customer: Stratos Silicon </a:t>
            </a:r>
            <a:endParaRPr sz="1150">
              <a:latin typeface="Open Sans"/>
              <a:ea typeface="Open Sans"/>
              <a:cs typeface="Open Sans"/>
            </a:endParaRPr>
          </a:p>
        </p:txBody>
      </p:sp>
      <p:sp>
        <p:nvSpPr>
          <p:cNvPr id="2" name="Shape 40">
            <a:extLst xmlns:a="http://schemas.openxmlformats.org/drawingml/2006/main">
              <a:ext uri="{FF2B5EF4-FFF2-40B4-BE49-F238E27FC236}">
                <a16:creationId xmlns:a16="http://schemas.microsoft.com/office/drawing/2014/main" id="{355B018D-BACF-7149-5E8C-A6EBA341775F}"/>
              </a:ext>
            </a:extLst>
          </p:cNvPr>
          <p:cNvSpPr>
            <a:spLocks xmlns:a="http://schemas.openxmlformats.org/drawingml/2006/main" noGrp="1"/>
          </p:cNvSpPr>
          <p:nvPr/>
        </p:nvSpPr>
        <p:spPr>
          <a:xfrm xmlns:a="http://schemas.openxmlformats.org/drawingml/2006/main">
            <a:off x="3560125" y="3840481"/>
            <a:ext cx="734489"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9" name="Text 41">
            <a:extLst xmlns:a="http://schemas.openxmlformats.org/drawingml/2006/main">
              <a:ext uri="{FF2B5EF4-FFF2-40B4-BE49-F238E27FC236}">
                <a16:creationId xmlns:a16="http://schemas.microsoft.com/office/drawing/2014/main" id="{108076D7-D9B5-359C-5950-DFB8F0A95705}"/>
              </a:ext>
            </a:extLst>
          </p:cNvPr>
          <p:cNvSpPr>
            <a:spLocks xmlns:a="http://schemas.openxmlformats.org/drawingml/2006/main" noGrp="1"/>
          </p:cNvSpPr>
          <p:nvPr/>
        </p:nvSpPr>
        <p:spPr>
          <a:xfrm xmlns:a="http://schemas.openxmlformats.org/drawingml/2006/main">
            <a:off x="3651565" y="3848100"/>
            <a:ext cx="904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b="0">
                <a:solidFill>
                  <a:srgbClr val="0071CF"/>
                </a:solidFill>
                <a:latin typeface="Open Sans"/>
                <a:ea typeface="Open Sans"/>
                <a:cs typeface="Open Sans"/>
              </a:rPr>
              <a:t>Specialist</a:t>
            </a:r>
            <a:endParaRPr sz="800">
              <a:latin typeface="Open Sans"/>
              <a:ea typeface="Open Sans"/>
              <a:cs typeface="Open Sans"/>
            </a:endParaRPr>
          </a:p>
        </p:txBody>
      </p:sp>
      <p:sp>
        <p:nvSpPr>
          <p:cNvPr id="66" name="Shape 40">
            <a:extLst xmlns:a="http://schemas.openxmlformats.org/drawingml/2006/main">
              <a:ext uri="{FF2B5EF4-FFF2-40B4-BE49-F238E27FC236}">
                <a16:creationId xmlns:a16="http://schemas.microsoft.com/office/drawing/2014/main" id="{21D30B72-3BDA-EC05-0506-8F2348BBCBAE}"/>
              </a:ext>
            </a:extLst>
          </p:cNvPr>
          <p:cNvSpPr>
            <a:spLocks xmlns:a="http://schemas.openxmlformats.org/drawingml/2006/main" noGrp="1"/>
          </p:cNvSpPr>
          <p:nvPr/>
        </p:nvSpPr>
        <p:spPr>
          <a:xfrm xmlns:a="http://schemas.openxmlformats.org/drawingml/2006/main">
            <a:off x="6254496" y="3843211"/>
            <a:ext cx="734489"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73" name="Text 41">
            <a:extLst xmlns:a="http://schemas.openxmlformats.org/drawingml/2006/main">
              <a:ext uri="{FF2B5EF4-FFF2-40B4-BE49-F238E27FC236}">
                <a16:creationId xmlns:a16="http://schemas.microsoft.com/office/drawing/2014/main" id="{BE5D28BB-FD4E-C64C-6DED-BB314C1F3518}"/>
              </a:ext>
            </a:extLst>
          </p:cNvPr>
          <p:cNvSpPr>
            <a:spLocks xmlns:a="http://schemas.openxmlformats.org/drawingml/2006/main" noGrp="1"/>
          </p:cNvSpPr>
          <p:nvPr/>
        </p:nvSpPr>
        <p:spPr>
          <a:xfrm xmlns:a="http://schemas.openxmlformats.org/drawingml/2006/main">
            <a:off x="6345936" y="3848100"/>
            <a:ext cx="904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b="0">
                <a:solidFill>
                  <a:srgbClr val="0071CF"/>
                </a:solidFill>
                <a:latin typeface="Open Sans"/>
                <a:ea typeface="Open Sans"/>
                <a:cs typeface="Open Sans"/>
              </a:rPr>
              <a:t>Specialist</a:t>
            </a:r>
            <a:endParaRPr sz="800">
              <a:latin typeface="Open Sans"/>
              <a:ea typeface="Open Sans"/>
              <a:cs typeface="Open Sans"/>
            </a:endParaRPr>
          </a:p>
        </p:txBody>
      </p:sp>
      <p:sp>
        <p:nvSpPr>
          <p:cNvPr id="80" name="Shape 40">
            <a:extLst xmlns:a="http://schemas.openxmlformats.org/drawingml/2006/main">
              <a:ext uri="{FF2B5EF4-FFF2-40B4-BE49-F238E27FC236}">
                <a16:creationId xmlns:a16="http://schemas.microsoft.com/office/drawing/2014/main" id="{527E1297-E068-7C03-32E1-452B79743158}"/>
              </a:ext>
            </a:extLst>
          </p:cNvPr>
          <p:cNvSpPr>
            <a:spLocks xmlns:a="http://schemas.openxmlformats.org/drawingml/2006/main" noGrp="1"/>
          </p:cNvSpPr>
          <p:nvPr/>
        </p:nvSpPr>
        <p:spPr>
          <a:xfrm xmlns:a="http://schemas.openxmlformats.org/drawingml/2006/main">
            <a:off x="8948662" y="3837274"/>
            <a:ext cx="734489" cy="164592"/>
          </a:xfrm>
          <a:prstGeom xmlns:a="http://schemas.openxmlformats.org/drawingml/2006/main" prst="roundRect">
            <a:avLst>
              <a:gd name="adj" fmla="val 27778"/>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96" name="Text 41">
            <a:extLst xmlns:a="http://schemas.openxmlformats.org/drawingml/2006/main">
              <a:ext uri="{FF2B5EF4-FFF2-40B4-BE49-F238E27FC236}">
                <a16:creationId xmlns:a16="http://schemas.microsoft.com/office/drawing/2014/main" id="{BC8BD591-670C-5609-A2CE-611D86AF84D1}"/>
              </a:ext>
            </a:extLst>
          </p:cNvPr>
          <p:cNvSpPr>
            <a:spLocks xmlns:a="http://schemas.openxmlformats.org/drawingml/2006/main" noGrp="1"/>
          </p:cNvSpPr>
          <p:nvPr/>
        </p:nvSpPr>
        <p:spPr>
          <a:xfrm xmlns:a="http://schemas.openxmlformats.org/drawingml/2006/main">
            <a:off x="9040102" y="3848100"/>
            <a:ext cx="904875"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b="0">
                <a:solidFill>
                  <a:srgbClr val="0071CF"/>
                </a:solidFill>
                <a:latin typeface="Open Sans"/>
                <a:ea typeface="Open Sans"/>
                <a:cs typeface="Open Sans"/>
              </a:rPr>
              <a:t>Specialist</a:t>
            </a:r>
            <a:endParaRPr sz="800">
              <a:latin typeface="Open Sans"/>
              <a:ea typeface="Open Sans"/>
              <a:cs typeface="Open Sans"/>
            </a:endParaRPr>
          </a:p>
        </p:txBody>
      </p:sp>
      <p:sp>
        <p:nvSpPr>
          <p:cNvPr id="153" name="brand-rule-7">
            <a:extLst xmlns:a="http://schemas.openxmlformats.org/drawingml/2006/main">
              <a:ext uri="{FF2B5EF4-FFF2-40B4-BE49-F238E27FC236}">
                <a16:creationId xmlns:a16="http://schemas.microsoft.com/office/drawing/2014/main" id="{224028A1-4235-44F1-B18E-8D3F2BF2DDD6}"/>
              </a:ext>
            </a:extLst>
          </p:cNvPr>
          <p:cNvSpPr>
            <a:spLocks xmlns:a="http://schemas.openxmlformats.org/drawingml/2006/main" noGrp="1"/>
          </p:cNvSpPr>
          <p:nvPr/>
        </p:nvSpPr>
        <p:spPr>
          <a:xfrm xmlns:a="http://schemas.openxmlformats.org/drawingml/2006/main">
            <a:off x="777240" y="3767138"/>
            <a:ext cx="2555558"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54" name="brand-rule-8">
            <a:extLst xmlns:a="http://schemas.openxmlformats.org/drawingml/2006/main">
              <a:ext uri="{FF2B5EF4-FFF2-40B4-BE49-F238E27FC236}">
                <a16:creationId xmlns:a16="http://schemas.microsoft.com/office/drawing/2014/main" id="{B5B44F3F-CAE1-47E7-8A83-B1ADE8CFA117}"/>
              </a:ext>
            </a:extLst>
          </p:cNvPr>
          <p:cNvSpPr>
            <a:spLocks xmlns:a="http://schemas.openxmlformats.org/drawingml/2006/main" noGrp="1"/>
          </p:cNvSpPr>
          <p:nvPr/>
        </p:nvSpPr>
        <p:spPr>
          <a:xfrm xmlns:a="http://schemas.openxmlformats.org/drawingml/2006/main">
            <a:off x="3469958" y="3767138"/>
            <a:ext cx="2555558"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55" name="brand-rule-9">
            <a:extLst xmlns:a="http://schemas.openxmlformats.org/drawingml/2006/main">
              <a:ext uri="{FF2B5EF4-FFF2-40B4-BE49-F238E27FC236}">
                <a16:creationId xmlns:a16="http://schemas.microsoft.com/office/drawing/2014/main" id="{6A68348F-4F14-47CB-973F-82FE7F3AACBD}"/>
              </a:ext>
            </a:extLst>
          </p:cNvPr>
          <p:cNvSpPr>
            <a:spLocks xmlns:a="http://schemas.openxmlformats.org/drawingml/2006/main" noGrp="1"/>
          </p:cNvSpPr>
          <p:nvPr/>
        </p:nvSpPr>
        <p:spPr>
          <a:xfrm xmlns:a="http://schemas.openxmlformats.org/drawingml/2006/main">
            <a:off x="6162675" y="3767138"/>
            <a:ext cx="2555558"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56" name="brand-rule-10">
            <a:extLst xmlns:a="http://schemas.openxmlformats.org/drawingml/2006/main">
              <a:ext uri="{FF2B5EF4-FFF2-40B4-BE49-F238E27FC236}">
                <a16:creationId xmlns:a16="http://schemas.microsoft.com/office/drawing/2014/main" id="{557DC2C0-A7E9-4A7F-A1EA-F6EB17A55D3D}"/>
              </a:ext>
            </a:extLst>
          </p:cNvPr>
          <p:cNvSpPr>
            <a:spLocks xmlns:a="http://schemas.openxmlformats.org/drawingml/2006/main" noGrp="1"/>
          </p:cNvSpPr>
          <p:nvPr/>
        </p:nvSpPr>
        <p:spPr>
          <a:xfrm xmlns:a="http://schemas.openxmlformats.org/drawingml/2006/main">
            <a:off x="8856345" y="3767138"/>
            <a:ext cx="2555558"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pic>
        <p:nvPicPr>
          <p:cNvPr id="278" name=""/>
          <p:cNvPicPr>
            <a:picLocks xmlns:a="http://schemas.openxmlformats.org/drawingml/2006/main" noChangeAspect="1"/>
          </p:cNvPicPr>
          <p:nvPr/>
        </p:nvPicPr>
        <p:blipFill>
          <a:blip xmlns:r="http://schemas.openxmlformats.org/officeDocument/2006/relationships" xmlns:a="http://schemas.openxmlformats.org/drawingml/2006/main" r:embed="Re97899b5cecd470c">
            <a:extLst>
              <a:ext uri="{96DAC541-7B7A-43D3-8B79-37D633B846F1}">
                <asvg:svgBlip xmlns:asvg="http://schemas.microsoft.com/office/drawing/2016/SVG/main" r:embed="R6d18c06121254dd3"/>
              </a:ext>
            </a:extLst>
          </a:blip>
          <a:stretch xmlns:a="http://schemas.openxmlformats.org/drawingml/2006/main"/>
        </p:blipFill>
        <p:spPr>
          <a:xfrm xmlns:a="http://schemas.openxmlformats.org/drawingml/2006/main">
            <a:off x="10315575" y="171450"/>
            <a:ext cx="1638300" cy="732663"/>
          </a:xfrm>
          <a:prstGeom xmlns:a="http://schemas.openxmlformats.org/drawingml/2006/main" prst="rect">
            <a:avLst/>
          </a:prstGeom>
        </p:spPr>
      </p:pic>
    </p:spTree>
    <p:extLst>
      <p:ext uri="{BB962C8B-B14F-4D97-AF65-F5344CB8AC3E}">
        <p14:creationId xmlns:p14="http://schemas.microsoft.com/office/powerpoint/2010/main" val="18395006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 1">
            <a:extLst xmlns:a="http://schemas.openxmlformats.org/drawingml/2006/main">
              <a:ext uri="{FF2B5EF4-FFF2-40B4-BE49-F238E27FC236}">
                <a16:creationId xmlns:a16="http://schemas.microsoft.com/office/drawing/2014/main" id="{0AD8E953-2D12-40E1-A305-6FB6B73EB3A9}"/>
              </a:ext>
            </a:extLst>
          </p:cNvPr>
          <p:cNvSpPr>
            <a:spLocks xmlns:a="http://schemas.openxmlformats.org/drawingml/2006/main" noGrp="1"/>
          </p:cNvSpPr>
          <p:nvPr/>
        </p:nvSpPr>
        <p:spPr>
          <a:xfrm xmlns:a="http://schemas.openxmlformats.org/drawingml/2006/main">
            <a:off x="457200" y="361950"/>
            <a:ext cx="11277600" cy="82867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400" b="0">
                <a:solidFill>
                  <a:srgbClr val="000000"/>
                </a:solidFill>
                <a:latin typeface="Open Sans"/>
                <a:ea typeface="Open Sans"/>
                <a:cs typeface="Open Sans"/>
              </a:rPr>
              <a:t>Demo Use Cases: Turning Requirement Changes into Verified Actions Autonomously</a:t>
            </a:r>
            <a:endParaRPr sz="2400">
              <a:latin typeface="Open Sans"/>
              <a:ea typeface="Open Sans"/>
              <a:cs typeface="Open Sans"/>
            </a:endParaRPr>
          </a:p>
        </p:txBody>
      </p:sp>
      <p:sp>
        <p:nvSpPr>
          <p:cNvPr id="4" name="Text 2">
            <a:extLst xmlns:a="http://schemas.openxmlformats.org/drawingml/2006/main">
              <a:ext uri="{FF2B5EF4-FFF2-40B4-BE49-F238E27FC236}">
                <a16:creationId xmlns:a16="http://schemas.microsoft.com/office/drawing/2014/main" id="{C6F658A3-6B88-458C-BC66-FC4B399D4706}"/>
              </a:ext>
            </a:extLst>
          </p:cNvPr>
          <p:cNvSpPr>
            <a:spLocks xmlns:a="http://schemas.openxmlformats.org/drawingml/2006/main" noGrp="1"/>
          </p:cNvSpPr>
          <p:nvPr/>
        </p:nvSpPr>
        <p:spPr>
          <a:xfrm xmlns:a="http://schemas.openxmlformats.org/drawingml/2006/main">
            <a:off x="457200" y="1200150"/>
            <a:ext cx="11277600"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30" b="0">
                <a:solidFill>
                  <a:srgbClr val="000000">
                    <a:alpha val="70000"/>
                  </a:srgbClr>
                </a:solidFill>
                <a:latin typeface="Open Sans"/>
                <a:ea typeface="Open Sans"/>
                <a:cs typeface="Open Sans"/>
              </a:rPr>
              <a:t>To-be flow: Agents autonomously process in the background and escalate to program approver when needed </a:t>
            </a:r>
            <a:endParaRPr sz="930">
              <a:latin typeface="Open Sans"/>
              <a:ea typeface="Open Sans"/>
              <a:cs typeface="Open Sans"/>
            </a:endParaRPr>
          </a:p>
        </p:txBody>
      </p:sp>
      <p:sp>
        <p:nvSpPr>
          <p:cNvPr id="5" name="Shape 3">
            <a:extLst xmlns:a="http://schemas.openxmlformats.org/drawingml/2006/main">
              <a:ext uri="{FF2B5EF4-FFF2-40B4-BE49-F238E27FC236}">
                <a16:creationId xmlns:a16="http://schemas.microsoft.com/office/drawing/2014/main" id="{5EA52DD1-0675-4C52-8D2D-74EC3280F861}"/>
              </a:ext>
            </a:extLst>
          </p:cNvPr>
          <p:cNvSpPr>
            <a:spLocks xmlns:a="http://schemas.openxmlformats.org/drawingml/2006/main" noGrp="1"/>
          </p:cNvSpPr>
          <p:nvPr/>
        </p:nvSpPr>
        <p:spPr>
          <a:xfrm xmlns:a="http://schemas.openxmlformats.org/drawingml/2006/main">
            <a:off x="1396975" y="1828800"/>
            <a:ext cx="5638648" cy="0"/>
          </a:xfrm>
          <a:prstGeom xmlns:a="http://schemas.openxmlformats.org/drawingml/2006/main" prst="line">
            <a:avLst/>
          </a:prstGeom>
          <a:noFill xmlns:a="http://schemas.openxmlformats.org/drawingml/2006/main"/>
          <a:ln xmlns:a="http://schemas.openxmlformats.org/drawingml/2006/main" w="1905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6" name="Shape 4">
            <a:extLst xmlns:a="http://schemas.openxmlformats.org/drawingml/2006/main">
              <a:ext uri="{FF2B5EF4-FFF2-40B4-BE49-F238E27FC236}">
                <a16:creationId xmlns:a16="http://schemas.microsoft.com/office/drawing/2014/main" id="{F4CBCDA8-E573-4690-A234-E0EE2A96FD32}"/>
              </a:ext>
            </a:extLst>
          </p:cNvPr>
          <p:cNvSpPr>
            <a:spLocks xmlns:a="http://schemas.openxmlformats.org/drawingml/2006/main" noGrp="1"/>
          </p:cNvSpPr>
          <p:nvPr/>
        </p:nvSpPr>
        <p:spPr>
          <a:xfrm xmlns:a="http://schemas.openxmlformats.org/drawingml/2006/main">
            <a:off x="8915171" y="1828800"/>
            <a:ext cx="1879549" cy="0"/>
          </a:xfrm>
          <a:prstGeom xmlns:a="http://schemas.openxmlformats.org/drawingml/2006/main" prst="line">
            <a:avLst/>
          </a:prstGeom>
          <a:noFill xmlns:a="http://schemas.openxmlformats.org/drawingml/2006/main"/>
          <a:ln xmlns:a="http://schemas.openxmlformats.org/drawingml/2006/main" w="1905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7" name="Shape 5">
            <a:extLst xmlns:a="http://schemas.openxmlformats.org/drawingml/2006/main">
              <a:ext uri="{FF2B5EF4-FFF2-40B4-BE49-F238E27FC236}">
                <a16:creationId xmlns:a16="http://schemas.microsoft.com/office/drawing/2014/main" id="{746AA325-6CD1-4CED-A71C-E921FD4C5258}"/>
              </a:ext>
            </a:extLst>
          </p:cNvPr>
          <p:cNvSpPr>
            <a:spLocks xmlns:a="http://schemas.openxmlformats.org/drawingml/2006/main" noGrp="1"/>
          </p:cNvSpPr>
          <p:nvPr/>
        </p:nvSpPr>
        <p:spPr>
          <a:xfrm xmlns:a="http://schemas.openxmlformats.org/drawingml/2006/main">
            <a:off x="7035622" y="1609344"/>
            <a:ext cx="1879549" cy="438912"/>
          </a:xfrm>
          <a:prstGeom xmlns:a="http://schemas.openxmlformats.org/drawingml/2006/main" prst="arc">
            <a:avLst>
              <a:gd name="adj1" fmla="val 10800000"/>
              <a:gd name="adj2" fmla="val 21600000"/>
            </a:avLst>
          </a:prstGeom>
          <a:noFill xmlns:a="http://schemas.openxmlformats.org/drawingml/2006/main"/>
          <a:ln xmlns:a="http://schemas.openxmlformats.org/drawingml/2006/main" w="19050">
            <a:solidFill>
              <a:srgbClr val="0071CF"/>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8" name="Shape 6">
            <a:extLst xmlns:a="http://schemas.openxmlformats.org/drawingml/2006/main">
              <a:ext uri="{FF2B5EF4-FFF2-40B4-BE49-F238E27FC236}">
                <a16:creationId xmlns:a16="http://schemas.microsoft.com/office/drawing/2014/main" id="{3D3FDC2F-E7A1-4437-BAB1-D4BE6D05E0ED}"/>
              </a:ext>
            </a:extLst>
          </p:cNvPr>
          <p:cNvSpPr>
            <a:spLocks xmlns:a="http://schemas.openxmlformats.org/drawingml/2006/main" noGrp="1"/>
          </p:cNvSpPr>
          <p:nvPr/>
        </p:nvSpPr>
        <p:spPr>
          <a:xfrm xmlns:a="http://schemas.openxmlformats.org/drawingml/2006/main">
            <a:off x="7035622" y="1609344"/>
            <a:ext cx="1879549" cy="438912"/>
          </a:xfrm>
          <a:prstGeom xmlns:a="http://schemas.openxmlformats.org/drawingml/2006/main" prst="arc">
            <a:avLst>
              <a:gd name="adj1" fmla="val 0"/>
              <a:gd name="adj2" fmla="val 10800000"/>
            </a:avLst>
          </a:prstGeom>
          <a:noFill xmlns:a="http://schemas.openxmlformats.org/drawingml/2006/main"/>
          <a:ln xmlns:a="http://schemas.openxmlformats.org/drawingml/2006/main" w="19050">
            <a:solidFill>
              <a:srgbClr val="0000FF"/>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9" name="Shape 7">
            <a:extLst xmlns:a="http://schemas.openxmlformats.org/drawingml/2006/main">
              <a:ext uri="{FF2B5EF4-FFF2-40B4-BE49-F238E27FC236}">
                <a16:creationId xmlns:a16="http://schemas.microsoft.com/office/drawing/2014/main" id="{BC7046A1-C452-44C3-B77F-9E6420DFB207}"/>
              </a:ext>
            </a:extLst>
          </p:cNvPr>
          <p:cNvSpPr>
            <a:spLocks xmlns:a="http://schemas.openxmlformats.org/drawingml/2006/main" noGrp="1"/>
          </p:cNvSpPr>
          <p:nvPr/>
        </p:nvSpPr>
        <p:spPr>
          <a:xfrm xmlns:a="http://schemas.openxmlformats.org/drawingml/2006/main">
            <a:off x="1168375"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17" name="Image 0"/>
          <p:cNvPicPr>
            <a:picLocks xmlns:a="http://schemas.openxmlformats.org/drawingml/2006/main" noChangeAspect="1"/>
          </p:cNvPicPr>
          <p:nvPr/>
        </p:nvPicPr>
        <p:blipFill>
          <a:blip xmlns:r="http://schemas.openxmlformats.org/officeDocument/2006/relationships" xmlns:a="http://schemas.openxmlformats.org/drawingml/2006/main" r:embed="Ra652c65a94bd4dfa">
            <a:duotone>
              <a:srgbClr val="0071CF"/>
              <a:srgbClr val="0071CF"/>
            </a:duotone>
          </a:blip>
          <a:stretch xmlns:a="http://schemas.openxmlformats.org/drawingml/2006/main">
            <a:fillRect l="0" t="0" r="0" b="0"/>
          </a:stretch>
        </p:blipFill>
        <p:spPr>
          <a:xfrm xmlns:a="http://schemas.openxmlformats.org/drawingml/2006/main">
            <a:off x="1278103" y="1709928"/>
            <a:ext cx="237744" cy="237744"/>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0A91DC70-C3C2-441A-BBA9-5F6AC1B8EC6F}"/>
              </a:ext>
            </a:extLst>
          </p:cNvPr>
          <p:cNvSpPr>
            <a:spLocks xmlns:a="http://schemas.openxmlformats.org/drawingml/2006/main" noGrp="1"/>
          </p:cNvSpPr>
          <p:nvPr/>
        </p:nvSpPr>
        <p:spPr>
          <a:xfrm xmlns:a="http://schemas.openxmlformats.org/drawingml/2006/main">
            <a:off x="482575"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1">
                <a:solidFill>
                  <a:srgbClr val="000000"/>
                </a:solidFill>
                <a:latin typeface="Open Sans"/>
                <a:ea typeface="Open Sans"/>
                <a:cs typeface="Open Sans"/>
              </a:rPr>
              <a:t>Trigger</a:t>
            </a:r>
            <a:endParaRPr sz="1050">
              <a:latin typeface="Open Sans"/>
              <a:ea typeface="Open Sans"/>
              <a:cs typeface="Open Sans"/>
            </a:endParaRPr>
          </a:p>
        </p:txBody>
      </p:sp>
      <p:sp>
        <p:nvSpPr>
          <p:cNvPr id="12" name="Text 9">
            <a:extLst xmlns:a="http://schemas.openxmlformats.org/drawingml/2006/main">
              <a:ext uri="{FF2B5EF4-FFF2-40B4-BE49-F238E27FC236}">
                <a16:creationId xmlns:a16="http://schemas.microsoft.com/office/drawing/2014/main" id="{B6F0BF32-558E-4DF2-94F2-85337E113C9B}"/>
              </a:ext>
            </a:extLst>
          </p:cNvPr>
          <p:cNvSpPr>
            <a:spLocks xmlns:a="http://schemas.openxmlformats.org/drawingml/2006/main" noGrp="1"/>
          </p:cNvSpPr>
          <p:nvPr/>
        </p:nvSpPr>
        <p:spPr>
          <a:xfrm xmlns:a="http://schemas.openxmlformats.org/drawingml/2006/main">
            <a:off x="528295"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80">
                <a:solidFill>
                  <a:srgbClr val="000000">
                    <a:alpha val="76000"/>
                  </a:srgbClr>
                </a:solidFill>
                <a:latin typeface="Open Sans"/>
                <a:ea typeface="Open Sans"/>
                <a:cs typeface="Open Sans"/>
              </a:rPr>
              <a:t>Event, operator, Concierge, or schedule</a:t>
            </a:r>
            <a:endParaRPr sz="880">
              <a:latin typeface="Open Sans"/>
              <a:ea typeface="Open Sans"/>
              <a:cs typeface="Open Sans"/>
            </a:endParaRPr>
          </a:p>
        </p:txBody>
      </p:sp>
      <p:sp>
        <p:nvSpPr>
          <p:cNvPr id="13" name="Shape 10">
            <a:extLst xmlns:a="http://schemas.openxmlformats.org/drawingml/2006/main">
              <a:ext uri="{FF2B5EF4-FFF2-40B4-BE49-F238E27FC236}">
                <a16:creationId xmlns:a16="http://schemas.microsoft.com/office/drawing/2014/main" id="{D39331B6-15A8-4CCD-A062-EA99E79262F4}"/>
              </a:ext>
            </a:extLst>
          </p:cNvPr>
          <p:cNvSpPr>
            <a:spLocks xmlns:a="http://schemas.openxmlformats.org/drawingml/2006/main" noGrp="1"/>
          </p:cNvSpPr>
          <p:nvPr/>
        </p:nvSpPr>
        <p:spPr>
          <a:xfrm xmlns:a="http://schemas.openxmlformats.org/drawingml/2006/main">
            <a:off x="3047924"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8bd272b4dc254a2f">
            <a:duotone>
              <a:srgbClr val="0071CF"/>
              <a:srgbClr val="0071CF"/>
            </a:duotone>
          </a:blip>
          <a:stretch xmlns:a="http://schemas.openxmlformats.org/drawingml/2006/main">
            <a:fillRect l="0" t="0" r="0" b="0"/>
          </a:stretch>
        </p:blipFill>
        <p:spPr>
          <a:xfrm xmlns:a="http://schemas.openxmlformats.org/drawingml/2006/main">
            <a:off x="3157652" y="1709928"/>
            <a:ext cx="237744" cy="237744"/>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A378CDF6-4898-4B3C-A664-E280CE1E5414}"/>
              </a:ext>
            </a:extLst>
          </p:cNvPr>
          <p:cNvSpPr>
            <a:spLocks xmlns:a="http://schemas.openxmlformats.org/drawingml/2006/main" noGrp="1"/>
          </p:cNvSpPr>
          <p:nvPr/>
        </p:nvSpPr>
        <p:spPr>
          <a:xfrm xmlns:a="http://schemas.openxmlformats.org/drawingml/2006/main">
            <a:off x="2362124"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1">
                <a:solidFill>
                  <a:srgbClr val="000000"/>
                </a:solidFill>
                <a:latin typeface="Open Sans"/>
                <a:ea typeface="Open Sans"/>
                <a:cs typeface="Open Sans"/>
              </a:rPr>
              <a:t>Investigate</a:t>
            </a:r>
            <a:endParaRPr sz="1050">
              <a:latin typeface="Open Sans"/>
              <a:ea typeface="Open Sans"/>
              <a:cs typeface="Open Sans"/>
            </a:endParaRPr>
          </a:p>
        </p:txBody>
      </p:sp>
      <p:sp>
        <p:nvSpPr>
          <p:cNvPr id="16" name="Text 12">
            <a:extLst xmlns:a="http://schemas.openxmlformats.org/drawingml/2006/main">
              <a:ext uri="{FF2B5EF4-FFF2-40B4-BE49-F238E27FC236}">
                <a16:creationId xmlns:a16="http://schemas.microsoft.com/office/drawing/2014/main" id="{1BA1FDCA-C983-4859-85ED-DA8BECE68822}"/>
              </a:ext>
            </a:extLst>
          </p:cNvPr>
          <p:cNvSpPr>
            <a:spLocks xmlns:a="http://schemas.openxmlformats.org/drawingml/2006/main" noGrp="1"/>
          </p:cNvSpPr>
          <p:nvPr/>
        </p:nvSpPr>
        <p:spPr>
          <a:xfrm xmlns:a="http://schemas.openxmlformats.org/drawingml/2006/main">
            <a:off x="2407844"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80">
                <a:solidFill>
                  <a:srgbClr val="000000">
                    <a:alpha val="76000"/>
                  </a:srgbClr>
                </a:solidFill>
                <a:latin typeface="Open Sans"/>
                <a:ea typeface="Open Sans"/>
                <a:cs typeface="Open Sans"/>
              </a:rPr>
              <a:t>Specialists pull facts from five systems</a:t>
            </a:r>
            <a:endParaRPr sz="880">
              <a:latin typeface="Open Sans"/>
              <a:ea typeface="Open Sans"/>
              <a:cs typeface="Open Sans"/>
            </a:endParaRPr>
          </a:p>
        </p:txBody>
      </p:sp>
      <p:sp>
        <p:nvSpPr>
          <p:cNvPr id="17" name="Shape 13">
            <a:extLst xmlns:a="http://schemas.openxmlformats.org/drawingml/2006/main">
              <a:ext uri="{FF2B5EF4-FFF2-40B4-BE49-F238E27FC236}">
                <a16:creationId xmlns:a16="http://schemas.microsoft.com/office/drawing/2014/main" id="{33CB1236-B589-4F18-B15D-2D793863E781}"/>
              </a:ext>
            </a:extLst>
          </p:cNvPr>
          <p:cNvSpPr>
            <a:spLocks xmlns:a="http://schemas.openxmlformats.org/drawingml/2006/main" noGrp="1"/>
          </p:cNvSpPr>
          <p:nvPr/>
        </p:nvSpPr>
        <p:spPr>
          <a:xfrm xmlns:a="http://schemas.openxmlformats.org/drawingml/2006/main">
            <a:off x="4927473"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25" name="Image 2"/>
          <p:cNvPicPr>
            <a:picLocks xmlns:a="http://schemas.openxmlformats.org/drawingml/2006/main" noChangeAspect="1"/>
          </p:cNvPicPr>
          <p:nvPr/>
        </p:nvPicPr>
        <p:blipFill>
          <a:blip xmlns:r="http://schemas.openxmlformats.org/officeDocument/2006/relationships" xmlns:a="http://schemas.openxmlformats.org/drawingml/2006/main" r:embed="R00cad7865d4743e2">
            <a:duotone>
              <a:srgbClr val="0071CF"/>
              <a:srgbClr val="0071CF"/>
            </a:duotone>
          </a:blip>
          <a:stretch xmlns:a="http://schemas.openxmlformats.org/drawingml/2006/main">
            <a:fillRect l="0" t="0" r="0" b="0"/>
          </a:stretch>
        </p:blipFill>
        <p:spPr>
          <a:xfrm xmlns:a="http://schemas.openxmlformats.org/drawingml/2006/main">
            <a:off x="5037201" y="1709928"/>
            <a:ext cx="237744" cy="237744"/>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E28554BB-D032-4796-8016-F5B011D6EAEF}"/>
              </a:ext>
            </a:extLst>
          </p:cNvPr>
          <p:cNvSpPr>
            <a:spLocks xmlns:a="http://schemas.openxmlformats.org/drawingml/2006/main" noGrp="1"/>
          </p:cNvSpPr>
          <p:nvPr/>
        </p:nvSpPr>
        <p:spPr>
          <a:xfrm xmlns:a="http://schemas.openxmlformats.org/drawingml/2006/main">
            <a:off x="4241673"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1">
                <a:solidFill>
                  <a:srgbClr val="000000"/>
                </a:solidFill>
                <a:latin typeface="Open Sans"/>
                <a:ea typeface="Open Sans"/>
                <a:cs typeface="Open Sans"/>
              </a:rPr>
              <a:t>Recommend</a:t>
            </a:r>
            <a:endParaRPr sz="1050">
              <a:latin typeface="Open Sans"/>
              <a:ea typeface="Open Sans"/>
              <a:cs typeface="Open Sans"/>
            </a:endParaRPr>
          </a:p>
        </p:txBody>
      </p:sp>
      <p:sp>
        <p:nvSpPr>
          <p:cNvPr id="20" name="Text 15">
            <a:extLst xmlns:a="http://schemas.openxmlformats.org/drawingml/2006/main">
              <a:ext uri="{FF2B5EF4-FFF2-40B4-BE49-F238E27FC236}">
                <a16:creationId xmlns:a16="http://schemas.microsoft.com/office/drawing/2014/main" id="{7C9775BA-1AD5-4BCC-960C-8EC0460985FE}"/>
              </a:ext>
            </a:extLst>
          </p:cNvPr>
          <p:cNvSpPr>
            <a:spLocks xmlns:a="http://schemas.openxmlformats.org/drawingml/2006/main" noGrp="1"/>
          </p:cNvSpPr>
          <p:nvPr/>
        </p:nvSpPr>
        <p:spPr>
          <a:xfrm xmlns:a="http://schemas.openxmlformats.org/drawingml/2006/main">
            <a:off x="4287393"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80">
                <a:solidFill>
                  <a:srgbClr val="000000">
                    <a:alpha val="76000"/>
                  </a:srgbClr>
                </a:solidFill>
                <a:latin typeface="Open Sans"/>
                <a:ea typeface="Open Sans"/>
                <a:cs typeface="Open Sans"/>
              </a:rPr>
              <a:t>One recommendation with options and impact</a:t>
            </a:r>
            <a:endParaRPr sz="880">
              <a:latin typeface="Open Sans"/>
              <a:ea typeface="Open Sans"/>
              <a:cs typeface="Open Sans"/>
            </a:endParaRPr>
          </a:p>
        </p:txBody>
      </p:sp>
      <p:sp>
        <p:nvSpPr>
          <p:cNvPr id="21" name="Shape 16">
            <a:extLst xmlns:a="http://schemas.openxmlformats.org/drawingml/2006/main">
              <a:ext uri="{FF2B5EF4-FFF2-40B4-BE49-F238E27FC236}">
                <a16:creationId xmlns:a16="http://schemas.microsoft.com/office/drawing/2014/main" id="{9AAF2605-46A6-44FC-9983-114E7F36E5C4}"/>
              </a:ext>
            </a:extLst>
          </p:cNvPr>
          <p:cNvSpPr>
            <a:spLocks xmlns:a="http://schemas.openxmlformats.org/drawingml/2006/main" noGrp="1"/>
          </p:cNvSpPr>
          <p:nvPr/>
        </p:nvSpPr>
        <p:spPr>
          <a:xfrm xmlns:a="http://schemas.openxmlformats.org/drawingml/2006/main">
            <a:off x="6807022" y="1600200"/>
            <a:ext cx="457200" cy="457200"/>
          </a:xfrm>
          <a:prstGeom xmlns:a="http://schemas.openxmlformats.org/drawingml/2006/main" prst="ellipse">
            <a:avLst/>
          </a:prstGeom>
          <a:solidFill xmlns:a="http://schemas.openxmlformats.org/drawingml/2006/main">
            <a:srgbClr val="86DAFF"/>
          </a:solidFill>
          <a:ln xmlns:a="http://schemas.openxmlformats.org/drawingml/2006/main" w="1270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29" name="Image 3"/>
          <p:cNvPicPr>
            <a:picLocks xmlns:a="http://schemas.openxmlformats.org/drawingml/2006/main" noChangeAspect="1"/>
          </p:cNvPicPr>
          <p:nvPr/>
        </p:nvPicPr>
        <p:blipFill>
          <a:blip xmlns:r="http://schemas.openxmlformats.org/officeDocument/2006/relationships" xmlns:a="http://schemas.openxmlformats.org/drawingml/2006/main" r:embed="R68e847e4ff3842c9">
            <a:duotone>
              <a:srgbClr val="0071CF"/>
              <a:srgbClr val="0071CF"/>
            </a:duotone>
          </a:blip>
          <a:stretch xmlns:a="http://schemas.openxmlformats.org/drawingml/2006/main">
            <a:fillRect l="0" t="0" r="0" b="0"/>
          </a:stretch>
        </p:blipFill>
        <p:spPr>
          <a:xfrm xmlns:a="http://schemas.openxmlformats.org/drawingml/2006/main">
            <a:off x="6916750" y="1709928"/>
            <a:ext cx="237744" cy="237744"/>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71556657-E6C6-48F8-9E41-64C4F9AF7CBA}"/>
              </a:ext>
            </a:extLst>
          </p:cNvPr>
          <p:cNvSpPr>
            <a:spLocks xmlns:a="http://schemas.openxmlformats.org/drawingml/2006/main" noGrp="1"/>
          </p:cNvSpPr>
          <p:nvPr/>
        </p:nvSpPr>
        <p:spPr>
          <a:xfrm xmlns:a="http://schemas.openxmlformats.org/drawingml/2006/main">
            <a:off x="6121222"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1">
                <a:solidFill>
                  <a:srgbClr val="000000"/>
                </a:solidFill>
                <a:latin typeface="Open Sans"/>
                <a:ea typeface="Open Sans"/>
                <a:cs typeface="Open Sans"/>
              </a:rPr>
              <a:t>Policy gate</a:t>
            </a:r>
            <a:endParaRPr sz="1050">
              <a:latin typeface="Open Sans"/>
              <a:ea typeface="Open Sans"/>
              <a:cs typeface="Open Sans"/>
            </a:endParaRPr>
          </a:p>
        </p:txBody>
      </p:sp>
      <p:sp>
        <p:nvSpPr>
          <p:cNvPr id="24" name="Shape 18">
            <a:extLst xmlns:a="http://schemas.openxmlformats.org/drawingml/2006/main">
              <a:ext uri="{FF2B5EF4-FFF2-40B4-BE49-F238E27FC236}">
                <a16:creationId xmlns:a16="http://schemas.microsoft.com/office/drawing/2014/main" id="{07EDB041-3AD7-4F64-B5C1-65A1274AD729}"/>
              </a:ext>
            </a:extLst>
          </p:cNvPr>
          <p:cNvSpPr>
            <a:spLocks xmlns:a="http://schemas.openxmlformats.org/drawingml/2006/main" noGrp="1"/>
          </p:cNvSpPr>
          <p:nvPr/>
        </p:nvSpPr>
        <p:spPr>
          <a:xfrm xmlns:a="http://schemas.openxmlformats.org/drawingml/2006/main">
            <a:off x="6212662" y="2377440"/>
            <a:ext cx="16459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5" name="Text 19">
            <a:extLst xmlns:a="http://schemas.openxmlformats.org/drawingml/2006/main">
              <a:ext uri="{FF2B5EF4-FFF2-40B4-BE49-F238E27FC236}">
                <a16:creationId xmlns:a16="http://schemas.microsoft.com/office/drawing/2014/main" id="{BFE7E123-C951-479F-BC24-AA9C9D5FF939}"/>
              </a:ext>
            </a:extLst>
          </p:cNvPr>
          <p:cNvSpPr>
            <a:spLocks xmlns:a="http://schemas.openxmlformats.org/drawingml/2006/main" noGrp="1"/>
          </p:cNvSpPr>
          <p:nvPr/>
        </p:nvSpPr>
        <p:spPr>
          <a:xfrm xmlns:a="http://schemas.openxmlformats.org/drawingml/2006/main">
            <a:off x="6172200" y="2381250"/>
            <a:ext cx="1743075" cy="2095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a:solidFill>
                  <a:srgbClr val="0071CF"/>
                </a:solidFill>
                <a:latin typeface="Open Sans"/>
                <a:ea typeface="Open Sans"/>
                <a:cs typeface="Open Sans"/>
              </a:rPr>
              <a:t>Within policy: touchless</a:t>
            </a:r>
            <a:endParaRPr sz="800">
              <a:latin typeface="Open Sans"/>
              <a:ea typeface="Open Sans"/>
              <a:cs typeface="Open Sans"/>
            </a:endParaRPr>
          </a:p>
        </p:txBody>
      </p:sp>
      <p:sp>
        <p:nvSpPr>
          <p:cNvPr id="26" name="Shape 20">
            <a:extLst xmlns:a="http://schemas.openxmlformats.org/drawingml/2006/main">
              <a:ext uri="{FF2B5EF4-FFF2-40B4-BE49-F238E27FC236}">
                <a16:creationId xmlns:a16="http://schemas.microsoft.com/office/drawing/2014/main" id="{A1366619-F465-492F-8088-405FD65FE700}"/>
              </a:ext>
            </a:extLst>
          </p:cNvPr>
          <p:cNvSpPr>
            <a:spLocks xmlns:a="http://schemas.openxmlformats.org/drawingml/2006/main" noGrp="1"/>
          </p:cNvSpPr>
          <p:nvPr/>
        </p:nvSpPr>
        <p:spPr>
          <a:xfrm xmlns:a="http://schemas.openxmlformats.org/drawingml/2006/main">
            <a:off x="6121222" y="2596896"/>
            <a:ext cx="182880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7" name="Text 21">
            <a:extLst xmlns:a="http://schemas.openxmlformats.org/drawingml/2006/main">
              <a:ext uri="{FF2B5EF4-FFF2-40B4-BE49-F238E27FC236}">
                <a16:creationId xmlns:a16="http://schemas.microsoft.com/office/drawing/2014/main" id="{AF7250F9-087E-461B-98AD-CFCB3A722C60}"/>
              </a:ext>
            </a:extLst>
          </p:cNvPr>
          <p:cNvSpPr>
            <a:spLocks xmlns:a="http://schemas.openxmlformats.org/drawingml/2006/main" noGrp="1"/>
          </p:cNvSpPr>
          <p:nvPr/>
        </p:nvSpPr>
        <p:spPr>
          <a:xfrm xmlns:a="http://schemas.openxmlformats.org/drawingml/2006/main">
            <a:off x="6096000" y="2590800"/>
            <a:ext cx="188595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00">
                <a:solidFill>
                  <a:srgbClr val="0E315C"/>
                </a:solidFill>
                <a:latin typeface="Open Sans"/>
                <a:ea typeface="Open Sans"/>
                <a:cs typeface="Open Sans"/>
              </a:rPr>
              <a:t>Out of Policy: person approves</a:t>
            </a:r>
            <a:endParaRPr sz="800">
              <a:latin typeface="Open Sans"/>
              <a:ea typeface="Open Sans"/>
              <a:cs typeface="Open Sans"/>
            </a:endParaRPr>
          </a:p>
        </p:txBody>
      </p:sp>
      <p:sp>
        <p:nvSpPr>
          <p:cNvPr id="28" name="Shape 22">
            <a:extLst xmlns:a="http://schemas.openxmlformats.org/drawingml/2006/main">
              <a:ext uri="{FF2B5EF4-FFF2-40B4-BE49-F238E27FC236}">
                <a16:creationId xmlns:a16="http://schemas.microsoft.com/office/drawing/2014/main" id="{6B0EB17F-8139-4B17-9AE7-E9B779200BDB}"/>
              </a:ext>
            </a:extLst>
          </p:cNvPr>
          <p:cNvSpPr>
            <a:spLocks xmlns:a="http://schemas.openxmlformats.org/drawingml/2006/main" noGrp="1"/>
          </p:cNvSpPr>
          <p:nvPr/>
        </p:nvSpPr>
        <p:spPr>
          <a:xfrm xmlns:a="http://schemas.openxmlformats.org/drawingml/2006/main">
            <a:off x="8686571"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36" name="Image 4"/>
          <p:cNvPicPr>
            <a:picLocks xmlns:a="http://schemas.openxmlformats.org/drawingml/2006/main" noChangeAspect="1"/>
          </p:cNvPicPr>
          <p:nvPr/>
        </p:nvPicPr>
        <p:blipFill>
          <a:blip xmlns:r="http://schemas.openxmlformats.org/officeDocument/2006/relationships" xmlns:a="http://schemas.openxmlformats.org/drawingml/2006/main" r:embed="Rb91be2bead964265">
            <a:duotone>
              <a:srgbClr val="0071CF"/>
              <a:srgbClr val="0071CF"/>
            </a:duotone>
          </a:blip>
          <a:stretch xmlns:a="http://schemas.openxmlformats.org/drawingml/2006/main">
            <a:fillRect l="0" t="0" r="0" b="0"/>
          </a:stretch>
        </p:blipFill>
        <p:spPr>
          <a:xfrm xmlns:a="http://schemas.openxmlformats.org/drawingml/2006/main">
            <a:off x="8796299" y="1709928"/>
            <a:ext cx="237744" cy="237744"/>
          </a:xfrm>
          <a:prstGeom xmlns:a="http://schemas.openxmlformats.org/drawingml/2006/main" prst="rect">
            <a:avLst/>
          </a:prstGeom>
        </p:spPr>
      </p:pic>
      <p:sp>
        <p:nvSpPr>
          <p:cNvPr id="30" name="Text 23">
            <a:extLst xmlns:a="http://schemas.openxmlformats.org/drawingml/2006/main">
              <a:ext uri="{FF2B5EF4-FFF2-40B4-BE49-F238E27FC236}">
                <a16:creationId xmlns:a16="http://schemas.microsoft.com/office/drawing/2014/main" id="{C27E8968-7FBE-4564-86C6-EA91CABE388D}"/>
              </a:ext>
            </a:extLst>
          </p:cNvPr>
          <p:cNvSpPr>
            <a:spLocks xmlns:a="http://schemas.openxmlformats.org/drawingml/2006/main" noGrp="1"/>
          </p:cNvSpPr>
          <p:nvPr/>
        </p:nvSpPr>
        <p:spPr>
          <a:xfrm xmlns:a="http://schemas.openxmlformats.org/drawingml/2006/main">
            <a:off x="8000771"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1">
                <a:solidFill>
                  <a:srgbClr val="000000"/>
                </a:solidFill>
                <a:latin typeface="Open Sans"/>
                <a:ea typeface="Open Sans"/>
                <a:cs typeface="Open Sans"/>
              </a:rPr>
              <a:t>Execute</a:t>
            </a:r>
            <a:endParaRPr sz="1050">
              <a:latin typeface="Open Sans"/>
              <a:ea typeface="Open Sans"/>
              <a:cs typeface="Open Sans"/>
            </a:endParaRPr>
          </a:p>
        </p:txBody>
      </p:sp>
      <p:sp>
        <p:nvSpPr>
          <p:cNvPr id="31" name="Text 24">
            <a:extLst xmlns:a="http://schemas.openxmlformats.org/drawingml/2006/main">
              <a:ext uri="{FF2B5EF4-FFF2-40B4-BE49-F238E27FC236}">
                <a16:creationId xmlns:a16="http://schemas.microsoft.com/office/drawing/2014/main" id="{88C08ABD-AB7A-4624-ACCB-6D5AAF73DFCA}"/>
              </a:ext>
            </a:extLst>
          </p:cNvPr>
          <p:cNvSpPr>
            <a:spLocks xmlns:a="http://schemas.openxmlformats.org/drawingml/2006/main" noGrp="1"/>
          </p:cNvSpPr>
          <p:nvPr/>
        </p:nvSpPr>
        <p:spPr>
          <a:xfrm xmlns:a="http://schemas.openxmlformats.org/drawingml/2006/main">
            <a:off x="8046491"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80">
                <a:solidFill>
                  <a:srgbClr val="000000">
                    <a:alpha val="76000"/>
                  </a:srgbClr>
                </a:solidFill>
                <a:latin typeface="Open Sans"/>
                <a:ea typeface="Open Sans"/>
                <a:cs typeface="Open Sans"/>
              </a:rPr>
              <a:t>Only the exact approved action runs</a:t>
            </a:r>
            <a:endParaRPr sz="880">
              <a:latin typeface="Open Sans"/>
              <a:ea typeface="Open Sans"/>
              <a:cs typeface="Open Sans"/>
            </a:endParaRPr>
          </a:p>
        </p:txBody>
      </p:sp>
      <p:sp>
        <p:nvSpPr>
          <p:cNvPr id="32" name="Shape 25">
            <a:extLst xmlns:a="http://schemas.openxmlformats.org/drawingml/2006/main">
              <a:ext uri="{FF2B5EF4-FFF2-40B4-BE49-F238E27FC236}">
                <a16:creationId xmlns:a16="http://schemas.microsoft.com/office/drawing/2014/main" id="{533E3426-0CE4-4A7B-87CA-7A585231F3E6}"/>
              </a:ext>
            </a:extLst>
          </p:cNvPr>
          <p:cNvSpPr>
            <a:spLocks xmlns:a="http://schemas.openxmlformats.org/drawingml/2006/main" noGrp="1"/>
          </p:cNvSpPr>
          <p:nvPr/>
        </p:nvSpPr>
        <p:spPr>
          <a:xfrm xmlns:a="http://schemas.openxmlformats.org/drawingml/2006/main">
            <a:off x="10566121" y="16002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0071CF">
                <a:alpha val="65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40" name="Image 5"/>
          <p:cNvPicPr>
            <a:picLocks xmlns:a="http://schemas.openxmlformats.org/drawingml/2006/main" noChangeAspect="1"/>
          </p:cNvPicPr>
          <p:nvPr/>
        </p:nvPicPr>
        <p:blipFill>
          <a:blip xmlns:r="http://schemas.openxmlformats.org/officeDocument/2006/relationships" xmlns:a="http://schemas.openxmlformats.org/drawingml/2006/main" r:embed="R9e796b749d014ce0">
            <a:duotone>
              <a:srgbClr val="0071CF"/>
              <a:srgbClr val="0071CF"/>
            </a:duotone>
          </a:blip>
          <a:stretch xmlns:a="http://schemas.openxmlformats.org/drawingml/2006/main">
            <a:fillRect l="0" t="0" r="0" b="0"/>
          </a:stretch>
        </p:blipFill>
        <p:spPr>
          <a:xfrm xmlns:a="http://schemas.openxmlformats.org/drawingml/2006/main">
            <a:off x="10675849" y="1709928"/>
            <a:ext cx="237744" cy="237744"/>
          </a:xfrm>
          <a:prstGeom xmlns:a="http://schemas.openxmlformats.org/drawingml/2006/main" prst="rect">
            <a:avLst/>
          </a:prstGeom>
        </p:spPr>
      </p:pic>
      <p:sp>
        <p:nvSpPr>
          <p:cNvPr id="34" name="Text 26">
            <a:extLst xmlns:a="http://schemas.openxmlformats.org/drawingml/2006/main">
              <a:ext uri="{FF2B5EF4-FFF2-40B4-BE49-F238E27FC236}">
                <a16:creationId xmlns:a16="http://schemas.microsoft.com/office/drawing/2014/main" id="{97F7B8CC-2677-4D04-B1E0-8ACA3160DAC6}"/>
              </a:ext>
            </a:extLst>
          </p:cNvPr>
          <p:cNvSpPr>
            <a:spLocks xmlns:a="http://schemas.openxmlformats.org/drawingml/2006/main" noGrp="1"/>
          </p:cNvSpPr>
          <p:nvPr/>
        </p:nvSpPr>
        <p:spPr>
          <a:xfrm xmlns:a="http://schemas.openxmlformats.org/drawingml/2006/main">
            <a:off x="9880321" y="2157984"/>
            <a:ext cx="18288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1">
                <a:solidFill>
                  <a:srgbClr val="000000"/>
                </a:solidFill>
                <a:latin typeface="Open Sans"/>
                <a:ea typeface="Open Sans"/>
                <a:cs typeface="Open Sans"/>
              </a:rPr>
              <a:t>Verify</a:t>
            </a:r>
            <a:endParaRPr sz="1050">
              <a:latin typeface="Open Sans"/>
              <a:ea typeface="Open Sans"/>
              <a:cs typeface="Open Sans"/>
            </a:endParaRPr>
          </a:p>
        </p:txBody>
      </p:sp>
      <p:sp>
        <p:nvSpPr>
          <p:cNvPr id="35" name="Text 27">
            <a:extLst xmlns:a="http://schemas.openxmlformats.org/drawingml/2006/main">
              <a:ext uri="{FF2B5EF4-FFF2-40B4-BE49-F238E27FC236}">
                <a16:creationId xmlns:a16="http://schemas.microsoft.com/office/drawing/2014/main" id="{823D3C98-4759-440A-8A48-61EA9E97C3BE}"/>
              </a:ext>
            </a:extLst>
          </p:cNvPr>
          <p:cNvSpPr>
            <a:spLocks xmlns:a="http://schemas.openxmlformats.org/drawingml/2006/main" noGrp="1"/>
          </p:cNvSpPr>
          <p:nvPr/>
        </p:nvSpPr>
        <p:spPr>
          <a:xfrm xmlns:a="http://schemas.openxmlformats.org/drawingml/2006/main">
            <a:off x="9926041" y="2359152"/>
            <a:ext cx="17373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880">
                <a:solidFill>
                  <a:srgbClr val="000000">
                    <a:alpha val="76000"/>
                  </a:srgbClr>
                </a:solidFill>
                <a:latin typeface="Open Sans"/>
                <a:ea typeface="Open Sans"/>
                <a:cs typeface="Open Sans"/>
              </a:rPr>
              <a:t>Read back from the source system</a:t>
            </a:r>
            <a:endParaRPr sz="880">
              <a:latin typeface="Open Sans"/>
              <a:ea typeface="Open Sans"/>
              <a:cs typeface="Open Sans"/>
            </a:endParaRPr>
          </a:p>
        </p:txBody>
      </p:sp>
      <p:sp>
        <p:nvSpPr>
          <p:cNvPr id="40" name="Shape 32">
            <a:extLst xmlns:a="http://schemas.openxmlformats.org/drawingml/2006/main">
              <a:ext uri="{FF2B5EF4-FFF2-40B4-BE49-F238E27FC236}">
                <a16:creationId xmlns:a16="http://schemas.microsoft.com/office/drawing/2014/main" id="{66DEFAB5-E7CF-4F9E-A83C-1433F38BC358}"/>
              </a:ext>
            </a:extLst>
          </p:cNvPr>
          <p:cNvSpPr>
            <a:spLocks xmlns:a="http://schemas.openxmlformats.org/drawingml/2006/main" noGrp="1"/>
          </p:cNvSpPr>
          <p:nvPr/>
        </p:nvSpPr>
        <p:spPr>
          <a:xfrm xmlns:a="http://schemas.openxmlformats.org/drawingml/2006/main">
            <a:off x="603504" y="3346704"/>
            <a:ext cx="3456432" cy="1298448"/>
          </a:xfrm>
          <a:prstGeom xmlns:a="http://schemas.openxmlformats.org/drawingml/2006/main" prst="roundRect">
            <a:avLst>
              <a:gd name="adj" fmla="val 5634"/>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44" name="Image 6"/>
          <p:cNvPicPr>
            <a:picLocks xmlns:a="http://schemas.openxmlformats.org/drawingml/2006/main" noChangeAspect="1"/>
          </p:cNvPicPr>
          <p:nvPr/>
        </p:nvPicPr>
        <p:blipFill>
          <a:blip xmlns:r="http://schemas.openxmlformats.org/officeDocument/2006/relationships" xmlns:a="http://schemas.openxmlformats.org/drawingml/2006/main" r:embed="R4484cf68005340fb">
            <a:duotone>
              <a:srgbClr val="0071CF"/>
              <a:srgbClr val="0071CF"/>
            </a:duotone>
          </a:blip>
          <a:stretch xmlns:a="http://schemas.openxmlformats.org/drawingml/2006/main">
            <a:fillRect l="0" t="0" r="0" b="0"/>
          </a:stretch>
        </p:blipFill>
        <p:spPr>
          <a:xfrm xmlns:a="http://schemas.openxmlformats.org/drawingml/2006/main">
            <a:off x="713232" y="3438144"/>
            <a:ext cx="201168" cy="201168"/>
          </a:xfrm>
          <a:prstGeom xmlns:a="http://schemas.openxmlformats.org/drawingml/2006/main" prst="rect">
            <a:avLst/>
          </a:prstGeom>
        </p:spPr>
      </p:pic>
      <p:sp>
        <p:nvSpPr>
          <p:cNvPr id="42" name="Text 33">
            <a:extLst xmlns:a="http://schemas.openxmlformats.org/drawingml/2006/main">
              <a:ext uri="{FF2B5EF4-FFF2-40B4-BE49-F238E27FC236}">
                <a16:creationId xmlns:a16="http://schemas.microsoft.com/office/drawing/2014/main" id="{3CC4915B-B096-4812-A23D-ADD7DA30972E}"/>
              </a:ext>
            </a:extLst>
          </p:cNvPr>
          <p:cNvSpPr>
            <a:spLocks xmlns:a="http://schemas.openxmlformats.org/drawingml/2006/main" noGrp="1"/>
          </p:cNvSpPr>
          <p:nvPr/>
        </p:nvSpPr>
        <p:spPr>
          <a:xfrm xmlns:a="http://schemas.openxmlformats.org/drawingml/2006/main">
            <a:off x="969264" y="3419475"/>
            <a:ext cx="30956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Standard requirement change</a:t>
            </a:r>
            <a:endParaRPr sz="1050">
              <a:latin typeface="Open Sans"/>
              <a:ea typeface="Open Sans"/>
              <a:cs typeface="Open Sans"/>
            </a:endParaRPr>
          </a:p>
        </p:txBody>
      </p:sp>
      <p:sp>
        <p:nvSpPr>
          <p:cNvPr id="43" name="Text 34">
            <a:extLst xmlns:a="http://schemas.openxmlformats.org/drawingml/2006/main">
              <a:ext uri="{FF2B5EF4-FFF2-40B4-BE49-F238E27FC236}">
                <a16:creationId xmlns:a16="http://schemas.microsoft.com/office/drawing/2014/main" id="{44251B70-27FD-42A7-851B-8D580DC01023}"/>
              </a:ext>
            </a:extLst>
          </p:cNvPr>
          <p:cNvSpPr>
            <a:spLocks xmlns:a="http://schemas.openxmlformats.org/drawingml/2006/main" noGrp="1"/>
          </p:cNvSpPr>
          <p:nvPr/>
        </p:nvSpPr>
        <p:spPr>
          <a:xfrm xmlns:a="http://schemas.openxmlformats.org/drawingml/2006/main">
            <a:off x="698269" y="3745596"/>
            <a:ext cx="548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CR-019</a:t>
            </a:r>
            <a:endParaRPr sz="900">
              <a:latin typeface="Open Sans"/>
              <a:ea typeface="Open Sans"/>
              <a:cs typeface="Open Sans"/>
            </a:endParaRPr>
          </a:p>
        </p:txBody>
      </p:sp>
      <p:sp>
        <p:nvSpPr>
          <p:cNvPr id="44" name="Shape 35">
            <a:extLst xmlns:a="http://schemas.openxmlformats.org/drawingml/2006/main">
              <a:ext uri="{FF2B5EF4-FFF2-40B4-BE49-F238E27FC236}">
                <a16:creationId xmlns:a16="http://schemas.microsoft.com/office/drawing/2014/main" id="{00371F30-559B-41C7-A312-BE23F6BD4D95}"/>
              </a:ext>
            </a:extLst>
          </p:cNvPr>
          <p:cNvSpPr>
            <a:spLocks xmlns:a="http://schemas.openxmlformats.org/drawingml/2006/main" noGrp="1"/>
          </p:cNvSpPr>
          <p:nvPr/>
        </p:nvSpPr>
        <p:spPr>
          <a:xfrm xmlns:a="http://schemas.openxmlformats.org/drawingml/2006/main">
            <a:off x="1168375" y="3745596"/>
            <a:ext cx="900497"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5" name="Text 36">
            <a:extLst xmlns:a="http://schemas.openxmlformats.org/drawingml/2006/main">
              <a:ext uri="{FF2B5EF4-FFF2-40B4-BE49-F238E27FC236}">
                <a16:creationId xmlns:a16="http://schemas.microsoft.com/office/drawing/2014/main" id="{FD0DB7D2-76A1-4505-9449-F780EB105F51}"/>
              </a:ext>
            </a:extLst>
          </p:cNvPr>
          <p:cNvSpPr>
            <a:spLocks xmlns:a="http://schemas.openxmlformats.org/drawingml/2006/main" noGrp="1"/>
          </p:cNvSpPr>
          <p:nvPr/>
        </p:nvSpPr>
        <p:spPr>
          <a:xfrm xmlns:a="http://schemas.openxmlformats.org/drawingml/2006/main">
            <a:off x="1257300" y="3743325"/>
            <a:ext cx="10953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20" b="1">
                <a:solidFill>
                  <a:srgbClr val="0071CF"/>
                </a:solidFill>
                <a:latin typeface="Open Sans"/>
                <a:ea typeface="Open Sans"/>
                <a:cs typeface="Open Sans"/>
              </a:rPr>
              <a:t>Autonomous</a:t>
            </a:r>
            <a:endParaRPr sz="820">
              <a:latin typeface="Open Sans"/>
              <a:ea typeface="Open Sans"/>
              <a:cs typeface="Open Sans"/>
            </a:endParaRPr>
          </a:p>
        </p:txBody>
      </p:sp>
      <p:sp>
        <p:nvSpPr>
          <p:cNvPr id="46" name="Text 37">
            <a:extLst xmlns:a="http://schemas.openxmlformats.org/drawingml/2006/main">
              <a:ext uri="{FF2B5EF4-FFF2-40B4-BE49-F238E27FC236}">
                <a16:creationId xmlns:a16="http://schemas.microsoft.com/office/drawing/2014/main" id="{0429CB42-68F0-41E0-ABC7-80815FCD4E36}"/>
              </a:ext>
            </a:extLst>
          </p:cNvPr>
          <p:cNvSpPr>
            <a:spLocks xmlns:a="http://schemas.openxmlformats.org/drawingml/2006/main" noGrp="1"/>
          </p:cNvSpPr>
          <p:nvPr/>
        </p:nvSpPr>
        <p:spPr>
          <a:xfrm xmlns:a="http://schemas.openxmlformats.org/drawingml/2006/main">
            <a:off x="713232" y="4010025"/>
            <a:ext cx="3236976"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A customer requests an update within an approved test profile. Agents reuse the matching evidence and route the validation package.</a:t>
            </a:r>
            <a:endParaRPr sz="900">
              <a:latin typeface="Open Sans"/>
              <a:ea typeface="Open Sans"/>
              <a:cs typeface="Open Sans"/>
            </a:endParaRPr>
          </a:p>
        </p:txBody>
      </p:sp>
      <p:sp>
        <p:nvSpPr>
          <p:cNvPr id="49" name="Shape 40">
            <a:extLst xmlns:a="http://schemas.openxmlformats.org/drawingml/2006/main">
              <a:ext uri="{FF2B5EF4-FFF2-40B4-BE49-F238E27FC236}">
                <a16:creationId xmlns:a16="http://schemas.microsoft.com/office/drawing/2014/main" id="{E493B2FB-05A4-462B-AAD9-97D2E627E334}"/>
              </a:ext>
            </a:extLst>
          </p:cNvPr>
          <p:cNvSpPr>
            <a:spLocks xmlns:a="http://schemas.openxmlformats.org/drawingml/2006/main" noGrp="1"/>
          </p:cNvSpPr>
          <p:nvPr/>
        </p:nvSpPr>
        <p:spPr>
          <a:xfrm xmlns:a="http://schemas.openxmlformats.org/drawingml/2006/main">
            <a:off x="4364017" y="3353711"/>
            <a:ext cx="3456432" cy="1298448"/>
          </a:xfrm>
          <a:prstGeom xmlns:a="http://schemas.openxmlformats.org/drawingml/2006/main" prst="roundRect">
            <a:avLst>
              <a:gd name="adj" fmla="val 5634"/>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51" name="Image 7"/>
          <p:cNvPicPr>
            <a:picLocks xmlns:a="http://schemas.openxmlformats.org/drawingml/2006/main" noChangeAspect="1"/>
          </p:cNvPicPr>
          <p:nvPr/>
        </p:nvPicPr>
        <p:blipFill>
          <a:blip xmlns:r="http://schemas.openxmlformats.org/officeDocument/2006/relationships" xmlns:a="http://schemas.openxmlformats.org/drawingml/2006/main" r:embed="Rce692f5510d445e6">
            <a:duotone>
              <a:srgbClr val="0071CF"/>
              <a:srgbClr val="0071CF"/>
            </a:duotone>
          </a:blip>
          <a:stretch xmlns:a="http://schemas.openxmlformats.org/drawingml/2006/main">
            <a:fillRect l="0" t="0" r="0" b="0"/>
          </a:stretch>
        </p:blipFill>
        <p:spPr>
          <a:xfrm xmlns:a="http://schemas.openxmlformats.org/drawingml/2006/main">
            <a:off x="4473745" y="3445151"/>
            <a:ext cx="201168" cy="201168"/>
          </a:xfrm>
          <a:prstGeom xmlns:a="http://schemas.openxmlformats.org/drawingml/2006/main" prst="rect">
            <a:avLst/>
          </a:prstGeom>
        </p:spPr>
      </p:pic>
      <p:sp>
        <p:nvSpPr>
          <p:cNvPr id="51" name="Text 41">
            <a:extLst xmlns:a="http://schemas.openxmlformats.org/drawingml/2006/main">
              <a:ext uri="{FF2B5EF4-FFF2-40B4-BE49-F238E27FC236}">
                <a16:creationId xmlns:a16="http://schemas.microsoft.com/office/drawing/2014/main" id="{710A5B1F-6420-4E73-8E75-059D8B790E0B}"/>
              </a:ext>
            </a:extLst>
          </p:cNvPr>
          <p:cNvSpPr>
            <a:spLocks xmlns:a="http://schemas.openxmlformats.org/drawingml/2006/main" noGrp="1"/>
          </p:cNvSpPr>
          <p:nvPr/>
        </p:nvSpPr>
        <p:spPr>
          <a:xfrm xmlns:a="http://schemas.openxmlformats.org/drawingml/2006/main">
            <a:off x="4729777" y="3419475"/>
            <a:ext cx="30956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Material requirement change</a:t>
            </a:r>
            <a:endParaRPr sz="1050">
              <a:latin typeface="Open Sans"/>
              <a:ea typeface="Open Sans"/>
              <a:cs typeface="Open Sans"/>
            </a:endParaRPr>
          </a:p>
        </p:txBody>
      </p:sp>
      <p:sp>
        <p:nvSpPr>
          <p:cNvPr id="52" name="Text 42">
            <a:extLst xmlns:a="http://schemas.openxmlformats.org/drawingml/2006/main">
              <a:ext uri="{FF2B5EF4-FFF2-40B4-BE49-F238E27FC236}">
                <a16:creationId xmlns:a16="http://schemas.microsoft.com/office/drawing/2014/main" id="{77808374-6259-4000-927B-E7375EF9706F}"/>
              </a:ext>
            </a:extLst>
          </p:cNvPr>
          <p:cNvSpPr>
            <a:spLocks xmlns:a="http://schemas.openxmlformats.org/drawingml/2006/main" noGrp="1"/>
          </p:cNvSpPr>
          <p:nvPr/>
        </p:nvSpPr>
        <p:spPr>
          <a:xfrm xmlns:a="http://schemas.openxmlformats.org/drawingml/2006/main">
            <a:off x="4467843" y="3748447"/>
            <a:ext cx="548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CR-017</a:t>
            </a:r>
            <a:endParaRPr sz="900">
              <a:latin typeface="Open Sans"/>
              <a:ea typeface="Open Sans"/>
              <a:cs typeface="Open Sans"/>
            </a:endParaRPr>
          </a:p>
        </p:txBody>
      </p:sp>
      <p:sp>
        <p:nvSpPr>
          <p:cNvPr id="53" name="Shape 43">
            <a:extLst xmlns:a="http://schemas.openxmlformats.org/drawingml/2006/main">
              <a:ext uri="{FF2B5EF4-FFF2-40B4-BE49-F238E27FC236}">
                <a16:creationId xmlns:a16="http://schemas.microsoft.com/office/drawing/2014/main" id="{E160D253-6B21-4B42-92C6-99AE9308A012}"/>
              </a:ext>
            </a:extLst>
          </p:cNvPr>
          <p:cNvSpPr>
            <a:spLocks xmlns:a="http://schemas.openxmlformats.org/drawingml/2006/main" noGrp="1"/>
          </p:cNvSpPr>
          <p:nvPr/>
        </p:nvSpPr>
        <p:spPr>
          <a:xfrm xmlns:a="http://schemas.openxmlformats.org/drawingml/2006/main">
            <a:off x="4933274" y="3739303"/>
            <a:ext cx="1249256"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4" name="Text 44">
            <a:extLst xmlns:a="http://schemas.openxmlformats.org/drawingml/2006/main">
              <a:ext uri="{FF2B5EF4-FFF2-40B4-BE49-F238E27FC236}">
                <a16:creationId xmlns:a16="http://schemas.microsoft.com/office/drawing/2014/main" id="{BF5ADB29-4508-4F99-96D9-E37C479CD060}"/>
              </a:ext>
            </a:extLst>
          </p:cNvPr>
          <p:cNvSpPr>
            <a:spLocks xmlns:a="http://schemas.openxmlformats.org/drawingml/2006/main" noGrp="1"/>
          </p:cNvSpPr>
          <p:nvPr/>
        </p:nvSpPr>
        <p:spPr>
          <a:xfrm xmlns:a="http://schemas.openxmlformats.org/drawingml/2006/main">
            <a:off x="5000625" y="3743325"/>
            <a:ext cx="185737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20" b="1">
                <a:solidFill>
                  <a:srgbClr val="0000FF"/>
                </a:solidFill>
                <a:latin typeface="Open Sans"/>
                <a:ea typeface="Open Sans"/>
                <a:cs typeface="Open Sans"/>
              </a:rPr>
              <a:t>Engineering approval</a:t>
            </a:r>
            <a:endParaRPr sz="820">
              <a:latin typeface="Open Sans"/>
              <a:ea typeface="Open Sans"/>
              <a:cs typeface="Open Sans"/>
            </a:endParaRPr>
          </a:p>
        </p:txBody>
      </p:sp>
      <p:sp>
        <p:nvSpPr>
          <p:cNvPr id="55" name="Text 45">
            <a:extLst xmlns:a="http://schemas.openxmlformats.org/drawingml/2006/main">
              <a:ext uri="{FF2B5EF4-FFF2-40B4-BE49-F238E27FC236}">
                <a16:creationId xmlns:a16="http://schemas.microsoft.com/office/drawing/2014/main" id="{78B84184-1942-499D-9D35-F00F4B264112}"/>
              </a:ext>
            </a:extLst>
          </p:cNvPr>
          <p:cNvSpPr>
            <a:spLocks xmlns:a="http://schemas.openxmlformats.org/drawingml/2006/main" noGrp="1"/>
          </p:cNvSpPr>
          <p:nvPr/>
        </p:nvSpPr>
        <p:spPr>
          <a:xfrm xmlns:a="http://schemas.openxmlformats.org/drawingml/2006/main">
            <a:off x="4467843" y="4010025"/>
            <a:ext cx="3236976"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A customer requests a much broader workload than existing tests cover. Agents find the gaps, analyzed next best actions, routed to engineering, and updated plan to ensure on-time completion</a:t>
            </a:r>
            <a:endParaRPr sz="900">
              <a:latin typeface="Open Sans"/>
              <a:ea typeface="Open Sans"/>
              <a:cs typeface="Open Sans"/>
            </a:endParaRPr>
          </a:p>
        </p:txBody>
      </p:sp>
      <p:sp>
        <p:nvSpPr>
          <p:cNvPr id="58" name="Shape 48">
            <a:extLst xmlns:a="http://schemas.openxmlformats.org/drawingml/2006/main">
              <a:ext uri="{FF2B5EF4-FFF2-40B4-BE49-F238E27FC236}">
                <a16:creationId xmlns:a16="http://schemas.microsoft.com/office/drawing/2014/main" id="{7D384C7E-B12A-4A3C-A26C-9D81B024B125}"/>
              </a:ext>
            </a:extLst>
          </p:cNvPr>
          <p:cNvSpPr>
            <a:spLocks xmlns:a="http://schemas.openxmlformats.org/drawingml/2006/main" noGrp="1"/>
          </p:cNvSpPr>
          <p:nvPr/>
        </p:nvSpPr>
        <p:spPr>
          <a:xfrm xmlns:a="http://schemas.openxmlformats.org/drawingml/2006/main">
            <a:off x="8186781" y="3346704"/>
            <a:ext cx="3456432" cy="1298448"/>
          </a:xfrm>
          <a:prstGeom xmlns:a="http://schemas.openxmlformats.org/drawingml/2006/main" prst="roundRect">
            <a:avLst>
              <a:gd name="adj" fmla="val 5634"/>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58" name="Image 8"/>
          <p:cNvPicPr>
            <a:picLocks xmlns:a="http://schemas.openxmlformats.org/drawingml/2006/main" noChangeAspect="1"/>
          </p:cNvPicPr>
          <p:nvPr/>
        </p:nvPicPr>
        <p:blipFill>
          <a:blip xmlns:r="http://schemas.openxmlformats.org/officeDocument/2006/relationships" xmlns:a="http://schemas.openxmlformats.org/drawingml/2006/main" r:embed="R3a59096fa8934854">
            <a:duotone>
              <a:srgbClr val="0071CF"/>
              <a:srgbClr val="0071CF"/>
            </a:duotone>
          </a:blip>
          <a:stretch xmlns:a="http://schemas.openxmlformats.org/drawingml/2006/main">
            <a:fillRect l="0" t="0" r="0" b="0"/>
          </a:stretch>
        </p:blipFill>
        <p:spPr>
          <a:xfrm xmlns:a="http://schemas.openxmlformats.org/drawingml/2006/main">
            <a:off x="8296509" y="3438144"/>
            <a:ext cx="201168" cy="201168"/>
          </a:xfrm>
          <a:prstGeom xmlns:a="http://schemas.openxmlformats.org/drawingml/2006/main" prst="rect">
            <a:avLst/>
          </a:prstGeom>
        </p:spPr>
      </p:pic>
      <p:sp>
        <p:nvSpPr>
          <p:cNvPr id="60" name="Text 49">
            <a:extLst xmlns:a="http://schemas.openxmlformats.org/drawingml/2006/main">
              <a:ext uri="{FF2B5EF4-FFF2-40B4-BE49-F238E27FC236}">
                <a16:creationId xmlns:a16="http://schemas.microsoft.com/office/drawing/2014/main" id="{33403B3A-82E9-4041-AA16-7F574CC221B7}"/>
              </a:ext>
            </a:extLst>
          </p:cNvPr>
          <p:cNvSpPr>
            <a:spLocks xmlns:a="http://schemas.openxmlformats.org/drawingml/2006/main" noGrp="1"/>
          </p:cNvSpPr>
          <p:nvPr/>
        </p:nvSpPr>
        <p:spPr>
          <a:xfrm xmlns:a="http://schemas.openxmlformats.org/drawingml/2006/main">
            <a:off x="8552541" y="3419475"/>
            <a:ext cx="3095625" cy="2762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00000"/>
                </a:solidFill>
                <a:latin typeface="Open Sans"/>
                <a:ea typeface="Open Sans"/>
                <a:cs typeface="Open Sans"/>
              </a:rPr>
              <a:t>Yield and quality recovery</a:t>
            </a:r>
            <a:endParaRPr sz="1050">
              <a:latin typeface="Open Sans"/>
              <a:ea typeface="Open Sans"/>
              <a:cs typeface="Open Sans"/>
            </a:endParaRPr>
          </a:p>
        </p:txBody>
      </p:sp>
      <p:sp>
        <p:nvSpPr>
          <p:cNvPr id="61" name="Text 50">
            <a:extLst xmlns:a="http://schemas.openxmlformats.org/drawingml/2006/main">
              <a:ext uri="{FF2B5EF4-FFF2-40B4-BE49-F238E27FC236}">
                <a16:creationId xmlns:a16="http://schemas.microsoft.com/office/drawing/2014/main" id="{1D40740F-B722-4719-A576-8F81CBF61B23}"/>
              </a:ext>
            </a:extLst>
          </p:cNvPr>
          <p:cNvSpPr>
            <a:spLocks xmlns:a="http://schemas.openxmlformats.org/drawingml/2006/main" noGrp="1"/>
          </p:cNvSpPr>
          <p:nvPr/>
        </p:nvSpPr>
        <p:spPr>
          <a:xfrm xmlns:a="http://schemas.openxmlformats.org/drawingml/2006/main">
            <a:off x="8296509" y="3735680"/>
            <a:ext cx="548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QE-004</a:t>
            </a:r>
            <a:endParaRPr sz="900">
              <a:latin typeface="Open Sans"/>
              <a:ea typeface="Open Sans"/>
              <a:cs typeface="Open Sans"/>
            </a:endParaRPr>
          </a:p>
        </p:txBody>
      </p:sp>
      <p:sp>
        <p:nvSpPr>
          <p:cNvPr id="62" name="Shape 51">
            <a:extLst xmlns:a="http://schemas.openxmlformats.org/drawingml/2006/main">
              <a:ext uri="{FF2B5EF4-FFF2-40B4-BE49-F238E27FC236}">
                <a16:creationId xmlns:a16="http://schemas.microsoft.com/office/drawing/2014/main" id="{C258BD72-877C-4222-8CD7-F8ABF21B694E}"/>
              </a:ext>
            </a:extLst>
          </p:cNvPr>
          <p:cNvSpPr>
            <a:spLocks xmlns:a="http://schemas.openxmlformats.org/drawingml/2006/main" noGrp="1"/>
          </p:cNvSpPr>
          <p:nvPr/>
        </p:nvSpPr>
        <p:spPr>
          <a:xfrm xmlns:a="http://schemas.openxmlformats.org/drawingml/2006/main">
            <a:off x="8727923" y="3726536"/>
            <a:ext cx="1461275"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63" name="Text 52">
            <a:extLst xmlns:a="http://schemas.openxmlformats.org/drawingml/2006/main">
              <a:ext uri="{FF2B5EF4-FFF2-40B4-BE49-F238E27FC236}">
                <a16:creationId xmlns:a16="http://schemas.microsoft.com/office/drawing/2014/main" id="{58C4F64A-2F35-4867-809D-ADAA05ACF9DF}"/>
              </a:ext>
            </a:extLst>
          </p:cNvPr>
          <p:cNvSpPr>
            <a:spLocks xmlns:a="http://schemas.openxmlformats.org/drawingml/2006/main" noGrp="1"/>
          </p:cNvSpPr>
          <p:nvPr/>
        </p:nvSpPr>
        <p:spPr>
          <a:xfrm xmlns:a="http://schemas.openxmlformats.org/drawingml/2006/main">
            <a:off x="8763000" y="3743325"/>
            <a:ext cx="2286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defRPr>
                <a:latin typeface="Open Sans"/>
                <a:ea typeface="Open Sans"/>
                <a:cs typeface="Open Sans"/>
              </a:defRPr>
            </a:pPr>
            <a:r>
              <a:rPr sz="820" b="1">
                <a:solidFill>
                  <a:srgbClr val="0E315C"/>
                </a:solidFill>
                <a:latin typeface="Open Sans"/>
                <a:ea typeface="Open Sans"/>
                <a:cs typeface="Open Sans"/>
              </a:rPr>
              <a:t>Program Owner approval</a:t>
            </a:r>
            <a:endParaRPr sz="820">
              <a:latin typeface="Open Sans"/>
              <a:ea typeface="Open Sans"/>
              <a:cs typeface="Open Sans"/>
            </a:endParaRPr>
          </a:p>
        </p:txBody>
      </p:sp>
      <p:sp>
        <p:nvSpPr>
          <p:cNvPr id="64" name="Text 53">
            <a:extLst xmlns:a="http://schemas.openxmlformats.org/drawingml/2006/main">
              <a:ext uri="{FF2B5EF4-FFF2-40B4-BE49-F238E27FC236}">
                <a16:creationId xmlns:a16="http://schemas.microsoft.com/office/drawing/2014/main" id="{90D9BBF5-689C-492A-8D8D-EBACDF9F4543}"/>
              </a:ext>
            </a:extLst>
          </p:cNvPr>
          <p:cNvSpPr>
            <a:spLocks xmlns:a="http://schemas.openxmlformats.org/drawingml/2006/main" noGrp="1"/>
          </p:cNvSpPr>
          <p:nvPr/>
        </p:nvSpPr>
        <p:spPr>
          <a:xfrm xmlns:a="http://schemas.openxmlformats.org/drawingml/2006/main">
            <a:off x="8296509" y="4010025"/>
            <a:ext cx="3236976" cy="7429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76000"/>
                  </a:srgbClr>
                </a:solidFill>
                <a:latin typeface="Open Sans"/>
                <a:ea typeface="Open Sans"/>
                <a:cs typeface="Open Sans"/>
              </a:rPr>
              <a:t>A yield exception alert raises questions about usable supply and timing. Agents size the impact and recommends updated supply chain actions downstream</a:t>
            </a:r>
            <a:endParaRPr sz="900">
              <a:latin typeface="Open Sans"/>
              <a:ea typeface="Open Sans"/>
              <a:cs typeface="Open Sans"/>
            </a:endParaRPr>
          </a:p>
        </p:txBody>
      </p:sp>
      <p:sp>
        <p:nvSpPr>
          <p:cNvPr id="67" name="Text 56">
            <a:extLst xmlns:a="http://schemas.openxmlformats.org/drawingml/2006/main">
              <a:ext uri="{FF2B5EF4-FFF2-40B4-BE49-F238E27FC236}">
                <a16:creationId xmlns:a16="http://schemas.microsoft.com/office/drawing/2014/main" id="{46E7EB77-6EEC-40E5-BA28-C87973A15FF9}"/>
              </a:ext>
            </a:extLst>
          </p:cNvPr>
          <p:cNvSpPr>
            <a:spLocks xmlns:a="http://schemas.openxmlformats.org/drawingml/2006/main" noGrp="1"/>
          </p:cNvSpPr>
          <p:nvPr/>
        </p:nvSpPr>
        <p:spPr>
          <a:xfrm xmlns:a="http://schemas.openxmlformats.org/drawingml/2006/main">
            <a:off x="457200" y="4876800"/>
            <a:ext cx="5486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0">
                <a:solidFill>
                  <a:srgbClr val="0071CF"/>
                </a:solidFill>
                <a:latin typeface="Open Sans"/>
                <a:ea typeface="Open Sans"/>
                <a:cs typeface="Open Sans"/>
              </a:rPr>
              <a:t>Business value drivers*:</a:t>
            </a:r>
            <a:endParaRPr sz="950">
              <a:latin typeface="Open Sans"/>
              <a:ea typeface="Open Sans"/>
              <a:cs typeface="Open Sans"/>
            </a:endParaRPr>
          </a:p>
        </p:txBody>
      </p:sp>
      <p:sp>
        <p:nvSpPr>
          <p:cNvPr id="69" name="Shape 58">
            <a:extLst xmlns:a="http://schemas.openxmlformats.org/drawingml/2006/main">
              <a:ext uri="{FF2B5EF4-FFF2-40B4-BE49-F238E27FC236}">
                <a16:creationId xmlns:a16="http://schemas.microsoft.com/office/drawing/2014/main" id="{1B34B9B5-565B-415E-99F8-B7AC500088EF}"/>
              </a:ext>
            </a:extLst>
          </p:cNvPr>
          <p:cNvSpPr>
            <a:spLocks xmlns:a="http://schemas.openxmlformats.org/drawingml/2006/main" noGrp="1"/>
          </p:cNvSpPr>
          <p:nvPr/>
        </p:nvSpPr>
        <p:spPr>
          <a:xfrm xmlns:a="http://schemas.openxmlformats.org/drawingml/2006/main">
            <a:off x="457200"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66" name="Image 9"/>
          <p:cNvPicPr>
            <a:picLocks xmlns:a="http://schemas.openxmlformats.org/drawingml/2006/main" noChangeAspect="1"/>
          </p:cNvPicPr>
          <p:nvPr/>
        </p:nvPicPr>
        <p:blipFill>
          <a:blip xmlns:r="http://schemas.openxmlformats.org/officeDocument/2006/relationships" xmlns:a="http://schemas.openxmlformats.org/drawingml/2006/main" r:embed="R9c7d6d9946c14e81">
            <a:duotone>
              <a:srgbClr val="0071CF"/>
              <a:srgbClr val="0071CF"/>
            </a:duotone>
          </a:blip>
          <a:stretch xmlns:a="http://schemas.openxmlformats.org/drawingml/2006/main">
            <a:fillRect l="0" t="0" r="0" b="0"/>
          </a:stretch>
        </p:blipFill>
        <p:spPr>
          <a:xfrm xmlns:a="http://schemas.openxmlformats.org/drawingml/2006/main">
            <a:off x="566928" y="5212080"/>
            <a:ext cx="164592" cy="164592"/>
          </a:xfrm>
          <a:prstGeom xmlns:a="http://schemas.openxmlformats.org/drawingml/2006/main" prst="rect">
            <a:avLst/>
          </a:prstGeom>
        </p:spPr>
      </p:pic>
      <p:sp>
        <p:nvSpPr>
          <p:cNvPr id="71" name="Text 59">
            <a:extLst xmlns:a="http://schemas.openxmlformats.org/drawingml/2006/main">
              <a:ext uri="{FF2B5EF4-FFF2-40B4-BE49-F238E27FC236}">
                <a16:creationId xmlns:a16="http://schemas.microsoft.com/office/drawing/2014/main" id="{B8383794-0554-4E00-BB6B-218613F71D08}"/>
              </a:ext>
            </a:extLst>
          </p:cNvPr>
          <p:cNvSpPr>
            <a:spLocks xmlns:a="http://schemas.openxmlformats.org/drawingml/2006/main" noGrp="1"/>
          </p:cNvSpPr>
          <p:nvPr/>
        </p:nvSpPr>
        <p:spPr>
          <a:xfrm xmlns:a="http://schemas.openxmlformats.org/drawingml/2006/main">
            <a:off x="777240"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b="1">
                <a:solidFill>
                  <a:srgbClr val="0E315C"/>
                </a:solidFill>
                <a:latin typeface="Open Sans"/>
                <a:ea typeface="Open Sans"/>
                <a:cs typeface="Open Sans"/>
              </a:rPr>
              <a:t>Yield protected</a:t>
            </a:r>
            <a:endParaRPr sz="920">
              <a:latin typeface="Open Sans"/>
              <a:ea typeface="Open Sans"/>
              <a:cs typeface="Open Sans"/>
            </a:endParaRPr>
          </a:p>
        </p:txBody>
      </p:sp>
      <p:sp>
        <p:nvSpPr>
          <p:cNvPr id="72" name="Text 60">
            <a:extLst xmlns:a="http://schemas.openxmlformats.org/drawingml/2006/main">
              <a:ext uri="{FF2B5EF4-FFF2-40B4-BE49-F238E27FC236}">
                <a16:creationId xmlns:a16="http://schemas.microsoft.com/office/drawing/2014/main" id="{4B262D9A-D12F-43AA-8FCA-C24450BDBB7E}"/>
              </a:ext>
            </a:extLst>
          </p:cNvPr>
          <p:cNvSpPr>
            <a:spLocks xmlns:a="http://schemas.openxmlformats.org/drawingml/2006/main" noGrp="1"/>
          </p:cNvSpPr>
          <p:nvPr/>
        </p:nvSpPr>
        <p:spPr>
          <a:xfrm xmlns:a="http://schemas.openxmlformats.org/drawingml/2006/main">
            <a:off x="566928" y="5467350"/>
            <a:ext cx="2459736"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$20M</a:t>
            </a:r>
            <a:endParaRPr sz="2700">
              <a:latin typeface="Open Sans"/>
              <a:ea typeface="Open Sans"/>
              <a:cs typeface="Open Sans"/>
            </a:endParaRPr>
          </a:p>
        </p:txBody>
      </p:sp>
      <p:sp>
        <p:nvSpPr>
          <p:cNvPr id="73" name="Text 61">
            <a:extLst xmlns:a="http://schemas.openxmlformats.org/drawingml/2006/main">
              <a:ext uri="{FF2B5EF4-FFF2-40B4-BE49-F238E27FC236}">
                <a16:creationId xmlns:a16="http://schemas.microsoft.com/office/drawing/2014/main" id="{92339FB5-617E-4D51-9DAA-E3D3EDFF9370}"/>
              </a:ext>
            </a:extLst>
          </p:cNvPr>
          <p:cNvSpPr>
            <a:spLocks xmlns:a="http://schemas.openxmlformats.org/drawingml/2006/main" noGrp="1"/>
          </p:cNvSpPr>
          <p:nvPr/>
        </p:nvSpPr>
        <p:spPr>
          <a:xfrm xmlns:a="http://schemas.openxmlformats.org/drawingml/2006/main">
            <a:off x="566928" y="589597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60">
                <a:solidFill>
                  <a:srgbClr val="000000">
                    <a:alpha val="76000"/>
                  </a:srgbClr>
                </a:solidFill>
                <a:latin typeface="Open Sans"/>
                <a:ea typeface="Open Sans"/>
                <a:cs typeface="Open Sans"/>
              </a:rPr>
              <a:t>of saleable output protected per year, for every yield point recovered</a:t>
            </a:r>
            <a:endParaRPr sz="860">
              <a:latin typeface="Open Sans"/>
              <a:ea typeface="Open Sans"/>
              <a:cs typeface="Open Sans"/>
            </a:endParaRPr>
          </a:p>
        </p:txBody>
      </p:sp>
      <p:sp>
        <p:nvSpPr>
          <p:cNvPr id="74" name="Shape 62">
            <a:extLst xmlns:a="http://schemas.openxmlformats.org/drawingml/2006/main">
              <a:ext uri="{FF2B5EF4-FFF2-40B4-BE49-F238E27FC236}">
                <a16:creationId xmlns:a16="http://schemas.microsoft.com/office/drawing/2014/main" id="{16AC4829-CA21-43C8-B228-AA22BC3B6E7A}"/>
              </a:ext>
            </a:extLst>
          </p:cNvPr>
          <p:cNvSpPr>
            <a:spLocks xmlns:a="http://schemas.openxmlformats.org/drawingml/2006/main" noGrp="1"/>
          </p:cNvSpPr>
          <p:nvPr/>
        </p:nvSpPr>
        <p:spPr>
          <a:xfrm xmlns:a="http://schemas.openxmlformats.org/drawingml/2006/main">
            <a:off x="3319272"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71" name="Image 10"/>
          <p:cNvPicPr>
            <a:picLocks xmlns:a="http://schemas.openxmlformats.org/drawingml/2006/main" noChangeAspect="1"/>
          </p:cNvPicPr>
          <p:nvPr/>
        </p:nvPicPr>
        <p:blipFill>
          <a:blip xmlns:r="http://schemas.openxmlformats.org/officeDocument/2006/relationships" xmlns:a="http://schemas.openxmlformats.org/drawingml/2006/main" r:embed="R2905df6fac24497c">
            <a:duotone>
              <a:srgbClr val="0071CF"/>
              <a:srgbClr val="0071CF"/>
            </a:duotone>
          </a:blip>
          <a:stretch xmlns:a="http://schemas.openxmlformats.org/drawingml/2006/main">
            <a:fillRect l="0" t="0" r="0" b="0"/>
          </a:stretch>
        </p:blipFill>
        <p:spPr>
          <a:xfrm xmlns:a="http://schemas.openxmlformats.org/drawingml/2006/main">
            <a:off x="3429000" y="5212080"/>
            <a:ext cx="164592" cy="164592"/>
          </a:xfrm>
          <a:prstGeom xmlns:a="http://schemas.openxmlformats.org/drawingml/2006/main" prst="rect">
            <a:avLst/>
          </a:prstGeom>
        </p:spPr>
      </p:pic>
      <p:sp>
        <p:nvSpPr>
          <p:cNvPr id="76" name="Text 63">
            <a:extLst xmlns:a="http://schemas.openxmlformats.org/drawingml/2006/main">
              <a:ext uri="{FF2B5EF4-FFF2-40B4-BE49-F238E27FC236}">
                <a16:creationId xmlns:a16="http://schemas.microsoft.com/office/drawing/2014/main" id="{F3CA96AC-D268-46B6-A629-6A219C7F9B0C}"/>
              </a:ext>
            </a:extLst>
          </p:cNvPr>
          <p:cNvSpPr>
            <a:spLocks xmlns:a="http://schemas.openxmlformats.org/drawingml/2006/main" noGrp="1"/>
          </p:cNvSpPr>
          <p:nvPr/>
        </p:nvSpPr>
        <p:spPr>
          <a:xfrm xmlns:a="http://schemas.openxmlformats.org/drawingml/2006/main">
            <a:off x="3639312"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b="1">
                <a:solidFill>
                  <a:srgbClr val="0E315C"/>
                </a:solidFill>
                <a:latin typeface="Open Sans"/>
                <a:ea typeface="Open Sans"/>
                <a:cs typeface="Open Sans"/>
              </a:rPr>
              <a:t>Time to decision</a:t>
            </a:r>
            <a:endParaRPr sz="920">
              <a:latin typeface="Open Sans"/>
              <a:ea typeface="Open Sans"/>
              <a:cs typeface="Open Sans"/>
            </a:endParaRPr>
          </a:p>
        </p:txBody>
      </p:sp>
      <p:sp>
        <p:nvSpPr>
          <p:cNvPr id="77" name="Text 64">
            <a:extLst xmlns:a="http://schemas.openxmlformats.org/drawingml/2006/main">
              <a:ext uri="{FF2B5EF4-FFF2-40B4-BE49-F238E27FC236}">
                <a16:creationId xmlns:a16="http://schemas.microsoft.com/office/drawing/2014/main" id="{F1D1A5DA-86F7-4F51-9591-F5E83059AB63}"/>
              </a:ext>
            </a:extLst>
          </p:cNvPr>
          <p:cNvSpPr>
            <a:spLocks xmlns:a="http://schemas.openxmlformats.org/drawingml/2006/main" noGrp="1"/>
          </p:cNvSpPr>
          <p:nvPr/>
        </p:nvSpPr>
        <p:spPr>
          <a:xfrm xmlns:a="http://schemas.openxmlformats.org/drawingml/2006/main">
            <a:off x="3429000" y="5467350"/>
            <a:ext cx="2459736"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5 days to 1</a:t>
            </a:r>
            <a:endParaRPr sz="2700">
              <a:latin typeface="Open Sans"/>
              <a:ea typeface="Open Sans"/>
              <a:cs typeface="Open Sans"/>
            </a:endParaRPr>
          </a:p>
        </p:txBody>
      </p:sp>
      <p:sp>
        <p:nvSpPr>
          <p:cNvPr id="78" name="Text 65">
            <a:extLst xmlns:a="http://schemas.openxmlformats.org/drawingml/2006/main">
              <a:ext uri="{FF2B5EF4-FFF2-40B4-BE49-F238E27FC236}">
                <a16:creationId xmlns:a16="http://schemas.microsoft.com/office/drawing/2014/main" id="{77B3DC24-A207-469D-96D8-ACEC1FEE2672}"/>
              </a:ext>
            </a:extLst>
          </p:cNvPr>
          <p:cNvSpPr>
            <a:spLocks xmlns:a="http://schemas.openxmlformats.org/drawingml/2006/main" noGrp="1"/>
          </p:cNvSpPr>
          <p:nvPr/>
        </p:nvSpPr>
        <p:spPr>
          <a:xfrm xmlns:a="http://schemas.openxmlformats.org/drawingml/2006/main">
            <a:off x="3429000" y="589597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60">
                <a:solidFill>
                  <a:srgbClr val="000000">
                    <a:alpha val="76000"/>
                  </a:srgbClr>
                </a:solidFill>
                <a:latin typeface="Open Sans"/>
                <a:ea typeface="Open Sans"/>
                <a:cs typeface="Open Sans"/>
              </a:rPr>
              <a:t>from detection to an actionable, evidence-backed decision</a:t>
            </a:r>
            <a:endParaRPr sz="860">
              <a:latin typeface="Open Sans"/>
              <a:ea typeface="Open Sans"/>
              <a:cs typeface="Open Sans"/>
            </a:endParaRPr>
          </a:p>
        </p:txBody>
      </p:sp>
      <p:sp>
        <p:nvSpPr>
          <p:cNvPr id="79" name="Shape 66">
            <a:extLst xmlns:a="http://schemas.openxmlformats.org/drawingml/2006/main">
              <a:ext uri="{FF2B5EF4-FFF2-40B4-BE49-F238E27FC236}">
                <a16:creationId xmlns:a16="http://schemas.microsoft.com/office/drawing/2014/main" id="{7815523F-57CD-4CDB-BC67-C88F8E56A8E8}"/>
              </a:ext>
            </a:extLst>
          </p:cNvPr>
          <p:cNvSpPr>
            <a:spLocks xmlns:a="http://schemas.openxmlformats.org/drawingml/2006/main" noGrp="1"/>
          </p:cNvSpPr>
          <p:nvPr/>
        </p:nvSpPr>
        <p:spPr>
          <a:xfrm xmlns:a="http://schemas.openxmlformats.org/drawingml/2006/main">
            <a:off x="6181344"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76" name="Image 11"/>
          <p:cNvPicPr>
            <a:picLocks xmlns:a="http://schemas.openxmlformats.org/drawingml/2006/main" noChangeAspect="1"/>
          </p:cNvPicPr>
          <p:nvPr/>
        </p:nvPicPr>
        <p:blipFill>
          <a:blip xmlns:r="http://schemas.openxmlformats.org/officeDocument/2006/relationships" xmlns:a="http://schemas.openxmlformats.org/drawingml/2006/main" r:embed="R1b916bc3919a4374">
            <a:duotone>
              <a:srgbClr val="0071CF"/>
              <a:srgbClr val="0071CF"/>
            </a:duotone>
          </a:blip>
          <a:stretch xmlns:a="http://schemas.openxmlformats.org/drawingml/2006/main">
            <a:fillRect l="0" t="0" r="0" b="0"/>
          </a:stretch>
        </p:blipFill>
        <p:spPr>
          <a:xfrm xmlns:a="http://schemas.openxmlformats.org/drawingml/2006/main">
            <a:off x="6291072" y="5212080"/>
            <a:ext cx="164592" cy="164592"/>
          </a:xfrm>
          <a:prstGeom xmlns:a="http://schemas.openxmlformats.org/drawingml/2006/main" prst="rect">
            <a:avLst/>
          </a:prstGeom>
        </p:spPr>
      </p:pic>
      <p:sp>
        <p:nvSpPr>
          <p:cNvPr id="81" name="Text 67">
            <a:extLst xmlns:a="http://schemas.openxmlformats.org/drawingml/2006/main">
              <a:ext uri="{FF2B5EF4-FFF2-40B4-BE49-F238E27FC236}">
                <a16:creationId xmlns:a16="http://schemas.microsoft.com/office/drawing/2014/main" id="{9396D16A-A3CE-4007-8D37-A7AB451C0959}"/>
              </a:ext>
            </a:extLst>
          </p:cNvPr>
          <p:cNvSpPr>
            <a:spLocks xmlns:a="http://schemas.openxmlformats.org/drawingml/2006/main" noGrp="1"/>
          </p:cNvSpPr>
          <p:nvPr/>
        </p:nvSpPr>
        <p:spPr>
          <a:xfrm xmlns:a="http://schemas.openxmlformats.org/drawingml/2006/main">
            <a:off x="6501384"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b="1">
                <a:solidFill>
                  <a:srgbClr val="0E315C"/>
                </a:solidFill>
                <a:latin typeface="Open Sans"/>
                <a:ea typeface="Open Sans"/>
                <a:cs typeface="Open Sans"/>
              </a:rPr>
              <a:t>Commitment reliability</a:t>
            </a:r>
            <a:endParaRPr sz="920">
              <a:latin typeface="Open Sans"/>
              <a:ea typeface="Open Sans"/>
              <a:cs typeface="Open Sans"/>
            </a:endParaRPr>
          </a:p>
        </p:txBody>
      </p:sp>
      <p:sp>
        <p:nvSpPr>
          <p:cNvPr id="82" name="Text 68">
            <a:extLst xmlns:a="http://schemas.openxmlformats.org/drawingml/2006/main">
              <a:ext uri="{FF2B5EF4-FFF2-40B4-BE49-F238E27FC236}">
                <a16:creationId xmlns:a16="http://schemas.microsoft.com/office/drawing/2014/main" id="{C351D7CE-00E7-462B-BB05-6207B2DBD78F}"/>
              </a:ext>
            </a:extLst>
          </p:cNvPr>
          <p:cNvSpPr>
            <a:spLocks xmlns:a="http://schemas.openxmlformats.org/drawingml/2006/main" noGrp="1"/>
          </p:cNvSpPr>
          <p:nvPr/>
        </p:nvSpPr>
        <p:spPr>
          <a:xfrm xmlns:a="http://schemas.openxmlformats.org/drawingml/2006/main">
            <a:off x="6291072" y="5467350"/>
            <a:ext cx="2459736"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$25M</a:t>
            </a:r>
            <a:endParaRPr sz="2700">
              <a:latin typeface="Open Sans"/>
              <a:ea typeface="Open Sans"/>
              <a:cs typeface="Open Sans"/>
            </a:endParaRPr>
          </a:p>
        </p:txBody>
      </p:sp>
      <p:sp>
        <p:nvSpPr>
          <p:cNvPr id="83" name="Text 69">
            <a:extLst xmlns:a="http://schemas.openxmlformats.org/drawingml/2006/main">
              <a:ext uri="{FF2B5EF4-FFF2-40B4-BE49-F238E27FC236}">
                <a16:creationId xmlns:a16="http://schemas.microsoft.com/office/drawing/2014/main" id="{AAFE37F3-A045-4EBB-9684-0ECAE22B92E5}"/>
              </a:ext>
            </a:extLst>
          </p:cNvPr>
          <p:cNvSpPr>
            <a:spLocks xmlns:a="http://schemas.openxmlformats.org/drawingml/2006/main" noGrp="1"/>
          </p:cNvSpPr>
          <p:nvPr/>
        </p:nvSpPr>
        <p:spPr>
          <a:xfrm xmlns:a="http://schemas.openxmlformats.org/drawingml/2006/main">
            <a:off x="6291072" y="589597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60">
                <a:solidFill>
                  <a:srgbClr val="000000">
                    <a:alpha val="76000"/>
                  </a:srgbClr>
                </a:solidFill>
                <a:latin typeface="Open Sans"/>
                <a:ea typeface="Open Sans"/>
                <a:cs typeface="Open Sans"/>
              </a:rPr>
              <a:t>of shipment value per year moved out of commitment risk</a:t>
            </a:r>
            <a:endParaRPr sz="860">
              <a:latin typeface="Open Sans"/>
              <a:ea typeface="Open Sans"/>
              <a:cs typeface="Open Sans"/>
            </a:endParaRPr>
          </a:p>
        </p:txBody>
      </p:sp>
      <p:sp>
        <p:nvSpPr>
          <p:cNvPr id="84" name="Shape 70">
            <a:extLst xmlns:a="http://schemas.openxmlformats.org/drawingml/2006/main">
              <a:ext uri="{FF2B5EF4-FFF2-40B4-BE49-F238E27FC236}">
                <a16:creationId xmlns:a16="http://schemas.microsoft.com/office/drawing/2014/main" id="{D34210CE-5CA1-48EF-B333-9FC13AE19F47}"/>
              </a:ext>
            </a:extLst>
          </p:cNvPr>
          <p:cNvSpPr>
            <a:spLocks xmlns:a="http://schemas.openxmlformats.org/drawingml/2006/main" noGrp="1"/>
          </p:cNvSpPr>
          <p:nvPr/>
        </p:nvSpPr>
        <p:spPr>
          <a:xfrm xmlns:a="http://schemas.openxmlformats.org/drawingml/2006/main">
            <a:off x="9043416" y="5120640"/>
            <a:ext cx="2679192" cy="1024128"/>
          </a:xfrm>
          <a:prstGeom xmlns:a="http://schemas.openxmlformats.org/drawingml/2006/main" prst="roundRect">
            <a:avLst>
              <a:gd name="adj" fmla="val 714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181" name="Image 12"/>
          <p:cNvPicPr>
            <a:picLocks xmlns:a="http://schemas.openxmlformats.org/drawingml/2006/main" noChangeAspect="1"/>
          </p:cNvPicPr>
          <p:nvPr/>
        </p:nvPicPr>
        <p:blipFill>
          <a:blip xmlns:r="http://schemas.openxmlformats.org/officeDocument/2006/relationships" xmlns:a="http://schemas.openxmlformats.org/drawingml/2006/main" r:embed="R2c4098d2ef174ba1">
            <a:duotone>
              <a:srgbClr val="0071CF"/>
              <a:srgbClr val="0071CF"/>
            </a:duotone>
          </a:blip>
          <a:stretch xmlns:a="http://schemas.openxmlformats.org/drawingml/2006/main">
            <a:fillRect l="0" t="0" r="0" b="0"/>
          </a:stretch>
        </p:blipFill>
        <p:spPr>
          <a:xfrm xmlns:a="http://schemas.openxmlformats.org/drawingml/2006/main">
            <a:off x="9153144" y="5212080"/>
            <a:ext cx="164592" cy="164592"/>
          </a:xfrm>
          <a:prstGeom xmlns:a="http://schemas.openxmlformats.org/drawingml/2006/main" prst="rect">
            <a:avLst/>
          </a:prstGeom>
        </p:spPr>
      </p:pic>
      <p:sp>
        <p:nvSpPr>
          <p:cNvPr id="86" name="Text 71">
            <a:extLst xmlns:a="http://schemas.openxmlformats.org/drawingml/2006/main">
              <a:ext uri="{FF2B5EF4-FFF2-40B4-BE49-F238E27FC236}">
                <a16:creationId xmlns:a16="http://schemas.microsoft.com/office/drawing/2014/main" id="{0BD92841-B226-4709-B364-031FEC591848}"/>
              </a:ext>
            </a:extLst>
          </p:cNvPr>
          <p:cNvSpPr>
            <a:spLocks xmlns:a="http://schemas.openxmlformats.org/drawingml/2006/main" noGrp="1"/>
          </p:cNvSpPr>
          <p:nvPr/>
        </p:nvSpPr>
        <p:spPr>
          <a:xfrm xmlns:a="http://schemas.openxmlformats.org/drawingml/2006/main">
            <a:off x="9363456" y="5193792"/>
            <a:ext cx="226771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20" b="1">
                <a:solidFill>
                  <a:srgbClr val="0E315C"/>
                </a:solidFill>
                <a:latin typeface="Open Sans"/>
                <a:ea typeface="Open Sans"/>
                <a:cs typeface="Open Sans"/>
              </a:rPr>
              <a:t>Working capital</a:t>
            </a:r>
            <a:endParaRPr sz="920">
              <a:latin typeface="Open Sans"/>
              <a:ea typeface="Open Sans"/>
              <a:cs typeface="Open Sans"/>
            </a:endParaRPr>
          </a:p>
        </p:txBody>
      </p:sp>
      <p:sp>
        <p:nvSpPr>
          <p:cNvPr id="87" name="Text 72">
            <a:extLst xmlns:a="http://schemas.openxmlformats.org/drawingml/2006/main">
              <a:ext uri="{FF2B5EF4-FFF2-40B4-BE49-F238E27FC236}">
                <a16:creationId xmlns:a16="http://schemas.microsoft.com/office/drawing/2014/main" id="{C2EC8D2C-6898-4973-89DD-9CBE1FCA7CC4}"/>
              </a:ext>
            </a:extLst>
          </p:cNvPr>
          <p:cNvSpPr>
            <a:spLocks xmlns:a="http://schemas.openxmlformats.org/drawingml/2006/main" noGrp="1"/>
          </p:cNvSpPr>
          <p:nvPr/>
        </p:nvSpPr>
        <p:spPr>
          <a:xfrm xmlns:a="http://schemas.openxmlformats.org/drawingml/2006/main">
            <a:off x="9153144" y="5467350"/>
            <a:ext cx="2459736" cy="46672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700" b="0">
                <a:solidFill>
                  <a:srgbClr val="0071CF"/>
                </a:solidFill>
                <a:latin typeface="Open Sans"/>
                <a:ea typeface="Open Sans"/>
                <a:cs typeface="Open Sans"/>
              </a:rPr>
              <a:t>$4.1M</a:t>
            </a:r>
            <a:endParaRPr sz="2700">
              <a:latin typeface="Open Sans"/>
              <a:ea typeface="Open Sans"/>
              <a:cs typeface="Open Sans"/>
            </a:endParaRPr>
          </a:p>
        </p:txBody>
      </p:sp>
      <p:sp>
        <p:nvSpPr>
          <p:cNvPr id="88" name="Text 73">
            <a:extLst xmlns:a="http://schemas.openxmlformats.org/drawingml/2006/main">
              <a:ext uri="{FF2B5EF4-FFF2-40B4-BE49-F238E27FC236}">
                <a16:creationId xmlns:a16="http://schemas.microsoft.com/office/drawing/2014/main" id="{258FEE2D-98ED-4A8B-9419-FD5C0D152122}"/>
              </a:ext>
            </a:extLst>
          </p:cNvPr>
          <p:cNvSpPr>
            <a:spLocks xmlns:a="http://schemas.openxmlformats.org/drawingml/2006/main" noGrp="1"/>
          </p:cNvSpPr>
          <p:nvPr/>
        </p:nvSpPr>
        <p:spPr>
          <a:xfrm xmlns:a="http://schemas.openxmlformats.org/drawingml/2006/main">
            <a:off x="9153144" y="5895975"/>
            <a:ext cx="2459736"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60">
                <a:solidFill>
                  <a:srgbClr val="000000">
                    <a:alpha val="76000"/>
                  </a:srgbClr>
                </a:solidFill>
                <a:latin typeface="Open Sans"/>
                <a:ea typeface="Open Sans"/>
                <a:cs typeface="Open Sans"/>
              </a:rPr>
              <a:t>released from 10 fewer days of inventory waiting on decisions</a:t>
            </a:r>
            <a:endParaRPr sz="860">
              <a:latin typeface="Open Sans"/>
              <a:ea typeface="Open Sans"/>
              <a:cs typeface="Open Sans"/>
            </a:endParaRPr>
          </a:p>
        </p:txBody>
      </p:sp>
      <p:sp>
        <p:nvSpPr>
          <p:cNvPr id="89" name="Text 74">
            <a:extLst xmlns:a="http://schemas.openxmlformats.org/drawingml/2006/main">
              <a:ext uri="{FF2B5EF4-FFF2-40B4-BE49-F238E27FC236}">
                <a16:creationId xmlns:a16="http://schemas.microsoft.com/office/drawing/2014/main" id="{0B35C7A1-C4BF-4780-8CC9-7F081206C4D7}"/>
              </a:ext>
            </a:extLst>
          </p:cNvPr>
          <p:cNvSpPr>
            <a:spLocks xmlns:a="http://schemas.openxmlformats.org/drawingml/2006/main" noGrp="1"/>
          </p:cNvSpPr>
          <p:nvPr/>
        </p:nvSpPr>
        <p:spPr>
          <a:xfrm xmlns:a="http://schemas.openxmlformats.org/drawingml/2006/main">
            <a:off x="457200" y="6353175"/>
            <a:ext cx="11277600"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800">
                <a:solidFill>
                  <a:srgbClr val="000000">
                    <a:alpha val="60000"/>
                  </a:srgbClr>
                </a:solidFill>
                <a:latin typeface="Open Sans"/>
                <a:ea typeface="Open Sans"/>
                <a:cs typeface="Open Sans"/>
              </a:rPr>
              <a:t>Demo data assumptions*: 7,500 wafers and 45 dies at $6K each; a $500M annual shipment run-rate; late commitments falling from 10% to 5%; $150M average inventory. To be validated in a pilot. Exposure removed from risk is not realized savings.</a:t>
            </a:r>
            <a:endParaRPr sz="800">
              <a:latin typeface="Open Sans"/>
              <a:ea typeface="Open Sans"/>
              <a:cs typeface="Open Sans"/>
            </a:endParaRPr>
          </a:p>
        </p:txBody>
      </p:sp>
      <p:sp>
        <p:nvSpPr>
          <p:cNvPr id="2" name="Text 2">
            <a:extLst xmlns:a="http://schemas.openxmlformats.org/drawingml/2006/main">
              <a:ext uri="{FF2B5EF4-FFF2-40B4-BE49-F238E27FC236}">
                <a16:creationId xmlns:a16="http://schemas.microsoft.com/office/drawing/2014/main" id="{6BB1D6E8-99F2-DCE7-E9F8-D215462B362E}"/>
              </a:ext>
            </a:extLst>
          </p:cNvPr>
          <p:cNvSpPr>
            <a:spLocks xmlns:a="http://schemas.openxmlformats.org/drawingml/2006/main" noGrp="1"/>
          </p:cNvSpPr>
          <p:nvPr/>
        </p:nvSpPr>
        <p:spPr>
          <a:xfrm xmlns:a="http://schemas.openxmlformats.org/drawingml/2006/main">
            <a:off x="457200" y="3110682"/>
            <a:ext cx="6469763"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1">
                <a:solidFill>
                  <a:srgbClr val="000000"/>
                </a:solidFill>
                <a:latin typeface="Open Sans"/>
                <a:ea typeface="Open Sans"/>
                <a:cs typeface="Open Sans"/>
              </a:rPr>
              <a:t>Demo use cases:</a:t>
            </a:r>
            <a:endParaRPr sz="950">
              <a:latin typeface="Open Sans"/>
              <a:ea typeface="Open Sans"/>
              <a:cs typeface="Open Sans"/>
            </a:endParaRPr>
          </a:p>
        </p:txBody>
      </p:sp>
      <p:sp>
        <p:nvSpPr>
          <p:cNvPr id="103" name="brand-rule-11">
            <a:extLst xmlns:a="http://schemas.openxmlformats.org/drawingml/2006/main">
              <a:ext uri="{FF2B5EF4-FFF2-40B4-BE49-F238E27FC236}">
                <a16:creationId xmlns:a16="http://schemas.microsoft.com/office/drawing/2014/main" id="{76A887A7-90B7-4EB3-9B2B-D7B98F2FB2BE}"/>
              </a:ext>
            </a:extLst>
          </p:cNvPr>
          <p:cNvSpPr>
            <a:spLocks xmlns:a="http://schemas.openxmlformats.org/drawingml/2006/main" noGrp="1"/>
          </p:cNvSpPr>
          <p:nvPr/>
        </p:nvSpPr>
        <p:spPr>
          <a:xfrm xmlns:a="http://schemas.openxmlformats.org/drawingml/2006/main">
            <a:off x="603885" y="3295650"/>
            <a:ext cx="345662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04" name="brand-rule-12">
            <a:extLst xmlns:a="http://schemas.openxmlformats.org/drawingml/2006/main">
              <a:ext uri="{FF2B5EF4-FFF2-40B4-BE49-F238E27FC236}">
                <a16:creationId xmlns:a16="http://schemas.microsoft.com/office/drawing/2014/main" id="{5BEF526F-48D4-496A-8CFE-FA55A4F0A0F0}"/>
              </a:ext>
            </a:extLst>
          </p:cNvPr>
          <p:cNvSpPr>
            <a:spLocks xmlns:a="http://schemas.openxmlformats.org/drawingml/2006/main" noGrp="1"/>
          </p:cNvSpPr>
          <p:nvPr/>
        </p:nvSpPr>
        <p:spPr>
          <a:xfrm xmlns:a="http://schemas.openxmlformats.org/drawingml/2006/main">
            <a:off x="4364355" y="3295650"/>
            <a:ext cx="345662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05" name="brand-rule-13">
            <a:extLst xmlns:a="http://schemas.openxmlformats.org/drawingml/2006/main">
              <a:ext uri="{FF2B5EF4-FFF2-40B4-BE49-F238E27FC236}">
                <a16:creationId xmlns:a16="http://schemas.microsoft.com/office/drawing/2014/main" id="{B42DCC6B-0CB7-42A1-B17D-D4EBF2F250CA}"/>
              </a:ext>
            </a:extLst>
          </p:cNvPr>
          <p:cNvSpPr>
            <a:spLocks xmlns:a="http://schemas.openxmlformats.org/drawingml/2006/main" noGrp="1"/>
          </p:cNvSpPr>
          <p:nvPr/>
        </p:nvSpPr>
        <p:spPr>
          <a:xfrm xmlns:a="http://schemas.openxmlformats.org/drawingml/2006/main">
            <a:off x="8186738" y="3295650"/>
            <a:ext cx="3456623" cy="0"/>
          </a:xfrm>
          <a:prstGeom xmlns:a="http://schemas.openxmlformats.org/drawingml/2006/main" prst="line">
            <a:avLst/>
          </a:prstGeom>
          <a:noFill xmlns:a="http://schemas.openxmlformats.org/drawingml/2006/main"/>
          <a:ln xmlns:a="http://schemas.openxmlformats.org/drawingml/2006/main" w="6668">
            <a:solidFill>
              <a:srgbClr val="C5BFEE"/>
            </a:solidFill>
            <a:prstDash val="solid"/>
          </a:ln>
        </p:spPr>
      </p:sp>
      <p:sp>
        <p:nvSpPr>
          <p:cNvPr id="106" name="brand-rule-14">
            <a:extLst xmlns:a="http://schemas.openxmlformats.org/drawingml/2006/main">
              <a:ext uri="{FF2B5EF4-FFF2-40B4-BE49-F238E27FC236}">
                <a16:creationId xmlns:a16="http://schemas.microsoft.com/office/drawing/2014/main" id="{A79B7D0A-0FDA-42E0-BDCC-50E8A49318DC}"/>
              </a:ext>
            </a:extLst>
          </p:cNvPr>
          <p:cNvSpPr>
            <a:spLocks xmlns:a="http://schemas.openxmlformats.org/drawingml/2006/main" noGrp="1"/>
          </p:cNvSpPr>
          <p:nvPr/>
        </p:nvSpPr>
        <p:spPr>
          <a:xfrm xmlns:a="http://schemas.openxmlformats.org/drawingml/2006/main">
            <a:off x="457200" y="5124450"/>
            <a:ext cx="26793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07" name="brand-rule-15">
            <a:extLst xmlns:a="http://schemas.openxmlformats.org/drawingml/2006/main">
              <a:ext uri="{FF2B5EF4-FFF2-40B4-BE49-F238E27FC236}">
                <a16:creationId xmlns:a16="http://schemas.microsoft.com/office/drawing/2014/main" id="{BA1EE038-E39A-4071-9ED1-88CC6EC01E38}"/>
              </a:ext>
            </a:extLst>
          </p:cNvPr>
          <p:cNvSpPr>
            <a:spLocks xmlns:a="http://schemas.openxmlformats.org/drawingml/2006/main" noGrp="1"/>
          </p:cNvSpPr>
          <p:nvPr/>
        </p:nvSpPr>
        <p:spPr>
          <a:xfrm xmlns:a="http://schemas.openxmlformats.org/drawingml/2006/main">
            <a:off x="3319463" y="5124450"/>
            <a:ext cx="26793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08" name="brand-rule-16">
            <a:extLst xmlns:a="http://schemas.openxmlformats.org/drawingml/2006/main">
              <a:ext uri="{FF2B5EF4-FFF2-40B4-BE49-F238E27FC236}">
                <a16:creationId xmlns:a16="http://schemas.microsoft.com/office/drawing/2014/main" id="{7A85F8C8-8294-48EA-9090-053ACD199C76}"/>
              </a:ext>
            </a:extLst>
          </p:cNvPr>
          <p:cNvSpPr>
            <a:spLocks xmlns:a="http://schemas.openxmlformats.org/drawingml/2006/main" noGrp="1"/>
          </p:cNvSpPr>
          <p:nvPr/>
        </p:nvSpPr>
        <p:spPr>
          <a:xfrm xmlns:a="http://schemas.openxmlformats.org/drawingml/2006/main">
            <a:off x="6181725" y="5124450"/>
            <a:ext cx="26793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
        <p:nvSpPr>
          <p:cNvPr id="109" name="brand-rule-17">
            <a:extLst xmlns:a="http://schemas.openxmlformats.org/drawingml/2006/main">
              <a:ext uri="{FF2B5EF4-FFF2-40B4-BE49-F238E27FC236}">
                <a16:creationId xmlns:a16="http://schemas.microsoft.com/office/drawing/2014/main" id="{DAA6E70A-C71A-428C-9D76-4EAF0FBFEA64}"/>
              </a:ext>
            </a:extLst>
          </p:cNvPr>
          <p:cNvSpPr>
            <a:spLocks xmlns:a="http://schemas.openxmlformats.org/drawingml/2006/main" noGrp="1"/>
          </p:cNvSpPr>
          <p:nvPr/>
        </p:nvSpPr>
        <p:spPr>
          <a:xfrm xmlns:a="http://schemas.openxmlformats.org/drawingml/2006/main">
            <a:off x="9043035" y="5124450"/>
            <a:ext cx="2679383" cy="0"/>
          </a:xfrm>
          <a:prstGeom xmlns:a="http://schemas.openxmlformats.org/drawingml/2006/main" prst="line">
            <a:avLst/>
          </a:prstGeom>
          <a:noFill xmlns:a="http://schemas.openxmlformats.org/drawingml/2006/main"/>
          <a:ln xmlns:a="http://schemas.openxmlformats.org/drawingml/2006/main" w="6668">
            <a:solidFill>
              <a:srgbClr val="86DAFF"/>
            </a:solidFill>
            <a:prstDash val="solid"/>
          </a:ln>
        </p:spPr>
      </p:sp>
    </p:spTree>
    <p:extLst>
      <p:ext uri="{BB962C8B-B14F-4D97-AF65-F5344CB8AC3E}">
        <p14:creationId xmlns:p14="http://schemas.microsoft.com/office/powerpoint/2010/main" val="349451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4428B6-7FE0-4682-A953-3A329A82311E}"/>
              </a:ext>
            </a:extLst>
          </p:cNvPr>
          <p:cNvSpPr>
            <a:spLocks xmlns:a="http://schemas.openxmlformats.org/drawingml/2006/main" noGrp="1"/>
          </p:cNvSpPr>
          <p:nvPr/>
        </p:nvSpPr>
        <p:spPr>
          <a:xfrm xmlns:a="http://schemas.openxmlformats.org/drawingml/2006/main">
            <a:off x="457200" y="292608"/>
            <a:ext cx="11277295"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0">
                <a:solidFill>
                  <a:srgbClr val="0071CF"/>
                </a:solidFill>
                <a:latin typeface="Open Sans"/>
                <a:ea typeface="Open Sans"/>
                <a:cs typeface="Open Sans"/>
              </a:rPr>
              <a:t>Assumptions, design decisions, product judgments, and governance</a:t>
            </a:r>
            <a:endParaRPr sz="950">
              <a:latin typeface="Open Sans"/>
              <a:ea typeface="Open Sans"/>
              <a:cs typeface="Open Sans"/>
            </a:endParaRPr>
          </a:p>
        </p:txBody>
      </p:sp>
      <p:sp>
        <p:nvSpPr>
          <p:cNvPr id="3" name="Text 1">
            <a:extLst xmlns:a="http://schemas.openxmlformats.org/drawingml/2006/main">
              <a:ext uri="{FF2B5EF4-FFF2-40B4-BE49-F238E27FC236}">
                <a16:creationId xmlns:a16="http://schemas.microsoft.com/office/drawing/2014/main" id="{5B331294-3822-422E-B53F-F471D0720D03}"/>
              </a:ext>
            </a:extLst>
          </p:cNvPr>
          <p:cNvSpPr>
            <a:spLocks xmlns:a="http://schemas.openxmlformats.org/drawingml/2006/main" noGrp="1"/>
          </p:cNvSpPr>
          <p:nvPr/>
        </p:nvSpPr>
        <p:spPr>
          <a:xfrm xmlns:a="http://schemas.openxmlformats.org/drawingml/2006/main">
            <a:off x="457200" y="514350"/>
            <a:ext cx="112776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500" b="0">
                <a:solidFill>
                  <a:srgbClr val="000000"/>
                </a:solidFill>
                <a:latin typeface="Open Sans"/>
                <a:ea typeface="Open Sans"/>
                <a:cs typeface="Open Sans"/>
              </a:rPr>
              <a:t>Eight enterprise design decisions behind the control plane</a:t>
            </a:r>
            <a:endParaRPr sz="2500">
              <a:latin typeface="Open Sans"/>
              <a:ea typeface="Open Sans"/>
              <a:cs typeface="Open Sans"/>
            </a:endParaRPr>
          </a:p>
        </p:txBody>
      </p:sp>
      <p:sp>
        <p:nvSpPr>
          <p:cNvPr id="4" name="Text 2">
            <a:extLst xmlns:a="http://schemas.openxmlformats.org/drawingml/2006/main">
              <a:ext uri="{FF2B5EF4-FFF2-40B4-BE49-F238E27FC236}">
                <a16:creationId xmlns:a16="http://schemas.microsoft.com/office/drawing/2014/main" id="{0240E744-F779-4B08-A628-F904368BB517}"/>
              </a:ext>
            </a:extLst>
          </p:cNvPr>
          <p:cNvSpPr>
            <a:spLocks xmlns:a="http://schemas.openxmlformats.org/drawingml/2006/main" noGrp="1"/>
          </p:cNvSpPr>
          <p:nvPr/>
        </p:nvSpPr>
        <p:spPr>
          <a:xfrm xmlns:a="http://schemas.openxmlformats.org/drawingml/2006/main">
            <a:off x="457200" y="1188720"/>
            <a:ext cx="3200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0">
                <a:solidFill>
                  <a:srgbClr val="0071CF"/>
                </a:solidFill>
                <a:latin typeface="Open Sans"/>
                <a:ea typeface="Open Sans"/>
                <a:cs typeface="Open Sans"/>
              </a:rPr>
              <a:t>Category</a:t>
            </a:r>
            <a:endParaRPr sz="950">
              <a:latin typeface="Open Sans"/>
              <a:ea typeface="Open Sans"/>
              <a:cs typeface="Open Sans"/>
            </a:endParaRPr>
          </a:p>
        </p:txBody>
      </p:sp>
      <p:sp>
        <p:nvSpPr>
          <p:cNvPr id="5" name="Text 3">
            <a:extLst xmlns:a="http://schemas.openxmlformats.org/drawingml/2006/main">
              <a:ext uri="{FF2B5EF4-FFF2-40B4-BE49-F238E27FC236}">
                <a16:creationId xmlns:a16="http://schemas.microsoft.com/office/drawing/2014/main" id="{6D7B3529-BB16-4550-9935-3669F1924C8E}"/>
              </a:ext>
            </a:extLst>
          </p:cNvPr>
          <p:cNvSpPr>
            <a:spLocks xmlns:a="http://schemas.openxmlformats.org/drawingml/2006/main" noGrp="1"/>
          </p:cNvSpPr>
          <p:nvPr/>
        </p:nvSpPr>
        <p:spPr>
          <a:xfrm xmlns:a="http://schemas.openxmlformats.org/drawingml/2006/main">
            <a:off x="4023360" y="1188720"/>
            <a:ext cx="5486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0">
                <a:solidFill>
                  <a:srgbClr val="0071CF"/>
                </a:solidFill>
                <a:latin typeface="Open Sans"/>
                <a:ea typeface="Open Sans"/>
                <a:cs typeface="Open Sans"/>
              </a:rPr>
              <a:t>Enterprise design decision</a:t>
            </a:r>
            <a:endParaRPr sz="950">
              <a:latin typeface="Open Sans"/>
              <a:ea typeface="Open Sans"/>
              <a:cs typeface="Open Sans"/>
            </a:endParaRPr>
          </a:p>
        </p:txBody>
      </p:sp>
      <p:sp>
        <p:nvSpPr>
          <p:cNvPr id="6" name="Shape 4">
            <a:extLst xmlns:a="http://schemas.openxmlformats.org/drawingml/2006/main">
              <a:ext uri="{FF2B5EF4-FFF2-40B4-BE49-F238E27FC236}">
                <a16:creationId xmlns:a16="http://schemas.microsoft.com/office/drawing/2014/main" id="{39FE7917-F39C-4DD2-A079-7C0F2846F1AA}"/>
              </a:ext>
            </a:extLst>
          </p:cNvPr>
          <p:cNvSpPr>
            <a:spLocks xmlns:a="http://schemas.openxmlformats.org/drawingml/2006/main" noGrp="1"/>
          </p:cNvSpPr>
          <p:nvPr/>
        </p:nvSpPr>
        <p:spPr>
          <a:xfrm xmlns:a="http://schemas.openxmlformats.org/drawingml/2006/main">
            <a:off x="457200" y="1408176"/>
            <a:ext cx="11277295" cy="0"/>
          </a:xfrm>
          <a:prstGeom xmlns:a="http://schemas.openxmlformats.org/drawingml/2006/main" prst="line">
            <a:avLst/>
          </a:prstGeom>
          <a:noFill xmlns:a="http://schemas.openxmlformats.org/drawingml/2006/main"/>
          <a:ln xmlns:a="http://schemas.openxmlformats.org/drawingml/2006/main" w="9525">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7" name="Shape 5">
            <a:extLst xmlns:a="http://schemas.openxmlformats.org/drawingml/2006/main">
              <a:ext uri="{FF2B5EF4-FFF2-40B4-BE49-F238E27FC236}">
                <a16:creationId xmlns:a16="http://schemas.microsoft.com/office/drawing/2014/main" id="{EC20BA06-CCC7-41FB-87F4-F157256350E6}"/>
              </a:ext>
            </a:extLst>
          </p:cNvPr>
          <p:cNvSpPr>
            <a:spLocks xmlns:a="http://schemas.openxmlformats.org/drawingml/2006/main" noGrp="1"/>
          </p:cNvSpPr>
          <p:nvPr/>
        </p:nvSpPr>
        <p:spPr>
          <a:xfrm xmlns:a="http://schemas.openxmlformats.org/drawingml/2006/main">
            <a:off x="457200" y="155448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8" name="Text 6">
            <a:extLst xmlns:a="http://schemas.openxmlformats.org/drawingml/2006/main">
              <a:ext uri="{FF2B5EF4-FFF2-40B4-BE49-F238E27FC236}">
                <a16:creationId xmlns:a16="http://schemas.microsoft.com/office/drawing/2014/main" id="{C247E747-926D-47FE-A700-E0C39B4CBD5E}"/>
              </a:ext>
            </a:extLst>
          </p:cNvPr>
          <p:cNvSpPr>
            <a:spLocks xmlns:a="http://schemas.openxmlformats.org/drawingml/2006/main" noGrp="1"/>
          </p:cNvSpPr>
          <p:nvPr/>
        </p:nvSpPr>
        <p:spPr>
          <a:xfrm xmlns:a="http://schemas.openxmlformats.org/drawingml/2006/main">
            <a:off x="514350" y="155448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1</a:t>
            </a:r>
            <a:endParaRPr sz="1050">
              <a:latin typeface="Open Sans"/>
              <a:ea typeface="Open Sans"/>
              <a:cs typeface="Open Sans"/>
            </a:endParaR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32739a7e75d433d">
            <a:duotone>
              <a:srgbClr val="0071CF"/>
              <a:srgbClr val="0071CF"/>
            </a:duotone>
          </a:blip>
          <a:stretch xmlns:a="http://schemas.openxmlformats.org/drawingml/2006/main">
            <a:fillRect l="0" t="0" r="0" b="0"/>
          </a:stretch>
        </p:blipFill>
        <p:spPr>
          <a:xfrm xmlns:a="http://schemas.openxmlformats.org/drawingml/2006/main">
            <a:off x="841248" y="1545336"/>
            <a:ext cx="201168" cy="20116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8A2D625D-6F8B-496C-A683-AE8548F0B6A5}"/>
              </a:ext>
            </a:extLst>
          </p:cNvPr>
          <p:cNvSpPr>
            <a:spLocks xmlns:a="http://schemas.openxmlformats.org/drawingml/2006/main" noGrp="1"/>
          </p:cNvSpPr>
          <p:nvPr/>
        </p:nvSpPr>
        <p:spPr>
          <a:xfrm xmlns:a="http://schemas.openxmlformats.org/drawingml/2006/main">
            <a:off x="1133856" y="152704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Agent Architecture &amp; Orchestration</a:t>
            </a:r>
            <a:endParaRPr sz="1050">
              <a:latin typeface="Open Sans"/>
              <a:ea typeface="Open Sans"/>
              <a:cs typeface="Open Sans"/>
            </a:endParaRPr>
          </a:p>
        </p:txBody>
      </p:sp>
      <p:sp>
        <p:nvSpPr>
          <p:cNvPr id="11" name="Text 8">
            <a:extLst xmlns:a="http://schemas.openxmlformats.org/drawingml/2006/main">
              <a:ext uri="{FF2B5EF4-FFF2-40B4-BE49-F238E27FC236}">
                <a16:creationId xmlns:a16="http://schemas.microsoft.com/office/drawing/2014/main" id="{F5E35307-7A4F-4A51-B104-53E37E6A5700}"/>
              </a:ext>
            </a:extLst>
          </p:cNvPr>
          <p:cNvSpPr>
            <a:spLocks xmlns:a="http://schemas.openxmlformats.org/drawingml/2006/main" noGrp="1"/>
          </p:cNvSpPr>
          <p:nvPr/>
        </p:nvSpPr>
        <p:spPr>
          <a:xfrm xmlns:a="http://schemas.openxmlformats.org/drawingml/2006/main">
            <a:off x="4023360" y="152704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A central coordinator delegates to domain specialists that run in parallel. Specialization and concurrency without an uncontrolled swarm.</a:t>
            </a:r>
            <a:endParaRPr sz="1000">
              <a:latin typeface="Open Sans"/>
              <a:ea typeface="Open Sans"/>
              <a:cs typeface="Open Sans"/>
            </a:endParaRPr>
          </a:p>
        </p:txBody>
      </p:sp>
      <p:sp>
        <p:nvSpPr>
          <p:cNvPr id="12" name="Shape 9">
            <a:extLst xmlns:a="http://schemas.openxmlformats.org/drawingml/2006/main">
              <a:ext uri="{FF2B5EF4-FFF2-40B4-BE49-F238E27FC236}">
                <a16:creationId xmlns:a16="http://schemas.microsoft.com/office/drawing/2014/main" id="{D17076A4-3210-42F7-8766-D50812A2DC8E}"/>
              </a:ext>
            </a:extLst>
          </p:cNvPr>
          <p:cNvSpPr>
            <a:spLocks xmlns:a="http://schemas.openxmlformats.org/drawingml/2006/main" noGrp="1"/>
          </p:cNvSpPr>
          <p:nvPr/>
        </p:nvSpPr>
        <p:spPr>
          <a:xfrm xmlns:a="http://schemas.openxmlformats.org/drawingml/2006/main">
            <a:off x="457200" y="210312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13" name="Shape 10">
            <a:extLst xmlns:a="http://schemas.openxmlformats.org/drawingml/2006/main">
              <a:ext uri="{FF2B5EF4-FFF2-40B4-BE49-F238E27FC236}">
                <a16:creationId xmlns:a16="http://schemas.microsoft.com/office/drawing/2014/main" id="{82EDE3B0-7481-4C11-9908-E01B13DD5C28}"/>
              </a:ext>
            </a:extLst>
          </p:cNvPr>
          <p:cNvSpPr>
            <a:spLocks xmlns:a="http://schemas.openxmlformats.org/drawingml/2006/main" noGrp="1"/>
          </p:cNvSpPr>
          <p:nvPr/>
        </p:nvSpPr>
        <p:spPr>
          <a:xfrm xmlns:a="http://schemas.openxmlformats.org/drawingml/2006/main">
            <a:off x="457200" y="219456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14" name="Text 11">
            <a:extLst xmlns:a="http://schemas.openxmlformats.org/drawingml/2006/main">
              <a:ext uri="{FF2B5EF4-FFF2-40B4-BE49-F238E27FC236}">
                <a16:creationId xmlns:a16="http://schemas.microsoft.com/office/drawing/2014/main" id="{5429095B-97CF-4E69-8CA2-D33E20C756BA}"/>
              </a:ext>
            </a:extLst>
          </p:cNvPr>
          <p:cNvSpPr>
            <a:spLocks xmlns:a="http://schemas.openxmlformats.org/drawingml/2006/main" noGrp="1"/>
          </p:cNvSpPr>
          <p:nvPr/>
        </p:nvSpPr>
        <p:spPr>
          <a:xfrm xmlns:a="http://schemas.openxmlformats.org/drawingml/2006/main">
            <a:off x="514350" y="219456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2</a:t>
            </a:r>
            <a:endParaRPr sz="1050">
              <a:latin typeface="Open Sans"/>
              <a:ea typeface="Open Sans"/>
              <a:cs typeface="Open Sans"/>
            </a:endParaR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1145b436ce9e4e60">
            <a:duotone>
              <a:srgbClr val="0071CF"/>
              <a:srgbClr val="0071CF"/>
            </a:duotone>
          </a:blip>
          <a:stretch xmlns:a="http://schemas.openxmlformats.org/drawingml/2006/main">
            <a:fillRect l="0" t="0" r="0" b="0"/>
          </a:stretch>
        </p:blipFill>
        <p:spPr>
          <a:xfrm xmlns:a="http://schemas.openxmlformats.org/drawingml/2006/main">
            <a:off x="841248" y="2185416"/>
            <a:ext cx="201168" cy="20116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A600F26D-A091-4360-AC1A-6B2F29876A88}"/>
              </a:ext>
            </a:extLst>
          </p:cNvPr>
          <p:cNvSpPr>
            <a:spLocks xmlns:a="http://schemas.openxmlformats.org/drawingml/2006/main" noGrp="1"/>
          </p:cNvSpPr>
          <p:nvPr/>
        </p:nvSpPr>
        <p:spPr>
          <a:xfrm xmlns:a="http://schemas.openxmlformats.org/drawingml/2006/main">
            <a:off x="1133856" y="216712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Grounding &amp; Enterprise Knowledge</a:t>
            </a:r>
            <a:endParaRPr sz="1050">
              <a:latin typeface="Open Sans"/>
              <a:ea typeface="Open Sans"/>
              <a:cs typeface="Open Sans"/>
            </a:endParaRPr>
          </a:p>
        </p:txBody>
      </p:sp>
      <p:sp>
        <p:nvSpPr>
          <p:cNvPr id="17" name="Text 13">
            <a:extLst xmlns:a="http://schemas.openxmlformats.org/drawingml/2006/main">
              <a:ext uri="{FF2B5EF4-FFF2-40B4-BE49-F238E27FC236}">
                <a16:creationId xmlns:a16="http://schemas.microsoft.com/office/drawing/2014/main" id="{A47C9028-4278-4430-A193-83DE4D4055BF}"/>
              </a:ext>
            </a:extLst>
          </p:cNvPr>
          <p:cNvSpPr>
            <a:spLocks xmlns:a="http://schemas.openxmlformats.org/drawingml/2006/main" noGrp="1"/>
          </p:cNvSpPr>
          <p:nvPr/>
        </p:nvSpPr>
        <p:spPr>
          <a:xfrm xmlns:a="http://schemas.openxmlformats.org/drawingml/2006/main">
            <a:off x="4023360" y="216712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Live facts come from APIs and MCP; institutional knowledge comes from RAG with specialist retrieval profiles and exact-source verification. Stale documents never override current state.</a:t>
            </a:r>
            <a:endParaRPr sz="1000">
              <a:latin typeface="Open Sans"/>
              <a:ea typeface="Open Sans"/>
              <a:cs typeface="Open Sans"/>
            </a:endParaRPr>
          </a:p>
        </p:txBody>
      </p:sp>
      <p:sp>
        <p:nvSpPr>
          <p:cNvPr id="18" name="Shape 14">
            <a:extLst xmlns:a="http://schemas.openxmlformats.org/drawingml/2006/main">
              <a:ext uri="{FF2B5EF4-FFF2-40B4-BE49-F238E27FC236}">
                <a16:creationId xmlns:a16="http://schemas.microsoft.com/office/drawing/2014/main" id="{04378816-37FE-4CE0-955F-3B5D5F0BAECD}"/>
              </a:ext>
            </a:extLst>
          </p:cNvPr>
          <p:cNvSpPr>
            <a:spLocks xmlns:a="http://schemas.openxmlformats.org/drawingml/2006/main" noGrp="1"/>
          </p:cNvSpPr>
          <p:nvPr/>
        </p:nvSpPr>
        <p:spPr>
          <a:xfrm xmlns:a="http://schemas.openxmlformats.org/drawingml/2006/main">
            <a:off x="457200" y="274320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19" name="Shape 15">
            <a:extLst xmlns:a="http://schemas.openxmlformats.org/drawingml/2006/main">
              <a:ext uri="{FF2B5EF4-FFF2-40B4-BE49-F238E27FC236}">
                <a16:creationId xmlns:a16="http://schemas.microsoft.com/office/drawing/2014/main" id="{F578DA34-E2BE-4C38-83ED-B0ECCC13BD23}"/>
              </a:ext>
            </a:extLst>
          </p:cNvPr>
          <p:cNvSpPr>
            <a:spLocks xmlns:a="http://schemas.openxmlformats.org/drawingml/2006/main" noGrp="1"/>
          </p:cNvSpPr>
          <p:nvPr/>
        </p:nvSpPr>
        <p:spPr>
          <a:xfrm xmlns:a="http://schemas.openxmlformats.org/drawingml/2006/main">
            <a:off x="457200" y="283464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0" name="Text 16">
            <a:extLst xmlns:a="http://schemas.openxmlformats.org/drawingml/2006/main">
              <a:ext uri="{FF2B5EF4-FFF2-40B4-BE49-F238E27FC236}">
                <a16:creationId xmlns:a16="http://schemas.microsoft.com/office/drawing/2014/main" id="{EB9C3E98-C82C-4F38-9C74-1F3716D627DF}"/>
              </a:ext>
            </a:extLst>
          </p:cNvPr>
          <p:cNvSpPr>
            <a:spLocks xmlns:a="http://schemas.openxmlformats.org/drawingml/2006/main" noGrp="1"/>
          </p:cNvSpPr>
          <p:nvPr/>
        </p:nvSpPr>
        <p:spPr>
          <a:xfrm xmlns:a="http://schemas.openxmlformats.org/drawingml/2006/main">
            <a:off x="514350" y="283464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3</a:t>
            </a:r>
            <a:endParaRPr sz="1050">
              <a:latin typeface="Open Sans"/>
              <a:ea typeface="Open Sans"/>
              <a:cs typeface="Open Sans"/>
            </a:endParaR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762203b3df8e4eea">
            <a:duotone>
              <a:srgbClr val="0071CF"/>
              <a:srgbClr val="0071CF"/>
            </a:duotone>
          </a:blip>
          <a:stretch xmlns:a="http://schemas.openxmlformats.org/drawingml/2006/main">
            <a:fillRect l="0" t="0" r="0" b="0"/>
          </a:stretch>
        </p:blipFill>
        <p:spPr>
          <a:xfrm xmlns:a="http://schemas.openxmlformats.org/drawingml/2006/main">
            <a:off x="841248" y="2825496"/>
            <a:ext cx="201168" cy="20116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0A0018C4-09E1-4FC7-B5D3-C7710553AB42}"/>
              </a:ext>
            </a:extLst>
          </p:cNvPr>
          <p:cNvSpPr>
            <a:spLocks xmlns:a="http://schemas.openxmlformats.org/drawingml/2006/main" noGrp="1"/>
          </p:cNvSpPr>
          <p:nvPr/>
        </p:nvSpPr>
        <p:spPr>
          <a:xfrm xmlns:a="http://schemas.openxmlformats.org/drawingml/2006/main">
            <a:off x="1133856" y="280720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Tooling &amp; System Integration</a:t>
            </a:r>
            <a:endParaRPr sz="1050">
              <a:latin typeface="Open Sans"/>
              <a:ea typeface="Open Sans"/>
              <a:cs typeface="Open Sans"/>
            </a:endParaRPr>
          </a:p>
        </p:txBody>
      </p:sp>
      <p:sp>
        <p:nvSpPr>
          <p:cNvPr id="23" name="Text 18">
            <a:extLst xmlns:a="http://schemas.openxmlformats.org/drawingml/2006/main">
              <a:ext uri="{FF2B5EF4-FFF2-40B4-BE49-F238E27FC236}">
                <a16:creationId xmlns:a16="http://schemas.microsoft.com/office/drawing/2014/main" id="{2D252C5E-7FE7-4DBD-AAA0-A534B6F6DA08}"/>
              </a:ext>
            </a:extLst>
          </p:cNvPr>
          <p:cNvSpPr>
            <a:spLocks xmlns:a="http://schemas.openxmlformats.org/drawingml/2006/main" noGrp="1"/>
          </p:cNvSpPr>
          <p:nvPr/>
        </p:nvSpPr>
        <p:spPr>
          <a:xfrm xmlns:a="http://schemas.openxmlformats.org/drawingml/2006/main">
            <a:off x="4023360" y="280720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Agents reach PLM, TestOps, MES, ERP, and ProgramOps only through typed tools and controlled APIs. Source systems stay authoritative; the control plane orchestrates across them.</a:t>
            </a:r>
            <a:endParaRPr sz="1000">
              <a:latin typeface="Open Sans"/>
              <a:ea typeface="Open Sans"/>
              <a:cs typeface="Open Sans"/>
            </a:endParaRPr>
          </a:p>
        </p:txBody>
      </p:sp>
      <p:sp>
        <p:nvSpPr>
          <p:cNvPr id="24" name="Shape 19">
            <a:extLst xmlns:a="http://schemas.openxmlformats.org/drawingml/2006/main">
              <a:ext uri="{FF2B5EF4-FFF2-40B4-BE49-F238E27FC236}">
                <a16:creationId xmlns:a16="http://schemas.microsoft.com/office/drawing/2014/main" id="{15D34AB0-C54D-4FDE-986D-6164DF336781}"/>
              </a:ext>
            </a:extLst>
          </p:cNvPr>
          <p:cNvSpPr>
            <a:spLocks xmlns:a="http://schemas.openxmlformats.org/drawingml/2006/main" noGrp="1"/>
          </p:cNvSpPr>
          <p:nvPr/>
        </p:nvSpPr>
        <p:spPr>
          <a:xfrm xmlns:a="http://schemas.openxmlformats.org/drawingml/2006/main">
            <a:off x="457200" y="338328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5" name="Shape 20">
            <a:extLst xmlns:a="http://schemas.openxmlformats.org/drawingml/2006/main">
              <a:ext uri="{FF2B5EF4-FFF2-40B4-BE49-F238E27FC236}">
                <a16:creationId xmlns:a16="http://schemas.microsoft.com/office/drawing/2014/main" id="{F79FCE9B-EDC3-456E-9FEA-BE6EC04994B7}"/>
              </a:ext>
            </a:extLst>
          </p:cNvPr>
          <p:cNvSpPr>
            <a:spLocks xmlns:a="http://schemas.openxmlformats.org/drawingml/2006/main" noGrp="1"/>
          </p:cNvSpPr>
          <p:nvPr/>
        </p:nvSpPr>
        <p:spPr>
          <a:xfrm xmlns:a="http://schemas.openxmlformats.org/drawingml/2006/main">
            <a:off x="457200" y="347472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6" name="Text 21">
            <a:extLst xmlns:a="http://schemas.openxmlformats.org/drawingml/2006/main">
              <a:ext uri="{FF2B5EF4-FFF2-40B4-BE49-F238E27FC236}">
                <a16:creationId xmlns:a16="http://schemas.microsoft.com/office/drawing/2014/main" id="{F2ED5325-4D36-4671-85A8-3045BD14514F}"/>
              </a:ext>
            </a:extLst>
          </p:cNvPr>
          <p:cNvSpPr>
            <a:spLocks xmlns:a="http://schemas.openxmlformats.org/drawingml/2006/main" noGrp="1"/>
          </p:cNvSpPr>
          <p:nvPr/>
        </p:nvSpPr>
        <p:spPr>
          <a:xfrm xmlns:a="http://schemas.openxmlformats.org/drawingml/2006/main">
            <a:off x="514350" y="347472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4</a:t>
            </a:r>
            <a:endParaRPr sz="1050">
              <a:latin typeface="Open Sans"/>
              <a:ea typeface="Open Sans"/>
              <a:cs typeface="Open Sans"/>
            </a:endParaR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b0286af4afa498f">
            <a:duotone>
              <a:srgbClr val="0071CF"/>
              <a:srgbClr val="0071CF"/>
            </a:duotone>
          </a:blip>
          <a:stretch xmlns:a="http://schemas.openxmlformats.org/drawingml/2006/main">
            <a:fillRect l="0" t="0" r="0" b="0"/>
          </a:stretch>
        </p:blipFill>
        <p:spPr>
          <a:xfrm xmlns:a="http://schemas.openxmlformats.org/drawingml/2006/main">
            <a:off x="841248" y="3465576"/>
            <a:ext cx="201168" cy="20116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E88CB8A6-AAC8-415D-8F18-3F2B8460D307}"/>
              </a:ext>
            </a:extLst>
          </p:cNvPr>
          <p:cNvSpPr>
            <a:spLocks xmlns:a="http://schemas.openxmlformats.org/drawingml/2006/main" noGrp="1"/>
          </p:cNvSpPr>
          <p:nvPr/>
        </p:nvSpPr>
        <p:spPr>
          <a:xfrm xmlns:a="http://schemas.openxmlformats.org/drawingml/2006/main">
            <a:off x="1133856" y="344728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Governance, Permissions &amp; Human Authority</a:t>
            </a:r>
            <a:endParaRPr sz="1050">
              <a:latin typeface="Open Sans"/>
              <a:ea typeface="Open Sans"/>
              <a:cs typeface="Open Sans"/>
            </a:endParaRPr>
          </a:p>
        </p:txBody>
      </p:sp>
      <p:sp>
        <p:nvSpPr>
          <p:cNvPr id="29" name="Text 23">
            <a:extLst xmlns:a="http://schemas.openxmlformats.org/drawingml/2006/main">
              <a:ext uri="{FF2B5EF4-FFF2-40B4-BE49-F238E27FC236}">
                <a16:creationId xmlns:a16="http://schemas.microsoft.com/office/drawing/2014/main" id="{FA627FC2-6234-4E33-B7BC-33B673EFD8C3}"/>
              </a:ext>
            </a:extLst>
          </p:cNvPr>
          <p:cNvSpPr>
            <a:spLocks xmlns:a="http://schemas.openxmlformats.org/drawingml/2006/main" noGrp="1"/>
          </p:cNvSpPr>
          <p:nvPr/>
        </p:nvSpPr>
        <p:spPr>
          <a:xfrm xmlns:a="http://schemas.openxmlformats.org/drawingml/2006/main">
            <a:off x="4023360" y="344728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Deterministic policy gates decide what runs touchless and what needs approval. Engineering, quality, allocation, and customer commitments stay human-owned, backed by least-privilege tools and persona-aware RBAC.</a:t>
            </a:r>
            <a:endParaRPr sz="1000">
              <a:latin typeface="Open Sans"/>
              <a:ea typeface="Open Sans"/>
              <a:cs typeface="Open Sans"/>
            </a:endParaRPr>
          </a:p>
        </p:txBody>
      </p:sp>
      <p:sp>
        <p:nvSpPr>
          <p:cNvPr id="30" name="Shape 24">
            <a:extLst xmlns:a="http://schemas.openxmlformats.org/drawingml/2006/main">
              <a:ext uri="{FF2B5EF4-FFF2-40B4-BE49-F238E27FC236}">
                <a16:creationId xmlns:a16="http://schemas.microsoft.com/office/drawing/2014/main" id="{72B1395F-F635-40ED-952D-6B15B2D6EA6C}"/>
              </a:ext>
            </a:extLst>
          </p:cNvPr>
          <p:cNvSpPr>
            <a:spLocks xmlns:a="http://schemas.openxmlformats.org/drawingml/2006/main" noGrp="1"/>
          </p:cNvSpPr>
          <p:nvPr/>
        </p:nvSpPr>
        <p:spPr>
          <a:xfrm xmlns:a="http://schemas.openxmlformats.org/drawingml/2006/main">
            <a:off x="457200" y="402336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1" name="Shape 25">
            <a:extLst xmlns:a="http://schemas.openxmlformats.org/drawingml/2006/main">
              <a:ext uri="{FF2B5EF4-FFF2-40B4-BE49-F238E27FC236}">
                <a16:creationId xmlns:a16="http://schemas.microsoft.com/office/drawing/2014/main" id="{74A1582A-BA51-470A-ACAC-840611E24AFA}"/>
              </a:ext>
            </a:extLst>
          </p:cNvPr>
          <p:cNvSpPr>
            <a:spLocks xmlns:a="http://schemas.openxmlformats.org/drawingml/2006/main" noGrp="1"/>
          </p:cNvSpPr>
          <p:nvPr/>
        </p:nvSpPr>
        <p:spPr>
          <a:xfrm xmlns:a="http://schemas.openxmlformats.org/drawingml/2006/main">
            <a:off x="457200" y="411480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2" name="Text 26">
            <a:extLst xmlns:a="http://schemas.openxmlformats.org/drawingml/2006/main">
              <a:ext uri="{FF2B5EF4-FFF2-40B4-BE49-F238E27FC236}">
                <a16:creationId xmlns:a16="http://schemas.microsoft.com/office/drawing/2014/main" id="{B2F5F273-D6C5-4F91-A5FB-6CCA9ECF23BA}"/>
              </a:ext>
            </a:extLst>
          </p:cNvPr>
          <p:cNvSpPr>
            <a:spLocks xmlns:a="http://schemas.openxmlformats.org/drawingml/2006/main" noGrp="1"/>
          </p:cNvSpPr>
          <p:nvPr/>
        </p:nvSpPr>
        <p:spPr>
          <a:xfrm xmlns:a="http://schemas.openxmlformats.org/drawingml/2006/main">
            <a:off x="514350" y="411480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5</a:t>
            </a:r>
            <a:endParaRPr sz="1050">
              <a:latin typeface="Open Sans"/>
              <a:ea typeface="Open Sans"/>
              <a:cs typeface="Open Sans"/>
            </a:endParaRPr>
          </a:p>
        </p:txBody>
      </p:sp>
      <p:pic>
        <p:nvPicPr>
          <p:cNvPr id="93" name="Image 4"/>
          <p:cNvPicPr>
            <a:picLocks xmlns:a="http://schemas.openxmlformats.org/drawingml/2006/main" noChangeAspect="1"/>
          </p:cNvPicPr>
          <p:nvPr/>
        </p:nvPicPr>
        <p:blipFill>
          <a:blip xmlns:r="http://schemas.openxmlformats.org/officeDocument/2006/relationships" xmlns:a="http://schemas.openxmlformats.org/drawingml/2006/main" r:embed="Rd878a254611b4346">
            <a:duotone>
              <a:srgbClr val="0071CF"/>
              <a:srgbClr val="0071CF"/>
            </a:duotone>
          </a:blip>
          <a:stretch xmlns:a="http://schemas.openxmlformats.org/drawingml/2006/main">
            <a:fillRect l="0" t="0" r="0" b="0"/>
          </a:stretch>
        </p:blipFill>
        <p:spPr>
          <a:xfrm xmlns:a="http://schemas.openxmlformats.org/drawingml/2006/main">
            <a:off x="841248" y="4105656"/>
            <a:ext cx="201168" cy="201168"/>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577E129A-09F4-480F-B3EE-1D369ECB0B48}"/>
              </a:ext>
            </a:extLst>
          </p:cNvPr>
          <p:cNvSpPr>
            <a:spLocks xmlns:a="http://schemas.openxmlformats.org/drawingml/2006/main" noGrp="1"/>
          </p:cNvSpPr>
          <p:nvPr/>
        </p:nvSpPr>
        <p:spPr>
          <a:xfrm xmlns:a="http://schemas.openxmlformats.org/drawingml/2006/main">
            <a:off x="1133856" y="408736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State, Execution Safety &amp; Reliability</a:t>
            </a:r>
            <a:endParaRPr sz="1050">
              <a:latin typeface="Open Sans"/>
              <a:ea typeface="Open Sans"/>
              <a:cs typeface="Open Sans"/>
            </a:endParaRPr>
          </a:p>
        </p:txBody>
      </p:sp>
      <p:sp>
        <p:nvSpPr>
          <p:cNvPr id="35" name="Text 28">
            <a:extLst xmlns:a="http://schemas.openxmlformats.org/drawingml/2006/main">
              <a:ext uri="{FF2B5EF4-FFF2-40B4-BE49-F238E27FC236}">
                <a16:creationId xmlns:a16="http://schemas.microsoft.com/office/drawing/2014/main" id="{ED17F81D-9DBA-4DD3-B0B6-7D73B4B9ACEE}"/>
              </a:ext>
            </a:extLst>
          </p:cNvPr>
          <p:cNvSpPr>
            <a:spLocks xmlns:a="http://schemas.openxmlformats.org/drawingml/2006/main" noGrp="1"/>
          </p:cNvSpPr>
          <p:nvPr/>
        </p:nvSpPr>
        <p:spPr>
          <a:xfrm xmlns:a="http://schemas.openxmlformats.org/drawingml/2006/main">
            <a:off x="4023360" y="408736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Approval, execution, and verified state are separate steps. Versioned proposals, stale-state checks, idempotency, and source readback make autonomous and concurrent execution safe.</a:t>
            </a:r>
            <a:endParaRPr sz="1000">
              <a:latin typeface="Open Sans"/>
              <a:ea typeface="Open Sans"/>
              <a:cs typeface="Open Sans"/>
            </a:endParaRPr>
          </a:p>
        </p:txBody>
      </p:sp>
      <p:sp>
        <p:nvSpPr>
          <p:cNvPr id="36" name="Shape 29">
            <a:extLst xmlns:a="http://schemas.openxmlformats.org/drawingml/2006/main">
              <a:ext uri="{FF2B5EF4-FFF2-40B4-BE49-F238E27FC236}">
                <a16:creationId xmlns:a16="http://schemas.microsoft.com/office/drawing/2014/main" id="{04183C14-0904-418E-AC8C-934E4AD17B66}"/>
              </a:ext>
            </a:extLst>
          </p:cNvPr>
          <p:cNvSpPr>
            <a:spLocks xmlns:a="http://schemas.openxmlformats.org/drawingml/2006/main" noGrp="1"/>
          </p:cNvSpPr>
          <p:nvPr/>
        </p:nvSpPr>
        <p:spPr>
          <a:xfrm xmlns:a="http://schemas.openxmlformats.org/drawingml/2006/main">
            <a:off x="457200" y="466344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7" name="Shape 30">
            <a:extLst xmlns:a="http://schemas.openxmlformats.org/drawingml/2006/main">
              <a:ext uri="{FF2B5EF4-FFF2-40B4-BE49-F238E27FC236}">
                <a16:creationId xmlns:a16="http://schemas.microsoft.com/office/drawing/2014/main" id="{C3664459-B08B-48B9-B26E-172D8C8F2728}"/>
              </a:ext>
            </a:extLst>
          </p:cNvPr>
          <p:cNvSpPr>
            <a:spLocks xmlns:a="http://schemas.openxmlformats.org/drawingml/2006/main" noGrp="1"/>
          </p:cNvSpPr>
          <p:nvPr/>
        </p:nvSpPr>
        <p:spPr>
          <a:xfrm xmlns:a="http://schemas.openxmlformats.org/drawingml/2006/main">
            <a:off x="457200" y="475488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8" name="Text 31">
            <a:extLst xmlns:a="http://schemas.openxmlformats.org/drawingml/2006/main">
              <a:ext uri="{FF2B5EF4-FFF2-40B4-BE49-F238E27FC236}">
                <a16:creationId xmlns:a16="http://schemas.microsoft.com/office/drawing/2014/main" id="{29AC2107-3C5C-46A9-BDAB-04357409CC4C}"/>
              </a:ext>
            </a:extLst>
          </p:cNvPr>
          <p:cNvSpPr>
            <a:spLocks xmlns:a="http://schemas.openxmlformats.org/drawingml/2006/main" noGrp="1"/>
          </p:cNvSpPr>
          <p:nvPr/>
        </p:nvSpPr>
        <p:spPr>
          <a:xfrm xmlns:a="http://schemas.openxmlformats.org/drawingml/2006/main">
            <a:off x="514350" y="475488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6</a:t>
            </a:r>
            <a:endParaRPr sz="1050">
              <a:latin typeface="Open Sans"/>
              <a:ea typeface="Open Sans"/>
              <a:cs typeface="Open Sans"/>
            </a:endParaRPr>
          </a:p>
        </p:txBody>
      </p:sp>
      <p:pic>
        <p:nvPicPr>
          <p:cNvPr id="99" name="Image 5"/>
          <p:cNvPicPr>
            <a:picLocks xmlns:a="http://schemas.openxmlformats.org/drawingml/2006/main" noChangeAspect="1"/>
          </p:cNvPicPr>
          <p:nvPr/>
        </p:nvPicPr>
        <p:blipFill>
          <a:blip xmlns:r="http://schemas.openxmlformats.org/officeDocument/2006/relationships" xmlns:a="http://schemas.openxmlformats.org/drawingml/2006/main" r:embed="R87587e6ab32b49a5">
            <a:duotone>
              <a:srgbClr val="0071CF"/>
              <a:srgbClr val="0071CF"/>
            </a:duotone>
          </a:blip>
          <a:stretch xmlns:a="http://schemas.openxmlformats.org/drawingml/2006/main">
            <a:fillRect l="0" t="0" r="0" b="0"/>
          </a:stretch>
        </p:blipFill>
        <p:spPr>
          <a:xfrm xmlns:a="http://schemas.openxmlformats.org/drawingml/2006/main">
            <a:off x="841248" y="4745736"/>
            <a:ext cx="201168" cy="201168"/>
          </a:xfrm>
          <a:prstGeom xmlns:a="http://schemas.openxmlformats.org/drawingml/2006/main" prst="rect">
            <a:avLst/>
          </a:prstGeom>
        </p:spPr>
      </p:pic>
      <p:sp>
        <p:nvSpPr>
          <p:cNvPr id="40" name="Text 32">
            <a:extLst xmlns:a="http://schemas.openxmlformats.org/drawingml/2006/main">
              <a:ext uri="{FF2B5EF4-FFF2-40B4-BE49-F238E27FC236}">
                <a16:creationId xmlns:a16="http://schemas.microsoft.com/office/drawing/2014/main" id="{4943F8C3-1FE8-44A7-9E71-C865E87B0F6D}"/>
              </a:ext>
            </a:extLst>
          </p:cNvPr>
          <p:cNvSpPr>
            <a:spLocks xmlns:a="http://schemas.openxmlformats.org/drawingml/2006/main" noGrp="1"/>
          </p:cNvSpPr>
          <p:nvPr/>
        </p:nvSpPr>
        <p:spPr>
          <a:xfrm xmlns:a="http://schemas.openxmlformats.org/drawingml/2006/main">
            <a:off x="1133856" y="472744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Evals, Observability &amp; Auditability</a:t>
            </a:r>
            <a:endParaRPr sz="1050">
              <a:latin typeface="Open Sans"/>
              <a:ea typeface="Open Sans"/>
              <a:cs typeface="Open Sans"/>
            </a:endParaRPr>
          </a:p>
        </p:txBody>
      </p:sp>
      <p:sp>
        <p:nvSpPr>
          <p:cNvPr id="41" name="Text 33">
            <a:extLst xmlns:a="http://schemas.openxmlformats.org/drawingml/2006/main">
              <a:ext uri="{FF2B5EF4-FFF2-40B4-BE49-F238E27FC236}">
                <a16:creationId xmlns:a16="http://schemas.microsoft.com/office/drawing/2014/main" id="{E0D05292-E0BC-4947-AA84-D9EFF53D2D88}"/>
              </a:ext>
            </a:extLst>
          </p:cNvPr>
          <p:cNvSpPr>
            <a:spLocks xmlns:a="http://schemas.openxmlformats.org/drawingml/2006/main" noGrp="1"/>
          </p:cNvSpPr>
          <p:nvPr/>
        </p:nvSpPr>
        <p:spPr>
          <a:xfrm xmlns:a="http://schemas.openxmlformats.org/drawingml/2006/main">
            <a:off x="4023360" y="472744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Behavioral evals test workflow correctness, retrieval, authority boundaries, and calculations. Traces link agents, tools, evidence, decisions, actions, and outcomes for reliability and audit.</a:t>
            </a:r>
            <a:endParaRPr sz="1000">
              <a:latin typeface="Open Sans"/>
              <a:ea typeface="Open Sans"/>
              <a:cs typeface="Open Sans"/>
            </a:endParaRPr>
          </a:p>
        </p:txBody>
      </p:sp>
      <p:sp>
        <p:nvSpPr>
          <p:cNvPr id="42" name="Shape 34">
            <a:extLst xmlns:a="http://schemas.openxmlformats.org/drawingml/2006/main">
              <a:ext uri="{FF2B5EF4-FFF2-40B4-BE49-F238E27FC236}">
                <a16:creationId xmlns:a16="http://schemas.microsoft.com/office/drawing/2014/main" id="{B1643BF7-5AF2-4803-8411-BE345F55D46A}"/>
              </a:ext>
            </a:extLst>
          </p:cNvPr>
          <p:cNvSpPr>
            <a:spLocks xmlns:a="http://schemas.openxmlformats.org/drawingml/2006/main" noGrp="1"/>
          </p:cNvSpPr>
          <p:nvPr/>
        </p:nvSpPr>
        <p:spPr>
          <a:xfrm xmlns:a="http://schemas.openxmlformats.org/drawingml/2006/main">
            <a:off x="457200" y="530352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3" name="Shape 35">
            <a:extLst xmlns:a="http://schemas.openxmlformats.org/drawingml/2006/main">
              <a:ext uri="{FF2B5EF4-FFF2-40B4-BE49-F238E27FC236}">
                <a16:creationId xmlns:a16="http://schemas.microsoft.com/office/drawing/2014/main" id="{EDB6145A-B7E0-4007-BD59-06CAF146FA98}"/>
              </a:ext>
            </a:extLst>
          </p:cNvPr>
          <p:cNvSpPr>
            <a:spLocks xmlns:a="http://schemas.openxmlformats.org/drawingml/2006/main" noGrp="1"/>
          </p:cNvSpPr>
          <p:nvPr/>
        </p:nvSpPr>
        <p:spPr>
          <a:xfrm xmlns:a="http://schemas.openxmlformats.org/drawingml/2006/main">
            <a:off x="457200" y="539496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4" name="Text 36">
            <a:extLst xmlns:a="http://schemas.openxmlformats.org/drawingml/2006/main">
              <a:ext uri="{FF2B5EF4-FFF2-40B4-BE49-F238E27FC236}">
                <a16:creationId xmlns:a16="http://schemas.microsoft.com/office/drawing/2014/main" id="{456E814A-2CA6-4353-8ACC-280BCAE6BEFB}"/>
              </a:ext>
            </a:extLst>
          </p:cNvPr>
          <p:cNvSpPr>
            <a:spLocks xmlns:a="http://schemas.openxmlformats.org/drawingml/2006/main" noGrp="1"/>
          </p:cNvSpPr>
          <p:nvPr/>
        </p:nvSpPr>
        <p:spPr>
          <a:xfrm xmlns:a="http://schemas.openxmlformats.org/drawingml/2006/main">
            <a:off x="514350" y="539496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7</a:t>
            </a:r>
            <a:endParaRPr sz="1050">
              <a:latin typeface="Open Sans"/>
              <a:ea typeface="Open Sans"/>
              <a:cs typeface="Open Sans"/>
            </a:endParaRPr>
          </a:p>
        </p:txBody>
      </p:sp>
      <p:pic>
        <p:nvPicPr>
          <p:cNvPr id="105" name="Image 6"/>
          <p:cNvPicPr>
            <a:picLocks xmlns:a="http://schemas.openxmlformats.org/drawingml/2006/main" noChangeAspect="1"/>
          </p:cNvPicPr>
          <p:nvPr/>
        </p:nvPicPr>
        <p:blipFill>
          <a:blip xmlns:r="http://schemas.openxmlformats.org/officeDocument/2006/relationships" xmlns:a="http://schemas.openxmlformats.org/drawingml/2006/main" r:embed="R9c76f64a733d448d">
            <a:duotone>
              <a:srgbClr val="0071CF"/>
              <a:srgbClr val="0071CF"/>
            </a:duotone>
          </a:blip>
          <a:stretch xmlns:a="http://schemas.openxmlformats.org/drawingml/2006/main">
            <a:fillRect l="0" t="0" r="0" b="0"/>
          </a:stretch>
        </p:blipFill>
        <p:spPr>
          <a:xfrm xmlns:a="http://schemas.openxmlformats.org/drawingml/2006/main">
            <a:off x="841248" y="5385816"/>
            <a:ext cx="201168" cy="201168"/>
          </a:xfrm>
          <a:prstGeom xmlns:a="http://schemas.openxmlformats.org/drawingml/2006/main" prst="rect">
            <a:avLst/>
          </a:prstGeom>
        </p:spPr>
      </p:pic>
      <p:sp>
        <p:nvSpPr>
          <p:cNvPr id="46" name="Text 37">
            <a:extLst xmlns:a="http://schemas.openxmlformats.org/drawingml/2006/main">
              <a:ext uri="{FF2B5EF4-FFF2-40B4-BE49-F238E27FC236}">
                <a16:creationId xmlns:a16="http://schemas.microsoft.com/office/drawing/2014/main" id="{FFDCC65F-4CA5-4ED2-9ED7-CA78E34A7422}"/>
              </a:ext>
            </a:extLst>
          </p:cNvPr>
          <p:cNvSpPr>
            <a:spLocks xmlns:a="http://schemas.openxmlformats.org/drawingml/2006/main" noGrp="1"/>
          </p:cNvSpPr>
          <p:nvPr/>
        </p:nvSpPr>
        <p:spPr>
          <a:xfrm xmlns:a="http://schemas.openxmlformats.org/drawingml/2006/main">
            <a:off x="1133856" y="536752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Performance, Cost &amp; Scalability</a:t>
            </a:r>
            <a:endParaRPr sz="1050">
              <a:latin typeface="Open Sans"/>
              <a:ea typeface="Open Sans"/>
              <a:cs typeface="Open Sans"/>
            </a:endParaRPr>
          </a:p>
        </p:txBody>
      </p:sp>
      <p:sp>
        <p:nvSpPr>
          <p:cNvPr id="47" name="Text 38">
            <a:extLst xmlns:a="http://schemas.openxmlformats.org/drawingml/2006/main">
              <a:ext uri="{FF2B5EF4-FFF2-40B4-BE49-F238E27FC236}">
                <a16:creationId xmlns:a16="http://schemas.microsoft.com/office/drawing/2014/main" id="{E11C8621-0A61-4386-B9DF-01ED535CD0C3}"/>
              </a:ext>
            </a:extLst>
          </p:cNvPr>
          <p:cNvSpPr>
            <a:spLocks xmlns:a="http://schemas.openxmlformats.org/drawingml/2006/main" noGrp="1"/>
          </p:cNvSpPr>
          <p:nvPr/>
        </p:nvSpPr>
        <p:spPr>
          <a:xfrm xmlns:a="http://schemas.openxmlformats.org/drawingml/2006/main">
            <a:off x="4023360" y="536752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Models handle ambiguous reasoning; deterministic code handles calculations, policy, and routine operations. Isolated, bounded runs scale toward queues and worker pools without wasting inference.</a:t>
            </a:r>
            <a:endParaRPr sz="1000">
              <a:latin typeface="Open Sans"/>
              <a:ea typeface="Open Sans"/>
              <a:cs typeface="Open Sans"/>
            </a:endParaRPr>
          </a:p>
        </p:txBody>
      </p:sp>
      <p:sp>
        <p:nvSpPr>
          <p:cNvPr id="48" name="Shape 39">
            <a:extLst xmlns:a="http://schemas.openxmlformats.org/drawingml/2006/main">
              <a:ext uri="{FF2B5EF4-FFF2-40B4-BE49-F238E27FC236}">
                <a16:creationId xmlns:a16="http://schemas.microsoft.com/office/drawing/2014/main" id="{AB60CAB5-D2E2-4A3A-8FE4-A1BE41E5071A}"/>
              </a:ext>
            </a:extLst>
          </p:cNvPr>
          <p:cNvSpPr>
            <a:spLocks xmlns:a="http://schemas.openxmlformats.org/drawingml/2006/main" noGrp="1"/>
          </p:cNvSpPr>
          <p:nvPr/>
        </p:nvSpPr>
        <p:spPr>
          <a:xfrm xmlns:a="http://schemas.openxmlformats.org/drawingml/2006/main">
            <a:off x="457200" y="5943600"/>
            <a:ext cx="11277295" cy="0"/>
          </a:xfrm>
          <a:prstGeom xmlns:a="http://schemas.openxmlformats.org/drawingml/2006/main" prst="line">
            <a:avLst/>
          </a:prstGeom>
          <a:noFill xmlns:a="http://schemas.openxmlformats.org/drawingml/2006/main"/>
          <a:ln xmlns:a="http://schemas.openxmlformats.org/drawingml/2006/main" w="6350">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49" name="Shape 40">
            <a:extLst xmlns:a="http://schemas.openxmlformats.org/drawingml/2006/main">
              <a:ext uri="{FF2B5EF4-FFF2-40B4-BE49-F238E27FC236}">
                <a16:creationId xmlns:a16="http://schemas.microsoft.com/office/drawing/2014/main" id="{DF27993F-79FA-495B-A246-51AB6F993F56}"/>
              </a:ext>
            </a:extLst>
          </p:cNvPr>
          <p:cNvSpPr>
            <a:spLocks xmlns:a="http://schemas.openxmlformats.org/drawingml/2006/main" noGrp="1"/>
          </p:cNvSpPr>
          <p:nvPr/>
        </p:nvSpPr>
        <p:spPr>
          <a:xfrm xmlns:a="http://schemas.openxmlformats.org/drawingml/2006/main">
            <a:off x="457200" y="6035040"/>
            <a:ext cx="274320" cy="182880"/>
          </a:xfrm>
          <a:prstGeom xmlns:a="http://schemas.openxmlformats.org/drawingml/2006/main" prst="roundRect">
            <a:avLst>
              <a:gd name="adj" fmla="val 25000"/>
            </a:avLst>
          </a:prstGeom>
          <a:noFill xmlns:a="http://schemas.openxmlformats.org/drawingml/2006/main"/>
          <a:ln xmlns:a="http://schemas.openxmlformats.org/drawingml/2006/main" w="1270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0" name="Text 41">
            <a:extLst xmlns:a="http://schemas.openxmlformats.org/drawingml/2006/main">
              <a:ext uri="{FF2B5EF4-FFF2-40B4-BE49-F238E27FC236}">
                <a16:creationId xmlns:a16="http://schemas.microsoft.com/office/drawing/2014/main" id="{F3940492-D541-43BE-A389-5FC8B6E661C1}"/>
              </a:ext>
            </a:extLst>
          </p:cNvPr>
          <p:cNvSpPr>
            <a:spLocks xmlns:a="http://schemas.openxmlformats.org/drawingml/2006/main" noGrp="1"/>
          </p:cNvSpPr>
          <p:nvPr/>
        </p:nvSpPr>
        <p:spPr>
          <a:xfrm xmlns:a="http://schemas.openxmlformats.org/drawingml/2006/main">
            <a:off x="514350" y="6035040"/>
            <a:ext cx="200025"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defRPr>
                <a:latin typeface="Open Sans"/>
                <a:ea typeface="Open Sans"/>
                <a:cs typeface="Open Sans"/>
              </a:defRPr>
            </a:pPr>
            <a:r>
              <a:rPr sz="1050" b="0">
                <a:solidFill>
                  <a:srgbClr val="0071CF"/>
                </a:solidFill>
                <a:latin typeface="Open Sans"/>
                <a:ea typeface="Open Sans"/>
                <a:cs typeface="Open Sans"/>
              </a:rPr>
              <a:t>8</a:t>
            </a:r>
            <a:endParaRPr sz="1050">
              <a:latin typeface="Open Sans"/>
              <a:ea typeface="Open Sans"/>
              <a:cs typeface="Open Sans"/>
            </a:endParaRPr>
          </a:p>
        </p:txBody>
      </p:sp>
      <p:pic>
        <p:nvPicPr>
          <p:cNvPr id="111" name="Image 7"/>
          <p:cNvPicPr>
            <a:picLocks xmlns:a="http://schemas.openxmlformats.org/drawingml/2006/main" noChangeAspect="1"/>
          </p:cNvPicPr>
          <p:nvPr/>
        </p:nvPicPr>
        <p:blipFill>
          <a:blip xmlns:r="http://schemas.openxmlformats.org/officeDocument/2006/relationships" xmlns:a="http://schemas.openxmlformats.org/drawingml/2006/main" r:embed="Ra2ced874de094e1e">
            <a:duotone>
              <a:srgbClr val="0071CF"/>
              <a:srgbClr val="0071CF"/>
            </a:duotone>
          </a:blip>
          <a:stretch xmlns:a="http://schemas.openxmlformats.org/drawingml/2006/main">
            <a:fillRect l="0" t="0" r="0" b="0"/>
          </a:stretch>
        </p:blipFill>
        <p:spPr>
          <a:xfrm xmlns:a="http://schemas.openxmlformats.org/drawingml/2006/main">
            <a:off x="841248" y="6025896"/>
            <a:ext cx="201168" cy="201168"/>
          </a:xfrm>
          <a:prstGeom xmlns:a="http://schemas.openxmlformats.org/drawingml/2006/main" prst="rect">
            <a:avLst/>
          </a:prstGeom>
        </p:spPr>
      </p:pic>
      <p:sp>
        <p:nvSpPr>
          <p:cNvPr id="52" name="Text 42">
            <a:extLst xmlns:a="http://schemas.openxmlformats.org/drawingml/2006/main">
              <a:ext uri="{FF2B5EF4-FFF2-40B4-BE49-F238E27FC236}">
                <a16:creationId xmlns:a16="http://schemas.microsoft.com/office/drawing/2014/main" id="{C0919021-3A8F-4B35-A03C-0B8AC4A1CC62}"/>
              </a:ext>
            </a:extLst>
          </p:cNvPr>
          <p:cNvSpPr>
            <a:spLocks xmlns:a="http://schemas.openxmlformats.org/drawingml/2006/main" noGrp="1"/>
          </p:cNvSpPr>
          <p:nvPr/>
        </p:nvSpPr>
        <p:spPr>
          <a:xfrm xmlns:a="http://schemas.openxmlformats.org/drawingml/2006/main">
            <a:off x="1133856" y="6007608"/>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Product UX &amp; Operating Model</a:t>
            </a:r>
            <a:endParaRPr sz="1050">
              <a:latin typeface="Open Sans"/>
              <a:ea typeface="Open Sans"/>
              <a:cs typeface="Open Sans"/>
            </a:endParaRPr>
          </a:p>
        </p:txBody>
      </p:sp>
      <p:sp>
        <p:nvSpPr>
          <p:cNvPr id="53" name="Text 43">
            <a:extLst xmlns:a="http://schemas.openxmlformats.org/drawingml/2006/main">
              <a:ext uri="{FF2B5EF4-FFF2-40B4-BE49-F238E27FC236}">
                <a16:creationId xmlns:a16="http://schemas.microsoft.com/office/drawing/2014/main" id="{6D3CA2FF-B91A-407D-9292-1686196AF019}"/>
              </a:ext>
            </a:extLst>
          </p:cNvPr>
          <p:cNvSpPr>
            <a:spLocks xmlns:a="http://schemas.openxmlformats.org/drawingml/2006/main" noGrp="1"/>
          </p:cNvSpPr>
          <p:nvPr/>
        </p:nvSpPr>
        <p:spPr>
          <a:xfrm xmlns:a="http://schemas.openxmlformats.org/drawingml/2006/main">
            <a:off x="4023360" y="6007608"/>
            <a:ext cx="770839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Manual, conversational, and event-driven starts share one governed runtime. Persona-tailored screens show autonomy, handoffs, evidence, and business state, not raw agent mechanics.</a:t>
            </a:r>
            <a:endParaRPr sz="1000">
              <a:latin typeface="Open Sans"/>
              <a:ea typeface="Open Sans"/>
              <a:cs typeface="Open Sans"/>
            </a:endParaRPr>
          </a:p>
        </p:txBody>
      </p:sp>
    </p:spTree>
    <p:extLst>
      <p:ext uri="{BB962C8B-B14F-4D97-AF65-F5344CB8AC3E}">
        <p14:creationId xmlns:p14="http://schemas.microsoft.com/office/powerpoint/2010/main" val="7200697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D046AF-A0B4-41A7-A3C2-F07B6345D625}"/>
              </a:ext>
            </a:extLst>
          </p:cNvPr>
          <p:cNvSpPr>
            <a:spLocks xmlns:a="http://schemas.openxmlformats.org/drawingml/2006/main" noGrp="1"/>
          </p:cNvSpPr>
          <p:nvPr/>
        </p:nvSpPr>
        <p:spPr>
          <a:xfrm xmlns:a="http://schemas.openxmlformats.org/drawingml/2006/main">
            <a:off x="457200" y="292608"/>
            <a:ext cx="11277295"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50" b="0">
                <a:solidFill>
                  <a:srgbClr val="0071CF"/>
                </a:solidFill>
                <a:latin typeface="Open Sans"/>
                <a:ea typeface="Open Sans"/>
                <a:cs typeface="Open Sans"/>
              </a:rPr>
              <a:t>Production and future expansion</a:t>
            </a:r>
            <a:endParaRPr sz="950">
              <a:latin typeface="Open Sans"/>
              <a:ea typeface="Open Sans"/>
              <a:cs typeface="Open Sans"/>
            </a:endParaRPr>
          </a:p>
        </p:txBody>
      </p:sp>
      <p:sp>
        <p:nvSpPr>
          <p:cNvPr id="3" name="Text 1">
            <a:extLst xmlns:a="http://schemas.openxmlformats.org/drawingml/2006/main">
              <a:ext uri="{FF2B5EF4-FFF2-40B4-BE49-F238E27FC236}">
                <a16:creationId xmlns:a16="http://schemas.microsoft.com/office/drawing/2014/main" id="{0190A548-F82C-4746-A89D-79AEF0C061F0}"/>
              </a:ext>
            </a:extLst>
          </p:cNvPr>
          <p:cNvSpPr>
            <a:spLocks xmlns:a="http://schemas.openxmlformats.org/drawingml/2006/main" noGrp="1"/>
          </p:cNvSpPr>
          <p:nvPr/>
        </p:nvSpPr>
        <p:spPr>
          <a:xfrm xmlns:a="http://schemas.openxmlformats.org/drawingml/2006/main">
            <a:off x="457200" y="514350"/>
            <a:ext cx="11277600" cy="7810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2400" b="0">
                <a:solidFill>
                  <a:srgbClr val="000000"/>
                </a:solidFill>
                <a:latin typeface="Open Sans"/>
                <a:ea typeface="Open Sans"/>
                <a:cs typeface="Open Sans"/>
              </a:rPr>
              <a:t>Production hardens the same architecture. Autonomy expands only as measured results allow.</a:t>
            </a:r>
            <a:endParaRPr sz="2400">
              <a:latin typeface="Open Sans"/>
              <a:ea typeface="Open Sans"/>
              <a:cs typeface="Open Sans"/>
            </a:endParaRPr>
          </a:p>
        </p:txBody>
      </p:sp>
      <p:sp>
        <p:nvSpPr>
          <p:cNvPr id="4" name="Shape 2">
            <a:extLst xmlns:a="http://schemas.openxmlformats.org/drawingml/2006/main">
              <a:ext uri="{FF2B5EF4-FFF2-40B4-BE49-F238E27FC236}">
                <a16:creationId xmlns:a16="http://schemas.microsoft.com/office/drawing/2014/main" id="{AA43594A-5541-42FA-B973-438B9436F949}"/>
              </a:ext>
            </a:extLst>
          </p:cNvPr>
          <p:cNvSpPr>
            <a:spLocks xmlns:a="http://schemas.openxmlformats.org/drawingml/2006/main" noGrp="1"/>
          </p:cNvSpPr>
          <p:nvPr/>
        </p:nvSpPr>
        <p:spPr>
          <a:xfrm xmlns:a="http://schemas.openxmlformats.org/drawingml/2006/main">
            <a:off x="457200" y="1371600"/>
            <a:ext cx="11277295" cy="0"/>
          </a:xfrm>
          <a:prstGeom xmlns:a="http://schemas.openxmlformats.org/drawingml/2006/main" prst="line">
            <a:avLst/>
          </a:prstGeom>
          <a:noFill xmlns:a="http://schemas.openxmlformats.org/drawingml/2006/main"/>
          <a:ln xmlns:a="http://schemas.openxmlformats.org/drawingml/2006/main" w="9525">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5" name="Text 3">
            <a:extLst xmlns:a="http://schemas.openxmlformats.org/drawingml/2006/main">
              <a:ext uri="{FF2B5EF4-FFF2-40B4-BE49-F238E27FC236}">
                <a16:creationId xmlns:a16="http://schemas.microsoft.com/office/drawing/2014/main" id="{E8886E6D-1552-4405-AD04-54FED7830952}"/>
              </a:ext>
            </a:extLst>
          </p:cNvPr>
          <p:cNvSpPr>
            <a:spLocks xmlns:a="http://schemas.openxmlformats.org/drawingml/2006/main" noGrp="1"/>
          </p:cNvSpPr>
          <p:nvPr/>
        </p:nvSpPr>
        <p:spPr>
          <a:xfrm xmlns:a="http://schemas.openxmlformats.org/drawingml/2006/main">
            <a:off x="457200" y="1536192"/>
            <a:ext cx="19621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200" b="0">
                <a:solidFill>
                  <a:srgbClr val="0071CF"/>
                </a:solidFill>
                <a:latin typeface="Open Sans"/>
                <a:ea typeface="Open Sans"/>
                <a:cs typeface="Open Sans"/>
              </a:rPr>
              <a:t>Connect and secure</a:t>
            </a:r>
            <a:endParaRPr sz="1200">
              <a:latin typeface="Open Sans"/>
              <a:ea typeface="Open Sans"/>
              <a:cs typeface="Open Sans"/>
            </a:endParaRPr>
          </a:p>
        </p:txBody>
      </p:sp>
      <p:sp>
        <p:nvSpPr>
          <p:cNvPr id="6" name="Text 4">
            <a:extLst xmlns:a="http://schemas.openxmlformats.org/drawingml/2006/main">
              <a:ext uri="{FF2B5EF4-FFF2-40B4-BE49-F238E27FC236}">
                <a16:creationId xmlns:a16="http://schemas.microsoft.com/office/drawing/2014/main" id="{8A1CFE6D-FB90-40C6-B89D-0DC0041AFCB5}"/>
              </a:ext>
            </a:extLst>
          </p:cNvPr>
          <p:cNvSpPr>
            <a:spLocks xmlns:a="http://schemas.openxmlformats.org/drawingml/2006/main" noGrp="1"/>
          </p:cNvSpPr>
          <p:nvPr/>
        </p:nvSpPr>
        <p:spPr>
          <a:xfrm xmlns:a="http://schemas.openxmlformats.org/drawingml/2006/main">
            <a:off x="457200" y="1773936"/>
            <a:ext cx="192024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65000"/>
                  </a:srgbClr>
                </a:solidFill>
                <a:latin typeface="Open Sans"/>
                <a:ea typeface="Open Sans"/>
                <a:cs typeface="Open Sans"/>
              </a:rPr>
              <a:t>Identity, real systems, data</a:t>
            </a:r>
            <a:endParaRPr sz="900">
              <a:latin typeface="Open Sans"/>
              <a:ea typeface="Open Sans"/>
              <a:cs typeface="Open Sans"/>
            </a:endParaRPr>
          </a:p>
        </p:txBody>
      </p:sp>
      <p:sp>
        <p:nvSpPr>
          <p:cNvPr id="7" name="Shape 5">
            <a:extLst xmlns:a="http://schemas.openxmlformats.org/drawingml/2006/main">
              <a:ext uri="{FF2B5EF4-FFF2-40B4-BE49-F238E27FC236}">
                <a16:creationId xmlns:a16="http://schemas.microsoft.com/office/drawing/2014/main" id="{4AB9EAAD-1089-4546-9BB6-AAD4A23F3B87}"/>
              </a:ext>
            </a:extLst>
          </p:cNvPr>
          <p:cNvSpPr>
            <a:spLocks xmlns:a="http://schemas.openxmlformats.org/drawingml/2006/main" noGrp="1"/>
          </p:cNvSpPr>
          <p:nvPr/>
        </p:nvSpPr>
        <p:spPr>
          <a:xfrm xmlns:a="http://schemas.openxmlformats.org/drawingml/2006/main">
            <a:off x="2560320" y="153619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89bd44429b9c4768">
            <a:duotone>
              <a:srgbClr val="0071CF"/>
              <a:srgbClr val="0071CF"/>
            </a:duotone>
          </a:blip>
          <a:stretch xmlns:a="http://schemas.openxmlformats.org/drawingml/2006/main">
            <a:fillRect l="0" t="0" r="0" b="0"/>
          </a:stretch>
        </p:blipFill>
        <p:spPr>
          <a:xfrm xmlns:a="http://schemas.openxmlformats.org/drawingml/2006/main">
            <a:off x="2688336" y="1664208"/>
            <a:ext cx="201168" cy="201168"/>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B5790D51-B397-4519-95DB-89C955C3540C}"/>
              </a:ext>
            </a:extLst>
          </p:cNvPr>
          <p:cNvSpPr>
            <a:spLocks xmlns:a="http://schemas.openxmlformats.org/drawingml/2006/main" noGrp="1"/>
          </p:cNvSpPr>
          <p:nvPr/>
        </p:nvSpPr>
        <p:spPr>
          <a:xfrm xmlns:a="http://schemas.openxmlformats.org/drawingml/2006/main">
            <a:off x="2962656" y="162763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Authentication, SSO &amp; RBAC</a:t>
            </a:r>
            <a:endParaRPr sz="1050">
              <a:latin typeface="Open Sans"/>
              <a:ea typeface="Open Sans"/>
              <a:cs typeface="Open Sans"/>
            </a:endParaRPr>
          </a:p>
        </p:txBody>
      </p:sp>
      <p:sp>
        <p:nvSpPr>
          <p:cNvPr id="10" name="Text 7">
            <a:extLst xmlns:a="http://schemas.openxmlformats.org/drawingml/2006/main">
              <a:ext uri="{FF2B5EF4-FFF2-40B4-BE49-F238E27FC236}">
                <a16:creationId xmlns:a16="http://schemas.microsoft.com/office/drawing/2014/main" id="{E21A9D83-7E73-43C3-B829-214ED04980D7}"/>
              </a:ext>
            </a:extLst>
          </p:cNvPr>
          <p:cNvSpPr>
            <a:spLocks xmlns:a="http://schemas.openxmlformats.org/drawingml/2006/main" noGrp="1"/>
          </p:cNvSpPr>
          <p:nvPr/>
        </p:nvSpPr>
        <p:spPr>
          <a:xfrm xmlns:a="http://schemas.openxmlformats.org/drawingml/2006/main">
            <a:off x="2688336" y="197510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Integrate with enterprise identity providers for user authentication/SSO, map roles and groups to RBAC, and enforce least-privilege access to agents, tools, data, and actions.</a:t>
            </a:r>
            <a:endParaRPr sz="1000">
              <a:latin typeface="Open Sans"/>
              <a:ea typeface="Open Sans"/>
              <a:cs typeface="Open Sans"/>
            </a:endParaRPr>
          </a:p>
        </p:txBody>
      </p:sp>
      <p:sp>
        <p:nvSpPr>
          <p:cNvPr id="11" name="Shape 8">
            <a:extLst xmlns:a="http://schemas.openxmlformats.org/drawingml/2006/main">
              <a:ext uri="{FF2B5EF4-FFF2-40B4-BE49-F238E27FC236}">
                <a16:creationId xmlns:a16="http://schemas.microsoft.com/office/drawing/2014/main" id="{AEF89D38-5C3A-4FDE-B1A8-27E59E8B5C1B}"/>
              </a:ext>
            </a:extLst>
          </p:cNvPr>
          <p:cNvSpPr>
            <a:spLocks xmlns:a="http://schemas.openxmlformats.org/drawingml/2006/main" noGrp="1"/>
          </p:cNvSpPr>
          <p:nvPr/>
        </p:nvSpPr>
        <p:spPr>
          <a:xfrm xmlns:a="http://schemas.openxmlformats.org/drawingml/2006/main">
            <a:off x="5678424" y="153619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77fdcfaeb51b4a2a">
            <a:duotone>
              <a:srgbClr val="0071CF"/>
              <a:srgbClr val="0071CF"/>
            </a:duotone>
          </a:blip>
          <a:stretch xmlns:a="http://schemas.openxmlformats.org/drawingml/2006/main">
            <a:fillRect l="0" t="0" r="0" b="0"/>
          </a:stretch>
        </p:blipFill>
        <p:spPr>
          <a:xfrm xmlns:a="http://schemas.openxmlformats.org/drawingml/2006/main">
            <a:off x="5806440" y="1664208"/>
            <a:ext cx="201168" cy="201168"/>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9744E591-BD16-4BE7-9082-35A9F4AA60A2}"/>
              </a:ext>
            </a:extLst>
          </p:cNvPr>
          <p:cNvSpPr>
            <a:spLocks xmlns:a="http://schemas.openxmlformats.org/drawingml/2006/main" noGrp="1"/>
          </p:cNvSpPr>
          <p:nvPr/>
        </p:nvSpPr>
        <p:spPr>
          <a:xfrm xmlns:a="http://schemas.openxmlformats.org/drawingml/2006/main">
            <a:off x="6080760" y="162763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Real Enterprise Integrations</a:t>
            </a:r>
            <a:endParaRPr sz="1050">
              <a:latin typeface="Open Sans"/>
              <a:ea typeface="Open Sans"/>
              <a:cs typeface="Open Sans"/>
            </a:endParaRPr>
          </a:p>
        </p:txBody>
      </p:sp>
      <p:sp>
        <p:nvSpPr>
          <p:cNvPr id="14" name="Text 10">
            <a:extLst xmlns:a="http://schemas.openxmlformats.org/drawingml/2006/main">
              <a:ext uri="{FF2B5EF4-FFF2-40B4-BE49-F238E27FC236}">
                <a16:creationId xmlns:a16="http://schemas.microsoft.com/office/drawing/2014/main" id="{4ABD2B85-FF18-462F-87C5-112A482DB60B}"/>
              </a:ext>
            </a:extLst>
          </p:cNvPr>
          <p:cNvSpPr>
            <a:spLocks xmlns:a="http://schemas.openxmlformats.org/drawingml/2006/main" noGrp="1"/>
          </p:cNvSpPr>
          <p:nvPr/>
        </p:nvSpPr>
        <p:spPr>
          <a:xfrm xmlns:a="http://schemas.openxmlformats.org/drawingml/2006/main">
            <a:off x="5806440" y="197510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Connect production PLM, MES, ERP, TestOps, planning, and internal systems while keeping those systems authoritative.</a:t>
            </a:r>
            <a:endParaRPr sz="1000">
              <a:latin typeface="Open Sans"/>
              <a:ea typeface="Open Sans"/>
              <a:cs typeface="Open Sans"/>
            </a:endParaRPr>
          </a:p>
        </p:txBody>
      </p:sp>
      <p:sp>
        <p:nvSpPr>
          <p:cNvPr id="15" name="Shape 11">
            <a:extLst xmlns:a="http://schemas.openxmlformats.org/drawingml/2006/main">
              <a:ext uri="{FF2B5EF4-FFF2-40B4-BE49-F238E27FC236}">
                <a16:creationId xmlns:a16="http://schemas.microsoft.com/office/drawing/2014/main" id="{CF104BDE-6E2F-434F-BDBB-8463751B15CB}"/>
              </a:ext>
            </a:extLst>
          </p:cNvPr>
          <p:cNvSpPr>
            <a:spLocks xmlns:a="http://schemas.openxmlformats.org/drawingml/2006/main" noGrp="1"/>
          </p:cNvSpPr>
          <p:nvPr/>
        </p:nvSpPr>
        <p:spPr>
          <a:xfrm xmlns:a="http://schemas.openxmlformats.org/drawingml/2006/main">
            <a:off x="8796528" y="153619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c05ae2144b5b41aa">
            <a:duotone>
              <a:srgbClr val="0071CF"/>
              <a:srgbClr val="0071CF"/>
            </a:duotone>
          </a:blip>
          <a:stretch xmlns:a="http://schemas.openxmlformats.org/drawingml/2006/main">
            <a:fillRect l="0" t="0" r="0" b="0"/>
          </a:stretch>
        </p:blipFill>
        <p:spPr>
          <a:xfrm xmlns:a="http://schemas.openxmlformats.org/drawingml/2006/main">
            <a:off x="8924544" y="1664208"/>
            <a:ext cx="201168" cy="201168"/>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57F2C05D-364C-48E4-8C02-2338E653ED04}"/>
              </a:ext>
            </a:extLst>
          </p:cNvPr>
          <p:cNvSpPr>
            <a:spLocks xmlns:a="http://schemas.openxmlformats.org/drawingml/2006/main" noGrp="1"/>
          </p:cNvSpPr>
          <p:nvPr/>
        </p:nvSpPr>
        <p:spPr>
          <a:xfrm xmlns:a="http://schemas.openxmlformats.org/drawingml/2006/main">
            <a:off x="9198864" y="162763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Security &amp; Data Governance</a:t>
            </a:r>
            <a:endParaRPr sz="1050">
              <a:latin typeface="Open Sans"/>
              <a:ea typeface="Open Sans"/>
              <a:cs typeface="Open Sans"/>
            </a:endParaRPr>
          </a:p>
        </p:txBody>
      </p:sp>
      <p:sp>
        <p:nvSpPr>
          <p:cNvPr id="18" name="Text 13">
            <a:extLst xmlns:a="http://schemas.openxmlformats.org/drawingml/2006/main">
              <a:ext uri="{FF2B5EF4-FFF2-40B4-BE49-F238E27FC236}">
                <a16:creationId xmlns:a16="http://schemas.microsoft.com/office/drawing/2014/main" id="{D241C1B4-6E8B-4ED7-9606-D6F7F95BDCAF}"/>
              </a:ext>
            </a:extLst>
          </p:cNvPr>
          <p:cNvSpPr>
            <a:spLocks xmlns:a="http://schemas.openxmlformats.org/drawingml/2006/main" noGrp="1"/>
          </p:cNvSpPr>
          <p:nvPr/>
        </p:nvSpPr>
        <p:spPr>
          <a:xfrm xmlns:a="http://schemas.openxmlformats.org/drawingml/2006/main">
            <a:off x="8924544" y="197510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Add secrets management, encryption, data isolation, retention policies, audit logging, and prompt/tool abuse protections.</a:t>
            </a:r>
            <a:endParaRPr sz="1000">
              <a:latin typeface="Open Sans"/>
              <a:ea typeface="Open Sans"/>
              <a:cs typeface="Open Sans"/>
            </a:endParaRPr>
          </a:p>
        </p:txBody>
      </p:sp>
      <p:sp>
        <p:nvSpPr>
          <p:cNvPr id="19" name="Shape 14">
            <a:extLst xmlns:a="http://schemas.openxmlformats.org/drawingml/2006/main">
              <a:ext uri="{FF2B5EF4-FFF2-40B4-BE49-F238E27FC236}">
                <a16:creationId xmlns:a16="http://schemas.microsoft.com/office/drawing/2014/main" id="{9126AADA-54EC-4D5A-AFA4-3D4525B1C42C}"/>
              </a:ext>
            </a:extLst>
          </p:cNvPr>
          <p:cNvSpPr>
            <a:spLocks xmlns:a="http://schemas.openxmlformats.org/drawingml/2006/main" noGrp="1"/>
          </p:cNvSpPr>
          <p:nvPr/>
        </p:nvSpPr>
        <p:spPr>
          <a:xfrm xmlns:a="http://schemas.openxmlformats.org/drawingml/2006/main">
            <a:off x="457200" y="3108960"/>
            <a:ext cx="11277295" cy="0"/>
          </a:xfrm>
          <a:prstGeom xmlns:a="http://schemas.openxmlformats.org/drawingml/2006/main" prst="line">
            <a:avLst/>
          </a:prstGeom>
          <a:noFill xmlns:a="http://schemas.openxmlformats.org/drawingml/2006/main"/>
          <a:ln xmlns:a="http://schemas.openxmlformats.org/drawingml/2006/main" w="9525">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20" name="Text 15">
            <a:extLst xmlns:a="http://schemas.openxmlformats.org/drawingml/2006/main">
              <a:ext uri="{FF2B5EF4-FFF2-40B4-BE49-F238E27FC236}">
                <a16:creationId xmlns:a16="http://schemas.microsoft.com/office/drawing/2014/main" id="{4EE991E4-B135-428E-918F-A561AC46D289}"/>
              </a:ext>
            </a:extLst>
          </p:cNvPr>
          <p:cNvSpPr>
            <a:spLocks xmlns:a="http://schemas.openxmlformats.org/drawingml/2006/main" noGrp="1"/>
          </p:cNvSpPr>
          <p:nvPr/>
        </p:nvSpPr>
        <p:spPr>
          <a:xfrm xmlns:a="http://schemas.openxmlformats.org/drawingml/2006/main">
            <a:off x="457200" y="3273552"/>
            <a:ext cx="19621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200" b="0">
                <a:solidFill>
                  <a:srgbClr val="0071CF"/>
                </a:solidFill>
                <a:latin typeface="Open Sans"/>
                <a:ea typeface="Open Sans"/>
                <a:cs typeface="Open Sans"/>
              </a:rPr>
              <a:t>Run reliably at scale</a:t>
            </a:r>
            <a:endParaRPr sz="1200">
              <a:latin typeface="Open Sans"/>
              <a:ea typeface="Open Sans"/>
              <a:cs typeface="Open Sans"/>
            </a:endParaRPr>
          </a:p>
        </p:txBody>
      </p:sp>
      <p:sp>
        <p:nvSpPr>
          <p:cNvPr id="21" name="Text 16">
            <a:extLst xmlns:a="http://schemas.openxmlformats.org/drawingml/2006/main">
              <a:ext uri="{FF2B5EF4-FFF2-40B4-BE49-F238E27FC236}">
                <a16:creationId xmlns:a16="http://schemas.microsoft.com/office/drawing/2014/main" id="{257D4ACB-C347-4F4C-9A97-88517B826938}"/>
              </a:ext>
            </a:extLst>
          </p:cNvPr>
          <p:cNvSpPr>
            <a:spLocks xmlns:a="http://schemas.openxmlformats.org/drawingml/2006/main" noGrp="1"/>
          </p:cNvSpPr>
          <p:nvPr/>
        </p:nvSpPr>
        <p:spPr>
          <a:xfrm xmlns:a="http://schemas.openxmlformats.org/drawingml/2006/main">
            <a:off x="457200" y="3511296"/>
            <a:ext cx="192024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65000"/>
                  </a:srgbClr>
                </a:solidFill>
                <a:latin typeface="Open Sans"/>
                <a:ea typeface="Open Sans"/>
                <a:cs typeface="Open Sans"/>
              </a:rPr>
              <a:t>Routing, runtime, safe execution</a:t>
            </a:r>
            <a:endParaRPr sz="900">
              <a:latin typeface="Open Sans"/>
              <a:ea typeface="Open Sans"/>
              <a:cs typeface="Open Sans"/>
            </a:endParaRPr>
          </a:p>
        </p:txBody>
      </p:sp>
      <p:sp>
        <p:nvSpPr>
          <p:cNvPr id="22" name="Shape 17">
            <a:extLst xmlns:a="http://schemas.openxmlformats.org/drawingml/2006/main">
              <a:ext uri="{FF2B5EF4-FFF2-40B4-BE49-F238E27FC236}">
                <a16:creationId xmlns:a16="http://schemas.microsoft.com/office/drawing/2014/main" id="{D053A42C-DB7B-45FF-A7C5-9F2DE445AD1F}"/>
              </a:ext>
            </a:extLst>
          </p:cNvPr>
          <p:cNvSpPr>
            <a:spLocks xmlns:a="http://schemas.openxmlformats.org/drawingml/2006/main" noGrp="1"/>
          </p:cNvSpPr>
          <p:nvPr/>
        </p:nvSpPr>
        <p:spPr>
          <a:xfrm xmlns:a="http://schemas.openxmlformats.org/drawingml/2006/main">
            <a:off x="2560320" y="327355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c23131eb6bb24283">
            <a:duotone>
              <a:srgbClr val="0071CF"/>
              <a:srgbClr val="0071CF"/>
            </a:duotone>
          </a:blip>
          <a:stretch xmlns:a="http://schemas.openxmlformats.org/drawingml/2006/main">
            <a:fillRect l="0" t="0" r="0" b="0"/>
          </a:stretch>
        </p:blipFill>
        <p:spPr>
          <a:xfrm xmlns:a="http://schemas.openxmlformats.org/drawingml/2006/main">
            <a:off x="2688336" y="3401568"/>
            <a:ext cx="201168" cy="201168"/>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B31C992A-EADA-47C0-A260-287E0AB956E2}"/>
              </a:ext>
            </a:extLst>
          </p:cNvPr>
          <p:cNvSpPr>
            <a:spLocks xmlns:a="http://schemas.openxmlformats.org/drawingml/2006/main" noGrp="1"/>
          </p:cNvSpPr>
          <p:nvPr/>
        </p:nvSpPr>
        <p:spPr>
          <a:xfrm xmlns:a="http://schemas.openxmlformats.org/drawingml/2006/main">
            <a:off x="2962656" y="336499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Dynamic Model Routing</a:t>
            </a:r>
            <a:endParaRPr sz="1050">
              <a:latin typeface="Open Sans"/>
              <a:ea typeface="Open Sans"/>
              <a:cs typeface="Open Sans"/>
            </a:endParaRPr>
          </a:p>
        </p:txBody>
      </p:sp>
      <p:sp>
        <p:nvSpPr>
          <p:cNvPr id="25" name="Text 19">
            <a:extLst xmlns:a="http://schemas.openxmlformats.org/drawingml/2006/main">
              <a:ext uri="{FF2B5EF4-FFF2-40B4-BE49-F238E27FC236}">
                <a16:creationId xmlns:a16="http://schemas.microsoft.com/office/drawing/2014/main" id="{6D08EA5F-E030-402D-9E29-9B4AAB0299AF}"/>
              </a:ext>
            </a:extLst>
          </p:cNvPr>
          <p:cNvSpPr>
            <a:spLocks xmlns:a="http://schemas.openxmlformats.org/drawingml/2006/main" noGrp="1"/>
          </p:cNvSpPr>
          <p:nvPr/>
        </p:nvSpPr>
        <p:spPr>
          <a:xfrm xmlns:a="http://schemas.openxmlformats.org/drawingml/2006/main">
            <a:off x="2688336" y="371246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Route each task to the right model based on required quality, complexity, latency, and cost, with fallback/escalation when needed.</a:t>
            </a:r>
            <a:endParaRPr sz="1000">
              <a:latin typeface="Open Sans"/>
              <a:ea typeface="Open Sans"/>
              <a:cs typeface="Open Sans"/>
            </a:endParaRPr>
          </a:p>
        </p:txBody>
      </p:sp>
      <p:sp>
        <p:nvSpPr>
          <p:cNvPr id="26" name="Shape 20">
            <a:extLst xmlns:a="http://schemas.openxmlformats.org/drawingml/2006/main">
              <a:ext uri="{FF2B5EF4-FFF2-40B4-BE49-F238E27FC236}">
                <a16:creationId xmlns:a16="http://schemas.microsoft.com/office/drawing/2014/main" id="{39067A5A-446B-4671-8479-E63A1E72DA74}"/>
              </a:ext>
            </a:extLst>
          </p:cNvPr>
          <p:cNvSpPr>
            <a:spLocks xmlns:a="http://schemas.openxmlformats.org/drawingml/2006/main" noGrp="1"/>
          </p:cNvSpPr>
          <p:nvPr/>
        </p:nvSpPr>
        <p:spPr>
          <a:xfrm xmlns:a="http://schemas.openxmlformats.org/drawingml/2006/main">
            <a:off x="5678424" y="327355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78" name="Image 4"/>
          <p:cNvPicPr>
            <a:picLocks xmlns:a="http://schemas.openxmlformats.org/drawingml/2006/main" noChangeAspect="1"/>
          </p:cNvPicPr>
          <p:nvPr/>
        </p:nvPicPr>
        <p:blipFill>
          <a:blip xmlns:r="http://schemas.openxmlformats.org/officeDocument/2006/relationships" xmlns:a="http://schemas.openxmlformats.org/drawingml/2006/main" r:embed="R85779d415a0f4eca">
            <a:duotone>
              <a:srgbClr val="0071CF"/>
              <a:srgbClr val="0071CF"/>
            </a:duotone>
          </a:blip>
          <a:stretch xmlns:a="http://schemas.openxmlformats.org/drawingml/2006/main">
            <a:fillRect l="0" t="0" r="0" b="0"/>
          </a:stretch>
        </p:blipFill>
        <p:spPr>
          <a:xfrm xmlns:a="http://schemas.openxmlformats.org/drawingml/2006/main">
            <a:off x="5806440" y="3401568"/>
            <a:ext cx="201168" cy="201168"/>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1B5D96CB-88A3-417E-9F8F-0E8979BDCFA1}"/>
              </a:ext>
            </a:extLst>
          </p:cNvPr>
          <p:cNvSpPr>
            <a:spLocks xmlns:a="http://schemas.openxmlformats.org/drawingml/2006/main" noGrp="1"/>
          </p:cNvSpPr>
          <p:nvPr/>
        </p:nvSpPr>
        <p:spPr>
          <a:xfrm xmlns:a="http://schemas.openxmlformats.org/drawingml/2006/main">
            <a:off x="6080760" y="336499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Durable Runtime &amp; Horizontal Scale</a:t>
            </a:r>
            <a:endParaRPr sz="1050">
              <a:latin typeface="Open Sans"/>
              <a:ea typeface="Open Sans"/>
              <a:cs typeface="Open Sans"/>
            </a:endParaRPr>
          </a:p>
        </p:txBody>
      </p:sp>
      <p:sp>
        <p:nvSpPr>
          <p:cNvPr id="29" name="Text 22">
            <a:extLst xmlns:a="http://schemas.openxmlformats.org/drawingml/2006/main">
              <a:ext uri="{FF2B5EF4-FFF2-40B4-BE49-F238E27FC236}">
                <a16:creationId xmlns:a16="http://schemas.microsoft.com/office/drawing/2014/main" id="{3F4019EC-9C46-4FDA-8148-5E4D30DE3CBB}"/>
              </a:ext>
            </a:extLst>
          </p:cNvPr>
          <p:cNvSpPr>
            <a:spLocks xmlns:a="http://schemas.openxmlformats.org/drawingml/2006/main" noGrp="1"/>
          </p:cNvSpPr>
          <p:nvPr/>
        </p:nvSpPr>
        <p:spPr>
          <a:xfrm xmlns:a="http://schemas.openxmlformats.org/drawingml/2006/main">
            <a:off x="5806440" y="371246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Add durable queues/workflow orchestration, stateless workers, checkpoints, retries, and support for many concurrent cases.</a:t>
            </a:r>
            <a:endParaRPr sz="1000">
              <a:latin typeface="Open Sans"/>
              <a:ea typeface="Open Sans"/>
              <a:cs typeface="Open Sans"/>
            </a:endParaRPr>
          </a:p>
        </p:txBody>
      </p:sp>
      <p:sp>
        <p:nvSpPr>
          <p:cNvPr id="30" name="Shape 23">
            <a:extLst xmlns:a="http://schemas.openxmlformats.org/drawingml/2006/main">
              <a:ext uri="{FF2B5EF4-FFF2-40B4-BE49-F238E27FC236}">
                <a16:creationId xmlns:a16="http://schemas.microsoft.com/office/drawing/2014/main" id="{808CFC2A-565C-4A32-A386-E28F86A94E91}"/>
              </a:ext>
            </a:extLst>
          </p:cNvPr>
          <p:cNvSpPr>
            <a:spLocks xmlns:a="http://schemas.openxmlformats.org/drawingml/2006/main" noGrp="1"/>
          </p:cNvSpPr>
          <p:nvPr/>
        </p:nvSpPr>
        <p:spPr>
          <a:xfrm xmlns:a="http://schemas.openxmlformats.org/drawingml/2006/main">
            <a:off x="8796528" y="3273552"/>
            <a:ext cx="2935224"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82" name="Image 5"/>
          <p:cNvPicPr>
            <a:picLocks xmlns:a="http://schemas.openxmlformats.org/drawingml/2006/main" noChangeAspect="1"/>
          </p:cNvPicPr>
          <p:nvPr/>
        </p:nvPicPr>
        <p:blipFill>
          <a:blip xmlns:r="http://schemas.openxmlformats.org/officeDocument/2006/relationships" xmlns:a="http://schemas.openxmlformats.org/drawingml/2006/main" r:embed="R156efe0ba4f14638">
            <a:duotone>
              <a:srgbClr val="0071CF"/>
              <a:srgbClr val="0071CF"/>
            </a:duotone>
          </a:blip>
          <a:stretch xmlns:a="http://schemas.openxmlformats.org/drawingml/2006/main">
            <a:fillRect l="0" t="0" r="0" b="0"/>
          </a:stretch>
        </p:blipFill>
        <p:spPr>
          <a:xfrm xmlns:a="http://schemas.openxmlformats.org/drawingml/2006/main">
            <a:off x="8924544" y="3401568"/>
            <a:ext cx="201168" cy="201168"/>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0FFCEEC-F01F-450B-B966-39A38D7D4286}"/>
              </a:ext>
            </a:extLst>
          </p:cNvPr>
          <p:cNvSpPr>
            <a:spLocks xmlns:a="http://schemas.openxmlformats.org/drawingml/2006/main" noGrp="1"/>
          </p:cNvSpPr>
          <p:nvPr/>
        </p:nvSpPr>
        <p:spPr>
          <a:xfrm xmlns:a="http://schemas.openxmlformats.org/drawingml/2006/main">
            <a:off x="9198864" y="3364992"/>
            <a:ext cx="242316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Execution Safety &amp; Resilience</a:t>
            </a:r>
            <a:endParaRPr sz="1050">
              <a:latin typeface="Open Sans"/>
              <a:ea typeface="Open Sans"/>
              <a:cs typeface="Open Sans"/>
            </a:endParaRPr>
          </a:p>
        </p:txBody>
      </p:sp>
      <p:sp>
        <p:nvSpPr>
          <p:cNvPr id="33" name="Text 25">
            <a:extLst xmlns:a="http://schemas.openxmlformats.org/drawingml/2006/main">
              <a:ext uri="{FF2B5EF4-FFF2-40B4-BE49-F238E27FC236}">
                <a16:creationId xmlns:a16="http://schemas.microsoft.com/office/drawing/2014/main" id="{BD814801-B156-4651-8F4B-4EEB74C79803}"/>
              </a:ext>
            </a:extLst>
          </p:cNvPr>
          <p:cNvSpPr>
            <a:spLocks xmlns:a="http://schemas.openxmlformats.org/drawingml/2006/main" noGrp="1"/>
          </p:cNvSpPr>
          <p:nvPr/>
        </p:nvSpPr>
        <p:spPr>
          <a:xfrm xmlns:a="http://schemas.openxmlformats.org/drawingml/2006/main">
            <a:off x="8924544" y="3712464"/>
            <a:ext cx="2679192"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Preserve idempotency, version checks, stale-state protection, partial-failure handling, retries, and source readback verification.</a:t>
            </a:r>
            <a:endParaRPr sz="1000">
              <a:latin typeface="Open Sans"/>
              <a:ea typeface="Open Sans"/>
              <a:cs typeface="Open Sans"/>
            </a:endParaRPr>
          </a:p>
        </p:txBody>
      </p:sp>
      <p:sp>
        <p:nvSpPr>
          <p:cNvPr id="34" name="Shape 26">
            <a:extLst xmlns:a="http://schemas.openxmlformats.org/drawingml/2006/main">
              <a:ext uri="{FF2B5EF4-FFF2-40B4-BE49-F238E27FC236}">
                <a16:creationId xmlns:a16="http://schemas.microsoft.com/office/drawing/2014/main" id="{14B33DA2-1486-4129-BC3F-1755479118AF}"/>
              </a:ext>
            </a:extLst>
          </p:cNvPr>
          <p:cNvSpPr>
            <a:spLocks xmlns:a="http://schemas.openxmlformats.org/drawingml/2006/main" noGrp="1"/>
          </p:cNvSpPr>
          <p:nvPr/>
        </p:nvSpPr>
        <p:spPr>
          <a:xfrm xmlns:a="http://schemas.openxmlformats.org/drawingml/2006/main">
            <a:off x="457200" y="4846320"/>
            <a:ext cx="11277295" cy="0"/>
          </a:xfrm>
          <a:prstGeom xmlns:a="http://schemas.openxmlformats.org/drawingml/2006/main" prst="line">
            <a:avLst/>
          </a:prstGeom>
          <a:noFill xmlns:a="http://schemas.openxmlformats.org/drawingml/2006/main"/>
          <a:ln xmlns:a="http://schemas.openxmlformats.org/drawingml/2006/main" w="9525">
            <a:solidFill>
              <a:srgbClr val="0E315C">
                <a:alpha val="17000"/>
              </a:srgbClr>
            </a:solid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sp>
        <p:nvSpPr>
          <p:cNvPr id="35" name="Text 27">
            <a:extLst xmlns:a="http://schemas.openxmlformats.org/drawingml/2006/main">
              <a:ext uri="{FF2B5EF4-FFF2-40B4-BE49-F238E27FC236}">
                <a16:creationId xmlns:a16="http://schemas.microsoft.com/office/drawing/2014/main" id="{21DFFC4C-1747-4751-9244-D4C02F475710}"/>
              </a:ext>
            </a:extLst>
          </p:cNvPr>
          <p:cNvSpPr>
            <a:spLocks xmlns:a="http://schemas.openxmlformats.org/drawingml/2006/main" noGrp="1"/>
          </p:cNvSpPr>
          <p:nvPr/>
        </p:nvSpPr>
        <p:spPr>
          <a:xfrm xmlns:a="http://schemas.openxmlformats.org/drawingml/2006/main">
            <a:off x="457200" y="5010912"/>
            <a:ext cx="19621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200" b="0">
                <a:solidFill>
                  <a:srgbClr val="0071CF"/>
                </a:solidFill>
                <a:latin typeface="Open Sans"/>
                <a:ea typeface="Open Sans"/>
                <a:cs typeface="Open Sans"/>
              </a:rPr>
              <a:t>Improve and expand</a:t>
            </a:r>
            <a:endParaRPr sz="1200">
              <a:latin typeface="Open Sans"/>
              <a:ea typeface="Open Sans"/>
              <a:cs typeface="Open Sans"/>
            </a:endParaRPr>
          </a:p>
        </p:txBody>
      </p:sp>
      <p:sp>
        <p:nvSpPr>
          <p:cNvPr id="36" name="Text 28">
            <a:extLst xmlns:a="http://schemas.openxmlformats.org/drawingml/2006/main">
              <a:ext uri="{FF2B5EF4-FFF2-40B4-BE49-F238E27FC236}">
                <a16:creationId xmlns:a16="http://schemas.microsoft.com/office/drawing/2014/main" id="{2D698B69-E563-44F7-9302-2011D034FCB0}"/>
              </a:ext>
            </a:extLst>
          </p:cNvPr>
          <p:cNvSpPr>
            <a:spLocks xmlns:a="http://schemas.openxmlformats.org/drawingml/2006/main" noGrp="1"/>
          </p:cNvSpPr>
          <p:nvPr/>
        </p:nvSpPr>
        <p:spPr>
          <a:xfrm xmlns:a="http://schemas.openxmlformats.org/drawingml/2006/main">
            <a:off x="457200" y="5248656"/>
            <a:ext cx="192024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900">
                <a:solidFill>
                  <a:srgbClr val="000000">
                    <a:alpha val="65000"/>
                  </a:srgbClr>
                </a:solidFill>
                <a:latin typeface="Open Sans"/>
                <a:ea typeface="Open Sans"/>
                <a:cs typeface="Open Sans"/>
              </a:rPr>
              <a:t>Monitoring, evals, earned autonomy</a:t>
            </a:r>
            <a:endParaRPr sz="900">
              <a:latin typeface="Open Sans"/>
              <a:ea typeface="Open Sans"/>
              <a:cs typeface="Open Sans"/>
            </a:endParaRPr>
          </a:p>
        </p:txBody>
      </p:sp>
      <p:sp>
        <p:nvSpPr>
          <p:cNvPr id="37" name="Shape 29">
            <a:extLst xmlns:a="http://schemas.openxmlformats.org/drawingml/2006/main">
              <a:ext uri="{FF2B5EF4-FFF2-40B4-BE49-F238E27FC236}">
                <a16:creationId xmlns:a16="http://schemas.microsoft.com/office/drawing/2014/main" id="{03EF93EC-02D3-425C-A306-85E2FC95BF22}"/>
              </a:ext>
            </a:extLst>
          </p:cNvPr>
          <p:cNvSpPr>
            <a:spLocks xmlns:a="http://schemas.openxmlformats.org/drawingml/2006/main" noGrp="1"/>
          </p:cNvSpPr>
          <p:nvPr/>
        </p:nvSpPr>
        <p:spPr>
          <a:xfrm xmlns:a="http://schemas.openxmlformats.org/drawingml/2006/main">
            <a:off x="2560320" y="5010912"/>
            <a:ext cx="4494276"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89" name="Image 6"/>
          <p:cNvPicPr>
            <a:picLocks xmlns:a="http://schemas.openxmlformats.org/drawingml/2006/main" noChangeAspect="1"/>
          </p:cNvPicPr>
          <p:nvPr/>
        </p:nvPicPr>
        <p:blipFill>
          <a:blip xmlns:r="http://schemas.openxmlformats.org/officeDocument/2006/relationships" xmlns:a="http://schemas.openxmlformats.org/drawingml/2006/main" r:embed="Rdfb7ef2f17ed4a6a">
            <a:duotone>
              <a:srgbClr val="0071CF"/>
              <a:srgbClr val="0071CF"/>
            </a:duotone>
          </a:blip>
          <a:stretch xmlns:a="http://schemas.openxmlformats.org/drawingml/2006/main">
            <a:fillRect l="0" t="0" r="0" b="0"/>
          </a:stretch>
        </p:blipFill>
        <p:spPr>
          <a:xfrm xmlns:a="http://schemas.openxmlformats.org/drawingml/2006/main">
            <a:off x="2688336" y="5138928"/>
            <a:ext cx="201168" cy="201168"/>
          </a:xfrm>
          <a:prstGeom xmlns:a="http://schemas.openxmlformats.org/drawingml/2006/main" prst="rect">
            <a:avLst/>
          </a:prstGeom>
        </p:spPr>
      </p:pic>
      <p:sp>
        <p:nvSpPr>
          <p:cNvPr id="39" name="Text 30">
            <a:extLst xmlns:a="http://schemas.openxmlformats.org/drawingml/2006/main">
              <a:ext uri="{FF2B5EF4-FFF2-40B4-BE49-F238E27FC236}">
                <a16:creationId xmlns:a16="http://schemas.microsoft.com/office/drawing/2014/main" id="{EEC6F3D1-AF75-4F0F-A666-52EA5DAD9D6E}"/>
              </a:ext>
            </a:extLst>
          </p:cNvPr>
          <p:cNvSpPr>
            <a:spLocks xmlns:a="http://schemas.openxmlformats.org/drawingml/2006/main" noGrp="1"/>
          </p:cNvSpPr>
          <p:nvPr/>
        </p:nvSpPr>
        <p:spPr>
          <a:xfrm xmlns:a="http://schemas.openxmlformats.org/drawingml/2006/main">
            <a:off x="2962656" y="5102352"/>
            <a:ext cx="3982212"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Observability &amp; Evaluation-Driven Improvement</a:t>
            </a:r>
            <a:endParaRPr sz="1050">
              <a:latin typeface="Open Sans"/>
              <a:ea typeface="Open Sans"/>
              <a:cs typeface="Open Sans"/>
            </a:endParaRPr>
          </a:p>
        </p:txBody>
      </p:sp>
      <p:sp>
        <p:nvSpPr>
          <p:cNvPr id="40" name="Text 31">
            <a:extLst xmlns:a="http://schemas.openxmlformats.org/drawingml/2006/main">
              <a:ext uri="{FF2B5EF4-FFF2-40B4-BE49-F238E27FC236}">
                <a16:creationId xmlns:a16="http://schemas.microsoft.com/office/drawing/2014/main" id="{ED4E4171-956E-4809-BE86-6868E31F54B1}"/>
              </a:ext>
            </a:extLst>
          </p:cNvPr>
          <p:cNvSpPr>
            <a:spLocks xmlns:a="http://schemas.openxmlformats.org/drawingml/2006/main" noGrp="1"/>
          </p:cNvSpPr>
          <p:nvPr/>
        </p:nvSpPr>
        <p:spPr>
          <a:xfrm xmlns:a="http://schemas.openxmlformats.org/drawingml/2006/main">
            <a:off x="2688336" y="5449824"/>
            <a:ext cx="4238244"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Use OpenAI Platform telemetry for traces, usage, latency, and cost, then add Stratos workflow outcomes, RAG/tool quality, and regression evals to continuously improve reliability.</a:t>
            </a:r>
            <a:endParaRPr sz="1000">
              <a:latin typeface="Open Sans"/>
              <a:ea typeface="Open Sans"/>
              <a:cs typeface="Open Sans"/>
            </a:endParaRPr>
          </a:p>
        </p:txBody>
      </p:sp>
      <p:sp>
        <p:nvSpPr>
          <p:cNvPr id="41" name="Shape 32">
            <a:extLst xmlns:a="http://schemas.openxmlformats.org/drawingml/2006/main">
              <a:ext uri="{FF2B5EF4-FFF2-40B4-BE49-F238E27FC236}">
                <a16:creationId xmlns:a16="http://schemas.microsoft.com/office/drawing/2014/main" id="{BA24AD6B-32DF-4346-BD93-DFFE62671346}"/>
              </a:ext>
            </a:extLst>
          </p:cNvPr>
          <p:cNvSpPr>
            <a:spLocks xmlns:a="http://schemas.openxmlformats.org/drawingml/2006/main" noGrp="1"/>
          </p:cNvSpPr>
          <p:nvPr/>
        </p:nvSpPr>
        <p:spPr>
          <a:xfrm xmlns:a="http://schemas.openxmlformats.org/drawingml/2006/main">
            <a:off x="7237476" y="5010912"/>
            <a:ext cx="4494276" cy="1389888"/>
          </a:xfrm>
          <a:prstGeom xmlns:a="http://schemas.openxmlformats.org/drawingml/2006/main" prst="roundRect">
            <a:avLst>
              <a:gd name="adj" fmla="val 5263"/>
            </a:avLst>
          </a:prstGeom>
          <a:noFill xmlns:a="http://schemas.openxmlformats.org/drawingml/2006/main"/>
          <a:ln xmlns:a="http://schemas.openxmlformats.org/drawingml/2006/main" w="6350">
            <a:noFill/>
            <a:prstDash val="solid"/>
          </a:ln>
        </p:spPr>
        <p:txBody>
          <a:bodyPr xmlns:a="http://schemas.openxmlformats.org/drawingml/2006/main"/>
          <a:lstStyle xmlns:a="http://schemas.openxmlformats.org/drawingml/2006/main"/>
          <a:p xmlns:a="http://schemas.openxmlformats.org/drawingml/2006/main">
            <a:pPr>
              <a:defRPr>
                <a:latin typeface="Open Sans"/>
                <a:ea typeface="Open Sans"/>
                <a:cs typeface="Open Sans"/>
              </a:defRPr>
            </a:pPr>
            <a:endParaRPr>
              <a:latin typeface="Open Sans"/>
              <a:ea typeface="Open Sans"/>
              <a:cs typeface="Open Sans"/>
            </a:endParaRPr>
          </a:p>
        </p:txBody>
      </p:sp>
      <p:pic>
        <p:nvPicPr>
          <p:cNvPr id="93" name="Image 7"/>
          <p:cNvPicPr>
            <a:picLocks xmlns:a="http://schemas.openxmlformats.org/drawingml/2006/main" noChangeAspect="1"/>
          </p:cNvPicPr>
          <p:nvPr/>
        </p:nvPicPr>
        <p:blipFill>
          <a:blip xmlns:r="http://schemas.openxmlformats.org/officeDocument/2006/relationships" xmlns:a="http://schemas.openxmlformats.org/drawingml/2006/main" r:embed="R32f1aeb1833b4445">
            <a:duotone>
              <a:srgbClr val="0071CF"/>
              <a:srgbClr val="0071CF"/>
            </a:duotone>
          </a:blip>
          <a:stretch xmlns:a="http://schemas.openxmlformats.org/drawingml/2006/main">
            <a:fillRect l="0" t="0" r="0" b="0"/>
          </a:stretch>
        </p:blipFill>
        <p:spPr>
          <a:xfrm xmlns:a="http://schemas.openxmlformats.org/drawingml/2006/main">
            <a:off x="7365492" y="5138928"/>
            <a:ext cx="201168" cy="201168"/>
          </a:xfrm>
          <a:prstGeom xmlns:a="http://schemas.openxmlformats.org/drawingml/2006/main" prst="rect">
            <a:avLst/>
          </a:prstGeom>
        </p:spPr>
      </p:pic>
      <p:sp>
        <p:nvSpPr>
          <p:cNvPr id="43" name="Text 33">
            <a:extLst xmlns:a="http://schemas.openxmlformats.org/drawingml/2006/main">
              <a:ext uri="{FF2B5EF4-FFF2-40B4-BE49-F238E27FC236}">
                <a16:creationId xmlns:a16="http://schemas.microsoft.com/office/drawing/2014/main" id="{A283E368-0EC8-4718-9F26-4C77B8507DCE}"/>
              </a:ext>
            </a:extLst>
          </p:cNvPr>
          <p:cNvSpPr>
            <a:spLocks xmlns:a="http://schemas.openxmlformats.org/drawingml/2006/main" noGrp="1"/>
          </p:cNvSpPr>
          <p:nvPr/>
        </p:nvSpPr>
        <p:spPr>
          <a:xfrm xmlns:a="http://schemas.openxmlformats.org/drawingml/2006/main">
            <a:off x="7639812" y="5102352"/>
            <a:ext cx="3982212"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50" b="1">
                <a:solidFill>
                  <a:srgbClr val="0E315C"/>
                </a:solidFill>
                <a:latin typeface="Open Sans"/>
                <a:ea typeface="Open Sans"/>
                <a:cs typeface="Open Sans"/>
              </a:rPr>
              <a:t>Measured Expansion of Autonomy</a:t>
            </a:r>
            <a:endParaRPr sz="1050">
              <a:latin typeface="Open Sans"/>
              <a:ea typeface="Open Sans"/>
              <a:cs typeface="Open Sans"/>
            </a:endParaRPr>
          </a:p>
        </p:txBody>
      </p:sp>
      <p:sp>
        <p:nvSpPr>
          <p:cNvPr id="44" name="Text 34">
            <a:extLst xmlns:a="http://schemas.openxmlformats.org/drawingml/2006/main">
              <a:ext uri="{FF2B5EF4-FFF2-40B4-BE49-F238E27FC236}">
                <a16:creationId xmlns:a16="http://schemas.microsoft.com/office/drawing/2014/main" id="{01E7BB94-FC67-4FC6-8A50-EC631446F351}"/>
              </a:ext>
            </a:extLst>
          </p:cNvPr>
          <p:cNvSpPr>
            <a:spLocks xmlns:a="http://schemas.openxmlformats.org/drawingml/2006/main" noGrp="1"/>
          </p:cNvSpPr>
          <p:nvPr/>
        </p:nvSpPr>
        <p:spPr>
          <a:xfrm xmlns:a="http://schemas.openxmlformats.org/drawingml/2006/main">
            <a:off x="7365492" y="5449824"/>
            <a:ext cx="4238244"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defRPr>
                <a:latin typeface="Open Sans"/>
                <a:ea typeface="Open Sans"/>
                <a:cs typeface="Open Sans"/>
              </a:defRPr>
            </a:pPr>
            <a:r>
              <a:rPr sz="1000">
                <a:solidFill>
                  <a:srgbClr val="000000">
                    <a:alpha val="76000"/>
                  </a:srgbClr>
                </a:solidFill>
                <a:latin typeface="Open Sans"/>
                <a:ea typeface="Open Sans"/>
                <a:cs typeface="Open Sans"/>
              </a:rPr>
              <a:t>Use those technical and business signals to decide when a workflow can safely move from assistive to touchless execution, based on predefined safety, quality, and business-value thresholds.</a:t>
            </a:r>
            <a:endParaRPr sz="1000">
              <a:latin typeface="Open Sans"/>
              <a:ea typeface="Open Sans"/>
              <a:cs typeface="Open Sans"/>
            </a:endParaRPr>
          </a:p>
        </p:txBody>
      </p:sp>
    </p:spTree>
    <p:extLst>
      <p:ext uri="{BB962C8B-B14F-4D97-AF65-F5344CB8AC3E}">
        <p14:creationId xmlns:p14="http://schemas.microsoft.com/office/powerpoint/2010/main" val="1751246208"/>
      </p:ext>
    </p:extLst>
  </p:cSld>
</p:sld>
</file>

<file path=ppt/theme/theme1.xml><?xml version="1.0" encoding="utf-8"?>
<a:theme xmlns:a="http://schemas.openxmlformats.org/drawingml/2006/main" name="OpenAI palette / Open Sans">
  <a:themeElements>
    <a:clrScheme name="User supplied OpenAI palette">
      <a:dk1>
        <a:srgbClr val="000000"/>
      </a:dk1>
      <a:lt1>
        <a:srgbClr val="FFFFFF"/>
      </a:lt1>
      <a:dk2>
        <a:srgbClr val="0E315C"/>
      </a:dk2>
      <a:lt2>
        <a:srgbClr val="FFFFFF"/>
      </a:lt2>
      <a:accent1>
        <a:srgbClr val="0071CF"/>
      </a:accent1>
      <a:accent2>
        <a:srgbClr val="0E315C"/>
      </a:accent2>
      <a:accent3>
        <a:srgbClr val="86DAFF"/>
      </a:accent3>
      <a:accent4>
        <a:srgbClr val="C5BFEE"/>
      </a:accent4>
      <a:accent5>
        <a:srgbClr val="0000FF"/>
      </a:accent5>
      <a:accent6>
        <a:srgbClr val="000000"/>
      </a:accent6>
      <a:hlink>
        <a:srgbClr val="0071CF"/>
      </a:hlink>
      <a:folHlink>
        <a:srgbClr val="0000FF"/>
      </a:folHlink>
    </a:clrScheme>
    <a:fontScheme name="Open Sans">
      <a:maj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font script="Armn" typeface="Open Sans"/>
        <a:font script="Bugi" typeface="Open Sans"/>
        <a:font script="Bopo" typeface="Open Sans"/>
        <a:font script="Java" typeface="Open Sans"/>
        <a:font script="Lisu" typeface="Open Sans"/>
        <a:font script="Mymr" typeface="Open Sans"/>
        <a:font script="Nkoo" typeface="Open Sans"/>
        <a:font script="Olck" typeface="Open Sans"/>
        <a:font script="Osma" typeface="Open Sans"/>
        <a:font script="Phag" typeface="Open Sans"/>
        <a:font script="Syrn" typeface="Open Sans"/>
        <a:font script="Syrj" typeface="Open Sans"/>
        <a:font script="Syre" typeface="Open Sans"/>
        <a:font script="Sora" typeface="Open Sans"/>
        <a:font script="Tale" typeface="Open Sans"/>
        <a:font script="Talu" typeface="Open Sans"/>
        <a:font script="Tfng" typeface="Open Sans"/>
      </a:majorFont>
      <a:minorFont>
        <a:latin typeface="Open Sans"/>
        <a:ea typeface=""/>
        <a:cs typeface=""/>
        <a:font script="Jpan" typeface="Open Sans"/>
        <a:font script="Hang" typeface="Open Sans"/>
        <a:font script="Hans" typeface="Open Sans"/>
        <a:font script="Hant" typeface="Open Sans"/>
        <a:font script="Arab" typeface="Open Sans"/>
        <a:font script="Hebr" typeface="Open Sans"/>
        <a:font script="Thai" typeface="Open Sans"/>
        <a:font script="Ethi" typeface="Open Sans"/>
        <a:font script="Beng" typeface="Open Sans"/>
        <a:font script="Gujr" typeface="Open Sans"/>
        <a:font script="Khmr" typeface="Open Sans"/>
        <a:font script="Knda" typeface="Open Sans"/>
        <a:font script="Guru" typeface="Open Sans"/>
        <a:font script="Cans" typeface="Open Sans"/>
        <a:font script="Cher" typeface="Open Sans"/>
        <a:font script="Yiii" typeface="Open Sans"/>
        <a:font script="Tibt" typeface="Open Sans"/>
        <a:font script="Thaa" typeface="Open Sans"/>
        <a:font script="Deva" typeface="Open Sans"/>
        <a:font script="Telu" typeface="Open Sans"/>
        <a:font script="Taml" typeface="Open Sans"/>
        <a:font script="Syrc" typeface="Open Sans"/>
        <a:font script="Orya" typeface="Open Sans"/>
        <a:font script="Mlym" typeface="Open Sans"/>
        <a:font script="Laoo" typeface="Open Sans"/>
        <a:font script="Sinh" typeface="Open Sans"/>
        <a:font script="Mong" typeface="Open Sans"/>
        <a:font script="Viet" typeface="Open Sans"/>
        <a:font script="Uigh" typeface="Open Sans"/>
        <a:font script="Geor" typeface="Open Sans"/>
        <a:font script="Armn" typeface="Open Sans"/>
        <a:font script="Bugi" typeface="Open Sans"/>
        <a:font script="Bopo" typeface="Open Sans"/>
        <a:font script="Java" typeface="Open Sans"/>
        <a:font script="Lisu" typeface="Open Sans"/>
        <a:font script="Mymr" typeface="Open Sans"/>
        <a:font script="Nkoo" typeface="Open Sans"/>
        <a:font script="Olck" typeface="Open Sans"/>
        <a:font script="Osma" typeface="Open Sans"/>
        <a:font script="Phag" typeface="Open Sans"/>
        <a:font script="Syrn" typeface="Open Sans"/>
        <a:font script="Syrj" typeface="Open Sans"/>
        <a:font script="Syre" typeface="Open Sans"/>
        <a:font script="Sora" typeface="Open Sans"/>
        <a:font script="Tale" typeface="Open Sans"/>
        <a:font script="Talu" typeface="Open Sans"/>
        <a:font script="Tfng" typeface="Open Sans"/>
      </a:minorFont>
    </a:fontScheme>
    <a:fmtScheme name="User supplied OpenAI palett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2026-09-14T02:02:22.5500000Z</dcterms:created>
  <dcterms:modified xsi:type="dcterms:W3CDTF">2026-09-14T02:02:22.5500000Z</dcterms:modified>
</coreProperties>
</file>