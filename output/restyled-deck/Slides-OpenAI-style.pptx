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256e1d1ee14f07" /><Relationship Type="http://schemas.openxmlformats.org/officeDocument/2006/relationships/extended-properties" Target="/docProps/app.xml" Id="R4e082b269b204c76" /><Relationship Type="http://schemas.openxmlformats.org/officeDocument/2006/relationships/officeDocument" Target="/ppt/presentation.xml" Id="R70151f19a57a4aa1" /></Relationships>
</file>

<file path=ppt/presentation.xml><?xml version="1.0" encoding="utf-8"?>
<p:presentation xmlns:p="http://schemas.openxmlformats.org/presentationml/2006/main">
  <p:sldMasterIdLst>
    <p:sldMasterId xmlns:r="http://schemas.openxmlformats.org/officeDocument/2006/relationships" id="2147483648" r:id="Re5243ae4096d40d4"/>
  </p:sldMasterIdLst>
  <p:notesMasterIdLst>
    <p:notesMasterId xmlns:r="http://schemas.openxmlformats.org/officeDocument/2006/relationships" r:id="R90d28fc42c93408b"/>
  </p:notesMasterIdLst>
  <p:sldIdLst>
    <p:sldId xmlns:r="http://schemas.openxmlformats.org/officeDocument/2006/relationships" id="256" r:id="R9b895ff0a5b6490a"/>
    <p:sldId xmlns:r="http://schemas.openxmlformats.org/officeDocument/2006/relationships" id="257" r:id="R1d448735ab2c4de0"/>
    <p:sldId xmlns:r="http://schemas.openxmlformats.org/officeDocument/2006/relationships" id="258" r:id="R2371596c8bae4224"/>
    <p:sldId xmlns:r="http://schemas.openxmlformats.org/officeDocument/2006/relationships" id="259" r:id="R426b87e56aae488a"/>
    <p:sldId xmlns:r="http://schemas.openxmlformats.org/officeDocument/2006/relationships" id="260" r:id="Ra08e4224cf644c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09f86105b944333" /><Relationship Type="http://schemas.openxmlformats.org/officeDocument/2006/relationships/slideMaster" Target="/ppt/slideMasters/slideMaster1.xml" Id="Re5243ae4096d40d4" /><Relationship Type="http://schemas.openxmlformats.org/officeDocument/2006/relationships/notesMaster" Target="/ppt/notesMasters/notesMaster1.xml" Id="R90d28fc42c93408b" /><Relationship Type="http://schemas.openxmlformats.org/officeDocument/2006/relationships/presProps" Target="/ppt/presProps.xml" Id="R735fa873ace64527" /><Relationship Type="http://schemas.openxmlformats.org/officeDocument/2006/relationships/viewProps" Target="/ppt/viewProps.xml" Id="R61ae5414cdf7404c" /><Relationship Type="http://schemas.openxmlformats.org/officeDocument/2006/relationships/tableStyles" Target="/ppt/tableStyles.xml" Id="R206131de7c0a4337" /><Relationship Type="http://schemas.openxmlformats.org/officeDocument/2006/relationships/slide" Target="/ppt/slides/slide1.xml" Id="R9b895ff0a5b6490a" /><Relationship Type="http://schemas.openxmlformats.org/officeDocument/2006/relationships/slide" Target="/ppt/slides/slide2.xml" Id="R1d448735ab2c4de0" /><Relationship Type="http://schemas.openxmlformats.org/officeDocument/2006/relationships/slide" Target="/ppt/slides/slide3.xml" Id="R2371596c8bae4224" /><Relationship Type="http://schemas.openxmlformats.org/officeDocument/2006/relationships/slide" Target="/ppt/slides/slide4.xml" Id="R426b87e56aae488a" /><Relationship Type="http://schemas.openxmlformats.org/officeDocument/2006/relationships/slide" Target="/ppt/slides/slide5.xml" Id="Ra08e4224cf644c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a218ac9d5c42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ajorFont>
      <a:minorFont>
        <a:latin typeface="Calibri"/>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d89ec0bd364a37" /><Relationship Type="http://schemas.openxmlformats.org/officeDocument/2006/relationships/notesMaster" Target="/ppt/notesMasters/notesMaster1.xml" Id="R483c5df8d41146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622dd18e38484a" /><Relationship Type="http://schemas.openxmlformats.org/officeDocument/2006/relationships/notesMaster" Target="/ppt/notesMasters/notesMaster1.xml" Id="R30f97fdfd4f04a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4bcaad27834fad" /><Relationship Type="http://schemas.openxmlformats.org/officeDocument/2006/relationships/notesMaster" Target="/ppt/notesMasters/notesMaster1.xml" Id="R37fa4f96492a41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e9856dc42546ac" /><Relationship Type="http://schemas.openxmlformats.org/officeDocument/2006/relationships/notesMaster" Target="/ppt/notesMasters/notesMaster1.xml" Id="R488c54e4536747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aadb3b0b73420a" /><Relationship Type="http://schemas.openxmlformats.org/officeDocument/2006/relationships/notesMaster" Target="/ppt/notesMasters/notesMaster1.xml" Id="R1545cfd2aafe4b40"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Industry references for the value drivers: McKinsey on the commercial impact of on-time delivery in semiconductors; Microchip FY2026 filing on inventory ($1.04B, 185 inventory days). Time-to-decision assumes a material decision moving from 5 days to 1 day (80% cycle-time reduction), which on a $500M run-rate is roughly $5.5M of shipment value removed from delay exposure when the issue is on the critical path.</a:t>
            </a:r>
          </a:p>
        </p:txBody>
      </p:sp>
      <p:sp>
        <p:nvSpPr>
          <p:cNvPr id="4" name="Slide Number Placeholder 3"/>
          <p:cNvSpPr>
            <a:spLocks noGrp="1"/>
          </p:cNvSpPr>
          <p:nvPr>
            <p:ph type="sldNum" idx="5"/>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5</a:t>
            </a:fld>
            <a:endParaRPr 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8e3f27a73140c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3c46d9870d4813" /><Relationship Type="http://schemas.openxmlformats.org/officeDocument/2006/relationships/slideLayout" Target="/ppt/slideLayouts/slideLayout1.xml" Id="R4aecedb5d021482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cedb5d021482f"/>
  </p:sldLayoutIdLst>
  <p:hf sldNum="0" hdr="0" ftr="0" dt="0"/>
  <p:txStyles>
    <p:titleStyle>
      <a:lvl1pPr xmlns:a="http://schemas.openxmlformats.org/drawingml/2006/main" algn="ctr" defTabSz="914400">
        <a:spcBef>
          <a:spcPct val="0"/>
        </a:spcBef>
        <a:buNone/>
        <a:defRPr sz="4400" kern="1200">
          <a:solidFill>
            <a:schemeClr val="tx1"/>
          </a:solidFill>
          <a:latin typeface="Helvetica Neue"/>
          <a:ea typeface="Helvetica Neue"/>
          <a:cs typeface="Helvetica Neue"/>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Helvetica Neue"/>
          <a:ea typeface="Helvetica Neue"/>
          <a:cs typeface="Helvetica Neue"/>
        </a:defRPr>
      </a:lvl1pPr>
      <a:lvl2pPr xmlns:a="http://schemas.openxmlformats.org/drawingml/2006/main" marL="742950" indent="-285750" algn="l" defTabSz="914400">
        <a:spcBef>
          <a:spcPct val="20000"/>
        </a:spcBef>
        <a:buFont typeface="Arial"/>
        <a:buChar char="–"/>
        <a:defRPr sz="2800" kern="1200">
          <a:solidFill>
            <a:schemeClr val="tx1"/>
          </a:solidFill>
          <a:latin typeface="Helvetica Neue"/>
          <a:ea typeface="Helvetica Neue"/>
          <a:cs typeface="Helvetica Neue"/>
        </a:defRPr>
      </a:lvl2pPr>
      <a:lvl3pPr xmlns:a="http://schemas.openxmlformats.org/drawingml/2006/main" marL="1143000" indent="-228600" algn="l" defTabSz="914400">
        <a:spcBef>
          <a:spcPct val="20000"/>
        </a:spcBef>
        <a:buFont typeface="Arial"/>
        <a:buChar char="•"/>
        <a:defRPr sz="2400" kern="1200">
          <a:solidFill>
            <a:schemeClr val="tx1"/>
          </a:solidFill>
          <a:latin typeface="Helvetica Neue"/>
          <a:ea typeface="Helvetica Neue"/>
          <a:cs typeface="Helvetica Neue"/>
        </a:defRPr>
      </a:lvl3pPr>
      <a:lvl4pPr xmlns:a="http://schemas.openxmlformats.org/drawingml/2006/main" marL="1600200" indent="-228600" algn="l" defTabSz="914400">
        <a:spcBef>
          <a:spcPct val="20000"/>
        </a:spcBef>
        <a:buFont typeface="Arial"/>
        <a:buChar char="–"/>
        <a:defRPr sz="2000" kern="1200">
          <a:solidFill>
            <a:schemeClr val="tx1"/>
          </a:solidFill>
          <a:latin typeface="Helvetica Neue"/>
          <a:ea typeface="Helvetica Neue"/>
          <a:cs typeface="Helvetica Neue"/>
        </a:defRPr>
      </a:lvl4pPr>
      <a:lvl5pPr xmlns:a="http://schemas.openxmlformats.org/drawingml/2006/main" marL="2057400" indent="-228600" algn="l" defTabSz="914400">
        <a:spcBef>
          <a:spcPct val="20000"/>
        </a:spcBef>
        <a:buFont typeface="Arial"/>
        <a:buChar char="»"/>
        <a:defRPr sz="2000" kern="1200">
          <a:solidFill>
            <a:schemeClr val="tx1"/>
          </a:solidFill>
          <a:latin typeface="Helvetica Neue"/>
          <a:ea typeface="Helvetica Neue"/>
          <a:cs typeface="Helvetica Neue"/>
        </a:defRPr>
      </a:lvl5pPr>
      <a:lvl6pPr xmlns:a="http://schemas.openxmlformats.org/drawingml/2006/main" marL="2514600" indent="-228600" algn="l" defTabSz="914400">
        <a:spcBef>
          <a:spcPct val="20000"/>
        </a:spcBef>
        <a:buFont typeface="Arial"/>
        <a:buChar char="•"/>
        <a:defRPr sz="2000" kern="1200">
          <a:solidFill>
            <a:schemeClr val="tx1"/>
          </a:solidFill>
          <a:latin typeface="Helvetica Neue"/>
          <a:ea typeface="Helvetica Neue"/>
          <a:cs typeface="Helvetica Neue"/>
        </a:defRPr>
      </a:lvl6pPr>
      <a:lvl7pPr xmlns:a="http://schemas.openxmlformats.org/drawingml/2006/main" marL="2971800" indent="-228600" algn="l" defTabSz="914400">
        <a:spcBef>
          <a:spcPct val="20000"/>
        </a:spcBef>
        <a:buFont typeface="Arial"/>
        <a:buChar char="•"/>
        <a:defRPr sz="2000" kern="1200">
          <a:solidFill>
            <a:schemeClr val="tx1"/>
          </a:solidFill>
          <a:latin typeface="Helvetica Neue"/>
          <a:ea typeface="Helvetica Neue"/>
          <a:cs typeface="Helvetica Neue"/>
        </a:defRPr>
      </a:lvl7pPr>
      <a:lvl8pPr xmlns:a="http://schemas.openxmlformats.org/drawingml/2006/main" marL="3429000" indent="-228600" algn="l" defTabSz="914400">
        <a:spcBef>
          <a:spcPct val="20000"/>
        </a:spcBef>
        <a:buFont typeface="Arial"/>
        <a:buChar char="•"/>
        <a:defRPr sz="2000" kern="1200">
          <a:solidFill>
            <a:schemeClr val="tx1"/>
          </a:solidFill>
          <a:latin typeface="Helvetica Neue"/>
          <a:ea typeface="Helvetica Neue"/>
          <a:cs typeface="Helvetica Neue"/>
        </a:defRPr>
      </a:lvl8pPr>
      <a:lvl9pPr xmlns:a="http://schemas.openxmlformats.org/drawingml/2006/main" marL="3886200" indent="-228600" algn="l" defTabSz="914400">
        <a:spcBef>
          <a:spcPct val="20000"/>
        </a:spcBef>
        <a:buFont typeface="Arial"/>
        <a:buChar char="•"/>
        <a:defRPr sz="2000" kern="1200">
          <a:solidFill>
            <a:schemeClr val="tx1"/>
          </a:solidFill>
          <a:latin typeface="Helvetica Neue"/>
          <a:ea typeface="Helvetica Neue"/>
          <a:cs typeface="Helvetica Neue"/>
        </a:defRPr>
      </a:lvl9pPr>
    </p:bodyStyle>
    <p:otherStyle>
      <a:lvl1pPr xmlns:a="http://schemas.openxmlformats.org/drawingml/2006/main" marL="0" algn="l" defTabSz="914400">
        <a:buNone/>
        <a:defRPr sz="1800" kern="1200">
          <a:solidFill>
            <a:schemeClr val="tx1"/>
          </a:solidFill>
          <a:latin typeface="Helvetica Neue"/>
          <a:ea typeface="Helvetica Neue"/>
          <a:cs typeface="Helvetica Neue"/>
        </a:defRPr>
      </a:lvl1pPr>
      <a:lvl2pPr xmlns:a="http://schemas.openxmlformats.org/drawingml/2006/main" marL="457200" algn="l" defTabSz="914400">
        <a:buNone/>
        <a:defRPr sz="1800" kern="1200">
          <a:solidFill>
            <a:schemeClr val="tx1"/>
          </a:solidFill>
          <a:latin typeface="Helvetica Neue"/>
          <a:ea typeface="Helvetica Neue"/>
          <a:cs typeface="Helvetica Neue"/>
        </a:defRPr>
      </a:lvl2pPr>
      <a:lvl3pPr xmlns:a="http://schemas.openxmlformats.org/drawingml/2006/main" marL="914400" algn="l" defTabSz="914400">
        <a:buNone/>
        <a:defRPr sz="1800" kern="1200">
          <a:solidFill>
            <a:schemeClr val="tx1"/>
          </a:solidFill>
          <a:latin typeface="Helvetica Neue"/>
          <a:ea typeface="Helvetica Neue"/>
          <a:cs typeface="Helvetica Neue"/>
        </a:defRPr>
      </a:lvl3pPr>
      <a:lvl4pPr xmlns:a="http://schemas.openxmlformats.org/drawingml/2006/main" marL="1371600" algn="l" defTabSz="914400">
        <a:buNone/>
        <a:defRPr sz="1800" kern="1200">
          <a:solidFill>
            <a:schemeClr val="tx1"/>
          </a:solidFill>
          <a:latin typeface="Helvetica Neue"/>
          <a:ea typeface="Helvetica Neue"/>
          <a:cs typeface="Helvetica Neue"/>
        </a:defRPr>
      </a:lvl4pPr>
      <a:lvl5pPr xmlns:a="http://schemas.openxmlformats.org/drawingml/2006/main" marL="1828800" algn="l" defTabSz="914400">
        <a:buNone/>
        <a:defRPr sz="1800" kern="1200">
          <a:solidFill>
            <a:schemeClr val="tx1"/>
          </a:solidFill>
          <a:latin typeface="Helvetica Neue"/>
          <a:ea typeface="Helvetica Neue"/>
          <a:cs typeface="Helvetica Neue"/>
        </a:defRPr>
      </a:lvl5pPr>
      <a:lvl6pPr xmlns:a="http://schemas.openxmlformats.org/drawingml/2006/main" marL="2286000" algn="l" defTabSz="914400">
        <a:buNone/>
        <a:defRPr sz="1800" kern="1200">
          <a:solidFill>
            <a:schemeClr val="tx1"/>
          </a:solidFill>
          <a:latin typeface="Helvetica Neue"/>
          <a:ea typeface="Helvetica Neue"/>
          <a:cs typeface="Helvetica Neue"/>
        </a:defRPr>
      </a:lvl6pPr>
      <a:lvl7pPr xmlns:a="http://schemas.openxmlformats.org/drawingml/2006/main" marL="2743200" algn="l" defTabSz="914400">
        <a:buNone/>
        <a:defRPr sz="1800" kern="1200">
          <a:solidFill>
            <a:schemeClr val="tx1"/>
          </a:solidFill>
          <a:latin typeface="Helvetica Neue"/>
          <a:ea typeface="Helvetica Neue"/>
          <a:cs typeface="Helvetica Neue"/>
        </a:defRPr>
      </a:lvl7pPr>
      <a:lvl8pPr xmlns:a="http://schemas.openxmlformats.org/drawingml/2006/main" marL="3200400" algn="l" defTabSz="914400">
        <a:buNone/>
        <a:defRPr sz="1800" kern="1200">
          <a:solidFill>
            <a:schemeClr val="tx1"/>
          </a:solidFill>
          <a:latin typeface="Helvetica Neue"/>
          <a:ea typeface="Helvetica Neue"/>
          <a:cs typeface="Helvetica Neue"/>
        </a:defRPr>
      </a:lvl8pPr>
      <a:lvl9pPr xmlns:a="http://schemas.openxmlformats.org/drawingml/2006/main" marL="3657600" algn="l" defTabSz="914400">
        <a:buNone/>
        <a:defRPr sz="1800" kern="1200">
          <a:solidFill>
            <a:schemeClr val="tx1"/>
          </a:solidFill>
          <a:latin typeface="Helvetica Neue"/>
          <a:ea typeface="Helvetica Neue"/>
          <a:cs typeface="Helvetica Neue"/>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ajorFont>
      <a:minorFont>
        <a:latin typeface="Calibri"/>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f0cae6d13c4908" /><Relationship Type="http://schemas.openxmlformats.org/officeDocument/2006/relationships/image" Target="/ppt/media/image.png" Id="Rdc9fc60744664835" /><Relationship Type="http://schemas.openxmlformats.org/officeDocument/2006/relationships/image" Target="/ppt/media/image2.png" Id="R35103eada0864003" /><Relationship Type="http://schemas.openxmlformats.org/officeDocument/2006/relationships/image" Target="/ppt/media/image3.png" Id="R1d2999304d7a46aa" /><Relationship Type="http://schemas.openxmlformats.org/officeDocument/2006/relationships/image" Target="/ppt/media/image4.png" Id="Rb6a63a0e36d34074" /><Relationship Type="http://schemas.openxmlformats.org/officeDocument/2006/relationships/image" Target="/ppt/media/image5.png" Id="Rf437aac8685d4f81" /><Relationship Type="http://schemas.openxmlformats.org/officeDocument/2006/relationships/image" Target="/ppt/media/image6.png" Id="Rcc3f9fb052224cc6" /><Relationship Type="http://schemas.openxmlformats.org/officeDocument/2006/relationships/notesSlide" Target="/ppt/notesSlides/notesSlide1.xml" Id="R5ab5aef9b20546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c6ceba5ff245a3" /><Relationship Type="http://schemas.openxmlformats.org/officeDocument/2006/relationships/image" Target="/ppt/media/image7.png" Id="R809e5100e54c4fa8" /><Relationship Type="http://schemas.openxmlformats.org/officeDocument/2006/relationships/image" Target="/ppt/media/image8.png" Id="R3b796c3d276c4bf9" /><Relationship Type="http://schemas.openxmlformats.org/officeDocument/2006/relationships/image" Target="/ppt/media/image9.png" Id="R450746ceee834ed4" /><Relationship Type="http://schemas.openxmlformats.org/officeDocument/2006/relationships/image" Target="/ppt/media/image10.png" Id="R94a10d6a425f42ef" /><Relationship Type="http://schemas.openxmlformats.org/officeDocument/2006/relationships/image" Target="/ppt/media/image11.png" Id="R34719733b2034fcd" /><Relationship Type="http://schemas.openxmlformats.org/officeDocument/2006/relationships/image" Target="/ppt/media/image12.png" Id="R49805ebb49914312" /><Relationship Type="http://schemas.openxmlformats.org/officeDocument/2006/relationships/image" Target="/ppt/media/image13.png" Id="R019dcd261d304310" /><Relationship Type="http://schemas.openxmlformats.org/officeDocument/2006/relationships/image" Target="/ppt/media/image14.png" Id="R0451fa9c96fe4579" /><Relationship Type="http://schemas.openxmlformats.org/officeDocument/2006/relationships/image" Target="/ppt/media/image15.png" Id="R3171dc60593c44bd" /><Relationship Type="http://schemas.openxmlformats.org/officeDocument/2006/relationships/image" Target="/ppt/media/image16.png" Id="R0f1e649007a84714" /><Relationship Type="http://schemas.openxmlformats.org/officeDocument/2006/relationships/image" Target="/ppt/media/image17.png" Id="Red19998267fd4bed" /><Relationship Type="http://schemas.openxmlformats.org/officeDocument/2006/relationships/image" Target="/ppt/media/image18.png" Id="R4b8ce3d918b24f6d" /><Relationship Type="http://schemas.openxmlformats.org/officeDocument/2006/relationships/image" Target="/ppt/media/image19.png" Id="R5f9d4ad8606b462a" /><Relationship Type="http://schemas.openxmlformats.org/officeDocument/2006/relationships/image" Target="/ppt/media/image20.png" Id="R3de403743e0b47a0" /><Relationship Type="http://schemas.openxmlformats.org/officeDocument/2006/relationships/image" Target="/ppt/media/image21.png" Id="R87ce9ae3e0314716" /><Relationship Type="http://schemas.openxmlformats.org/officeDocument/2006/relationships/image" Target="/ppt/media/image22.png" Id="Rd9747d4ee00642ad" /><Relationship Type="http://schemas.openxmlformats.org/officeDocument/2006/relationships/image" Target="/ppt/media/image23.png" Id="Rc0083e27c5b14170" /><Relationship Type="http://schemas.openxmlformats.org/officeDocument/2006/relationships/image" Target="/ppt/media/image24.png" Id="R61d56bbf824d41e7" /><Relationship Type="http://schemas.openxmlformats.org/officeDocument/2006/relationships/image" Target="/ppt/media/image25.png" Id="R1536c68346c64dc1" /><Relationship Type="http://schemas.openxmlformats.org/officeDocument/2006/relationships/image" Target="/ppt/media/image26.png" Id="Ra730c5effa814a34" /><Relationship Type="http://schemas.openxmlformats.org/officeDocument/2006/relationships/image" Target="/ppt/media/image27.png" Id="Rfa260ebc86654c3d" /><Relationship Type="http://schemas.openxmlformats.org/officeDocument/2006/relationships/image" Target="/ppt/media/image28.png" Id="R029125480ff541bb" /><Relationship Type="http://schemas.openxmlformats.org/officeDocument/2006/relationships/image" Target="/ppt/media/image29.png" Id="Rcf6a61fb5f5447e8" /><Relationship Type="http://schemas.openxmlformats.org/officeDocument/2006/relationships/image" Target="/ppt/media/image30.png" Id="Rf00d4cc98dbc4c6e" /><Relationship Type="http://schemas.openxmlformats.org/officeDocument/2006/relationships/image" Target="/ppt/media/image31.png" Id="R878f995244444081" /><Relationship Type="http://schemas.openxmlformats.org/officeDocument/2006/relationships/notesSlide" Target="/ppt/notesSlides/notesSlide2.xml" Id="R54f1085be46542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bcba10af394c4b" /><Relationship Type="http://schemas.openxmlformats.org/officeDocument/2006/relationships/image" Target="/ppt/media/image32.png" Id="R522edb4982e34dd5" /><Relationship Type="http://schemas.openxmlformats.org/officeDocument/2006/relationships/image" Target="/ppt/media/image33.png" Id="Rfc91ce4269f24c72" /><Relationship Type="http://schemas.openxmlformats.org/officeDocument/2006/relationships/image" Target="/ppt/media/image34.png" Id="R8e20111f99f54af0" /><Relationship Type="http://schemas.openxmlformats.org/officeDocument/2006/relationships/image" Target="/ppt/media/image35.png" Id="R1b396e2255e5457a" /><Relationship Type="http://schemas.openxmlformats.org/officeDocument/2006/relationships/image" Target="/ppt/media/image36.png" Id="R79791437e2f1468e" /><Relationship Type="http://schemas.openxmlformats.org/officeDocument/2006/relationships/image" Target="/ppt/media/image37.png" Id="Ra702a511cf394d64" /><Relationship Type="http://schemas.openxmlformats.org/officeDocument/2006/relationships/image" Target="/ppt/media/image38.png" Id="R7e5df53e33114787" /><Relationship Type="http://schemas.openxmlformats.org/officeDocument/2006/relationships/image" Target="/ppt/media/image39.png" Id="R124754410acc4827" /><Relationship Type="http://schemas.openxmlformats.org/officeDocument/2006/relationships/image" Target="/ppt/media/image40.png" Id="R5fdaa73b87914174" /><Relationship Type="http://schemas.openxmlformats.org/officeDocument/2006/relationships/image" Target="/ppt/media/image41.png" Id="R8b4bc078fc2c4783" /><Relationship Type="http://schemas.openxmlformats.org/officeDocument/2006/relationships/image" Target="/ppt/media/image42.png" Id="Rae32d9fdfea5422c" /><Relationship Type="http://schemas.openxmlformats.org/officeDocument/2006/relationships/image" Target="/ppt/media/image43.png" Id="R126107159e4e44f3" /><Relationship Type="http://schemas.openxmlformats.org/officeDocument/2006/relationships/image" Target="/ppt/media/image44.png" Id="R15174b947cbe4c19" /><Relationship Type="http://schemas.openxmlformats.org/officeDocument/2006/relationships/notesSlide" Target="/ppt/notesSlides/notesSlide3.xml" Id="Rd6cf2b2d620541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633eeb88d14072" /><Relationship Type="http://schemas.openxmlformats.org/officeDocument/2006/relationships/image" Target="/ppt/media/image45.png" Id="R9948402464de456f" /><Relationship Type="http://schemas.openxmlformats.org/officeDocument/2006/relationships/image" Target="/ppt/media/image46.png" Id="R184ddf81c2d64c50" /><Relationship Type="http://schemas.openxmlformats.org/officeDocument/2006/relationships/image" Target="/ppt/media/image23.png" Id="R334ae7431fb0439a" /><Relationship Type="http://schemas.openxmlformats.org/officeDocument/2006/relationships/image" Target="/ppt/media/image47.png" Id="Rd64f131c26b4407e" /><Relationship Type="http://schemas.openxmlformats.org/officeDocument/2006/relationships/image" Target="/ppt/media/image37.png" Id="R231249f861d242a4" /><Relationship Type="http://schemas.openxmlformats.org/officeDocument/2006/relationships/image" Target="/ppt/media/image48.png" Id="R14c4d59cf04b428c" /><Relationship Type="http://schemas.openxmlformats.org/officeDocument/2006/relationships/image" Target="/ppt/media/image49.png" Id="R5581e6005ea54e51" /><Relationship Type="http://schemas.openxmlformats.org/officeDocument/2006/relationships/image" Target="/ppt/media/image50.png" Id="R0a89bc63f7c541aa" /><Relationship Type="http://schemas.openxmlformats.org/officeDocument/2006/relationships/notesSlide" Target="/ppt/notesSlides/notesSlide4.xml" Id="Rd9d06620eb814e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69c2e536f8425c" /><Relationship Type="http://schemas.openxmlformats.org/officeDocument/2006/relationships/image" Target="/ppt/media/image51.png" Id="R6c4b6493a77a4203" /><Relationship Type="http://schemas.openxmlformats.org/officeDocument/2006/relationships/image" Target="/ppt/media/image23.png" Id="R31056fd939dd4757" /><Relationship Type="http://schemas.openxmlformats.org/officeDocument/2006/relationships/image" Target="/ppt/media/image52.png" Id="Rfa540226a8c84a0d" /><Relationship Type="http://schemas.openxmlformats.org/officeDocument/2006/relationships/image" Target="/ppt/media/image53.png" Id="Rce9f6c6e56d34f82" /><Relationship Type="http://schemas.openxmlformats.org/officeDocument/2006/relationships/image" Target="/ppt/media/image54.png" Id="R6e8263ea42134f58" /><Relationship Type="http://schemas.openxmlformats.org/officeDocument/2006/relationships/image" Target="/ppt/media/image37.png" Id="R2b15e9c7d25e452b" /><Relationship Type="http://schemas.openxmlformats.org/officeDocument/2006/relationships/image" Target="/ppt/media/image12.png" Id="R0469e9f83d284cbf" /><Relationship Type="http://schemas.openxmlformats.org/officeDocument/2006/relationships/image" Target="/ppt/media/image55.png" Id="R7e53c2fe7f9143c6" /><Relationship Type="http://schemas.openxmlformats.org/officeDocument/2006/relationships/notesSlide" Target="/ppt/notesSlides/notesSlide5.xml" Id="R85bac0a25c014ef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0A0044-CA5D-487E-8089-414B7CE279B7}"/>
              </a:ext>
            </a:extLst>
          </p:cNvPr>
          <p:cNvSpPr>
            <a:spLocks xmlns:a="http://schemas.openxmlformats.org/drawingml/2006/main" noGrp="1"/>
          </p:cNvSpPr>
          <p:nvPr/>
        </p:nvSpPr>
        <p:spPr>
          <a:xfrm xmlns:a="http://schemas.openxmlformats.org/drawingml/2006/main">
            <a:off x="457200" y="323850"/>
            <a:ext cx="1127760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Custom Silicon Programs are Inherently Difficult to Operate</a:t>
            </a:r>
            <a:endParaRPr sz="2600">
              <a:latin typeface="Helvetica Neue"/>
              <a:ea typeface="Helvetica Neue"/>
              <a:cs typeface="Helvetica Neue"/>
            </a:endParaRPr>
          </a:p>
        </p:txBody>
      </p:sp>
      <p:sp>
        <p:nvSpPr>
          <p:cNvPr id="3" name="Text 1">
            <a:extLst xmlns:a="http://schemas.openxmlformats.org/drawingml/2006/main">
              <a:ext uri="{FF2B5EF4-FFF2-40B4-BE49-F238E27FC236}">
                <a16:creationId xmlns:a16="http://schemas.microsoft.com/office/drawing/2014/main" id="{53224073-65AB-46EF-B9E9-BB7BB7F8E9EA}"/>
              </a:ext>
            </a:extLst>
          </p:cNvPr>
          <p:cNvSpPr>
            <a:spLocks xmlns:a="http://schemas.openxmlformats.org/drawingml/2006/main" noGrp="1"/>
          </p:cNvSpPr>
          <p:nvPr/>
        </p:nvSpPr>
        <p:spPr>
          <a:xfrm xmlns:a="http://schemas.openxmlformats.org/drawingml/2006/main">
            <a:off x="457200" y="1024128"/>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Industry context</a:t>
            </a:r>
            <a:endParaRPr sz="1050">
              <a:latin typeface="Helvetica Neue"/>
              <a:ea typeface="Helvetica Neue"/>
              <a:cs typeface="Helvetica Neue"/>
            </a:endParaRPr>
          </a:p>
        </p:txBody>
      </p:sp>
      <p:sp>
        <p:nvSpPr>
          <p:cNvPr id="4" name="Text 2">
            <a:extLst xmlns:a="http://schemas.openxmlformats.org/drawingml/2006/main">
              <a:ext uri="{FF2B5EF4-FFF2-40B4-BE49-F238E27FC236}">
                <a16:creationId xmlns:a16="http://schemas.microsoft.com/office/drawing/2014/main" id="{DA5A29BC-03BE-4879-B179-080F06379B84}"/>
              </a:ext>
            </a:extLst>
          </p:cNvPr>
          <p:cNvSpPr>
            <a:spLocks xmlns:a="http://schemas.openxmlformats.org/drawingml/2006/main" noGrp="1"/>
          </p:cNvSpPr>
          <p:nvPr/>
        </p:nvSpPr>
        <p:spPr>
          <a:xfrm xmlns:a="http://schemas.openxmlformats.org/drawingml/2006/main">
            <a:off x="457200" y="1225296"/>
            <a:ext cx="36118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a:solidFill>
                  <a:srgbClr val="424242"/>
                </a:solidFill>
                <a:latin typeface="Helvetica Neue"/>
                <a:ea typeface="Helvetica Neue"/>
                <a:cs typeface="Helvetica Neue"/>
              </a:rPr>
              <a:t>As AI models become more compute-intensive, high-compute companies are increasingly investing in custom silicon tailored to their training and inference workloads. Delivering these chips requires close coordination with semiconductor partners across design, testing, validation, and manufacturing.</a:t>
            </a:r>
            <a:endParaRPr sz="950">
              <a:latin typeface="Helvetica Neue"/>
              <a:ea typeface="Helvetica Neue"/>
              <a:cs typeface="Helvetica Neue"/>
            </a:endParaRPr>
          </a:p>
        </p:txBody>
      </p:sp>
      <p:sp>
        <p:nvSpPr>
          <p:cNvPr id="5" name="Text 3">
            <a:extLst xmlns:a="http://schemas.openxmlformats.org/drawingml/2006/main">
              <a:ext uri="{FF2B5EF4-FFF2-40B4-BE49-F238E27FC236}">
                <a16:creationId xmlns:a16="http://schemas.microsoft.com/office/drawing/2014/main" id="{4FEE6C98-A3CA-4485-904F-B86F51F57F95}"/>
              </a:ext>
            </a:extLst>
          </p:cNvPr>
          <p:cNvSpPr>
            <a:spLocks xmlns:a="http://schemas.openxmlformats.org/drawingml/2006/main" noGrp="1"/>
          </p:cNvSpPr>
          <p:nvPr/>
        </p:nvSpPr>
        <p:spPr>
          <a:xfrm xmlns:a="http://schemas.openxmlformats.org/drawingml/2006/main">
            <a:off x="457200" y="2029968"/>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Target persona</a:t>
            </a:r>
            <a:endParaRPr sz="1050">
              <a:latin typeface="Helvetica Neue"/>
              <a:ea typeface="Helvetica Neue"/>
              <a:cs typeface="Helvetica Neue"/>
            </a:endParaRPr>
          </a:p>
        </p:txBody>
      </p:sp>
      <p:sp>
        <p:nvSpPr>
          <p:cNvPr id="6" name="Text 4">
            <a:extLst xmlns:a="http://schemas.openxmlformats.org/drawingml/2006/main">
              <a:ext uri="{FF2B5EF4-FFF2-40B4-BE49-F238E27FC236}">
                <a16:creationId xmlns:a16="http://schemas.microsoft.com/office/drawing/2014/main" id="{12C551B0-334B-4D30-9F36-B9588E371C9E}"/>
              </a:ext>
            </a:extLst>
          </p:cNvPr>
          <p:cNvSpPr>
            <a:spLocks xmlns:a="http://schemas.openxmlformats.org/drawingml/2006/main" noGrp="1"/>
          </p:cNvSpPr>
          <p:nvPr/>
        </p:nvSpPr>
        <p:spPr>
          <a:xfrm xmlns:a="http://schemas.openxmlformats.org/drawingml/2006/main">
            <a:off x="457200" y="2231136"/>
            <a:ext cx="36118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Semiconductor companies </a:t>
            </a:r>
            <a:r>
              <a:rPr sz="950">
                <a:solidFill>
                  <a:srgbClr val="424242"/>
                </a:solidFill>
                <a:latin typeface="Helvetica Neue"/>
                <a:ea typeface="Helvetica Neue"/>
                <a:cs typeface="Helvetica Neue"/>
              </a:rPr>
              <a:t>running custom-silicon programs for high-compute customers, such as Broadcom, Micron, and Intel.</a:t>
            </a:r>
            <a:endParaRPr sz="950">
              <a:latin typeface="Helvetica Neue"/>
              <a:ea typeface="Helvetica Neue"/>
              <a:cs typeface="Helvetica Neue"/>
            </a:endParaRPr>
          </a:p>
        </p:txBody>
      </p:sp>
      <p:sp>
        <p:nvSpPr>
          <p:cNvPr id="7" name="Text 5">
            <a:extLst xmlns:a="http://schemas.openxmlformats.org/drawingml/2006/main">
              <a:ext uri="{FF2B5EF4-FFF2-40B4-BE49-F238E27FC236}">
                <a16:creationId xmlns:a16="http://schemas.microsoft.com/office/drawing/2014/main" id="{3C747ABC-7A38-4D0E-B2C6-99AF45C83320}"/>
              </a:ext>
            </a:extLst>
          </p:cNvPr>
          <p:cNvSpPr>
            <a:spLocks xmlns:a="http://schemas.openxmlformats.org/drawingml/2006/main" noGrp="1"/>
          </p:cNvSpPr>
          <p:nvPr/>
        </p:nvSpPr>
        <p:spPr>
          <a:xfrm xmlns:a="http://schemas.openxmlformats.org/drawingml/2006/main">
            <a:off x="457200" y="2670048"/>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Business problem</a:t>
            </a:r>
            <a:endParaRPr sz="1050">
              <a:latin typeface="Helvetica Neue"/>
              <a:ea typeface="Helvetica Neue"/>
              <a:cs typeface="Helvetica Neue"/>
            </a:endParaRPr>
          </a:p>
        </p:txBody>
      </p:sp>
      <p:sp>
        <p:nvSpPr>
          <p:cNvPr id="8" name="Text 6">
            <a:extLst xmlns:a="http://schemas.openxmlformats.org/drawingml/2006/main">
              <a:ext uri="{FF2B5EF4-FFF2-40B4-BE49-F238E27FC236}">
                <a16:creationId xmlns:a16="http://schemas.microsoft.com/office/drawing/2014/main" id="{B4113B2C-1A2D-41E1-8267-523FE75B64AA}"/>
              </a:ext>
            </a:extLst>
          </p:cNvPr>
          <p:cNvSpPr>
            <a:spLocks xmlns:a="http://schemas.openxmlformats.org/drawingml/2006/main" noGrp="1"/>
          </p:cNvSpPr>
          <p:nvPr/>
        </p:nvSpPr>
        <p:spPr>
          <a:xfrm xmlns:a="http://schemas.openxmlformats.org/drawingml/2006/main">
            <a:off x="457200" y="2871216"/>
            <a:ext cx="36118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a:solidFill>
                  <a:srgbClr val="424242"/>
                </a:solidFill>
                <a:latin typeface="Helvetica Neue"/>
                <a:ea typeface="Helvetica Neue"/>
                <a:cs typeface="Helvetica Neue"/>
              </a:rPr>
              <a:t>Requirement changes and yield excursions ripple quickly across validation, supply, schedule, and customer commitments. Teams must reconcile fragmented evidence across multiple systems to understand impact, protect yield, and decide how to respond.</a:t>
            </a:r>
            <a:endParaRPr sz="950">
              <a:latin typeface="Helvetica Neue"/>
              <a:ea typeface="Helvetica Neue"/>
              <a:cs typeface="Helvetica Neue"/>
            </a:endParaRPr>
          </a:p>
        </p:txBody>
      </p:sp>
      <p:sp>
        <p:nvSpPr>
          <p:cNvPr id="9" name="Text 7">
            <a:extLst xmlns:a="http://schemas.openxmlformats.org/drawingml/2006/main">
              <a:ext uri="{FF2B5EF4-FFF2-40B4-BE49-F238E27FC236}">
                <a16:creationId xmlns:a16="http://schemas.microsoft.com/office/drawing/2014/main" id="{203E7AD3-E400-417D-969E-A1C0FCA289F6}"/>
              </a:ext>
            </a:extLst>
          </p:cNvPr>
          <p:cNvSpPr>
            <a:spLocks xmlns:a="http://schemas.openxmlformats.org/drawingml/2006/main" noGrp="1"/>
          </p:cNvSpPr>
          <p:nvPr/>
        </p:nvSpPr>
        <p:spPr>
          <a:xfrm xmlns:a="http://schemas.openxmlformats.org/drawingml/2006/main">
            <a:off x="4343400" y="1024128"/>
            <a:ext cx="3703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Current challenges</a:t>
            </a:r>
            <a:endParaRPr sz="1050">
              <a:latin typeface="Helvetica Neue"/>
              <a:ea typeface="Helvetica Neue"/>
              <a:cs typeface="Helvetica Neue"/>
            </a:endParaRPr>
          </a:p>
        </p:txBody>
      </p:sp>
      <p:sp>
        <p:nvSpPr>
          <p:cNvPr id="10" name="Text 8">
            <a:extLst xmlns:a="http://schemas.openxmlformats.org/drawingml/2006/main">
              <a:ext uri="{FF2B5EF4-FFF2-40B4-BE49-F238E27FC236}">
                <a16:creationId xmlns:a16="http://schemas.microsoft.com/office/drawing/2014/main" id="{A8BA24C4-F74C-45ED-B96F-3E7A252447D0}"/>
              </a:ext>
            </a:extLst>
          </p:cNvPr>
          <p:cNvSpPr>
            <a:spLocks xmlns:a="http://schemas.openxmlformats.org/drawingml/2006/main" noGrp="1"/>
          </p:cNvSpPr>
          <p:nvPr/>
        </p:nvSpPr>
        <p:spPr>
          <a:xfrm xmlns:a="http://schemas.openxmlformats.org/drawingml/2006/main">
            <a:off x="4343400" y="1225296"/>
            <a:ext cx="370332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500"/>
              </a:spcAft>
              <a:buNone/>
              <a:defRPr>
                <a:latin typeface="Helvetica Neue"/>
                <a:ea typeface="Helvetica Neue"/>
                <a:cs typeface="Helvetica Neue"/>
              </a:defRPr>
            </a:pPr>
            <a:r>
              <a:rPr sz="950" b="1">
                <a:solidFill>
                  <a:srgbClr val="101010"/>
                </a:solidFill>
                <a:latin typeface="Helvetica Neue"/>
                <a:ea typeface="Helvetica Neue"/>
                <a:cs typeface="Helvetica Neue"/>
              </a:rPr>
              <a:t>Requirements evolve throughout the program. </a:t>
            </a:r>
            <a:r>
              <a:rPr sz="950">
                <a:solidFill>
                  <a:srgbClr val="424242"/>
                </a:solidFill>
                <a:latin typeface="Helvetica Neue"/>
                <a:ea typeface="Helvetica Neue"/>
                <a:cs typeface="Helvetica Neue"/>
              </a:rPr>
              <a:t>As model sizes, context windows, throughput targets, memory needs, power constraints, and deployment patterns change, customers ask the program to support new or updated workloads.</a:t>
            </a:r>
            <a:endParaRPr sz="950">
              <a:latin typeface="Helvetica Neue"/>
              <a:ea typeface="Helvetica Neue"/>
              <a:cs typeface="Helvetica Neue"/>
            </a:endParaRPr>
          </a:p>
          <a:p xmlns:a="http://schemas.openxmlformats.org/drawingml/2006/main">
            <a:pPr marL="0" indent="0">
              <a:spcAft>
                <a:spcPts val="500"/>
              </a:spcAft>
              <a:buNone/>
              <a:defRPr>
                <a:latin typeface="Helvetica Neue"/>
                <a:ea typeface="Helvetica Neue"/>
                <a:cs typeface="Helvetica Neue"/>
              </a:defRPr>
            </a:pPr>
            <a:r>
              <a:rPr sz="950" b="1">
                <a:solidFill>
                  <a:srgbClr val="101010"/>
                </a:solidFill>
                <a:latin typeface="Helvetica Neue"/>
                <a:ea typeface="Helvetica Neue"/>
                <a:cs typeface="Helvetica Neue"/>
              </a:rPr>
              <a:t>Impact assessment is fragmented. </a:t>
            </a:r>
            <a:r>
              <a:rPr sz="950">
                <a:solidFill>
                  <a:srgbClr val="424242"/>
                </a:solidFill>
                <a:latin typeface="Helvetica Neue"/>
                <a:ea typeface="Helvetica Neue"/>
                <a:cs typeface="Helvetica Neue"/>
              </a:rPr>
              <a:t>The evidence needed to understand a change is spread across engineering, validation, manufacturing, planning, and commercial systems, slowing confident decisions.</a:t>
            </a:r>
            <a:endParaRPr sz="950">
              <a:latin typeface="Helvetica Neue"/>
              <a:ea typeface="Helvetica Neue"/>
              <a:cs typeface="Helvetica Neue"/>
            </a:endParaRPr>
          </a:p>
          <a:p xmlns:a="http://schemas.openxmlformats.org/drawingml/2006/main">
            <a:pPr marL="0" indent="0">
              <a:spcAft>
                <a:spcPts val="500"/>
              </a:spcAft>
              <a:buNone/>
              <a:defRPr>
                <a:latin typeface="Helvetica Neue"/>
                <a:ea typeface="Helvetica Neue"/>
                <a:cs typeface="Helvetica Neue"/>
              </a:defRPr>
            </a:pPr>
            <a:r>
              <a:rPr sz="950" b="1">
                <a:solidFill>
                  <a:srgbClr val="101010"/>
                </a:solidFill>
                <a:latin typeface="Helvetica Neue"/>
                <a:ea typeface="Helvetica Neue"/>
                <a:cs typeface="Helvetica Neue"/>
              </a:rPr>
              <a:t>Execution is fragmented across systems. </a:t>
            </a:r>
            <a:r>
              <a:rPr sz="950">
                <a:solidFill>
                  <a:srgbClr val="424242"/>
                </a:solidFill>
                <a:latin typeface="Helvetica Neue"/>
                <a:ea typeface="Helvetica Neue"/>
                <a:cs typeface="Helvetica Neue"/>
              </a:rPr>
              <a:t>Once a decision is made, the required actions span validation, manufacturing, planning, ERP, and other tools, making coordination, follow-through, and verification difficult.</a:t>
            </a:r>
            <a:endParaRPr sz="950">
              <a:latin typeface="Helvetica Neue"/>
              <a:ea typeface="Helvetica Neue"/>
              <a:cs typeface="Helvetica Neue"/>
            </a:endParaRPr>
          </a:p>
          <a:p xmlns:a="http://schemas.openxmlformats.org/drawingml/2006/main">
            <a:pPr marL="0" indent="0">
              <a:spcAft>
                <a:spcPts val="500"/>
              </a:spcAft>
              <a:buNone/>
              <a:defRPr>
                <a:latin typeface="Helvetica Neue"/>
                <a:ea typeface="Helvetica Neue"/>
                <a:cs typeface="Helvetica Neue"/>
              </a:defRPr>
            </a:pPr>
            <a:r>
              <a:rPr sz="950" b="1">
                <a:solidFill>
                  <a:srgbClr val="101010"/>
                </a:solidFill>
                <a:latin typeface="Helvetica Neue"/>
                <a:ea typeface="Helvetica Neue"/>
                <a:cs typeface="Helvetica Neue"/>
              </a:rPr>
              <a:t>Program exposure grows. </a:t>
            </a:r>
            <a:r>
              <a:rPr sz="950">
                <a:solidFill>
                  <a:srgbClr val="424242"/>
                </a:solidFill>
                <a:latin typeface="Helvetica Neue"/>
                <a:ea typeface="Helvetica Neue"/>
                <a:cs typeface="Helvetica Neue"/>
              </a:rPr>
              <a:t>Slow impact assessment leads to missed milestones, unnecessary validation, inventory exposure, unreliable commitments, and revenue at risk.</a:t>
            </a:r>
            <a:endParaRPr sz="950">
              <a:latin typeface="Helvetica Neue"/>
              <a:ea typeface="Helvetica Neue"/>
              <a:cs typeface="Helvetica Neue"/>
            </a:endParaRPr>
          </a:p>
        </p:txBody>
      </p:sp>
      <p:sp>
        <p:nvSpPr>
          <p:cNvPr id="11" name="Shape 9">
            <a:extLst xmlns:a="http://schemas.openxmlformats.org/drawingml/2006/main">
              <a:ext uri="{FF2B5EF4-FFF2-40B4-BE49-F238E27FC236}">
                <a16:creationId xmlns:a16="http://schemas.microsoft.com/office/drawing/2014/main" id="{278C4B7D-8803-402B-A40D-00831F0A7971}"/>
              </a:ext>
            </a:extLst>
          </p:cNvPr>
          <p:cNvSpPr>
            <a:spLocks xmlns:a="http://schemas.openxmlformats.org/drawingml/2006/main" noGrp="1"/>
          </p:cNvSpPr>
          <p:nvPr/>
        </p:nvSpPr>
        <p:spPr>
          <a:xfrm xmlns:a="http://schemas.openxmlformats.org/drawingml/2006/main">
            <a:off x="8211311" y="1024128"/>
            <a:ext cx="475" cy="2752344"/>
          </a:xfrm>
          <a:prstGeom xmlns:a="http://schemas.openxmlformats.org/drawingml/2006/main" prst="line">
            <a:avLst/>
          </a:prstGeom>
          <a:noFill xmlns:a="http://schemas.openxmlformats.org/drawingml/2006/main"/>
          <a:ln xmlns:a="http://schemas.openxmlformats.org/drawingml/2006/main" w="9525">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12" name="Text 10">
            <a:extLst xmlns:a="http://schemas.openxmlformats.org/drawingml/2006/main">
              <a:ext uri="{FF2B5EF4-FFF2-40B4-BE49-F238E27FC236}">
                <a16:creationId xmlns:a16="http://schemas.microsoft.com/office/drawing/2014/main" id="{51CC0EC2-F560-43DA-B355-474D319236AE}"/>
              </a:ext>
            </a:extLst>
          </p:cNvPr>
          <p:cNvSpPr>
            <a:spLocks xmlns:a="http://schemas.openxmlformats.org/drawingml/2006/main" noGrp="1"/>
          </p:cNvSpPr>
          <p:nvPr/>
        </p:nvSpPr>
        <p:spPr>
          <a:xfrm xmlns:a="http://schemas.openxmlformats.org/drawingml/2006/main">
            <a:off x="8439150" y="2924175"/>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500" b="0">
                <a:solidFill>
                  <a:srgbClr val="101010"/>
                </a:solidFill>
                <a:latin typeface="Helvetica Neue"/>
                <a:ea typeface="Helvetica Neue"/>
                <a:cs typeface="Helvetica Neue"/>
              </a:rPr>
              <a:t>$2M</a:t>
            </a:r>
            <a:endParaRPr sz="2500">
              <a:latin typeface="Helvetica Neue"/>
              <a:ea typeface="Helvetica Neue"/>
              <a:cs typeface="Helvetica Neue"/>
            </a:endParaRPr>
          </a:p>
        </p:txBody>
      </p:sp>
      <p:sp>
        <p:nvSpPr>
          <p:cNvPr id="13" name="Text 11">
            <a:extLst xmlns:a="http://schemas.openxmlformats.org/drawingml/2006/main">
              <a:ext uri="{FF2B5EF4-FFF2-40B4-BE49-F238E27FC236}">
                <a16:creationId xmlns:a16="http://schemas.microsoft.com/office/drawing/2014/main" id="{E8471A39-80D9-441B-AB81-44C373A7D821}"/>
              </a:ext>
            </a:extLst>
          </p:cNvPr>
          <p:cNvSpPr>
            <a:spLocks xmlns:a="http://schemas.openxmlformats.org/drawingml/2006/main" noGrp="1"/>
          </p:cNvSpPr>
          <p:nvPr/>
        </p:nvSpPr>
        <p:spPr>
          <a:xfrm xmlns:a="http://schemas.openxmlformats.org/drawingml/2006/main">
            <a:off x="8448675" y="3371850"/>
            <a:ext cx="3295650" cy="4095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a:solidFill>
                  <a:srgbClr val="424242"/>
                </a:solidFill>
                <a:latin typeface="Helvetica Neue"/>
                <a:ea typeface="Helvetica Neue"/>
                <a:cs typeface="Helvetica Neue"/>
              </a:rPr>
              <a:t>Per day of market opportunity at risk if deadlines are missed</a:t>
            </a:r>
            <a:endParaRPr sz="950">
              <a:latin typeface="Helvetica Neue"/>
              <a:ea typeface="Helvetica Neue"/>
              <a:cs typeface="Helvetica Neue"/>
            </a:endParaRPr>
          </a:p>
        </p:txBody>
      </p:sp>
      <p:sp>
        <p:nvSpPr>
          <p:cNvPr id="14" name="Text 12">
            <a:extLst xmlns:a="http://schemas.openxmlformats.org/drawingml/2006/main">
              <a:ext uri="{FF2B5EF4-FFF2-40B4-BE49-F238E27FC236}">
                <a16:creationId xmlns:a16="http://schemas.microsoft.com/office/drawing/2014/main" id="{FBAF600A-0A1D-4021-A0B1-C0292D6C6BE0}"/>
              </a:ext>
            </a:extLst>
          </p:cNvPr>
          <p:cNvSpPr>
            <a:spLocks xmlns:a="http://schemas.openxmlformats.org/drawingml/2006/main" noGrp="1"/>
          </p:cNvSpPr>
          <p:nvPr/>
        </p:nvSpPr>
        <p:spPr>
          <a:xfrm xmlns:a="http://schemas.openxmlformats.org/drawingml/2006/main">
            <a:off x="8439150" y="1123950"/>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500" b="0">
                <a:solidFill>
                  <a:srgbClr val="101010"/>
                </a:solidFill>
                <a:latin typeface="Helvetica Neue"/>
                <a:ea typeface="Helvetica Neue"/>
                <a:cs typeface="Helvetica Neue"/>
              </a:rPr>
              <a:t>$203.6B</a:t>
            </a:r>
            <a:endParaRPr sz="2500">
              <a:latin typeface="Helvetica Neue"/>
              <a:ea typeface="Helvetica Neue"/>
              <a:cs typeface="Helvetica Neue"/>
            </a:endParaRPr>
          </a:p>
        </p:txBody>
      </p:sp>
      <p:sp>
        <p:nvSpPr>
          <p:cNvPr id="15" name="Text 13">
            <a:extLst xmlns:a="http://schemas.openxmlformats.org/drawingml/2006/main">
              <a:ext uri="{FF2B5EF4-FFF2-40B4-BE49-F238E27FC236}">
                <a16:creationId xmlns:a16="http://schemas.microsoft.com/office/drawing/2014/main" id="{EA890BA8-CD7A-43BD-9861-0A1B6A8322AE}"/>
              </a:ext>
            </a:extLst>
          </p:cNvPr>
          <p:cNvSpPr>
            <a:spLocks xmlns:a="http://schemas.openxmlformats.org/drawingml/2006/main" noGrp="1"/>
          </p:cNvSpPr>
          <p:nvPr/>
        </p:nvSpPr>
        <p:spPr>
          <a:xfrm xmlns:a="http://schemas.openxmlformats.org/drawingml/2006/main">
            <a:off x="8448675" y="1571625"/>
            <a:ext cx="3295650" cy="3714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a:solidFill>
                  <a:srgbClr val="424242"/>
                </a:solidFill>
                <a:latin typeface="Helvetica Neue"/>
                <a:ea typeface="Helvetica Neue"/>
                <a:cs typeface="Helvetica Neue"/>
              </a:rPr>
              <a:t>Total market for custom semiconductor ASIC market by 2030</a:t>
            </a:r>
            <a:endParaRPr sz="950">
              <a:latin typeface="Helvetica Neue"/>
              <a:ea typeface="Helvetica Neue"/>
              <a:cs typeface="Helvetica Neue"/>
            </a:endParaRPr>
          </a:p>
        </p:txBody>
      </p:sp>
      <p:sp>
        <p:nvSpPr>
          <p:cNvPr id="16" name="Text 14">
            <a:extLst xmlns:a="http://schemas.openxmlformats.org/drawingml/2006/main">
              <a:ext uri="{FF2B5EF4-FFF2-40B4-BE49-F238E27FC236}">
                <a16:creationId xmlns:a16="http://schemas.microsoft.com/office/drawing/2014/main" id="{AC345AEE-53C7-4AA1-A547-128AC314B7E8}"/>
              </a:ext>
            </a:extLst>
          </p:cNvPr>
          <p:cNvSpPr>
            <a:spLocks xmlns:a="http://schemas.openxmlformats.org/drawingml/2006/main" noGrp="1"/>
          </p:cNvSpPr>
          <p:nvPr/>
        </p:nvSpPr>
        <p:spPr>
          <a:xfrm xmlns:a="http://schemas.openxmlformats.org/drawingml/2006/main">
            <a:off x="8439150" y="2009775"/>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500" b="0">
                <a:solidFill>
                  <a:srgbClr val="101010"/>
                </a:solidFill>
                <a:latin typeface="Helvetica Neue"/>
                <a:ea typeface="Helvetica Neue"/>
                <a:cs typeface="Helvetica Neue"/>
              </a:rPr>
              <a:t>$10M+</a:t>
            </a:r>
            <a:endParaRPr sz="2500">
              <a:latin typeface="Helvetica Neue"/>
              <a:ea typeface="Helvetica Neue"/>
              <a:cs typeface="Helvetica Neue"/>
            </a:endParaRPr>
          </a:p>
        </p:txBody>
      </p:sp>
      <p:sp>
        <p:nvSpPr>
          <p:cNvPr id="17" name="Text 15">
            <a:extLst xmlns:a="http://schemas.openxmlformats.org/drawingml/2006/main">
              <a:ext uri="{FF2B5EF4-FFF2-40B4-BE49-F238E27FC236}">
                <a16:creationId xmlns:a16="http://schemas.microsoft.com/office/drawing/2014/main" id="{D953D851-2010-4D28-8977-B456F0E56820}"/>
              </a:ext>
            </a:extLst>
          </p:cNvPr>
          <p:cNvSpPr>
            <a:spLocks xmlns:a="http://schemas.openxmlformats.org/drawingml/2006/main" noGrp="1"/>
          </p:cNvSpPr>
          <p:nvPr/>
        </p:nvSpPr>
        <p:spPr>
          <a:xfrm xmlns:a="http://schemas.openxmlformats.org/drawingml/2006/main">
            <a:off x="8448675" y="2438400"/>
            <a:ext cx="3295650" cy="3905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a:solidFill>
                  <a:srgbClr val="424242"/>
                </a:solidFill>
                <a:latin typeface="Helvetica Neue"/>
                <a:ea typeface="Helvetica Neue"/>
                <a:cs typeface="Helvetica Neue"/>
              </a:rPr>
              <a:t>1% drop in yield percentage causes tens of millions of dollars in revenue loss</a:t>
            </a:r>
            <a:endParaRPr sz="950">
              <a:latin typeface="Helvetica Neue"/>
              <a:ea typeface="Helvetica Neue"/>
              <a:cs typeface="Helvetica Neue"/>
            </a:endParaRPr>
          </a:p>
        </p:txBody>
      </p:sp>
      <p:sp>
        <p:nvSpPr>
          <p:cNvPr id="19" name="Shape 17">
            <a:extLst xmlns:a="http://schemas.openxmlformats.org/drawingml/2006/main">
              <a:ext uri="{FF2B5EF4-FFF2-40B4-BE49-F238E27FC236}">
                <a16:creationId xmlns:a16="http://schemas.microsoft.com/office/drawing/2014/main" id="{79A15B2F-E9BC-4B88-BDA3-AF1B687C1BB8}"/>
              </a:ext>
            </a:extLst>
          </p:cNvPr>
          <p:cNvSpPr>
            <a:spLocks xmlns:a="http://schemas.openxmlformats.org/drawingml/2006/main" noGrp="1"/>
          </p:cNvSpPr>
          <p:nvPr/>
        </p:nvSpPr>
        <p:spPr>
          <a:xfrm xmlns:a="http://schemas.openxmlformats.org/drawingml/2006/main">
            <a:off x="493776" y="3703319"/>
            <a:ext cx="2651760"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99" name="Image 0"/>
          <p:cNvPicPr>
            <a:picLocks xmlns:a="http://schemas.openxmlformats.org/drawingml/2006/main" noChangeAspect="1"/>
          </p:cNvPicPr>
          <p:nvPr/>
        </p:nvPicPr>
        <p:blipFill>
          <a:blip xmlns:r="http://schemas.openxmlformats.org/officeDocument/2006/relationships" xmlns:a="http://schemas.openxmlformats.org/drawingml/2006/main" r:embed="Rdc9fc60744664835"/>
          <a:stretch xmlns:a="http://schemas.openxmlformats.org/drawingml/2006/main">
            <a:fillRect l="0" t="0" r="0" b="0"/>
          </a:stretch>
        </p:blipFill>
        <p:spPr>
          <a:xfrm xmlns:a="http://schemas.openxmlformats.org/drawingml/2006/main">
            <a:off x="585216" y="3739895"/>
            <a:ext cx="146304" cy="146304"/>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2AD19283-8610-4F63-B179-EC25ECC86F09}"/>
              </a:ext>
            </a:extLst>
          </p:cNvPr>
          <p:cNvSpPr>
            <a:spLocks xmlns:a="http://schemas.openxmlformats.org/drawingml/2006/main" noGrp="1"/>
          </p:cNvSpPr>
          <p:nvPr/>
        </p:nvSpPr>
        <p:spPr>
          <a:xfrm xmlns:a="http://schemas.openxmlformats.org/drawingml/2006/main">
            <a:off x="767715" y="3743325"/>
            <a:ext cx="504825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b="0">
                <a:solidFill>
                  <a:srgbClr val="424242"/>
                </a:solidFill>
                <a:latin typeface="Helvetica Neue"/>
                <a:ea typeface="Helvetica Neue"/>
                <a:cs typeface="Helvetica Neue"/>
              </a:rPr>
              <a:t>As-is: manual, time-consuming, and error-prone</a:t>
            </a:r>
            <a:endParaRPr sz="900">
              <a:latin typeface="Helvetica Neue"/>
              <a:ea typeface="Helvetica Neue"/>
              <a:cs typeface="Helvetica Neue"/>
            </a:endParaRPr>
          </a:p>
        </p:txBody>
      </p:sp>
      <p:sp>
        <p:nvSpPr>
          <p:cNvPr id="22" name="Shape 19">
            <a:extLst xmlns:a="http://schemas.openxmlformats.org/drawingml/2006/main">
              <a:ext uri="{FF2B5EF4-FFF2-40B4-BE49-F238E27FC236}">
                <a16:creationId xmlns:a16="http://schemas.microsoft.com/office/drawing/2014/main" id="{D47B016C-C7A8-4C76-B713-2D8B649FE595}"/>
              </a:ext>
            </a:extLst>
          </p:cNvPr>
          <p:cNvSpPr>
            <a:spLocks xmlns:a="http://schemas.openxmlformats.org/drawingml/2006/main" noGrp="1"/>
          </p:cNvSpPr>
          <p:nvPr/>
        </p:nvSpPr>
        <p:spPr>
          <a:xfrm xmlns:a="http://schemas.openxmlformats.org/drawingml/2006/main">
            <a:off x="457200" y="3977640"/>
            <a:ext cx="11277295" cy="2194560"/>
          </a:xfrm>
          <a:prstGeom xmlns:a="http://schemas.openxmlformats.org/drawingml/2006/main" prst="roundRect">
            <a:avLst>
              <a:gd name="adj" fmla="val 3704"/>
            </a:avLst>
          </a:prstGeom>
          <a:noFill xmlns:a="http://schemas.openxmlformats.org/drawingml/2006/main"/>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3" name="Shape 20">
            <a:extLst xmlns:a="http://schemas.openxmlformats.org/drawingml/2006/main">
              <a:ext uri="{FF2B5EF4-FFF2-40B4-BE49-F238E27FC236}">
                <a16:creationId xmlns:a16="http://schemas.microsoft.com/office/drawing/2014/main" id="{19332736-3766-4AB5-8C53-5E3D6F1F009A}"/>
              </a:ext>
            </a:extLst>
          </p:cNvPr>
          <p:cNvSpPr>
            <a:spLocks xmlns:a="http://schemas.openxmlformats.org/drawingml/2006/main" noGrp="1"/>
          </p:cNvSpPr>
          <p:nvPr/>
        </p:nvSpPr>
        <p:spPr>
          <a:xfrm xmlns:a="http://schemas.openxmlformats.org/drawingml/2006/main">
            <a:off x="512064" y="4032504"/>
            <a:ext cx="11167567" cy="329184"/>
          </a:xfrm>
          <a:prstGeom xmlns:a="http://schemas.openxmlformats.org/drawingml/2006/main" prst="line">
            <a:avLst/>
          </a:prstGeom>
          <a:solidFill xmlns:a="http://schemas.openxmlformats.org/drawingml/2006/main">
            <a:srgbClr val="F3F3F3"/>
          </a:solidFill>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03" name="Image 1"/>
          <p:cNvPicPr>
            <a:picLocks xmlns:a="http://schemas.openxmlformats.org/drawingml/2006/main" noChangeAspect="1"/>
          </p:cNvPicPr>
          <p:nvPr/>
        </p:nvPicPr>
        <p:blipFill>
          <a:blip xmlns:r="http://schemas.openxmlformats.org/officeDocument/2006/relationships" xmlns:a="http://schemas.openxmlformats.org/drawingml/2006/main" r:embed="R35103eada0864003"/>
          <a:stretch xmlns:a="http://schemas.openxmlformats.org/drawingml/2006/main">
            <a:fillRect l="0" t="0" r="0" b="0"/>
          </a:stretch>
        </p:blipFill>
        <p:spPr>
          <a:xfrm xmlns:a="http://schemas.openxmlformats.org/drawingml/2006/main">
            <a:off x="640080" y="4087368"/>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A454EAF7-153F-4859-A5E4-5D2623E836C0}"/>
              </a:ext>
            </a:extLst>
          </p:cNvPr>
          <p:cNvSpPr>
            <a:spLocks xmlns:a="http://schemas.openxmlformats.org/drawingml/2006/main" noGrp="1"/>
          </p:cNvSpPr>
          <p:nvPr/>
        </p:nvSpPr>
        <p:spPr>
          <a:xfrm xmlns:a="http://schemas.openxmlformats.org/drawingml/2006/main">
            <a:off x="932688" y="4032504"/>
            <a:ext cx="106070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Program operator </a:t>
            </a:r>
            <a:r>
              <a:rPr sz="1000">
                <a:solidFill>
                  <a:srgbClr val="101010"/>
                </a:solidFill>
                <a:latin typeface="Helvetica Neue"/>
                <a:ea typeface="Helvetica Neue"/>
                <a:cs typeface="Helvetica Neue"/>
              </a:rPr>
              <a:t>chases every stage by hand: emails, portals, and spreadsheets to learn what changed, what is ready, and who must approve next</a:t>
            </a:r>
            <a:endParaRPr sz="1000">
              <a:latin typeface="Helvetica Neue"/>
              <a:ea typeface="Helvetica Neue"/>
              <a:cs typeface="Helvetica Neue"/>
            </a:endParaRPr>
          </a:p>
        </p:txBody>
      </p:sp>
      <p:sp>
        <p:nvSpPr>
          <p:cNvPr id="26" name="Shape 22">
            <a:extLst xmlns:a="http://schemas.openxmlformats.org/drawingml/2006/main">
              <a:ext uri="{FF2B5EF4-FFF2-40B4-BE49-F238E27FC236}">
                <a16:creationId xmlns:a16="http://schemas.microsoft.com/office/drawing/2014/main" id="{304E50BF-01C4-4ABB-BC43-DA0D5BA50B23}"/>
              </a:ext>
            </a:extLst>
          </p:cNvPr>
          <p:cNvSpPr>
            <a:spLocks xmlns:a="http://schemas.openxmlformats.org/drawingml/2006/main" noGrp="1"/>
          </p:cNvSpPr>
          <p:nvPr/>
        </p:nvSpPr>
        <p:spPr>
          <a:xfrm xmlns:a="http://schemas.openxmlformats.org/drawingml/2006/main">
            <a:off x="1865376" y="4453128"/>
            <a:ext cx="8449056" cy="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7" name="Shape 23">
            <a:extLst xmlns:a="http://schemas.openxmlformats.org/drawingml/2006/main">
              <a:ext uri="{FF2B5EF4-FFF2-40B4-BE49-F238E27FC236}">
                <a16:creationId xmlns:a16="http://schemas.microsoft.com/office/drawing/2014/main" id="{47D1CF56-4D00-400F-AB6E-72BA31CAE904}"/>
              </a:ext>
            </a:extLst>
          </p:cNvPr>
          <p:cNvSpPr>
            <a:spLocks xmlns:a="http://schemas.openxmlformats.org/drawingml/2006/main" noGrp="1"/>
          </p:cNvSpPr>
          <p:nvPr/>
        </p:nvSpPr>
        <p:spPr>
          <a:xfrm xmlns:a="http://schemas.openxmlformats.org/drawingml/2006/main">
            <a:off x="1865376" y="4453128"/>
            <a:ext cx="0" cy="9144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8" name="Shape 24">
            <a:extLst xmlns:a="http://schemas.openxmlformats.org/drawingml/2006/main">
              <a:ext uri="{FF2B5EF4-FFF2-40B4-BE49-F238E27FC236}">
                <a16:creationId xmlns:a16="http://schemas.microsoft.com/office/drawing/2014/main" id="{07DC52D3-912A-4E42-B844-F9C65545A671}"/>
              </a:ext>
            </a:extLst>
          </p:cNvPr>
          <p:cNvSpPr>
            <a:spLocks xmlns:a="http://schemas.openxmlformats.org/drawingml/2006/main" noGrp="1"/>
          </p:cNvSpPr>
          <p:nvPr/>
        </p:nvSpPr>
        <p:spPr>
          <a:xfrm xmlns:a="http://schemas.openxmlformats.org/drawingml/2006/main">
            <a:off x="4681728" y="4453128"/>
            <a:ext cx="0" cy="9144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9" name="Shape 25">
            <a:extLst xmlns:a="http://schemas.openxmlformats.org/drawingml/2006/main">
              <a:ext uri="{FF2B5EF4-FFF2-40B4-BE49-F238E27FC236}">
                <a16:creationId xmlns:a16="http://schemas.microsoft.com/office/drawing/2014/main" id="{7D14F3FB-EF7C-4A59-9032-6411BF136E25}"/>
              </a:ext>
            </a:extLst>
          </p:cNvPr>
          <p:cNvSpPr>
            <a:spLocks xmlns:a="http://schemas.openxmlformats.org/drawingml/2006/main" noGrp="1"/>
          </p:cNvSpPr>
          <p:nvPr/>
        </p:nvSpPr>
        <p:spPr>
          <a:xfrm xmlns:a="http://schemas.openxmlformats.org/drawingml/2006/main">
            <a:off x="7498080" y="4453128"/>
            <a:ext cx="0" cy="9144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0" name="Shape 26">
            <a:extLst xmlns:a="http://schemas.openxmlformats.org/drawingml/2006/main">
              <a:ext uri="{FF2B5EF4-FFF2-40B4-BE49-F238E27FC236}">
                <a16:creationId xmlns:a16="http://schemas.microsoft.com/office/drawing/2014/main" id="{06018FF8-0821-4AE1-B4E9-253666A1AA75}"/>
              </a:ext>
            </a:extLst>
          </p:cNvPr>
          <p:cNvSpPr>
            <a:spLocks xmlns:a="http://schemas.openxmlformats.org/drawingml/2006/main" noGrp="1"/>
          </p:cNvSpPr>
          <p:nvPr/>
        </p:nvSpPr>
        <p:spPr>
          <a:xfrm xmlns:a="http://schemas.openxmlformats.org/drawingml/2006/main">
            <a:off x="10314432" y="4453128"/>
            <a:ext cx="0" cy="9144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1" name="Shape 27">
            <a:extLst xmlns:a="http://schemas.openxmlformats.org/drawingml/2006/main">
              <a:ext uri="{FF2B5EF4-FFF2-40B4-BE49-F238E27FC236}">
                <a16:creationId xmlns:a16="http://schemas.microsoft.com/office/drawing/2014/main" id="{62885042-1692-4577-8E31-A69CC3B1B6A5}"/>
              </a:ext>
            </a:extLst>
          </p:cNvPr>
          <p:cNvSpPr>
            <a:spLocks xmlns:a="http://schemas.openxmlformats.org/drawingml/2006/main" noGrp="1"/>
          </p:cNvSpPr>
          <p:nvPr/>
        </p:nvSpPr>
        <p:spPr>
          <a:xfrm xmlns:a="http://schemas.openxmlformats.org/drawingml/2006/main">
            <a:off x="640080"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2" name="Text 28">
            <a:extLst xmlns:a="http://schemas.openxmlformats.org/drawingml/2006/main">
              <a:ext uri="{FF2B5EF4-FFF2-40B4-BE49-F238E27FC236}">
                <a16:creationId xmlns:a16="http://schemas.microsoft.com/office/drawing/2014/main" id="{BF4C24AE-73A4-4EF8-873F-B6BEA9D1A618}"/>
              </a:ext>
            </a:extLst>
          </p:cNvPr>
          <p:cNvSpPr>
            <a:spLocks xmlns:a="http://schemas.openxmlformats.org/drawingml/2006/main" noGrp="1"/>
          </p:cNvSpPr>
          <p:nvPr/>
        </p:nvSpPr>
        <p:spPr>
          <a:xfrm xmlns:a="http://schemas.openxmlformats.org/drawingml/2006/main">
            <a:off x="749808"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Requirements</a:t>
            </a:r>
            <a:endParaRPr sz="1100">
              <a:latin typeface="Helvetica Neue"/>
              <a:ea typeface="Helvetica Neue"/>
              <a:cs typeface="Helvetica Neue"/>
            </a:endParaRPr>
          </a:p>
        </p:txBody>
      </p:sp>
      <p:sp>
        <p:nvSpPr>
          <p:cNvPr id="33" name="Text 29">
            <a:extLst xmlns:a="http://schemas.openxmlformats.org/drawingml/2006/main">
              <a:ext uri="{FF2B5EF4-FFF2-40B4-BE49-F238E27FC236}">
                <a16:creationId xmlns:a16="http://schemas.microsoft.com/office/drawing/2014/main" id="{8768DEC1-DD74-4B99-AC52-18E527D79465}"/>
              </a:ext>
            </a:extLst>
          </p:cNvPr>
          <p:cNvSpPr>
            <a:spLocks xmlns:a="http://schemas.openxmlformats.org/drawingml/2006/main" noGrp="1"/>
          </p:cNvSpPr>
          <p:nvPr/>
        </p:nvSpPr>
        <p:spPr>
          <a:xfrm xmlns:a="http://schemas.openxmlformats.org/drawingml/2006/main">
            <a:off x="749808"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Engineering</a:t>
            </a:r>
            <a:endParaRPr sz="900">
              <a:latin typeface="Helvetica Neue"/>
              <a:ea typeface="Helvetica Neue"/>
              <a:cs typeface="Helvetica Neue"/>
            </a:endParaRPr>
          </a:p>
        </p:txBody>
      </p:sp>
      <p:sp>
        <p:nvSpPr>
          <p:cNvPr id="34" name="Text 30">
            <a:extLst xmlns:a="http://schemas.openxmlformats.org/drawingml/2006/main">
              <a:ext uri="{FF2B5EF4-FFF2-40B4-BE49-F238E27FC236}">
                <a16:creationId xmlns:a16="http://schemas.microsoft.com/office/drawing/2014/main" id="{4395BB6D-E26C-4732-BC0A-5DD9DA6100E4}"/>
              </a:ext>
            </a:extLst>
          </p:cNvPr>
          <p:cNvSpPr>
            <a:spLocks xmlns:a="http://schemas.openxmlformats.org/drawingml/2006/main" noGrp="1"/>
          </p:cNvSpPr>
          <p:nvPr/>
        </p:nvSpPr>
        <p:spPr>
          <a:xfrm xmlns:a="http://schemas.openxmlformats.org/drawingml/2006/main">
            <a:off x="749808" y="497433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Scope and pass criteria</a:t>
            </a:r>
            <a:endParaRPr sz="900">
              <a:latin typeface="Helvetica Neue"/>
              <a:ea typeface="Helvetica Neue"/>
              <a:cs typeface="Helvetica Neue"/>
            </a:endParaRPr>
          </a:p>
        </p:txBody>
      </p:sp>
      <p:pic>
        <p:nvPicPr>
          <p:cNvPr id="114" name="Image 2"/>
          <p:cNvPicPr>
            <a:picLocks xmlns:a="http://schemas.openxmlformats.org/drawingml/2006/main" noChangeAspect="1"/>
          </p:cNvPicPr>
          <p:nvPr/>
        </p:nvPicPr>
        <p:blipFill>
          <a:blip xmlns:r="http://schemas.openxmlformats.org/officeDocument/2006/relationships" xmlns:a="http://schemas.openxmlformats.org/drawingml/2006/main" r:embed="R1d2999304d7a46aa"/>
          <a:stretch xmlns:a="http://schemas.openxmlformats.org/drawingml/2006/main">
            <a:fillRect l="0" t="0" r="0" b="0"/>
          </a:stretch>
        </p:blipFill>
        <p:spPr>
          <a:xfrm xmlns:a="http://schemas.openxmlformats.org/drawingml/2006/main">
            <a:off x="749808" y="5230368"/>
            <a:ext cx="137160" cy="137160"/>
          </a:xfrm>
          <a:prstGeom xmlns:a="http://schemas.openxmlformats.org/drawingml/2006/main" prst="rect">
            <a:avLst/>
          </a:prstGeom>
        </p:spPr>
      </p:pic>
      <p:sp>
        <p:nvSpPr>
          <p:cNvPr id="36" name="Text 31">
            <a:extLst xmlns:a="http://schemas.openxmlformats.org/drawingml/2006/main">
              <a:ext uri="{FF2B5EF4-FFF2-40B4-BE49-F238E27FC236}">
                <a16:creationId xmlns:a16="http://schemas.microsoft.com/office/drawing/2014/main" id="{8676D5F8-1110-4B74-991E-13BD3BB8C306}"/>
              </a:ext>
            </a:extLst>
          </p:cNvPr>
          <p:cNvSpPr>
            <a:spLocks xmlns:a="http://schemas.openxmlformats.org/drawingml/2006/main" noGrp="1"/>
          </p:cNvSpPr>
          <p:nvPr/>
        </p:nvSpPr>
        <p:spPr>
          <a:xfrm xmlns:a="http://schemas.openxmlformats.org/drawingml/2006/main">
            <a:off x="932688" y="5193792"/>
            <a:ext cx="20482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Requirement and impact analyzed manually across different systems</a:t>
            </a:r>
            <a:endParaRPr sz="850">
              <a:latin typeface="Helvetica Neue"/>
              <a:ea typeface="Helvetica Neue"/>
              <a:cs typeface="Helvetica Neue"/>
            </a:endParaRPr>
          </a:p>
        </p:txBody>
      </p:sp>
      <p:sp>
        <p:nvSpPr>
          <p:cNvPr id="37" name="Shape 32">
            <a:extLst xmlns:a="http://schemas.openxmlformats.org/drawingml/2006/main">
              <a:ext uri="{FF2B5EF4-FFF2-40B4-BE49-F238E27FC236}">
                <a16:creationId xmlns:a16="http://schemas.microsoft.com/office/drawing/2014/main" id="{F5D33F2F-239D-48EB-8CF5-D86CDDA44E9B}"/>
              </a:ext>
            </a:extLst>
          </p:cNvPr>
          <p:cNvSpPr>
            <a:spLocks xmlns:a="http://schemas.openxmlformats.org/drawingml/2006/main" noGrp="1"/>
          </p:cNvSpPr>
          <p:nvPr/>
        </p:nvSpPr>
        <p:spPr>
          <a:xfrm xmlns:a="http://schemas.openxmlformats.org/drawingml/2006/main">
            <a:off x="3145536" y="5001768"/>
            <a:ext cx="256032" cy="0"/>
          </a:xfrm>
          <a:prstGeom xmlns:a="http://schemas.openxmlformats.org/drawingml/2006/main" prst="line">
            <a:avLst/>
          </a:prstGeom>
          <a:noFill xmlns:a="http://schemas.openxmlformats.org/drawingml/2006/main"/>
          <a:ln xmlns:a="http://schemas.openxmlformats.org/drawingml/2006/main" w="15875">
            <a:solidFill>
              <a:srgbClr val="DCDCDC"/>
            </a:solidFill>
            <a:prstDash val="dash"/>
            <a:tailEnd type="triangle"/>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8" name="Shape 33">
            <a:extLst xmlns:a="http://schemas.openxmlformats.org/drawingml/2006/main">
              <a:ext uri="{FF2B5EF4-FFF2-40B4-BE49-F238E27FC236}">
                <a16:creationId xmlns:a16="http://schemas.microsoft.com/office/drawing/2014/main" id="{DA33283C-646F-4D42-8472-7CD3DC7F7880}"/>
              </a:ext>
            </a:extLst>
          </p:cNvPr>
          <p:cNvSpPr>
            <a:spLocks xmlns:a="http://schemas.openxmlformats.org/drawingml/2006/main" noGrp="1"/>
          </p:cNvSpPr>
          <p:nvPr/>
        </p:nvSpPr>
        <p:spPr>
          <a:xfrm xmlns:a="http://schemas.openxmlformats.org/drawingml/2006/main">
            <a:off x="3456432"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9" name="Text 34">
            <a:extLst xmlns:a="http://schemas.openxmlformats.org/drawingml/2006/main">
              <a:ext uri="{FF2B5EF4-FFF2-40B4-BE49-F238E27FC236}">
                <a16:creationId xmlns:a16="http://schemas.microsoft.com/office/drawing/2014/main" id="{A5A054F4-1D53-48F1-ABE2-34839761B487}"/>
              </a:ext>
            </a:extLst>
          </p:cNvPr>
          <p:cNvSpPr>
            <a:spLocks xmlns:a="http://schemas.openxmlformats.org/drawingml/2006/main" noGrp="1"/>
          </p:cNvSpPr>
          <p:nvPr/>
        </p:nvSpPr>
        <p:spPr>
          <a:xfrm xmlns:a="http://schemas.openxmlformats.org/drawingml/2006/main">
            <a:off x="3566160"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Validation</a:t>
            </a:r>
            <a:endParaRPr sz="1100">
              <a:latin typeface="Helvetica Neue"/>
              <a:ea typeface="Helvetica Neue"/>
              <a:cs typeface="Helvetica Neue"/>
            </a:endParaRPr>
          </a:p>
        </p:txBody>
      </p:sp>
      <p:sp>
        <p:nvSpPr>
          <p:cNvPr id="40" name="Text 35">
            <a:extLst xmlns:a="http://schemas.openxmlformats.org/drawingml/2006/main">
              <a:ext uri="{FF2B5EF4-FFF2-40B4-BE49-F238E27FC236}">
                <a16:creationId xmlns:a16="http://schemas.microsoft.com/office/drawing/2014/main" id="{8BEC056B-CB29-41A4-B06C-98EC416024C8}"/>
              </a:ext>
            </a:extLst>
          </p:cNvPr>
          <p:cNvSpPr>
            <a:spLocks xmlns:a="http://schemas.openxmlformats.org/drawingml/2006/main" noGrp="1"/>
          </p:cNvSpPr>
          <p:nvPr/>
        </p:nvSpPr>
        <p:spPr>
          <a:xfrm xmlns:a="http://schemas.openxmlformats.org/drawingml/2006/main">
            <a:off x="3566160"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Validation lab</a:t>
            </a:r>
            <a:endParaRPr sz="900">
              <a:latin typeface="Helvetica Neue"/>
              <a:ea typeface="Helvetica Neue"/>
              <a:cs typeface="Helvetica Neue"/>
            </a:endParaRPr>
          </a:p>
        </p:txBody>
      </p:sp>
      <p:pic>
        <p:nvPicPr>
          <p:cNvPr id="120" name="Image 3"/>
          <p:cNvPicPr>
            <a:picLocks xmlns:a="http://schemas.openxmlformats.org/drawingml/2006/main" noChangeAspect="1"/>
          </p:cNvPicPr>
          <p:nvPr/>
        </p:nvPicPr>
        <p:blipFill>
          <a:blip xmlns:r="http://schemas.openxmlformats.org/officeDocument/2006/relationships" xmlns:a="http://schemas.openxmlformats.org/drawingml/2006/main" r:embed="Rb6a63a0e36d34074"/>
          <a:stretch xmlns:a="http://schemas.openxmlformats.org/drawingml/2006/main">
            <a:fillRect l="0" t="0" r="0" b="0"/>
          </a:stretch>
        </p:blipFill>
        <p:spPr>
          <a:xfrm xmlns:a="http://schemas.openxmlformats.org/drawingml/2006/main">
            <a:off x="3566160" y="5001768"/>
            <a:ext cx="155448" cy="155448"/>
          </a:xfrm>
          <a:prstGeom xmlns:a="http://schemas.openxmlformats.org/drawingml/2006/main" prst="rect">
            <a:avLst/>
          </a:prstGeom>
        </p:spPr>
      </p:pic>
      <p:sp>
        <p:nvSpPr>
          <p:cNvPr id="42" name="Text 36">
            <a:extLst xmlns:a="http://schemas.openxmlformats.org/drawingml/2006/main">
              <a:ext uri="{FF2B5EF4-FFF2-40B4-BE49-F238E27FC236}">
                <a16:creationId xmlns:a16="http://schemas.microsoft.com/office/drawing/2014/main" id="{78150CD0-7563-4D1E-9BEB-07D4DA321876}"/>
              </a:ext>
            </a:extLst>
          </p:cNvPr>
          <p:cNvSpPr>
            <a:spLocks xmlns:a="http://schemas.openxmlformats.org/drawingml/2006/main" noGrp="1"/>
          </p:cNvSpPr>
          <p:nvPr/>
        </p:nvSpPr>
        <p:spPr>
          <a:xfrm xmlns:a="http://schemas.openxmlformats.org/drawingml/2006/main">
            <a:off x="3767138" y="4933950"/>
            <a:ext cx="203835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850" b="1">
                <a:solidFill>
                  <a:srgbClr val="101010"/>
                </a:solidFill>
                <a:latin typeface="Helvetica Neue"/>
                <a:ea typeface="Helvetica Neue"/>
                <a:cs typeface="Helvetica Neue"/>
              </a:rPr>
              <a:t>Tester initiates tests and reports findings</a:t>
            </a:r>
            <a:endParaRPr sz="850">
              <a:latin typeface="Helvetica Neue"/>
              <a:ea typeface="Helvetica Neue"/>
              <a:cs typeface="Helvetica Neue"/>
            </a:endParaRPr>
          </a:p>
        </p:txBody>
      </p:sp>
      <p:pic>
        <p:nvPicPr>
          <p:cNvPr id="122" name="Image 4"/>
          <p:cNvPicPr>
            <a:picLocks xmlns:a="http://schemas.openxmlformats.org/drawingml/2006/main" noChangeAspect="1"/>
          </p:cNvPicPr>
          <p:nvPr/>
        </p:nvPicPr>
        <p:blipFill>
          <a:blip xmlns:r="http://schemas.openxmlformats.org/officeDocument/2006/relationships" xmlns:a="http://schemas.openxmlformats.org/drawingml/2006/main" r:embed="R1d2999304d7a46aa"/>
          <a:stretch xmlns:a="http://schemas.openxmlformats.org/drawingml/2006/main">
            <a:fillRect l="0" t="0" r="0" b="0"/>
          </a:stretch>
        </p:blipFill>
        <p:spPr>
          <a:xfrm xmlns:a="http://schemas.openxmlformats.org/drawingml/2006/main">
            <a:off x="3566160" y="5230368"/>
            <a:ext cx="137160" cy="137160"/>
          </a:xfrm>
          <a:prstGeom xmlns:a="http://schemas.openxmlformats.org/drawingml/2006/main" prst="rect">
            <a:avLst/>
          </a:prstGeom>
        </p:spPr>
      </p:pic>
      <p:sp>
        <p:nvSpPr>
          <p:cNvPr id="44" name="Text 37">
            <a:extLst xmlns:a="http://schemas.openxmlformats.org/drawingml/2006/main">
              <a:ext uri="{FF2B5EF4-FFF2-40B4-BE49-F238E27FC236}">
                <a16:creationId xmlns:a16="http://schemas.microsoft.com/office/drawing/2014/main" id="{631D92B1-7BDB-4381-B965-EBE56C8EDF4E}"/>
              </a:ext>
            </a:extLst>
          </p:cNvPr>
          <p:cNvSpPr>
            <a:spLocks xmlns:a="http://schemas.openxmlformats.org/drawingml/2006/main" noGrp="1"/>
          </p:cNvSpPr>
          <p:nvPr/>
        </p:nvSpPr>
        <p:spPr>
          <a:xfrm xmlns:a="http://schemas.openxmlformats.org/drawingml/2006/main">
            <a:off x="3749040" y="5238750"/>
            <a:ext cx="2047875" cy="4095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Tester receives updated chip design specs and  perform testing</a:t>
            </a:r>
            <a:endParaRPr sz="850">
              <a:latin typeface="Helvetica Neue"/>
              <a:ea typeface="Helvetica Neue"/>
              <a:cs typeface="Helvetica Neue"/>
            </a:endParaRPr>
          </a:p>
        </p:txBody>
      </p:sp>
      <p:sp>
        <p:nvSpPr>
          <p:cNvPr id="45" name="Shape 38">
            <a:extLst xmlns:a="http://schemas.openxmlformats.org/drawingml/2006/main">
              <a:ext uri="{FF2B5EF4-FFF2-40B4-BE49-F238E27FC236}">
                <a16:creationId xmlns:a16="http://schemas.microsoft.com/office/drawing/2014/main" id="{E5291EBE-CC45-48C4-9091-13141AA70757}"/>
              </a:ext>
            </a:extLst>
          </p:cNvPr>
          <p:cNvSpPr>
            <a:spLocks xmlns:a="http://schemas.openxmlformats.org/drawingml/2006/main" noGrp="1"/>
          </p:cNvSpPr>
          <p:nvPr/>
        </p:nvSpPr>
        <p:spPr>
          <a:xfrm xmlns:a="http://schemas.openxmlformats.org/drawingml/2006/main">
            <a:off x="5961888" y="5001768"/>
            <a:ext cx="256032" cy="0"/>
          </a:xfrm>
          <a:prstGeom xmlns:a="http://schemas.openxmlformats.org/drawingml/2006/main" prst="line">
            <a:avLst/>
          </a:prstGeom>
          <a:noFill xmlns:a="http://schemas.openxmlformats.org/drawingml/2006/main"/>
          <a:ln xmlns:a="http://schemas.openxmlformats.org/drawingml/2006/main" w="15875">
            <a:solidFill>
              <a:srgbClr val="DCDCDC"/>
            </a:solidFill>
            <a:prstDash val="dash"/>
            <a:tailEnd type="triangle"/>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6" name="Shape 39">
            <a:extLst xmlns:a="http://schemas.openxmlformats.org/drawingml/2006/main">
              <a:ext uri="{FF2B5EF4-FFF2-40B4-BE49-F238E27FC236}">
                <a16:creationId xmlns:a16="http://schemas.microsoft.com/office/drawing/2014/main" id="{6A709A13-B273-4E4A-95E6-E9680B65D8F6}"/>
              </a:ext>
            </a:extLst>
          </p:cNvPr>
          <p:cNvSpPr>
            <a:spLocks xmlns:a="http://schemas.openxmlformats.org/drawingml/2006/main" noGrp="1"/>
          </p:cNvSpPr>
          <p:nvPr/>
        </p:nvSpPr>
        <p:spPr>
          <a:xfrm xmlns:a="http://schemas.openxmlformats.org/drawingml/2006/main">
            <a:off x="6272784"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7" name="Text 40">
            <a:extLst xmlns:a="http://schemas.openxmlformats.org/drawingml/2006/main">
              <a:ext uri="{FF2B5EF4-FFF2-40B4-BE49-F238E27FC236}">
                <a16:creationId xmlns:a16="http://schemas.microsoft.com/office/drawing/2014/main" id="{AF18524F-2370-4906-AC93-893B4151DFE1}"/>
              </a:ext>
            </a:extLst>
          </p:cNvPr>
          <p:cNvSpPr>
            <a:spLocks xmlns:a="http://schemas.openxmlformats.org/drawingml/2006/main" noGrp="1"/>
          </p:cNvSpPr>
          <p:nvPr/>
        </p:nvSpPr>
        <p:spPr>
          <a:xfrm xmlns:a="http://schemas.openxmlformats.org/drawingml/2006/main">
            <a:off x="6382512"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Quality and supply</a:t>
            </a:r>
            <a:endParaRPr sz="1100">
              <a:latin typeface="Helvetica Neue"/>
              <a:ea typeface="Helvetica Neue"/>
              <a:cs typeface="Helvetica Neue"/>
            </a:endParaRPr>
          </a:p>
        </p:txBody>
      </p:sp>
      <p:sp>
        <p:nvSpPr>
          <p:cNvPr id="48" name="Text 41">
            <a:extLst xmlns:a="http://schemas.openxmlformats.org/drawingml/2006/main">
              <a:ext uri="{FF2B5EF4-FFF2-40B4-BE49-F238E27FC236}">
                <a16:creationId xmlns:a16="http://schemas.microsoft.com/office/drawing/2014/main" id="{EFA845ED-0CED-43A4-AC71-F84DA506BA4D}"/>
              </a:ext>
            </a:extLst>
          </p:cNvPr>
          <p:cNvSpPr>
            <a:spLocks xmlns:a="http://schemas.openxmlformats.org/drawingml/2006/main" noGrp="1"/>
          </p:cNvSpPr>
          <p:nvPr/>
        </p:nvSpPr>
        <p:spPr>
          <a:xfrm xmlns:a="http://schemas.openxmlformats.org/drawingml/2006/main">
            <a:off x="6382512"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Manufacturing</a:t>
            </a:r>
            <a:endParaRPr sz="900">
              <a:latin typeface="Helvetica Neue"/>
              <a:ea typeface="Helvetica Neue"/>
              <a:cs typeface="Helvetica Neue"/>
            </a:endParaRPr>
          </a:p>
        </p:txBody>
      </p:sp>
      <p:sp>
        <p:nvSpPr>
          <p:cNvPr id="49" name="Text 42">
            <a:extLst xmlns:a="http://schemas.openxmlformats.org/drawingml/2006/main">
              <a:ext uri="{FF2B5EF4-FFF2-40B4-BE49-F238E27FC236}">
                <a16:creationId xmlns:a16="http://schemas.microsoft.com/office/drawing/2014/main" id="{76D548C5-96D5-4B58-95DB-0130EAFC20A2}"/>
              </a:ext>
            </a:extLst>
          </p:cNvPr>
          <p:cNvSpPr>
            <a:spLocks xmlns:a="http://schemas.openxmlformats.org/drawingml/2006/main" noGrp="1"/>
          </p:cNvSpPr>
          <p:nvPr/>
        </p:nvSpPr>
        <p:spPr>
          <a:xfrm xmlns:a="http://schemas.openxmlformats.org/drawingml/2006/main">
            <a:off x="6382512" y="497433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Yield, holds, materials</a:t>
            </a:r>
            <a:endParaRPr sz="900">
              <a:latin typeface="Helvetica Neue"/>
              <a:ea typeface="Helvetica Neue"/>
              <a:cs typeface="Helvetica Neue"/>
            </a:endParaRPr>
          </a:p>
        </p:txBody>
      </p:sp>
      <p:pic>
        <p:nvPicPr>
          <p:cNvPr id="129" name="Image 5"/>
          <p:cNvPicPr>
            <a:picLocks xmlns:a="http://schemas.openxmlformats.org/drawingml/2006/main" noChangeAspect="1"/>
          </p:cNvPicPr>
          <p:nvPr/>
        </p:nvPicPr>
        <p:blipFill>
          <a:blip xmlns:r="http://schemas.openxmlformats.org/officeDocument/2006/relationships" xmlns:a="http://schemas.openxmlformats.org/drawingml/2006/main" r:embed="R1d2999304d7a46aa"/>
          <a:stretch xmlns:a="http://schemas.openxmlformats.org/drawingml/2006/main">
            <a:fillRect l="0" t="0" r="0" b="0"/>
          </a:stretch>
        </p:blipFill>
        <p:spPr>
          <a:xfrm xmlns:a="http://schemas.openxmlformats.org/drawingml/2006/main">
            <a:off x="6382512" y="5230368"/>
            <a:ext cx="137160" cy="137160"/>
          </a:xfrm>
          <a:prstGeom xmlns:a="http://schemas.openxmlformats.org/drawingml/2006/main" prst="rect">
            <a:avLst/>
          </a:prstGeom>
        </p:spPr>
      </p:pic>
      <p:sp>
        <p:nvSpPr>
          <p:cNvPr id="51" name="Text 43">
            <a:extLst xmlns:a="http://schemas.openxmlformats.org/drawingml/2006/main">
              <a:ext uri="{FF2B5EF4-FFF2-40B4-BE49-F238E27FC236}">
                <a16:creationId xmlns:a16="http://schemas.microsoft.com/office/drawing/2014/main" id="{094580DB-51E9-4B0E-BB9A-DAD19B4E70B7}"/>
              </a:ext>
            </a:extLst>
          </p:cNvPr>
          <p:cNvSpPr>
            <a:spLocks xmlns:a="http://schemas.openxmlformats.org/drawingml/2006/main" noGrp="1"/>
          </p:cNvSpPr>
          <p:nvPr/>
        </p:nvSpPr>
        <p:spPr>
          <a:xfrm xmlns:a="http://schemas.openxmlformats.org/drawingml/2006/main">
            <a:off x="6565583" y="5153025"/>
            <a:ext cx="2047875" cy="542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Yield alerts are automated within MES applications. However, analysis and actions still need to be performed manually</a:t>
            </a:r>
            <a:endParaRPr sz="850">
              <a:latin typeface="Helvetica Neue"/>
              <a:ea typeface="Helvetica Neue"/>
              <a:cs typeface="Helvetica Neue"/>
            </a:endParaRPr>
          </a:p>
        </p:txBody>
      </p:sp>
      <p:sp>
        <p:nvSpPr>
          <p:cNvPr id="52" name="Shape 44">
            <a:extLst xmlns:a="http://schemas.openxmlformats.org/drawingml/2006/main">
              <a:ext uri="{FF2B5EF4-FFF2-40B4-BE49-F238E27FC236}">
                <a16:creationId xmlns:a16="http://schemas.microsoft.com/office/drawing/2014/main" id="{10103A7A-351D-4284-833C-FEAC9CB511B2}"/>
              </a:ext>
            </a:extLst>
          </p:cNvPr>
          <p:cNvSpPr>
            <a:spLocks xmlns:a="http://schemas.openxmlformats.org/drawingml/2006/main" noGrp="1"/>
          </p:cNvSpPr>
          <p:nvPr/>
        </p:nvSpPr>
        <p:spPr>
          <a:xfrm xmlns:a="http://schemas.openxmlformats.org/drawingml/2006/main">
            <a:off x="8778240" y="5001768"/>
            <a:ext cx="256032" cy="0"/>
          </a:xfrm>
          <a:prstGeom xmlns:a="http://schemas.openxmlformats.org/drawingml/2006/main" prst="line">
            <a:avLst/>
          </a:prstGeom>
          <a:noFill xmlns:a="http://schemas.openxmlformats.org/drawingml/2006/main"/>
          <a:ln xmlns:a="http://schemas.openxmlformats.org/drawingml/2006/main" w="15875">
            <a:solidFill>
              <a:srgbClr val="DCDCDC"/>
            </a:solidFill>
            <a:prstDash val="dash"/>
            <a:tailEnd type="triangle"/>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3" name="Shape 45">
            <a:extLst xmlns:a="http://schemas.openxmlformats.org/drawingml/2006/main">
              <a:ext uri="{FF2B5EF4-FFF2-40B4-BE49-F238E27FC236}">
                <a16:creationId xmlns:a16="http://schemas.microsoft.com/office/drawing/2014/main" id="{87A62E06-7851-49F8-A7AE-27AB1ABBEC1B}"/>
              </a:ext>
            </a:extLst>
          </p:cNvPr>
          <p:cNvSpPr>
            <a:spLocks xmlns:a="http://schemas.openxmlformats.org/drawingml/2006/main" noGrp="1"/>
          </p:cNvSpPr>
          <p:nvPr/>
        </p:nvSpPr>
        <p:spPr>
          <a:xfrm xmlns:a="http://schemas.openxmlformats.org/drawingml/2006/main">
            <a:off x="9089136"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4" name="Text 46">
            <a:extLst xmlns:a="http://schemas.openxmlformats.org/drawingml/2006/main">
              <a:ext uri="{FF2B5EF4-FFF2-40B4-BE49-F238E27FC236}">
                <a16:creationId xmlns:a16="http://schemas.microsoft.com/office/drawing/2014/main" id="{D483221A-D33A-40D3-8FD3-ED5693F49F9D}"/>
              </a:ext>
            </a:extLst>
          </p:cNvPr>
          <p:cNvSpPr>
            <a:spLocks xmlns:a="http://schemas.openxmlformats.org/drawingml/2006/main" noGrp="1"/>
          </p:cNvSpPr>
          <p:nvPr/>
        </p:nvSpPr>
        <p:spPr>
          <a:xfrm xmlns:a="http://schemas.openxmlformats.org/drawingml/2006/main">
            <a:off x="9198864"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Delivery</a:t>
            </a:r>
            <a:endParaRPr sz="1100">
              <a:latin typeface="Helvetica Neue"/>
              <a:ea typeface="Helvetica Neue"/>
              <a:cs typeface="Helvetica Neue"/>
            </a:endParaRPr>
          </a:p>
        </p:txBody>
      </p:sp>
      <p:sp>
        <p:nvSpPr>
          <p:cNvPr id="55" name="Text 47">
            <a:extLst xmlns:a="http://schemas.openxmlformats.org/drawingml/2006/main">
              <a:ext uri="{FF2B5EF4-FFF2-40B4-BE49-F238E27FC236}">
                <a16:creationId xmlns:a16="http://schemas.microsoft.com/office/drawing/2014/main" id="{D7BFCD59-BA07-4AD8-BF73-B2A1E7C34D55}"/>
              </a:ext>
            </a:extLst>
          </p:cNvPr>
          <p:cNvSpPr>
            <a:spLocks xmlns:a="http://schemas.openxmlformats.org/drawingml/2006/main" noGrp="1"/>
          </p:cNvSpPr>
          <p:nvPr/>
        </p:nvSpPr>
        <p:spPr>
          <a:xfrm xmlns:a="http://schemas.openxmlformats.org/drawingml/2006/main">
            <a:off x="9198864"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Commercial</a:t>
            </a:r>
            <a:endParaRPr sz="900">
              <a:latin typeface="Helvetica Neue"/>
              <a:ea typeface="Helvetica Neue"/>
              <a:cs typeface="Helvetica Neue"/>
            </a:endParaRPr>
          </a:p>
        </p:txBody>
      </p:sp>
      <p:sp>
        <p:nvSpPr>
          <p:cNvPr id="56" name="Text 48">
            <a:extLst xmlns:a="http://schemas.openxmlformats.org/drawingml/2006/main">
              <a:ext uri="{FF2B5EF4-FFF2-40B4-BE49-F238E27FC236}">
                <a16:creationId xmlns:a16="http://schemas.microsoft.com/office/drawing/2014/main" id="{51ADF3EA-B870-489B-B0CF-0F519C4F21D8}"/>
              </a:ext>
            </a:extLst>
          </p:cNvPr>
          <p:cNvSpPr>
            <a:spLocks xmlns:a="http://schemas.openxmlformats.org/drawingml/2006/main" noGrp="1"/>
          </p:cNvSpPr>
          <p:nvPr/>
        </p:nvSpPr>
        <p:spPr>
          <a:xfrm xmlns:a="http://schemas.openxmlformats.org/drawingml/2006/main">
            <a:off x="9198864" y="497433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Orders and commitments</a:t>
            </a:r>
            <a:endParaRPr sz="900">
              <a:latin typeface="Helvetica Neue"/>
              <a:ea typeface="Helvetica Neue"/>
              <a:cs typeface="Helvetica Neue"/>
            </a:endParaRPr>
          </a:p>
        </p:txBody>
      </p:sp>
      <p:pic>
        <p:nvPicPr>
          <p:cNvPr id="136" name="Image 6"/>
          <p:cNvPicPr>
            <a:picLocks xmlns:a="http://schemas.openxmlformats.org/drawingml/2006/main" noChangeAspect="1"/>
          </p:cNvPicPr>
          <p:nvPr/>
        </p:nvPicPr>
        <p:blipFill>
          <a:blip xmlns:r="http://schemas.openxmlformats.org/officeDocument/2006/relationships" xmlns:a="http://schemas.openxmlformats.org/drawingml/2006/main" r:embed="R1d2999304d7a46aa"/>
          <a:stretch xmlns:a="http://schemas.openxmlformats.org/drawingml/2006/main">
            <a:fillRect l="0" t="0" r="0" b="0"/>
          </a:stretch>
        </p:blipFill>
        <p:spPr>
          <a:xfrm xmlns:a="http://schemas.openxmlformats.org/drawingml/2006/main">
            <a:off x="9198864" y="5230368"/>
            <a:ext cx="137160" cy="137160"/>
          </a:xfrm>
          <a:prstGeom xmlns:a="http://schemas.openxmlformats.org/drawingml/2006/main" prst="rect">
            <a:avLst/>
          </a:prstGeom>
        </p:spPr>
      </p:pic>
      <p:sp>
        <p:nvSpPr>
          <p:cNvPr id="58" name="Text 49">
            <a:extLst xmlns:a="http://schemas.openxmlformats.org/drawingml/2006/main">
              <a:ext uri="{FF2B5EF4-FFF2-40B4-BE49-F238E27FC236}">
                <a16:creationId xmlns:a16="http://schemas.microsoft.com/office/drawing/2014/main" id="{759B94A0-599C-4903-BDD8-1632CE1153D0}"/>
              </a:ext>
            </a:extLst>
          </p:cNvPr>
          <p:cNvSpPr>
            <a:spLocks xmlns:a="http://schemas.openxmlformats.org/drawingml/2006/main" noGrp="1"/>
          </p:cNvSpPr>
          <p:nvPr/>
        </p:nvSpPr>
        <p:spPr>
          <a:xfrm xmlns:a="http://schemas.openxmlformats.org/drawingml/2006/main">
            <a:off x="9382125" y="5210175"/>
            <a:ext cx="2047875"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Delivery data needs to be managed and updated</a:t>
            </a:r>
            <a:endParaRPr sz="850">
              <a:latin typeface="Helvetica Neue"/>
              <a:ea typeface="Helvetica Neue"/>
              <a:cs typeface="Helvetica Neue"/>
            </a:endParaRPr>
          </a:p>
        </p:txBody>
      </p:sp>
      <p:sp>
        <p:nvSpPr>
          <p:cNvPr id="59" name="Shape 50">
            <a:extLst xmlns:a="http://schemas.openxmlformats.org/drawingml/2006/main">
              <a:ext uri="{FF2B5EF4-FFF2-40B4-BE49-F238E27FC236}">
                <a16:creationId xmlns:a16="http://schemas.microsoft.com/office/drawing/2014/main" id="{1E057499-90A2-46FA-AA34-D1098BA299EF}"/>
              </a:ext>
            </a:extLst>
          </p:cNvPr>
          <p:cNvSpPr>
            <a:spLocks xmlns:a="http://schemas.openxmlformats.org/drawingml/2006/main" noGrp="1"/>
          </p:cNvSpPr>
          <p:nvPr/>
        </p:nvSpPr>
        <p:spPr>
          <a:xfrm xmlns:a="http://schemas.openxmlformats.org/drawingml/2006/main">
            <a:off x="640080" y="5696712"/>
            <a:ext cx="5312664" cy="329184"/>
          </a:xfrm>
          <a:prstGeom xmlns:a="http://schemas.openxmlformats.org/drawingml/2006/main" prst="line">
            <a:avLst/>
          </a:prstGeom>
          <a:solidFill xmlns:a="http://schemas.openxmlformats.org/drawingml/2006/main">
            <a:srgbClr val="F5F5F5"/>
          </a:solidFill>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39" name="Image 7"/>
          <p:cNvPicPr>
            <a:picLocks xmlns:a="http://schemas.openxmlformats.org/drawingml/2006/main" noChangeAspect="1"/>
          </p:cNvPicPr>
          <p:nvPr/>
        </p:nvPicPr>
        <p:blipFill>
          <a:blip xmlns:r="http://schemas.openxmlformats.org/officeDocument/2006/relationships" xmlns:a="http://schemas.openxmlformats.org/drawingml/2006/main" r:embed="Rf437aac8685d4f81"/>
          <a:stretch xmlns:a="http://schemas.openxmlformats.org/drawingml/2006/main">
            <a:fillRect l="0" t="0" r="0" b="0"/>
          </a:stretch>
        </p:blipFill>
        <p:spPr>
          <a:xfrm xmlns:a="http://schemas.openxmlformats.org/drawingml/2006/main">
            <a:off x="749808" y="5769864"/>
            <a:ext cx="182880" cy="182880"/>
          </a:xfrm>
          <a:prstGeom xmlns:a="http://schemas.openxmlformats.org/drawingml/2006/main" prst="rect">
            <a:avLst/>
          </a:prstGeom>
        </p:spPr>
      </p:pic>
      <p:sp>
        <p:nvSpPr>
          <p:cNvPr id="61" name="Text 51">
            <a:extLst xmlns:a="http://schemas.openxmlformats.org/drawingml/2006/main">
              <a:ext uri="{FF2B5EF4-FFF2-40B4-BE49-F238E27FC236}">
                <a16:creationId xmlns:a16="http://schemas.microsoft.com/office/drawing/2014/main" id="{4C1066AB-E75C-4564-ADA6-B7990C313D26}"/>
              </a:ext>
            </a:extLst>
          </p:cNvPr>
          <p:cNvSpPr>
            <a:spLocks xmlns:a="http://schemas.openxmlformats.org/drawingml/2006/main" noGrp="1"/>
          </p:cNvSpPr>
          <p:nvPr/>
        </p:nvSpPr>
        <p:spPr>
          <a:xfrm xmlns:a="http://schemas.openxmlformats.org/drawingml/2006/main">
            <a:off x="987552" y="5696712"/>
            <a:ext cx="4901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424242"/>
                </a:solidFill>
                <a:latin typeface="Helvetica Neue"/>
                <a:ea typeface="Helvetica Neue"/>
                <a:cs typeface="Helvetica Neue"/>
              </a:rPr>
              <a:t>Engineering approver </a:t>
            </a:r>
            <a:r>
              <a:rPr sz="950">
                <a:solidFill>
                  <a:srgbClr val="424242"/>
                </a:solidFill>
                <a:latin typeface="Helvetica Neue"/>
                <a:ea typeface="Helvetica Neue"/>
                <a:cs typeface="Helvetica Neue"/>
              </a:rPr>
              <a:t>signs off test plans and evidence that were gathered by hand, after chasing</a:t>
            </a:r>
            <a:endParaRPr sz="950">
              <a:latin typeface="Helvetica Neue"/>
              <a:ea typeface="Helvetica Neue"/>
              <a:cs typeface="Helvetica Neue"/>
            </a:endParaRPr>
          </a:p>
        </p:txBody>
      </p:sp>
      <p:sp>
        <p:nvSpPr>
          <p:cNvPr id="62" name="Shape 52">
            <a:extLst xmlns:a="http://schemas.openxmlformats.org/drawingml/2006/main">
              <a:ext uri="{FF2B5EF4-FFF2-40B4-BE49-F238E27FC236}">
                <a16:creationId xmlns:a16="http://schemas.microsoft.com/office/drawing/2014/main" id="{08FB8C43-0ADF-4FE0-ADF5-3A985AACD9C0}"/>
              </a:ext>
            </a:extLst>
          </p:cNvPr>
          <p:cNvSpPr>
            <a:spLocks xmlns:a="http://schemas.openxmlformats.org/drawingml/2006/main" noGrp="1"/>
          </p:cNvSpPr>
          <p:nvPr/>
        </p:nvSpPr>
        <p:spPr>
          <a:xfrm xmlns:a="http://schemas.openxmlformats.org/drawingml/2006/main">
            <a:off x="6227064" y="5696712"/>
            <a:ext cx="5312664" cy="329184"/>
          </a:xfrm>
          <a:prstGeom xmlns:a="http://schemas.openxmlformats.org/drawingml/2006/main" prst="line">
            <a:avLst/>
          </a:prstGeom>
          <a:solidFill xmlns:a="http://schemas.openxmlformats.org/drawingml/2006/main">
            <a:srgbClr val="F5F5F5"/>
          </a:solidFill>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42" name="Image 8"/>
          <p:cNvPicPr>
            <a:picLocks xmlns:a="http://schemas.openxmlformats.org/drawingml/2006/main" noChangeAspect="1"/>
          </p:cNvPicPr>
          <p:nvPr/>
        </p:nvPicPr>
        <p:blipFill>
          <a:blip xmlns:r="http://schemas.openxmlformats.org/officeDocument/2006/relationships" xmlns:a="http://schemas.openxmlformats.org/drawingml/2006/main" r:embed="Rcc3f9fb052224cc6"/>
          <a:stretch xmlns:a="http://schemas.openxmlformats.org/drawingml/2006/main">
            <a:fillRect l="0" t="0" r="0" b="0"/>
          </a:stretch>
        </p:blipFill>
        <p:spPr>
          <a:xfrm xmlns:a="http://schemas.openxmlformats.org/drawingml/2006/main">
            <a:off x="6336792" y="5769864"/>
            <a:ext cx="182880" cy="182880"/>
          </a:xfrm>
          <a:prstGeom xmlns:a="http://schemas.openxmlformats.org/drawingml/2006/main" prst="rect">
            <a:avLst/>
          </a:prstGeom>
        </p:spPr>
      </p:pic>
      <p:sp>
        <p:nvSpPr>
          <p:cNvPr id="64" name="Text 53">
            <a:extLst xmlns:a="http://schemas.openxmlformats.org/drawingml/2006/main">
              <a:ext uri="{FF2B5EF4-FFF2-40B4-BE49-F238E27FC236}">
                <a16:creationId xmlns:a16="http://schemas.microsoft.com/office/drawing/2014/main" id="{98FF9B8E-683E-4735-BCA3-DF3BFAF6CA5F}"/>
              </a:ext>
            </a:extLst>
          </p:cNvPr>
          <p:cNvSpPr>
            <a:spLocks xmlns:a="http://schemas.openxmlformats.org/drawingml/2006/main" noGrp="1"/>
          </p:cNvSpPr>
          <p:nvPr/>
        </p:nvSpPr>
        <p:spPr>
          <a:xfrm xmlns:a="http://schemas.openxmlformats.org/drawingml/2006/main">
            <a:off x="6574536" y="5696712"/>
            <a:ext cx="4901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424242"/>
                </a:solidFill>
                <a:latin typeface="Helvetica Neue"/>
                <a:ea typeface="Helvetica Neue"/>
                <a:cs typeface="Helvetica Neue"/>
              </a:rPr>
              <a:t>Program owner </a:t>
            </a:r>
            <a:r>
              <a:rPr sz="950">
                <a:solidFill>
                  <a:srgbClr val="424242"/>
                </a:solidFill>
                <a:latin typeface="Helvetica Neue"/>
                <a:ea typeface="Helvetica Neue"/>
                <a:cs typeface="Helvetica Neue"/>
              </a:rPr>
              <a:t>approves recovery plans and delivery dates</a:t>
            </a:r>
            <a:endParaRPr sz="950">
              <a:latin typeface="Helvetica Neue"/>
              <a:ea typeface="Helvetica Neue"/>
              <a:cs typeface="Helvetica Neue"/>
            </a:endParaRPr>
          </a:p>
        </p:txBody>
      </p:sp>
      <p:sp>
        <p:nvSpPr>
          <p:cNvPr id="68" name="Text 56">
            <a:extLst xmlns:a="http://schemas.openxmlformats.org/drawingml/2006/main">
              <a:ext uri="{FF2B5EF4-FFF2-40B4-BE49-F238E27FC236}">
                <a16:creationId xmlns:a16="http://schemas.microsoft.com/office/drawing/2014/main" id="{3255389D-E605-4C0A-9175-0788A1B0DFD0}"/>
              </a:ext>
            </a:extLst>
          </p:cNvPr>
          <p:cNvSpPr>
            <a:spLocks xmlns:a="http://schemas.openxmlformats.org/drawingml/2006/main" noGrp="1"/>
          </p:cNvSpPr>
          <p:nvPr/>
        </p:nvSpPr>
        <p:spPr>
          <a:xfrm xmlns:a="http://schemas.openxmlformats.org/drawingml/2006/main">
            <a:off x="457200" y="6467475"/>
            <a:ext cx="11277600"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707070"/>
                </a:solidFill>
                <a:latin typeface="Helvetica Neue"/>
                <a:ea typeface="Helvetica Neue"/>
                <a:cs typeface="Helvetica Neue"/>
              </a:rPr>
              <a:t>Sources: Meta, ISCA 2025, §6. Marvell, Jun 2025.</a:t>
            </a:r>
            <a:endParaRPr sz="800"/>
          </a:p>
          <a:p xmlns:a="http://schemas.openxmlformats.org/drawingml/2006/main">
            <a:pPr>
              <a:defRPr>
                <a:latin typeface="Helvetica Neue"/>
                <a:ea typeface="Helvetica Neue"/>
                <a:cs typeface="Helvetica Neue"/>
              </a:defRPr>
            </a:pPr>
            <a:r>
              <a:rPr sz="800">
                <a:solidFill>
                  <a:srgbClr val="707070"/>
                </a:solidFill>
                <a:latin typeface="Helvetica Neue"/>
                <a:ea typeface="Helvetica Neue"/>
                <a:cs typeface="Helvetica Neue"/>
              </a:rPr>
              <a:t>Gartner, "Forecasting the $204 Billion Opportunity in Custom Semiconductor Chips (ASIC)," 26 Aug 2026</a:t>
            </a:r>
            <a:endParaRPr sz="800">
              <a:solidFill>
                <a:schemeClr val="bg1">
                  <a:lumMod val="75000"/>
                </a:schemeClr>
              </a:solidFill>
              <a:latin typeface="Helvetica Neue"/>
              <a:ea typeface="Helvetica Neue"/>
              <a:cs typeface="Helvetica Neue"/>
            </a:endParaRPr>
          </a:p>
          <a:p xmlns:a="http://schemas.openxmlformats.org/drawingml/2006/main">
            <a:pPr marL="0" indent="0">
              <a:buNone/>
              <a:defRPr>
                <a:latin typeface="Helvetica Neue"/>
                <a:ea typeface="Helvetica Neue"/>
                <a:cs typeface="Helvetica Neue"/>
              </a:defRPr>
            </a:pPr>
            <a:endParaRPr sz="800">
              <a:solidFill>
                <a:schemeClr val="bg1">
                  <a:lumMod val="75000"/>
                </a:schemeClr>
              </a:solidFill>
              <a:latin typeface="Helvetica Neue"/>
              <a:ea typeface="Helvetica Neue"/>
              <a:cs typeface="Helvetica Neue"/>
            </a:endParaRPr>
          </a:p>
        </p:txBody>
      </p:sp>
      <p:sp>
        <p:nvSpPr>
          <p:cNvPr id="78" name="restyle-rule-1">
            <a:extLst xmlns:a="http://schemas.openxmlformats.org/drawingml/2006/main">
              <a:ext uri="{FF2B5EF4-FFF2-40B4-BE49-F238E27FC236}">
                <a16:creationId xmlns:a16="http://schemas.microsoft.com/office/drawing/2014/main" id="{414BFB96-EB25-401C-B329-C1FB037F1C28}"/>
              </a:ext>
            </a:extLst>
          </p:cNvPr>
          <p:cNvSpPr>
            <a:spLocks xmlns:a="http://schemas.openxmlformats.org/drawingml/2006/main" noGrp="1"/>
          </p:cNvSpPr>
          <p:nvPr/>
        </p:nvSpPr>
        <p:spPr>
          <a:xfrm xmlns:a="http://schemas.openxmlformats.org/drawingml/2006/main">
            <a:off x="640080" y="4544378"/>
            <a:ext cx="24507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79" name="restyle-rule-2">
            <a:extLst xmlns:a="http://schemas.openxmlformats.org/drawingml/2006/main">
              <a:ext uri="{FF2B5EF4-FFF2-40B4-BE49-F238E27FC236}">
                <a16:creationId xmlns:a16="http://schemas.microsoft.com/office/drawing/2014/main" id="{74572A37-6713-4A5A-87BC-BAA642BD0669}"/>
              </a:ext>
            </a:extLst>
          </p:cNvPr>
          <p:cNvSpPr>
            <a:spLocks xmlns:a="http://schemas.openxmlformats.org/drawingml/2006/main" noGrp="1"/>
          </p:cNvSpPr>
          <p:nvPr/>
        </p:nvSpPr>
        <p:spPr>
          <a:xfrm xmlns:a="http://schemas.openxmlformats.org/drawingml/2006/main">
            <a:off x="3456432" y="4544378"/>
            <a:ext cx="24507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80" name="restyle-rule-3">
            <a:extLst xmlns:a="http://schemas.openxmlformats.org/drawingml/2006/main">
              <a:ext uri="{FF2B5EF4-FFF2-40B4-BE49-F238E27FC236}">
                <a16:creationId xmlns:a16="http://schemas.microsoft.com/office/drawing/2014/main" id="{4A718C01-8F06-4A98-ACF6-205DEBD8E549}"/>
              </a:ext>
            </a:extLst>
          </p:cNvPr>
          <p:cNvSpPr>
            <a:spLocks xmlns:a="http://schemas.openxmlformats.org/drawingml/2006/main" noGrp="1"/>
          </p:cNvSpPr>
          <p:nvPr/>
        </p:nvSpPr>
        <p:spPr>
          <a:xfrm xmlns:a="http://schemas.openxmlformats.org/drawingml/2006/main">
            <a:off x="6272784" y="4544378"/>
            <a:ext cx="24507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81" name="restyle-rule-4">
            <a:extLst xmlns:a="http://schemas.openxmlformats.org/drawingml/2006/main">
              <a:ext uri="{FF2B5EF4-FFF2-40B4-BE49-F238E27FC236}">
                <a16:creationId xmlns:a16="http://schemas.microsoft.com/office/drawing/2014/main" id="{16FF5726-3748-487D-8BB1-E1E177E68519}"/>
              </a:ext>
            </a:extLst>
          </p:cNvPr>
          <p:cNvSpPr>
            <a:spLocks xmlns:a="http://schemas.openxmlformats.org/drawingml/2006/main" noGrp="1"/>
          </p:cNvSpPr>
          <p:nvPr/>
        </p:nvSpPr>
        <p:spPr>
          <a:xfrm xmlns:a="http://schemas.openxmlformats.org/drawingml/2006/main">
            <a:off x="9089136" y="4544378"/>
            <a:ext cx="24507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Tree>
    <p:extLst>
      <p:ext uri="{BB962C8B-B14F-4D97-AF65-F5344CB8AC3E}">
        <p14:creationId xmlns:p14="http://schemas.microsoft.com/office/powerpoint/2010/main" val="18618826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2F2C5F5D-71BC-4E4D-A8FC-2834EA7B5EE7}"/>
              </a:ext>
            </a:extLst>
          </p:cNvPr>
          <p:cNvSpPr>
            <a:spLocks xmlns:a="http://schemas.openxmlformats.org/drawingml/2006/main" noGrp="1"/>
          </p:cNvSpPr>
          <p:nvPr/>
        </p:nvSpPr>
        <p:spPr>
          <a:xfrm xmlns:a="http://schemas.openxmlformats.org/drawingml/2006/main">
            <a:off x="457200" y="428625"/>
            <a:ext cx="11277600" cy="476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800" b="0">
                <a:solidFill>
                  <a:srgbClr val="101010"/>
                </a:solidFill>
                <a:latin typeface="Helvetica Neue"/>
                <a:ea typeface="Helvetica Neue"/>
                <a:cs typeface="Helvetica Neue"/>
              </a:rPr>
              <a:t>The Solution Architecture</a:t>
            </a:r>
            <a:endParaRPr sz="2800"/>
          </a:p>
          <a:p xmlns:a="http://schemas.openxmlformats.org/drawingml/2006/main">
            <a:pPr marL="0" indent="0">
              <a:buNone/>
              <a:defRPr>
                <a:latin typeface="Helvetica Neue"/>
                <a:ea typeface="Helvetica Neue"/>
                <a:cs typeface="Helvetica Neue"/>
              </a:defRPr>
            </a:pPr>
            <a:endParaRPr sz="2800">
              <a:latin typeface="Helvetica Neue"/>
              <a:ea typeface="Helvetica Neue"/>
              <a:cs typeface="Helvetica Neue"/>
            </a:endParaRPr>
          </a:p>
        </p:txBody>
      </p:sp>
      <p:sp>
        <p:nvSpPr>
          <p:cNvPr id="4" name="Shape 2">
            <a:extLst xmlns:a="http://schemas.openxmlformats.org/drawingml/2006/main">
              <a:ext uri="{FF2B5EF4-FFF2-40B4-BE49-F238E27FC236}">
                <a16:creationId xmlns:a16="http://schemas.microsoft.com/office/drawing/2014/main" id="{0BD98125-C36D-416A-8EE8-EE628E18F996}"/>
              </a:ext>
            </a:extLst>
          </p:cNvPr>
          <p:cNvSpPr>
            <a:spLocks xmlns:a="http://schemas.openxmlformats.org/drawingml/2006/main" noGrp="1"/>
          </p:cNvSpPr>
          <p:nvPr/>
        </p:nvSpPr>
        <p:spPr>
          <a:xfrm xmlns:a="http://schemas.openxmlformats.org/drawingml/2006/main">
            <a:off x="457200" y="1280160"/>
            <a:ext cx="11277600" cy="4171950"/>
          </a:xfrm>
          <a:prstGeom xmlns:a="http://schemas.openxmlformats.org/drawingml/2006/main" prst="line">
            <a:avLst/>
          </a:prstGeom>
          <a:solidFill xmlns:a="http://schemas.openxmlformats.org/drawingml/2006/main">
            <a:srgbClr val="F7F7F7"/>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59" name="Image 0"/>
          <p:cNvPicPr>
            <a:picLocks xmlns:a="http://schemas.openxmlformats.org/drawingml/2006/main" noChangeAspect="1"/>
          </p:cNvPicPr>
          <p:nvPr/>
        </p:nvPicPr>
        <p:blipFill>
          <a:blip xmlns:r="http://schemas.openxmlformats.org/officeDocument/2006/relationships" xmlns:a="http://schemas.openxmlformats.org/drawingml/2006/main" r:embed="R809e5100e54c4fa8"/>
          <a:stretch xmlns:a="http://schemas.openxmlformats.org/drawingml/2006/main">
            <a:fillRect l="0" t="0" r="0" b="0"/>
          </a:stretch>
        </p:blipFill>
        <p:spPr>
          <a:xfrm xmlns:a="http://schemas.openxmlformats.org/drawingml/2006/main">
            <a:off x="621792" y="1353312"/>
            <a:ext cx="201168" cy="20116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9711F97-5448-4D76-9996-F9282730EA9D}"/>
              </a:ext>
            </a:extLst>
          </p:cNvPr>
          <p:cNvSpPr>
            <a:spLocks xmlns:a="http://schemas.openxmlformats.org/drawingml/2006/main" noGrp="1"/>
          </p:cNvSpPr>
          <p:nvPr/>
        </p:nvSpPr>
        <p:spPr>
          <a:xfrm xmlns:a="http://schemas.openxmlformats.org/drawingml/2006/main">
            <a:off x="877824" y="1335024"/>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Stratos agentic system</a:t>
            </a:r>
            <a:endParaRPr sz="1100">
              <a:latin typeface="Helvetica Neue"/>
              <a:ea typeface="Helvetica Neue"/>
              <a:cs typeface="Helvetica Neue"/>
            </a:endParaRPr>
          </a:p>
        </p:txBody>
      </p:sp>
      <p:sp>
        <p:nvSpPr>
          <p:cNvPr id="7" name="Text 4">
            <a:extLst xmlns:a="http://schemas.openxmlformats.org/drawingml/2006/main">
              <a:ext uri="{FF2B5EF4-FFF2-40B4-BE49-F238E27FC236}">
                <a16:creationId xmlns:a16="http://schemas.microsoft.com/office/drawing/2014/main" id="{60DFECD1-D78C-4D35-8B54-040A8D9E4981}"/>
              </a:ext>
            </a:extLst>
          </p:cNvPr>
          <p:cNvSpPr>
            <a:spLocks xmlns:a="http://schemas.openxmlformats.org/drawingml/2006/main" noGrp="1"/>
          </p:cNvSpPr>
          <p:nvPr/>
        </p:nvSpPr>
        <p:spPr>
          <a:xfrm xmlns:a="http://schemas.openxmlformats.org/drawingml/2006/main">
            <a:off x="6035040" y="1335024"/>
            <a:ext cx="5532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a:latin typeface="Helvetica Neue"/>
                <a:ea typeface="Helvetica Neue"/>
                <a:cs typeface="Helvetica Neue"/>
              </a:defRPr>
            </a:pPr>
            <a:r>
              <a:rPr sz="900">
                <a:solidFill>
                  <a:srgbClr val="424242"/>
                </a:solidFill>
                <a:latin typeface="Helvetica Neue"/>
                <a:ea typeface="Helvetica Neue"/>
                <a:cs typeface="Helvetica Neue"/>
              </a:rPr>
              <a:t>Built on OpenAI API Platform &amp; Codex</a:t>
            </a:r>
            <a:endParaRPr sz="900">
              <a:latin typeface="Helvetica Neue"/>
              <a:ea typeface="Helvetica Neue"/>
              <a:cs typeface="Helvetica Neue"/>
            </a:endParaRPr>
          </a:p>
        </p:txBody>
      </p:sp>
      <p:sp>
        <p:nvSpPr>
          <p:cNvPr id="8" name="Shape 5">
            <a:extLst xmlns:a="http://schemas.openxmlformats.org/drawingml/2006/main">
              <a:ext uri="{FF2B5EF4-FFF2-40B4-BE49-F238E27FC236}">
                <a16:creationId xmlns:a16="http://schemas.microsoft.com/office/drawing/2014/main" id="{3207428E-CD16-4E58-BA88-5CF059D7FB73}"/>
              </a:ext>
            </a:extLst>
          </p:cNvPr>
          <p:cNvSpPr>
            <a:spLocks xmlns:a="http://schemas.openxmlformats.org/drawingml/2006/main" noGrp="1"/>
          </p:cNvSpPr>
          <p:nvPr/>
        </p:nvSpPr>
        <p:spPr>
          <a:xfrm xmlns:a="http://schemas.openxmlformats.org/drawingml/2006/main">
            <a:off x="640080" y="1627632"/>
            <a:ext cx="10908792" cy="420624"/>
          </a:xfrm>
          <a:prstGeom xmlns:a="http://schemas.openxmlformats.org/drawingml/2006/main" prst="line">
            <a:avLst/>
          </a:prstGeom>
          <a:solidFill xmlns:a="http://schemas.openxmlformats.org/drawingml/2006/main">
            <a:srgbClr val="FFFFFF"/>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9" name="Text 6">
            <a:extLst xmlns:a="http://schemas.openxmlformats.org/drawingml/2006/main">
              <a:ext uri="{FF2B5EF4-FFF2-40B4-BE49-F238E27FC236}">
                <a16:creationId xmlns:a16="http://schemas.microsoft.com/office/drawing/2014/main" id="{AB43BDD6-5A2E-4E84-A9B0-0156994B58AB}"/>
              </a:ext>
            </a:extLst>
          </p:cNvPr>
          <p:cNvSpPr>
            <a:spLocks xmlns:a="http://schemas.openxmlformats.org/drawingml/2006/main" noGrp="1"/>
          </p:cNvSpPr>
          <p:nvPr/>
        </p:nvSpPr>
        <p:spPr>
          <a:xfrm xmlns:a="http://schemas.openxmlformats.org/drawingml/2006/main">
            <a:off x="786384" y="1645920"/>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Front end UI</a:t>
            </a:r>
            <a:endParaRPr sz="1100">
              <a:latin typeface="Helvetica Neue"/>
              <a:ea typeface="Helvetica Neue"/>
              <a:cs typeface="Helvetica Neue"/>
            </a:endParaRPr>
          </a:p>
        </p:txBody>
      </p:sp>
      <p:sp>
        <p:nvSpPr>
          <p:cNvPr id="10" name="Text 7">
            <a:extLst xmlns:a="http://schemas.openxmlformats.org/drawingml/2006/main">
              <a:ext uri="{FF2B5EF4-FFF2-40B4-BE49-F238E27FC236}">
                <a16:creationId xmlns:a16="http://schemas.microsoft.com/office/drawing/2014/main" id="{449E667E-A2B1-47F5-9DC5-6549979F18D4}"/>
              </a:ext>
            </a:extLst>
          </p:cNvPr>
          <p:cNvSpPr>
            <a:spLocks xmlns:a="http://schemas.openxmlformats.org/drawingml/2006/main" noGrp="1"/>
          </p:cNvSpPr>
          <p:nvPr/>
        </p:nvSpPr>
        <p:spPr>
          <a:xfrm xmlns:a="http://schemas.openxmlformats.org/drawingml/2006/main">
            <a:off x="786384" y="1837944"/>
            <a:ext cx="1828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Stratos workspace</a:t>
            </a:r>
            <a:endParaRPr sz="900">
              <a:latin typeface="Helvetica Neue"/>
              <a:ea typeface="Helvetica Neue"/>
              <a:cs typeface="Helvetica Neue"/>
            </a:endParaRPr>
          </a:p>
        </p:txBody>
      </p:sp>
      <p:pic>
        <p:nvPicPr>
          <p:cNvPr id="165" name="Image 1"/>
          <p:cNvPicPr>
            <a:picLocks xmlns:a="http://schemas.openxmlformats.org/drawingml/2006/main" noChangeAspect="1"/>
          </p:cNvPicPr>
          <p:nvPr/>
        </p:nvPicPr>
        <p:blipFill>
          <a:blip xmlns:r="http://schemas.openxmlformats.org/officeDocument/2006/relationships" xmlns:a="http://schemas.openxmlformats.org/drawingml/2006/main" r:embed="R3b796c3d276c4bf9"/>
          <a:stretch xmlns:a="http://schemas.openxmlformats.org/drawingml/2006/main">
            <a:fillRect l="0" t="0" r="0" b="0"/>
          </a:stretch>
        </p:blipFill>
        <p:spPr>
          <a:xfrm xmlns:a="http://schemas.openxmlformats.org/drawingml/2006/main">
            <a:off x="3108960" y="1737360"/>
            <a:ext cx="201168" cy="201168"/>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138CC5AA-F97B-4828-A4A1-DEF6672DF040}"/>
              </a:ext>
            </a:extLst>
          </p:cNvPr>
          <p:cNvSpPr>
            <a:spLocks xmlns:a="http://schemas.openxmlformats.org/drawingml/2006/main" noGrp="1"/>
          </p:cNvSpPr>
          <p:nvPr/>
        </p:nvSpPr>
        <p:spPr>
          <a:xfrm xmlns:a="http://schemas.openxmlformats.org/drawingml/2006/main">
            <a:off x="336499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a:solidFill>
                  <a:srgbClr val="424242"/>
                </a:solidFill>
                <a:latin typeface="Helvetica Neue"/>
                <a:ea typeface="Helvetica Neue"/>
                <a:cs typeface="Helvetica Neue"/>
              </a:rPr>
              <a:t>Case workbench</a:t>
            </a:r>
            <a:endParaRPr sz="1000">
              <a:latin typeface="Helvetica Neue"/>
              <a:ea typeface="Helvetica Neue"/>
              <a:cs typeface="Helvetica Neue"/>
            </a:endParaRPr>
          </a:p>
        </p:txBody>
      </p:sp>
      <p:pic>
        <p:nvPicPr>
          <p:cNvPr id="167" name="Image 2"/>
          <p:cNvPicPr>
            <a:picLocks xmlns:a="http://schemas.openxmlformats.org/drawingml/2006/main" noChangeAspect="1"/>
          </p:cNvPicPr>
          <p:nvPr/>
        </p:nvPicPr>
        <p:blipFill>
          <a:blip xmlns:r="http://schemas.openxmlformats.org/officeDocument/2006/relationships" xmlns:a="http://schemas.openxmlformats.org/drawingml/2006/main" r:embed="R450746ceee834ed4"/>
          <a:stretch xmlns:a="http://schemas.openxmlformats.org/drawingml/2006/main">
            <a:fillRect l="0" t="0" r="0" b="0"/>
          </a:stretch>
        </p:blipFill>
        <p:spPr>
          <a:xfrm xmlns:a="http://schemas.openxmlformats.org/drawingml/2006/main">
            <a:off x="4800600" y="1737360"/>
            <a:ext cx="201168" cy="201168"/>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D71EE82F-2DE0-43F2-BAB1-91B8CF38600B}"/>
              </a:ext>
            </a:extLst>
          </p:cNvPr>
          <p:cNvSpPr>
            <a:spLocks xmlns:a="http://schemas.openxmlformats.org/drawingml/2006/main" noGrp="1"/>
          </p:cNvSpPr>
          <p:nvPr/>
        </p:nvSpPr>
        <p:spPr>
          <a:xfrm xmlns:a="http://schemas.openxmlformats.org/drawingml/2006/main">
            <a:off x="505663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a:solidFill>
                  <a:srgbClr val="424242"/>
                </a:solidFill>
                <a:latin typeface="Helvetica Neue"/>
                <a:ea typeface="Helvetica Neue"/>
                <a:cs typeface="Helvetica Neue"/>
              </a:rPr>
              <a:t>Concierge</a:t>
            </a:r>
            <a:endParaRPr sz="1000">
              <a:latin typeface="Helvetica Neue"/>
              <a:ea typeface="Helvetica Neue"/>
              <a:cs typeface="Helvetica Neue"/>
            </a:endParaRPr>
          </a:p>
        </p:txBody>
      </p:sp>
      <p:pic>
        <p:nvPicPr>
          <p:cNvPr id="169" name="Image 3"/>
          <p:cNvPicPr>
            <a:picLocks xmlns:a="http://schemas.openxmlformats.org/drawingml/2006/main" noChangeAspect="1"/>
          </p:cNvPicPr>
          <p:nvPr/>
        </p:nvPicPr>
        <p:blipFill>
          <a:blip xmlns:r="http://schemas.openxmlformats.org/officeDocument/2006/relationships" xmlns:a="http://schemas.openxmlformats.org/drawingml/2006/main" r:embed="R94a10d6a425f42ef"/>
          <a:stretch xmlns:a="http://schemas.openxmlformats.org/drawingml/2006/main">
            <a:fillRect l="0" t="0" r="0" b="0"/>
          </a:stretch>
        </p:blipFill>
        <p:spPr>
          <a:xfrm xmlns:a="http://schemas.openxmlformats.org/drawingml/2006/main">
            <a:off x="6492240" y="1737360"/>
            <a:ext cx="201168" cy="201168"/>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1287CB4E-39B9-41B9-81CA-724D6EBB3519}"/>
              </a:ext>
            </a:extLst>
          </p:cNvPr>
          <p:cNvSpPr>
            <a:spLocks xmlns:a="http://schemas.openxmlformats.org/drawingml/2006/main" noGrp="1"/>
          </p:cNvSpPr>
          <p:nvPr/>
        </p:nvSpPr>
        <p:spPr>
          <a:xfrm xmlns:a="http://schemas.openxmlformats.org/drawingml/2006/main">
            <a:off x="674827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a:solidFill>
                  <a:srgbClr val="424242"/>
                </a:solidFill>
                <a:latin typeface="Helvetica Neue"/>
                <a:ea typeface="Helvetica Neue"/>
                <a:cs typeface="Helvetica Neue"/>
              </a:rPr>
              <a:t>Decisions</a:t>
            </a:r>
            <a:endParaRPr sz="1000">
              <a:latin typeface="Helvetica Neue"/>
              <a:ea typeface="Helvetica Neue"/>
              <a:cs typeface="Helvetica Neue"/>
            </a:endParaRPr>
          </a:p>
        </p:txBody>
      </p:sp>
      <p:pic>
        <p:nvPicPr>
          <p:cNvPr id="171" name="Image 4"/>
          <p:cNvPicPr>
            <a:picLocks xmlns:a="http://schemas.openxmlformats.org/drawingml/2006/main" noChangeAspect="1"/>
          </p:cNvPicPr>
          <p:nvPr/>
        </p:nvPicPr>
        <p:blipFill>
          <a:blip xmlns:r="http://schemas.openxmlformats.org/officeDocument/2006/relationships" xmlns:a="http://schemas.openxmlformats.org/drawingml/2006/main" r:embed="R34719733b2034fcd"/>
          <a:stretch xmlns:a="http://schemas.openxmlformats.org/drawingml/2006/main">
            <a:fillRect l="0" t="0" r="0" b="0"/>
          </a:stretch>
        </p:blipFill>
        <p:spPr>
          <a:xfrm xmlns:a="http://schemas.openxmlformats.org/drawingml/2006/main">
            <a:off x="8183880" y="1737360"/>
            <a:ext cx="201168" cy="201168"/>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2BFEA4CD-4D3B-42E5-ACAE-EA30E7D00E32}"/>
              </a:ext>
            </a:extLst>
          </p:cNvPr>
          <p:cNvSpPr>
            <a:spLocks xmlns:a="http://schemas.openxmlformats.org/drawingml/2006/main" noGrp="1"/>
          </p:cNvSpPr>
          <p:nvPr/>
        </p:nvSpPr>
        <p:spPr>
          <a:xfrm xmlns:a="http://schemas.openxmlformats.org/drawingml/2006/main">
            <a:off x="843991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a:solidFill>
                  <a:srgbClr val="424242"/>
                </a:solidFill>
                <a:latin typeface="Helvetica Neue"/>
                <a:ea typeface="Helvetica Neue"/>
                <a:cs typeface="Helvetica Neue"/>
              </a:rPr>
              <a:t>Escalations</a:t>
            </a:r>
            <a:endParaRPr sz="1000">
              <a:latin typeface="Helvetica Neue"/>
              <a:ea typeface="Helvetica Neue"/>
              <a:cs typeface="Helvetica Neue"/>
            </a:endParaRPr>
          </a:p>
        </p:txBody>
      </p:sp>
      <p:pic>
        <p:nvPicPr>
          <p:cNvPr id="173" name="Image 5"/>
          <p:cNvPicPr>
            <a:picLocks xmlns:a="http://schemas.openxmlformats.org/drawingml/2006/main" noChangeAspect="1"/>
          </p:cNvPicPr>
          <p:nvPr/>
        </p:nvPicPr>
        <p:blipFill>
          <a:blip xmlns:r="http://schemas.openxmlformats.org/officeDocument/2006/relationships" xmlns:a="http://schemas.openxmlformats.org/drawingml/2006/main" r:embed="R49805ebb49914312"/>
          <a:stretch xmlns:a="http://schemas.openxmlformats.org/drawingml/2006/main">
            <a:fillRect l="0" t="0" r="0" b="0"/>
          </a:stretch>
        </p:blipFill>
        <p:spPr>
          <a:xfrm xmlns:a="http://schemas.openxmlformats.org/drawingml/2006/main">
            <a:off x="9875520" y="1737360"/>
            <a:ext cx="201168" cy="201168"/>
          </a:xfrm>
          <a:prstGeom xmlns:a="http://schemas.openxmlformats.org/drawingml/2006/main" prst="rect">
            <a:avLst/>
          </a:prstGeom>
        </p:spPr>
      </p:pic>
      <p:sp>
        <p:nvSpPr>
          <p:cNvPr id="20" name="Text 12">
            <a:extLst xmlns:a="http://schemas.openxmlformats.org/drawingml/2006/main">
              <a:ext uri="{FF2B5EF4-FFF2-40B4-BE49-F238E27FC236}">
                <a16:creationId xmlns:a16="http://schemas.microsoft.com/office/drawing/2014/main" id="{56511F4F-04CB-462B-99B7-0A0DC19D5140}"/>
              </a:ext>
            </a:extLst>
          </p:cNvPr>
          <p:cNvSpPr>
            <a:spLocks xmlns:a="http://schemas.openxmlformats.org/drawingml/2006/main" noGrp="1"/>
          </p:cNvSpPr>
          <p:nvPr/>
        </p:nvSpPr>
        <p:spPr>
          <a:xfrm xmlns:a="http://schemas.openxmlformats.org/drawingml/2006/main">
            <a:off x="1013155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a:solidFill>
                  <a:srgbClr val="424242"/>
                </a:solidFill>
                <a:latin typeface="Helvetica Neue"/>
                <a:ea typeface="Helvetica Neue"/>
                <a:cs typeface="Helvetica Neue"/>
              </a:rPr>
              <a:t>Operations</a:t>
            </a:r>
            <a:endParaRPr sz="1000">
              <a:latin typeface="Helvetica Neue"/>
              <a:ea typeface="Helvetica Neue"/>
              <a:cs typeface="Helvetica Neue"/>
            </a:endParaRPr>
          </a:p>
        </p:txBody>
      </p:sp>
      <p:pic>
        <p:nvPicPr>
          <p:cNvPr id="175" name="Image 6"/>
          <p:cNvPicPr>
            <a:picLocks xmlns:a="http://schemas.openxmlformats.org/drawingml/2006/main" noChangeAspect="1"/>
          </p:cNvPicPr>
          <p:nvPr/>
        </p:nvPicPr>
        <p:blipFill>
          <a:blip xmlns:r="http://schemas.openxmlformats.org/officeDocument/2006/relationships" xmlns:a="http://schemas.openxmlformats.org/drawingml/2006/main" r:embed="R019dcd261d304310"/>
          <a:stretch xmlns:a="http://schemas.openxmlformats.org/drawingml/2006/main">
            <a:fillRect l="0" t="0" r="0" b="0"/>
          </a:stretch>
        </p:blipFill>
        <p:spPr>
          <a:xfrm xmlns:a="http://schemas.openxmlformats.org/drawingml/2006/main">
            <a:off x="5669280" y="2093976"/>
            <a:ext cx="164592" cy="164592"/>
          </a:xfrm>
          <a:prstGeom xmlns:a="http://schemas.openxmlformats.org/drawingml/2006/main" prst="rect">
            <a:avLst/>
          </a:prstGeom>
        </p:spPr>
      </p:pic>
      <p:sp>
        <p:nvSpPr>
          <p:cNvPr id="22" name="Text 13">
            <a:extLst xmlns:a="http://schemas.openxmlformats.org/drawingml/2006/main">
              <a:ext uri="{FF2B5EF4-FFF2-40B4-BE49-F238E27FC236}">
                <a16:creationId xmlns:a16="http://schemas.microsoft.com/office/drawing/2014/main" id="{7BB3F88D-6E00-42AB-9ADB-188DA5151093}"/>
              </a:ext>
            </a:extLst>
          </p:cNvPr>
          <p:cNvSpPr>
            <a:spLocks xmlns:a="http://schemas.openxmlformats.org/drawingml/2006/main" noGrp="1"/>
          </p:cNvSpPr>
          <p:nvPr/>
        </p:nvSpPr>
        <p:spPr>
          <a:xfrm xmlns:a="http://schemas.openxmlformats.org/drawingml/2006/main">
            <a:off x="5870448" y="2075688"/>
            <a:ext cx="914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Host API</a:t>
            </a:r>
            <a:endParaRPr sz="900">
              <a:latin typeface="Helvetica Neue"/>
              <a:ea typeface="Helvetica Neue"/>
              <a:cs typeface="Helvetica Neue"/>
            </a:endParaRPr>
          </a:p>
        </p:txBody>
      </p:sp>
      <p:sp>
        <p:nvSpPr>
          <p:cNvPr id="23" name="Shape 14">
            <a:extLst xmlns:a="http://schemas.openxmlformats.org/drawingml/2006/main">
              <a:ext uri="{FF2B5EF4-FFF2-40B4-BE49-F238E27FC236}">
                <a16:creationId xmlns:a16="http://schemas.microsoft.com/office/drawing/2014/main" id="{02EC446E-CEB5-452E-8069-9761731D30D5}"/>
              </a:ext>
            </a:extLst>
          </p:cNvPr>
          <p:cNvSpPr>
            <a:spLocks xmlns:a="http://schemas.openxmlformats.org/drawingml/2006/main" noGrp="1"/>
          </p:cNvSpPr>
          <p:nvPr/>
        </p:nvSpPr>
        <p:spPr>
          <a:xfrm xmlns:a="http://schemas.openxmlformats.org/drawingml/2006/main">
            <a:off x="640080" y="2304288"/>
            <a:ext cx="10908792" cy="2633472"/>
          </a:xfrm>
          <a:prstGeom xmlns:a="http://schemas.openxmlformats.org/drawingml/2006/main" prst="line">
            <a:avLst/>
          </a:prstGeom>
          <a:solidFill xmlns:a="http://schemas.openxmlformats.org/drawingml/2006/main">
            <a:srgbClr val="FFFFFF"/>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4" name="Text 15">
            <a:extLst xmlns:a="http://schemas.openxmlformats.org/drawingml/2006/main">
              <a:ext uri="{FF2B5EF4-FFF2-40B4-BE49-F238E27FC236}">
                <a16:creationId xmlns:a16="http://schemas.microsoft.com/office/drawing/2014/main" id="{5F93BC51-B6EA-40BD-A661-FE596A0B5DBC}"/>
              </a:ext>
            </a:extLst>
          </p:cNvPr>
          <p:cNvSpPr>
            <a:spLocks xmlns:a="http://schemas.openxmlformats.org/drawingml/2006/main" noGrp="1"/>
          </p:cNvSpPr>
          <p:nvPr/>
        </p:nvSpPr>
        <p:spPr>
          <a:xfrm xmlns:a="http://schemas.openxmlformats.org/drawingml/2006/main">
            <a:off x="786384" y="23591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Multi-agent harness</a:t>
            </a:r>
            <a:endParaRPr sz="1100">
              <a:latin typeface="Helvetica Neue"/>
              <a:ea typeface="Helvetica Neue"/>
              <a:cs typeface="Helvetica Neue"/>
            </a:endParaRPr>
          </a:p>
        </p:txBody>
      </p:sp>
      <p:sp>
        <p:nvSpPr>
          <p:cNvPr id="25" name="Text 16">
            <a:extLst xmlns:a="http://schemas.openxmlformats.org/drawingml/2006/main">
              <a:ext uri="{FF2B5EF4-FFF2-40B4-BE49-F238E27FC236}">
                <a16:creationId xmlns:a16="http://schemas.microsoft.com/office/drawing/2014/main" id="{DD1B7BCD-568E-4FDD-92ED-C4B82ED96826}"/>
              </a:ext>
            </a:extLst>
          </p:cNvPr>
          <p:cNvSpPr>
            <a:spLocks xmlns:a="http://schemas.openxmlformats.org/drawingml/2006/main" noGrp="1"/>
          </p:cNvSpPr>
          <p:nvPr/>
        </p:nvSpPr>
        <p:spPr>
          <a:xfrm xmlns:a="http://schemas.openxmlformats.org/drawingml/2006/main">
            <a:off x="8229600" y="2359152"/>
            <a:ext cx="3172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defRPr>
                <a:latin typeface="Helvetica Neue"/>
                <a:ea typeface="Helvetica Neue"/>
                <a:cs typeface="Helvetica Neue"/>
              </a:defRPr>
            </a:pPr>
            <a:r>
              <a:rPr sz="900">
                <a:solidFill>
                  <a:srgbClr val="424242"/>
                </a:solidFill>
                <a:latin typeface="Helvetica Neue"/>
                <a:ea typeface="Helvetica Neue"/>
                <a:cs typeface="Helvetica Neue"/>
              </a:rPr>
              <a:t>Manager and specialists pattern</a:t>
            </a:r>
            <a:endParaRPr sz="900">
              <a:latin typeface="Helvetica Neue"/>
              <a:ea typeface="Helvetica Neue"/>
              <a:cs typeface="Helvetica Neue"/>
            </a:endParaRPr>
          </a:p>
        </p:txBody>
      </p:sp>
      <p:sp>
        <p:nvSpPr>
          <p:cNvPr id="26" name="Text 17">
            <a:extLst xmlns:a="http://schemas.openxmlformats.org/drawingml/2006/main">
              <a:ext uri="{FF2B5EF4-FFF2-40B4-BE49-F238E27FC236}">
                <a16:creationId xmlns:a16="http://schemas.microsoft.com/office/drawing/2014/main" id="{8D4B90FC-61DB-401D-B949-489B5C753798}"/>
              </a:ext>
            </a:extLst>
          </p:cNvPr>
          <p:cNvSpPr>
            <a:spLocks xmlns:a="http://schemas.openxmlformats.org/drawingml/2006/main" noGrp="1"/>
          </p:cNvSpPr>
          <p:nvPr/>
        </p:nvSpPr>
        <p:spPr>
          <a:xfrm xmlns:a="http://schemas.openxmlformats.org/drawingml/2006/main">
            <a:off x="2651760" y="2596896"/>
            <a:ext cx="10058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Runs start from</a:t>
            </a:r>
            <a:endParaRPr sz="900">
              <a:latin typeface="Helvetica Neue"/>
              <a:ea typeface="Helvetica Neue"/>
              <a:cs typeface="Helvetica Neue"/>
            </a:endParaRPr>
          </a:p>
        </p:txBody>
      </p:sp>
      <p:sp>
        <p:nvSpPr>
          <p:cNvPr id="27" name="Shape 18">
            <a:extLst xmlns:a="http://schemas.openxmlformats.org/drawingml/2006/main">
              <a:ext uri="{FF2B5EF4-FFF2-40B4-BE49-F238E27FC236}">
                <a16:creationId xmlns:a16="http://schemas.microsoft.com/office/drawing/2014/main" id="{806FA357-EBA7-4464-8B40-C2F86197F93F}"/>
              </a:ext>
            </a:extLst>
          </p:cNvPr>
          <p:cNvSpPr>
            <a:spLocks xmlns:a="http://schemas.openxmlformats.org/drawingml/2006/main" noGrp="1"/>
          </p:cNvSpPr>
          <p:nvPr/>
        </p:nvSpPr>
        <p:spPr>
          <a:xfrm xmlns:a="http://schemas.openxmlformats.org/drawingml/2006/main">
            <a:off x="3560125" y="2601468"/>
            <a:ext cx="1013887"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82" name="Image 7"/>
          <p:cNvPicPr>
            <a:picLocks xmlns:a="http://schemas.openxmlformats.org/drawingml/2006/main" noChangeAspect="1"/>
          </p:cNvPicPr>
          <p:nvPr/>
        </p:nvPicPr>
        <p:blipFill>
          <a:blip xmlns:r="http://schemas.openxmlformats.org/officeDocument/2006/relationships" xmlns:a="http://schemas.openxmlformats.org/drawingml/2006/main" r:embed="R0451fa9c96fe4579"/>
          <a:stretch xmlns:a="http://schemas.openxmlformats.org/drawingml/2006/main">
            <a:fillRect l="0" t="0" r="0" b="0"/>
          </a:stretch>
        </p:blipFill>
        <p:spPr>
          <a:xfrm xmlns:a="http://schemas.openxmlformats.org/drawingml/2006/main">
            <a:off x="3651565" y="2638044"/>
            <a:ext cx="146304" cy="146304"/>
          </a:xfrm>
          <a:prstGeom xmlns:a="http://schemas.openxmlformats.org/drawingml/2006/main" prst="rect">
            <a:avLst/>
          </a:prstGeom>
        </p:spPr>
      </p:pic>
      <p:sp>
        <p:nvSpPr>
          <p:cNvPr id="29" name="Text 19">
            <a:extLst xmlns:a="http://schemas.openxmlformats.org/drawingml/2006/main">
              <a:ext uri="{FF2B5EF4-FFF2-40B4-BE49-F238E27FC236}">
                <a16:creationId xmlns:a16="http://schemas.microsoft.com/office/drawing/2014/main" id="{6745CD51-A838-4E01-BB0D-B0F4A3BECAB5}"/>
              </a:ext>
            </a:extLst>
          </p:cNvPr>
          <p:cNvSpPr>
            <a:spLocks xmlns:a="http://schemas.openxmlformats.org/drawingml/2006/main" noGrp="1"/>
          </p:cNvSpPr>
          <p:nvPr/>
        </p:nvSpPr>
        <p:spPr>
          <a:xfrm xmlns:a="http://schemas.openxmlformats.org/drawingml/2006/main">
            <a:off x="3834445" y="2601468"/>
            <a:ext cx="92244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900">
                <a:solidFill>
                  <a:srgbClr val="424242"/>
                </a:solidFill>
                <a:latin typeface="Helvetica Neue"/>
                <a:ea typeface="Helvetica Neue"/>
                <a:cs typeface="Helvetica Neue"/>
              </a:rPr>
              <a:t>Trigger event</a:t>
            </a:r>
            <a:endParaRPr sz="900">
              <a:latin typeface="Helvetica Neue"/>
              <a:ea typeface="Helvetica Neue"/>
              <a:cs typeface="Helvetica Neue"/>
            </a:endParaRPr>
          </a:p>
        </p:txBody>
      </p:sp>
      <p:sp>
        <p:nvSpPr>
          <p:cNvPr id="30" name="Shape 20">
            <a:extLst xmlns:a="http://schemas.openxmlformats.org/drawingml/2006/main">
              <a:ext uri="{FF2B5EF4-FFF2-40B4-BE49-F238E27FC236}">
                <a16:creationId xmlns:a16="http://schemas.microsoft.com/office/drawing/2014/main" id="{FCD56175-7458-43C3-9249-7EF61C67C8DF}"/>
              </a:ext>
            </a:extLst>
          </p:cNvPr>
          <p:cNvSpPr>
            <a:spLocks xmlns:a="http://schemas.openxmlformats.org/drawingml/2006/main" noGrp="1"/>
          </p:cNvSpPr>
          <p:nvPr/>
        </p:nvSpPr>
        <p:spPr>
          <a:xfrm xmlns:a="http://schemas.openxmlformats.org/drawingml/2006/main">
            <a:off x="7207138" y="2615184"/>
            <a:ext cx="1115020"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85" name="Image 8"/>
          <p:cNvPicPr>
            <a:picLocks xmlns:a="http://schemas.openxmlformats.org/drawingml/2006/main" noChangeAspect="1"/>
          </p:cNvPicPr>
          <p:nvPr/>
        </p:nvPicPr>
        <p:blipFill>
          <a:blip xmlns:r="http://schemas.openxmlformats.org/officeDocument/2006/relationships" xmlns:a="http://schemas.openxmlformats.org/drawingml/2006/main" r:embed="R3171dc60593c44bd"/>
          <a:stretch xmlns:a="http://schemas.openxmlformats.org/drawingml/2006/main">
            <a:fillRect l="0" t="0" r="0" b="0"/>
          </a:stretch>
        </p:blipFill>
        <p:spPr>
          <a:xfrm xmlns:a="http://schemas.openxmlformats.org/drawingml/2006/main">
            <a:off x="7298578" y="2651760"/>
            <a:ext cx="146304" cy="146304"/>
          </a:xfrm>
          <a:prstGeom xmlns:a="http://schemas.openxmlformats.org/drawingml/2006/main" prst="rect">
            <a:avLst/>
          </a:prstGeom>
        </p:spPr>
      </p:pic>
      <p:sp>
        <p:nvSpPr>
          <p:cNvPr id="32" name="Text 21">
            <a:extLst xmlns:a="http://schemas.openxmlformats.org/drawingml/2006/main">
              <a:ext uri="{FF2B5EF4-FFF2-40B4-BE49-F238E27FC236}">
                <a16:creationId xmlns:a16="http://schemas.microsoft.com/office/drawing/2014/main" id="{3976818C-1EB5-4866-A2A3-72B7432BFB4E}"/>
              </a:ext>
            </a:extLst>
          </p:cNvPr>
          <p:cNvSpPr>
            <a:spLocks xmlns:a="http://schemas.openxmlformats.org/drawingml/2006/main" noGrp="1"/>
          </p:cNvSpPr>
          <p:nvPr/>
        </p:nvSpPr>
        <p:spPr>
          <a:xfrm xmlns:a="http://schemas.openxmlformats.org/drawingml/2006/main">
            <a:off x="7481458" y="2615184"/>
            <a:ext cx="113477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900">
                <a:solidFill>
                  <a:srgbClr val="424242"/>
                </a:solidFill>
                <a:latin typeface="Helvetica Neue"/>
                <a:ea typeface="Helvetica Neue"/>
                <a:cs typeface="Helvetica Neue"/>
              </a:rPr>
              <a:t>Operator action</a:t>
            </a:r>
            <a:endParaRPr sz="900">
              <a:latin typeface="Helvetica Neue"/>
              <a:ea typeface="Helvetica Neue"/>
              <a:cs typeface="Helvetica Neue"/>
            </a:endParaRPr>
          </a:p>
        </p:txBody>
      </p:sp>
      <p:sp>
        <p:nvSpPr>
          <p:cNvPr id="33" name="Shape 22">
            <a:extLst xmlns:a="http://schemas.openxmlformats.org/drawingml/2006/main">
              <a:ext uri="{FF2B5EF4-FFF2-40B4-BE49-F238E27FC236}">
                <a16:creationId xmlns:a16="http://schemas.microsoft.com/office/drawing/2014/main" id="{19367D51-3D9B-4BBF-A09B-A797956EB2A6}"/>
              </a:ext>
            </a:extLst>
          </p:cNvPr>
          <p:cNvSpPr>
            <a:spLocks xmlns:a="http://schemas.openxmlformats.org/drawingml/2006/main" noGrp="1"/>
          </p:cNvSpPr>
          <p:nvPr/>
        </p:nvSpPr>
        <p:spPr>
          <a:xfrm xmlns:a="http://schemas.openxmlformats.org/drawingml/2006/main">
            <a:off x="5832226" y="2607346"/>
            <a:ext cx="1194654"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88" name="Image 9"/>
          <p:cNvPicPr>
            <a:picLocks xmlns:a="http://schemas.openxmlformats.org/drawingml/2006/main" noChangeAspect="1"/>
          </p:cNvPicPr>
          <p:nvPr/>
        </p:nvPicPr>
        <p:blipFill>
          <a:blip xmlns:r="http://schemas.openxmlformats.org/officeDocument/2006/relationships" xmlns:a="http://schemas.openxmlformats.org/drawingml/2006/main" r:embed="R0f1e649007a84714"/>
          <a:stretch xmlns:a="http://schemas.openxmlformats.org/drawingml/2006/main">
            <a:fillRect l="0" t="0" r="0" b="0"/>
          </a:stretch>
        </p:blipFill>
        <p:spPr>
          <a:xfrm xmlns:a="http://schemas.openxmlformats.org/drawingml/2006/main">
            <a:off x="5923666" y="2643922"/>
            <a:ext cx="146304" cy="146304"/>
          </a:xfrm>
          <a:prstGeom xmlns:a="http://schemas.openxmlformats.org/drawingml/2006/main" prst="rect">
            <a:avLst/>
          </a:prstGeom>
        </p:spPr>
      </p:pic>
      <p:sp>
        <p:nvSpPr>
          <p:cNvPr id="35" name="Text 23">
            <a:extLst xmlns:a="http://schemas.openxmlformats.org/drawingml/2006/main">
              <a:ext uri="{FF2B5EF4-FFF2-40B4-BE49-F238E27FC236}">
                <a16:creationId xmlns:a16="http://schemas.microsoft.com/office/drawing/2014/main" id="{B28D07FF-2C13-49C3-8338-8DE0E8642E1E}"/>
              </a:ext>
            </a:extLst>
          </p:cNvPr>
          <p:cNvSpPr>
            <a:spLocks xmlns:a="http://schemas.openxmlformats.org/drawingml/2006/main" noGrp="1"/>
          </p:cNvSpPr>
          <p:nvPr/>
        </p:nvSpPr>
        <p:spPr>
          <a:xfrm xmlns:a="http://schemas.openxmlformats.org/drawingml/2006/main">
            <a:off x="6106546" y="2607346"/>
            <a:ext cx="1276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900">
                <a:solidFill>
                  <a:srgbClr val="424242"/>
                </a:solidFill>
                <a:latin typeface="Helvetica Neue"/>
                <a:ea typeface="Helvetica Neue"/>
                <a:cs typeface="Helvetica Neue"/>
              </a:rPr>
              <a:t>Concierge request</a:t>
            </a:r>
            <a:endParaRPr sz="900">
              <a:latin typeface="Helvetica Neue"/>
              <a:ea typeface="Helvetica Neue"/>
              <a:cs typeface="Helvetica Neue"/>
            </a:endParaRPr>
          </a:p>
        </p:txBody>
      </p:sp>
      <p:sp>
        <p:nvSpPr>
          <p:cNvPr id="36" name="Shape 24">
            <a:extLst xmlns:a="http://schemas.openxmlformats.org/drawingml/2006/main">
              <a:ext uri="{FF2B5EF4-FFF2-40B4-BE49-F238E27FC236}">
                <a16:creationId xmlns:a16="http://schemas.microsoft.com/office/drawing/2014/main" id="{2CB2F0FB-20CD-43A2-AB02-C928554D01BC}"/>
              </a:ext>
            </a:extLst>
          </p:cNvPr>
          <p:cNvSpPr>
            <a:spLocks xmlns:a="http://schemas.openxmlformats.org/drawingml/2006/main" noGrp="1"/>
          </p:cNvSpPr>
          <p:nvPr/>
        </p:nvSpPr>
        <p:spPr>
          <a:xfrm xmlns:a="http://schemas.openxmlformats.org/drawingml/2006/main">
            <a:off x="4785969" y="2608297"/>
            <a:ext cx="868315"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91" name="Image 10"/>
          <p:cNvPicPr>
            <a:picLocks xmlns:a="http://schemas.openxmlformats.org/drawingml/2006/main" noChangeAspect="1"/>
          </p:cNvPicPr>
          <p:nvPr/>
        </p:nvPicPr>
        <p:blipFill>
          <a:blip xmlns:r="http://schemas.openxmlformats.org/officeDocument/2006/relationships" xmlns:a="http://schemas.openxmlformats.org/drawingml/2006/main" r:embed="Red19998267fd4bed"/>
          <a:stretch xmlns:a="http://schemas.openxmlformats.org/drawingml/2006/main">
            <a:fillRect l="0" t="0" r="0" b="0"/>
          </a:stretch>
        </p:blipFill>
        <p:spPr>
          <a:xfrm xmlns:a="http://schemas.openxmlformats.org/drawingml/2006/main">
            <a:off x="4877409" y="2644873"/>
            <a:ext cx="146304" cy="146304"/>
          </a:xfrm>
          <a:prstGeom xmlns:a="http://schemas.openxmlformats.org/drawingml/2006/main" prst="rect">
            <a:avLst/>
          </a:prstGeom>
        </p:spPr>
      </p:pic>
      <p:sp>
        <p:nvSpPr>
          <p:cNvPr id="38" name="Text 25">
            <a:extLst xmlns:a="http://schemas.openxmlformats.org/drawingml/2006/main">
              <a:ext uri="{FF2B5EF4-FFF2-40B4-BE49-F238E27FC236}">
                <a16:creationId xmlns:a16="http://schemas.microsoft.com/office/drawing/2014/main" id="{6A1B47BA-1B47-4CF4-94D6-529582E1E776}"/>
              </a:ext>
            </a:extLst>
          </p:cNvPr>
          <p:cNvSpPr>
            <a:spLocks xmlns:a="http://schemas.openxmlformats.org/drawingml/2006/main" noGrp="1"/>
          </p:cNvSpPr>
          <p:nvPr/>
        </p:nvSpPr>
        <p:spPr>
          <a:xfrm xmlns:a="http://schemas.openxmlformats.org/drawingml/2006/main">
            <a:off x="5060289" y="2608297"/>
            <a:ext cx="71012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900">
                <a:solidFill>
                  <a:srgbClr val="424242"/>
                </a:solidFill>
                <a:latin typeface="Helvetica Neue"/>
                <a:ea typeface="Helvetica Neue"/>
                <a:cs typeface="Helvetica Neue"/>
              </a:rPr>
              <a:t>Scheduled</a:t>
            </a:r>
            <a:endParaRPr sz="900">
              <a:latin typeface="Helvetica Neue"/>
              <a:ea typeface="Helvetica Neue"/>
              <a:cs typeface="Helvetica Neue"/>
            </a:endParaRPr>
          </a:p>
        </p:txBody>
      </p:sp>
      <p:sp>
        <p:nvSpPr>
          <p:cNvPr id="39" name="Shape 26">
            <a:extLst xmlns:a="http://schemas.openxmlformats.org/drawingml/2006/main">
              <a:ext uri="{FF2B5EF4-FFF2-40B4-BE49-F238E27FC236}">
                <a16:creationId xmlns:a16="http://schemas.microsoft.com/office/drawing/2014/main" id="{AA67DA16-D40E-4428-890B-3CD912CF6718}"/>
              </a:ext>
            </a:extLst>
          </p:cNvPr>
          <p:cNvSpPr>
            <a:spLocks xmlns:a="http://schemas.openxmlformats.org/drawingml/2006/main" noGrp="1"/>
          </p:cNvSpPr>
          <p:nvPr/>
        </p:nvSpPr>
        <p:spPr>
          <a:xfrm xmlns:a="http://schemas.openxmlformats.org/drawingml/2006/main">
            <a:off x="3396996" y="2889504"/>
            <a:ext cx="5394960" cy="566928"/>
          </a:xfrm>
          <a:prstGeom xmlns:a="http://schemas.openxmlformats.org/drawingml/2006/main" prst="line">
            <a:avLst/>
          </a:prstGeom>
          <a:solidFill xmlns:a="http://schemas.openxmlformats.org/drawingml/2006/main">
            <a:srgbClr val="EFEFEF"/>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0" name="Shape 27">
            <a:extLst xmlns:a="http://schemas.openxmlformats.org/drawingml/2006/main">
              <a:ext uri="{FF2B5EF4-FFF2-40B4-BE49-F238E27FC236}">
                <a16:creationId xmlns:a16="http://schemas.microsoft.com/office/drawing/2014/main" id="{E587FAC1-62B6-4701-B226-2AE6DC947B54}"/>
              </a:ext>
            </a:extLst>
          </p:cNvPr>
          <p:cNvSpPr>
            <a:spLocks xmlns:a="http://schemas.openxmlformats.org/drawingml/2006/main" noGrp="1"/>
          </p:cNvSpPr>
          <p:nvPr/>
        </p:nvSpPr>
        <p:spPr>
          <a:xfrm xmlns:a="http://schemas.openxmlformats.org/drawingml/2006/main">
            <a:off x="3506724" y="2962656"/>
            <a:ext cx="64008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1" name="Text 28">
            <a:extLst xmlns:a="http://schemas.openxmlformats.org/drawingml/2006/main">
              <a:ext uri="{FF2B5EF4-FFF2-40B4-BE49-F238E27FC236}">
                <a16:creationId xmlns:a16="http://schemas.microsoft.com/office/drawing/2014/main" id="{167CE9FE-3675-4821-B3F4-21EBCB93E7D2}"/>
              </a:ext>
            </a:extLst>
          </p:cNvPr>
          <p:cNvSpPr>
            <a:spLocks xmlns:a="http://schemas.openxmlformats.org/drawingml/2006/main" noGrp="1"/>
          </p:cNvSpPr>
          <p:nvPr/>
        </p:nvSpPr>
        <p:spPr>
          <a:xfrm xmlns:a="http://schemas.openxmlformats.org/drawingml/2006/main">
            <a:off x="3598164" y="29626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50" b="0">
                <a:solidFill>
                  <a:srgbClr val="707070"/>
                </a:solidFill>
                <a:latin typeface="Helvetica Neue"/>
                <a:ea typeface="Helvetica Neue"/>
                <a:cs typeface="Helvetica Neue"/>
              </a:rPr>
              <a:t>Manager</a:t>
            </a:r>
            <a:endParaRPr sz="850">
              <a:latin typeface="Helvetica Neue"/>
              <a:ea typeface="Helvetica Neue"/>
              <a:cs typeface="Helvetica Neue"/>
            </a:endParaRPr>
          </a:p>
        </p:txBody>
      </p:sp>
      <p:pic>
        <p:nvPicPr>
          <p:cNvPr id="196" name="Image 11"/>
          <p:cNvPicPr>
            <a:picLocks xmlns:a="http://schemas.openxmlformats.org/drawingml/2006/main" noChangeAspect="1"/>
          </p:cNvPicPr>
          <p:nvPr/>
        </p:nvPicPr>
        <p:blipFill>
          <a:blip xmlns:r="http://schemas.openxmlformats.org/officeDocument/2006/relationships" xmlns:a="http://schemas.openxmlformats.org/drawingml/2006/main" r:embed="R4b8ce3d918b24f6d"/>
          <a:stretch xmlns:a="http://schemas.openxmlformats.org/drawingml/2006/main">
            <a:fillRect l="0" t="0" r="0" b="0"/>
          </a:stretch>
        </p:blipFill>
        <p:spPr>
          <a:xfrm xmlns:a="http://schemas.openxmlformats.org/drawingml/2006/main">
            <a:off x="4219956" y="2962656"/>
            <a:ext cx="182880" cy="182880"/>
          </a:xfrm>
          <a:prstGeom xmlns:a="http://schemas.openxmlformats.org/drawingml/2006/main" prst="rect">
            <a:avLst/>
          </a:prstGeom>
        </p:spPr>
      </p:pic>
      <p:sp>
        <p:nvSpPr>
          <p:cNvPr id="43" name="Text 29">
            <a:extLst xmlns:a="http://schemas.openxmlformats.org/drawingml/2006/main">
              <a:ext uri="{FF2B5EF4-FFF2-40B4-BE49-F238E27FC236}">
                <a16:creationId xmlns:a16="http://schemas.microsoft.com/office/drawing/2014/main" id="{A8123E13-5F33-4E90-85FD-C51BED1CA3B4}"/>
              </a:ext>
            </a:extLst>
          </p:cNvPr>
          <p:cNvSpPr>
            <a:spLocks xmlns:a="http://schemas.openxmlformats.org/drawingml/2006/main" noGrp="1"/>
          </p:cNvSpPr>
          <p:nvPr/>
        </p:nvSpPr>
        <p:spPr>
          <a:xfrm xmlns:a="http://schemas.openxmlformats.org/drawingml/2006/main">
            <a:off x="4457700" y="2935224"/>
            <a:ext cx="25603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200" b="1">
                <a:solidFill>
                  <a:srgbClr val="101010"/>
                </a:solidFill>
                <a:latin typeface="Helvetica Neue"/>
                <a:ea typeface="Helvetica Neue"/>
                <a:cs typeface="Helvetica Neue"/>
              </a:rPr>
              <a:t>Program coordinator</a:t>
            </a:r>
            <a:endParaRPr sz="1200">
              <a:latin typeface="Helvetica Neue"/>
              <a:ea typeface="Helvetica Neue"/>
              <a:cs typeface="Helvetica Neue"/>
            </a:endParaRPr>
          </a:p>
        </p:txBody>
      </p:sp>
      <p:sp>
        <p:nvSpPr>
          <p:cNvPr id="44" name="Text 30">
            <a:extLst xmlns:a="http://schemas.openxmlformats.org/drawingml/2006/main">
              <a:ext uri="{FF2B5EF4-FFF2-40B4-BE49-F238E27FC236}">
                <a16:creationId xmlns:a16="http://schemas.microsoft.com/office/drawing/2014/main" id="{B4A624E3-D478-4849-A4B1-2D4175C2D828}"/>
              </a:ext>
            </a:extLst>
          </p:cNvPr>
          <p:cNvSpPr>
            <a:spLocks xmlns:a="http://schemas.openxmlformats.org/drawingml/2006/main" noGrp="1"/>
          </p:cNvSpPr>
          <p:nvPr/>
        </p:nvSpPr>
        <p:spPr>
          <a:xfrm xmlns:a="http://schemas.openxmlformats.org/drawingml/2006/main">
            <a:off x="3506724" y="3200400"/>
            <a:ext cx="51755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Assigns work to the right specialists, reconciles their findings, and recommends the next action</a:t>
            </a:r>
            <a:endParaRPr sz="850">
              <a:latin typeface="Helvetica Neue"/>
              <a:ea typeface="Helvetica Neue"/>
              <a:cs typeface="Helvetica Neue"/>
            </a:endParaRPr>
          </a:p>
        </p:txBody>
      </p:sp>
      <p:sp>
        <p:nvSpPr>
          <p:cNvPr id="45" name="Shape 31">
            <a:extLst xmlns:a="http://schemas.openxmlformats.org/drawingml/2006/main">
              <a:ext uri="{FF2B5EF4-FFF2-40B4-BE49-F238E27FC236}">
                <a16:creationId xmlns:a16="http://schemas.microsoft.com/office/drawing/2014/main" id="{D3C99697-4788-47B0-9CD1-FAE5E5F22930}"/>
              </a:ext>
            </a:extLst>
          </p:cNvPr>
          <p:cNvSpPr>
            <a:spLocks xmlns:a="http://schemas.openxmlformats.org/drawingml/2006/main" noGrp="1"/>
          </p:cNvSpPr>
          <p:nvPr/>
        </p:nvSpPr>
        <p:spPr>
          <a:xfrm xmlns:a="http://schemas.openxmlformats.org/drawingml/2006/main">
            <a:off x="6094476" y="3456432"/>
            <a:ext cx="0" cy="18288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6" name="Shape 32">
            <a:extLst xmlns:a="http://schemas.openxmlformats.org/drawingml/2006/main">
              <a:ext uri="{FF2B5EF4-FFF2-40B4-BE49-F238E27FC236}">
                <a16:creationId xmlns:a16="http://schemas.microsoft.com/office/drawing/2014/main" id="{44C4B0D5-7D08-489A-BFAC-B1382877420F}"/>
              </a:ext>
            </a:extLst>
          </p:cNvPr>
          <p:cNvSpPr>
            <a:spLocks xmlns:a="http://schemas.openxmlformats.org/drawingml/2006/main" noGrp="1"/>
          </p:cNvSpPr>
          <p:nvPr/>
        </p:nvSpPr>
        <p:spPr>
          <a:xfrm xmlns:a="http://schemas.openxmlformats.org/drawingml/2006/main">
            <a:off x="2055114" y="3639312"/>
            <a:ext cx="8078724" cy="0"/>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7" name="Shape 33">
            <a:extLst xmlns:a="http://schemas.openxmlformats.org/drawingml/2006/main">
              <a:ext uri="{FF2B5EF4-FFF2-40B4-BE49-F238E27FC236}">
                <a16:creationId xmlns:a16="http://schemas.microsoft.com/office/drawing/2014/main" id="{DBC3EC6A-D02C-427C-A2BB-AB5CB7EA3FA8}"/>
              </a:ext>
            </a:extLst>
          </p:cNvPr>
          <p:cNvSpPr>
            <a:spLocks xmlns:a="http://schemas.openxmlformats.org/drawingml/2006/main" noGrp="1"/>
          </p:cNvSpPr>
          <p:nvPr/>
        </p:nvSpPr>
        <p:spPr>
          <a:xfrm xmlns:a="http://schemas.openxmlformats.org/drawingml/2006/main">
            <a:off x="2055114" y="3639312"/>
            <a:ext cx="0" cy="128016"/>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8" name="Shape 34">
            <a:extLst xmlns:a="http://schemas.openxmlformats.org/drawingml/2006/main">
              <a:ext uri="{FF2B5EF4-FFF2-40B4-BE49-F238E27FC236}">
                <a16:creationId xmlns:a16="http://schemas.microsoft.com/office/drawing/2014/main" id="{73FF4907-0CC2-401B-9660-E5303D1B221B}"/>
              </a:ext>
            </a:extLst>
          </p:cNvPr>
          <p:cNvSpPr>
            <a:spLocks xmlns:a="http://schemas.openxmlformats.org/drawingml/2006/main" noGrp="1"/>
          </p:cNvSpPr>
          <p:nvPr/>
        </p:nvSpPr>
        <p:spPr>
          <a:xfrm xmlns:a="http://schemas.openxmlformats.org/drawingml/2006/main">
            <a:off x="4748022" y="3639312"/>
            <a:ext cx="0" cy="128016"/>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9" name="Shape 35">
            <a:extLst xmlns:a="http://schemas.openxmlformats.org/drawingml/2006/main">
              <a:ext uri="{FF2B5EF4-FFF2-40B4-BE49-F238E27FC236}">
                <a16:creationId xmlns:a16="http://schemas.microsoft.com/office/drawing/2014/main" id="{D140BF68-D7C9-4447-98F9-85FCEDE76F5D}"/>
              </a:ext>
            </a:extLst>
          </p:cNvPr>
          <p:cNvSpPr>
            <a:spLocks xmlns:a="http://schemas.openxmlformats.org/drawingml/2006/main" noGrp="1"/>
          </p:cNvSpPr>
          <p:nvPr/>
        </p:nvSpPr>
        <p:spPr>
          <a:xfrm xmlns:a="http://schemas.openxmlformats.org/drawingml/2006/main">
            <a:off x="7440930" y="3639312"/>
            <a:ext cx="0" cy="128016"/>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0" name="Shape 36">
            <a:extLst xmlns:a="http://schemas.openxmlformats.org/drawingml/2006/main">
              <a:ext uri="{FF2B5EF4-FFF2-40B4-BE49-F238E27FC236}">
                <a16:creationId xmlns:a16="http://schemas.microsoft.com/office/drawing/2014/main" id="{5F15A97A-EA3C-4AC7-B83D-DF894B11133C}"/>
              </a:ext>
            </a:extLst>
          </p:cNvPr>
          <p:cNvSpPr>
            <a:spLocks xmlns:a="http://schemas.openxmlformats.org/drawingml/2006/main" noGrp="1"/>
          </p:cNvSpPr>
          <p:nvPr/>
        </p:nvSpPr>
        <p:spPr>
          <a:xfrm xmlns:a="http://schemas.openxmlformats.org/drawingml/2006/main">
            <a:off x="10133838" y="3639312"/>
            <a:ext cx="0" cy="128016"/>
          </a:xfrm>
          <a:prstGeom xmlns:a="http://schemas.openxmlformats.org/drawingml/2006/main" prst="line">
            <a:avLst/>
          </a:prstGeom>
          <a:noFill xmlns:a="http://schemas.openxmlformats.org/drawingml/2006/main"/>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1" name="Text 37">
            <a:extLst xmlns:a="http://schemas.openxmlformats.org/drawingml/2006/main">
              <a:ext uri="{FF2B5EF4-FFF2-40B4-BE49-F238E27FC236}">
                <a16:creationId xmlns:a16="http://schemas.microsoft.com/office/drawing/2014/main" id="{750FAED1-C9EE-48EE-A449-BAE36B63A05D}"/>
              </a:ext>
            </a:extLst>
          </p:cNvPr>
          <p:cNvSpPr>
            <a:spLocks xmlns:a="http://schemas.openxmlformats.org/drawingml/2006/main" noGrp="1"/>
          </p:cNvSpPr>
          <p:nvPr/>
        </p:nvSpPr>
        <p:spPr>
          <a:xfrm xmlns:a="http://schemas.openxmlformats.org/drawingml/2006/main">
            <a:off x="4174236" y="3465576"/>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defRPr>
                <a:latin typeface="Helvetica Neue"/>
                <a:ea typeface="Helvetica Neue"/>
                <a:cs typeface="Helvetica Neue"/>
              </a:defRPr>
            </a:pPr>
            <a:r>
              <a:rPr sz="850">
                <a:solidFill>
                  <a:srgbClr val="424242"/>
                </a:solidFill>
                <a:latin typeface="Helvetica Neue"/>
                <a:ea typeface="Helvetica Neue"/>
                <a:cs typeface="Helvetica Neue"/>
              </a:rPr>
              <a:t>delegates work ↓</a:t>
            </a:r>
            <a:endParaRPr sz="850">
              <a:latin typeface="Helvetica Neue"/>
              <a:ea typeface="Helvetica Neue"/>
              <a:cs typeface="Helvetica Neue"/>
            </a:endParaRPr>
          </a:p>
        </p:txBody>
      </p:sp>
      <p:sp>
        <p:nvSpPr>
          <p:cNvPr id="52" name="Text 38">
            <a:extLst xmlns:a="http://schemas.openxmlformats.org/drawingml/2006/main">
              <a:ext uri="{FF2B5EF4-FFF2-40B4-BE49-F238E27FC236}">
                <a16:creationId xmlns:a16="http://schemas.microsoft.com/office/drawing/2014/main" id="{2C478155-2F5C-4187-BB33-6C5986D29E8D}"/>
              </a:ext>
            </a:extLst>
          </p:cNvPr>
          <p:cNvSpPr>
            <a:spLocks xmlns:a="http://schemas.openxmlformats.org/drawingml/2006/main" noGrp="1"/>
          </p:cNvSpPr>
          <p:nvPr/>
        </p:nvSpPr>
        <p:spPr>
          <a:xfrm xmlns:a="http://schemas.openxmlformats.org/drawingml/2006/main">
            <a:off x="6185916" y="3465576"/>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 reports results</a:t>
            </a:r>
            <a:endParaRPr sz="850">
              <a:latin typeface="Helvetica Neue"/>
              <a:ea typeface="Helvetica Neue"/>
              <a:cs typeface="Helvetica Neue"/>
            </a:endParaRPr>
          </a:p>
        </p:txBody>
      </p:sp>
      <p:sp>
        <p:nvSpPr>
          <p:cNvPr id="53" name="Shape 39">
            <a:extLst xmlns:a="http://schemas.openxmlformats.org/drawingml/2006/main">
              <a:ext uri="{FF2B5EF4-FFF2-40B4-BE49-F238E27FC236}">
                <a16:creationId xmlns:a16="http://schemas.microsoft.com/office/drawing/2014/main" id="{3B2DACEC-0B7A-440B-839E-4E0F2F842993}"/>
              </a:ext>
            </a:extLst>
          </p:cNvPr>
          <p:cNvSpPr>
            <a:spLocks xmlns:a="http://schemas.openxmlformats.org/drawingml/2006/main" noGrp="1"/>
          </p:cNvSpPr>
          <p:nvPr/>
        </p:nvSpPr>
        <p:spPr>
          <a:xfrm xmlns:a="http://schemas.openxmlformats.org/drawingml/2006/main">
            <a:off x="777240"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4" name="Shape 40">
            <a:extLst xmlns:a="http://schemas.openxmlformats.org/drawingml/2006/main">
              <a:ext uri="{FF2B5EF4-FFF2-40B4-BE49-F238E27FC236}">
                <a16:creationId xmlns:a16="http://schemas.microsoft.com/office/drawing/2014/main" id="{08CE68E2-7E93-4D3C-9209-66D42535BCD2}"/>
              </a:ext>
            </a:extLst>
          </p:cNvPr>
          <p:cNvSpPr>
            <a:spLocks xmlns:a="http://schemas.openxmlformats.org/drawingml/2006/main" noGrp="1"/>
          </p:cNvSpPr>
          <p:nvPr/>
        </p:nvSpPr>
        <p:spPr>
          <a:xfrm xmlns:a="http://schemas.openxmlformats.org/drawingml/2006/main">
            <a:off x="868680" y="3840480"/>
            <a:ext cx="658368"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5" name="Text 41">
            <a:extLst xmlns:a="http://schemas.openxmlformats.org/drawingml/2006/main">
              <a:ext uri="{FF2B5EF4-FFF2-40B4-BE49-F238E27FC236}">
                <a16:creationId xmlns:a16="http://schemas.microsoft.com/office/drawing/2014/main" id="{2652D3D4-6D04-481A-8F04-FB763BEACB7B}"/>
              </a:ext>
            </a:extLst>
          </p:cNvPr>
          <p:cNvSpPr>
            <a:spLocks xmlns:a="http://schemas.openxmlformats.org/drawingml/2006/main" noGrp="1"/>
          </p:cNvSpPr>
          <p:nvPr/>
        </p:nvSpPr>
        <p:spPr>
          <a:xfrm xmlns:a="http://schemas.openxmlformats.org/drawingml/2006/main">
            <a:off x="960120" y="3840480"/>
            <a:ext cx="9144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00" b="0">
                <a:solidFill>
                  <a:srgbClr val="707070"/>
                </a:solidFill>
                <a:latin typeface="Helvetica Neue"/>
                <a:ea typeface="Helvetica Neue"/>
                <a:cs typeface="Helvetica Neue"/>
              </a:rPr>
              <a:t>Specialist</a:t>
            </a:r>
            <a:endParaRPr sz="800">
              <a:latin typeface="Helvetica Neue"/>
              <a:ea typeface="Helvetica Neue"/>
              <a:cs typeface="Helvetica Neue"/>
            </a:endParaRPr>
          </a:p>
        </p:txBody>
      </p:sp>
      <p:pic>
        <p:nvPicPr>
          <p:cNvPr id="210" name="Image 12"/>
          <p:cNvPicPr>
            <a:picLocks xmlns:a="http://schemas.openxmlformats.org/drawingml/2006/main" noChangeAspect="1"/>
          </p:cNvPicPr>
          <p:nvPr/>
        </p:nvPicPr>
        <p:blipFill>
          <a:blip xmlns:r="http://schemas.openxmlformats.org/officeDocument/2006/relationships" xmlns:a="http://schemas.openxmlformats.org/drawingml/2006/main" r:embed="R5f9d4ad8606b462a"/>
          <a:stretch xmlns:a="http://schemas.openxmlformats.org/drawingml/2006/main">
            <a:fillRect l="0" t="0" r="0" b="0"/>
          </a:stretch>
        </p:blipFill>
        <p:spPr>
          <a:xfrm xmlns:a="http://schemas.openxmlformats.org/drawingml/2006/main">
            <a:off x="868680" y="4069080"/>
            <a:ext cx="173736" cy="173736"/>
          </a:xfrm>
          <a:prstGeom xmlns:a="http://schemas.openxmlformats.org/drawingml/2006/main" prst="rect">
            <a:avLst/>
          </a:prstGeom>
        </p:spPr>
      </p:pic>
      <p:sp>
        <p:nvSpPr>
          <p:cNvPr id="57" name="Text 42">
            <a:extLst xmlns:a="http://schemas.openxmlformats.org/drawingml/2006/main">
              <a:ext uri="{FF2B5EF4-FFF2-40B4-BE49-F238E27FC236}">
                <a16:creationId xmlns:a16="http://schemas.microsoft.com/office/drawing/2014/main" id="{0D75926C-7FB5-4784-8FA0-53DDD97FC7F8}"/>
              </a:ext>
            </a:extLst>
          </p:cNvPr>
          <p:cNvSpPr>
            <a:spLocks xmlns:a="http://schemas.openxmlformats.org/drawingml/2006/main" noGrp="1"/>
          </p:cNvSpPr>
          <p:nvPr/>
        </p:nvSpPr>
        <p:spPr>
          <a:xfrm xmlns:a="http://schemas.openxmlformats.org/drawingml/2006/main">
            <a:off x="1088136" y="4048125"/>
            <a:ext cx="223837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Change impact</a:t>
            </a:r>
            <a:endParaRPr sz="1000">
              <a:latin typeface="Helvetica Neue"/>
              <a:ea typeface="Helvetica Neue"/>
              <a:cs typeface="Helvetica Neue"/>
            </a:endParaRPr>
          </a:p>
        </p:txBody>
      </p:sp>
      <p:sp>
        <p:nvSpPr>
          <p:cNvPr id="58" name="Text 43">
            <a:extLst xmlns:a="http://schemas.openxmlformats.org/drawingml/2006/main">
              <a:ext uri="{FF2B5EF4-FFF2-40B4-BE49-F238E27FC236}">
                <a16:creationId xmlns:a16="http://schemas.microsoft.com/office/drawing/2014/main" id="{0E180E94-DDAF-4BBA-89D6-D70193E5B66C}"/>
              </a:ext>
            </a:extLst>
          </p:cNvPr>
          <p:cNvSpPr>
            <a:spLocks xmlns:a="http://schemas.openxmlformats.org/drawingml/2006/main" noGrp="1"/>
          </p:cNvSpPr>
          <p:nvPr/>
        </p:nvSpPr>
        <p:spPr>
          <a:xfrm xmlns:a="http://schemas.openxmlformats.org/drawingml/2006/main">
            <a:off x="868680" y="4286250"/>
            <a:ext cx="2372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424242"/>
                </a:solidFill>
                <a:latin typeface="Helvetica Neue"/>
                <a:ea typeface="Helvetica Neue"/>
                <a:cs typeface="Helvetica Neue"/>
              </a:rPr>
              <a:t>Analyzes requirements and checks against policy documentation to determine potential impact on engineering, manufacturing, and delivery</a:t>
            </a:r>
            <a:endParaRPr sz="800">
              <a:latin typeface="Helvetica Neue"/>
              <a:ea typeface="Helvetica Neue"/>
              <a:cs typeface="Helvetica Neue"/>
            </a:endParaRPr>
          </a:p>
        </p:txBody>
      </p:sp>
      <p:sp>
        <p:nvSpPr>
          <p:cNvPr id="60" name="Shape 45">
            <a:extLst xmlns:a="http://schemas.openxmlformats.org/drawingml/2006/main">
              <a:ext uri="{FF2B5EF4-FFF2-40B4-BE49-F238E27FC236}">
                <a16:creationId xmlns:a16="http://schemas.microsoft.com/office/drawing/2014/main" id="{D244D958-3781-4501-93F0-EE21DEC46ED0}"/>
              </a:ext>
            </a:extLst>
          </p:cNvPr>
          <p:cNvSpPr>
            <a:spLocks xmlns:a="http://schemas.openxmlformats.org/drawingml/2006/main" noGrp="1"/>
          </p:cNvSpPr>
          <p:nvPr/>
        </p:nvSpPr>
        <p:spPr>
          <a:xfrm xmlns:a="http://schemas.openxmlformats.org/drawingml/2006/main">
            <a:off x="3470148"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1" name="Shape 46">
            <a:extLst xmlns:a="http://schemas.openxmlformats.org/drawingml/2006/main">
              <a:ext uri="{FF2B5EF4-FFF2-40B4-BE49-F238E27FC236}">
                <a16:creationId xmlns:a16="http://schemas.microsoft.com/office/drawing/2014/main" id="{745D8D30-DA49-4384-9436-BB9D77EC85FF}"/>
              </a:ext>
            </a:extLst>
          </p:cNvPr>
          <p:cNvSpPr>
            <a:spLocks xmlns:a="http://schemas.openxmlformats.org/drawingml/2006/main" noGrp="1"/>
          </p:cNvSpPr>
          <p:nvPr/>
        </p:nvSpPr>
        <p:spPr>
          <a:xfrm xmlns:a="http://schemas.openxmlformats.org/drawingml/2006/main">
            <a:off x="3561588" y="3840480"/>
            <a:ext cx="658368"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2" name="Text 47">
            <a:extLst xmlns:a="http://schemas.openxmlformats.org/drawingml/2006/main">
              <a:ext uri="{FF2B5EF4-FFF2-40B4-BE49-F238E27FC236}">
                <a16:creationId xmlns:a16="http://schemas.microsoft.com/office/drawing/2014/main" id="{3B5B7A3A-4796-4AE8-BC9B-1803455E4473}"/>
              </a:ext>
            </a:extLst>
          </p:cNvPr>
          <p:cNvSpPr>
            <a:spLocks xmlns:a="http://schemas.openxmlformats.org/drawingml/2006/main" noGrp="1"/>
          </p:cNvSpPr>
          <p:nvPr/>
        </p:nvSpPr>
        <p:spPr>
          <a:xfrm xmlns:a="http://schemas.openxmlformats.org/drawingml/2006/main">
            <a:off x="3653028" y="3840480"/>
            <a:ext cx="9144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00" b="0">
                <a:solidFill>
                  <a:srgbClr val="707070"/>
                </a:solidFill>
                <a:latin typeface="Helvetica Neue"/>
                <a:ea typeface="Helvetica Neue"/>
                <a:cs typeface="Helvetica Neue"/>
              </a:rPr>
              <a:t>Specialist</a:t>
            </a:r>
            <a:endParaRPr sz="800">
              <a:latin typeface="Helvetica Neue"/>
              <a:ea typeface="Helvetica Neue"/>
              <a:cs typeface="Helvetica Neue"/>
            </a:endParaRPr>
          </a:p>
        </p:txBody>
      </p:sp>
      <p:pic>
        <p:nvPicPr>
          <p:cNvPr id="216" name="Image 13"/>
          <p:cNvPicPr>
            <a:picLocks xmlns:a="http://schemas.openxmlformats.org/drawingml/2006/main" noChangeAspect="1"/>
          </p:cNvPicPr>
          <p:nvPr/>
        </p:nvPicPr>
        <p:blipFill>
          <a:blip xmlns:r="http://schemas.openxmlformats.org/officeDocument/2006/relationships" xmlns:a="http://schemas.openxmlformats.org/drawingml/2006/main" r:embed="R3de403743e0b47a0"/>
          <a:stretch xmlns:a="http://schemas.openxmlformats.org/drawingml/2006/main">
            <a:fillRect l="0" t="0" r="0" b="0"/>
          </a:stretch>
        </p:blipFill>
        <p:spPr>
          <a:xfrm xmlns:a="http://schemas.openxmlformats.org/drawingml/2006/main">
            <a:off x="3561588" y="4069080"/>
            <a:ext cx="173736" cy="173736"/>
          </a:xfrm>
          <a:prstGeom xmlns:a="http://schemas.openxmlformats.org/drawingml/2006/main" prst="rect">
            <a:avLst/>
          </a:prstGeom>
        </p:spPr>
      </p:pic>
      <p:sp>
        <p:nvSpPr>
          <p:cNvPr id="64" name="Text 48">
            <a:extLst xmlns:a="http://schemas.openxmlformats.org/drawingml/2006/main">
              <a:ext uri="{FF2B5EF4-FFF2-40B4-BE49-F238E27FC236}">
                <a16:creationId xmlns:a16="http://schemas.microsoft.com/office/drawing/2014/main" id="{DDE1FCB2-40FD-4A98-B08A-62A5CB657C62}"/>
              </a:ext>
            </a:extLst>
          </p:cNvPr>
          <p:cNvSpPr>
            <a:spLocks xmlns:a="http://schemas.openxmlformats.org/drawingml/2006/main" noGrp="1"/>
          </p:cNvSpPr>
          <p:nvPr/>
        </p:nvSpPr>
        <p:spPr>
          <a:xfrm xmlns:a="http://schemas.openxmlformats.org/drawingml/2006/main">
            <a:off x="3781044" y="4048125"/>
            <a:ext cx="223837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Validation and evidence</a:t>
            </a:r>
            <a:endParaRPr sz="1000">
              <a:latin typeface="Helvetica Neue"/>
              <a:ea typeface="Helvetica Neue"/>
              <a:cs typeface="Helvetica Neue"/>
            </a:endParaRPr>
          </a:p>
        </p:txBody>
      </p:sp>
      <p:sp>
        <p:nvSpPr>
          <p:cNvPr id="65" name="Text 49">
            <a:extLst xmlns:a="http://schemas.openxmlformats.org/drawingml/2006/main">
              <a:ext uri="{FF2B5EF4-FFF2-40B4-BE49-F238E27FC236}">
                <a16:creationId xmlns:a16="http://schemas.microsoft.com/office/drawing/2014/main" id="{69189A8D-6277-46AA-888A-360C88A10DE8}"/>
              </a:ext>
            </a:extLst>
          </p:cNvPr>
          <p:cNvSpPr>
            <a:spLocks xmlns:a="http://schemas.openxmlformats.org/drawingml/2006/main" noGrp="1"/>
          </p:cNvSpPr>
          <p:nvPr/>
        </p:nvSpPr>
        <p:spPr>
          <a:xfrm xmlns:a="http://schemas.openxmlformats.org/drawingml/2006/main">
            <a:off x="3561588" y="4286250"/>
            <a:ext cx="2372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424242"/>
                </a:solidFill>
                <a:latin typeface="Helvetica Neue"/>
                <a:ea typeface="Helvetica Neue"/>
                <a:cs typeface="Helvetica Neue"/>
              </a:rPr>
              <a:t>Checks existing test evidence against the requirements and flags what still needs testing.</a:t>
            </a:r>
            <a:endParaRPr sz="800">
              <a:latin typeface="Helvetica Neue"/>
              <a:ea typeface="Helvetica Neue"/>
              <a:cs typeface="Helvetica Neue"/>
            </a:endParaRPr>
          </a:p>
        </p:txBody>
      </p:sp>
      <p:sp>
        <p:nvSpPr>
          <p:cNvPr id="67" name="Shape 51">
            <a:extLst xmlns:a="http://schemas.openxmlformats.org/drawingml/2006/main">
              <a:ext uri="{FF2B5EF4-FFF2-40B4-BE49-F238E27FC236}">
                <a16:creationId xmlns:a16="http://schemas.microsoft.com/office/drawing/2014/main" id="{34B3303F-C0AF-4358-BC58-2BC27C2D72FC}"/>
              </a:ext>
            </a:extLst>
          </p:cNvPr>
          <p:cNvSpPr>
            <a:spLocks xmlns:a="http://schemas.openxmlformats.org/drawingml/2006/main" noGrp="1"/>
          </p:cNvSpPr>
          <p:nvPr/>
        </p:nvSpPr>
        <p:spPr>
          <a:xfrm xmlns:a="http://schemas.openxmlformats.org/drawingml/2006/main">
            <a:off x="6163056"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8" name="Shape 52">
            <a:extLst xmlns:a="http://schemas.openxmlformats.org/drawingml/2006/main">
              <a:ext uri="{FF2B5EF4-FFF2-40B4-BE49-F238E27FC236}">
                <a16:creationId xmlns:a16="http://schemas.microsoft.com/office/drawing/2014/main" id="{083C38C6-7C3B-4174-BBA9-68968BB4DF1A}"/>
              </a:ext>
            </a:extLst>
          </p:cNvPr>
          <p:cNvSpPr>
            <a:spLocks xmlns:a="http://schemas.openxmlformats.org/drawingml/2006/main" noGrp="1"/>
          </p:cNvSpPr>
          <p:nvPr/>
        </p:nvSpPr>
        <p:spPr>
          <a:xfrm xmlns:a="http://schemas.openxmlformats.org/drawingml/2006/main">
            <a:off x="6254496" y="3840480"/>
            <a:ext cx="658368"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9" name="Text 53">
            <a:extLst xmlns:a="http://schemas.openxmlformats.org/drawingml/2006/main">
              <a:ext uri="{FF2B5EF4-FFF2-40B4-BE49-F238E27FC236}">
                <a16:creationId xmlns:a16="http://schemas.microsoft.com/office/drawing/2014/main" id="{4A637726-854C-4985-858C-951CF2E29130}"/>
              </a:ext>
            </a:extLst>
          </p:cNvPr>
          <p:cNvSpPr>
            <a:spLocks xmlns:a="http://schemas.openxmlformats.org/drawingml/2006/main" noGrp="1"/>
          </p:cNvSpPr>
          <p:nvPr/>
        </p:nvSpPr>
        <p:spPr>
          <a:xfrm xmlns:a="http://schemas.openxmlformats.org/drawingml/2006/main">
            <a:off x="6345936" y="3840480"/>
            <a:ext cx="9144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00" b="0">
                <a:solidFill>
                  <a:srgbClr val="707070"/>
                </a:solidFill>
                <a:latin typeface="Helvetica Neue"/>
                <a:ea typeface="Helvetica Neue"/>
                <a:cs typeface="Helvetica Neue"/>
              </a:rPr>
              <a:t>Specialist</a:t>
            </a:r>
            <a:endParaRPr sz="800">
              <a:latin typeface="Helvetica Neue"/>
              <a:ea typeface="Helvetica Neue"/>
              <a:cs typeface="Helvetica Neue"/>
            </a:endParaRPr>
          </a:p>
        </p:txBody>
      </p:sp>
      <p:pic>
        <p:nvPicPr>
          <p:cNvPr id="222" name="Image 14"/>
          <p:cNvPicPr>
            <a:picLocks xmlns:a="http://schemas.openxmlformats.org/drawingml/2006/main" noChangeAspect="1"/>
          </p:cNvPicPr>
          <p:nvPr/>
        </p:nvPicPr>
        <p:blipFill>
          <a:blip xmlns:r="http://schemas.openxmlformats.org/officeDocument/2006/relationships" xmlns:a="http://schemas.openxmlformats.org/drawingml/2006/main" r:embed="R87ce9ae3e0314716"/>
          <a:stretch xmlns:a="http://schemas.openxmlformats.org/drawingml/2006/main">
            <a:fillRect l="0" t="0" r="0" b="0"/>
          </a:stretch>
        </p:blipFill>
        <p:spPr>
          <a:xfrm xmlns:a="http://schemas.openxmlformats.org/drawingml/2006/main">
            <a:off x="6254496" y="4069080"/>
            <a:ext cx="173736" cy="173736"/>
          </a:xfrm>
          <a:prstGeom xmlns:a="http://schemas.openxmlformats.org/drawingml/2006/main" prst="rect">
            <a:avLst/>
          </a:prstGeom>
        </p:spPr>
      </p:pic>
      <p:sp>
        <p:nvSpPr>
          <p:cNvPr id="71" name="Text 54">
            <a:extLst xmlns:a="http://schemas.openxmlformats.org/drawingml/2006/main">
              <a:ext uri="{FF2B5EF4-FFF2-40B4-BE49-F238E27FC236}">
                <a16:creationId xmlns:a16="http://schemas.microsoft.com/office/drawing/2014/main" id="{246402FB-C538-4283-BF4B-8329615396D8}"/>
              </a:ext>
            </a:extLst>
          </p:cNvPr>
          <p:cNvSpPr>
            <a:spLocks xmlns:a="http://schemas.openxmlformats.org/drawingml/2006/main" noGrp="1"/>
          </p:cNvSpPr>
          <p:nvPr/>
        </p:nvSpPr>
        <p:spPr>
          <a:xfrm xmlns:a="http://schemas.openxmlformats.org/drawingml/2006/main">
            <a:off x="6473952" y="4048125"/>
            <a:ext cx="223837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Manufacturing</a:t>
            </a:r>
            <a:endParaRPr sz="1000">
              <a:latin typeface="Helvetica Neue"/>
              <a:ea typeface="Helvetica Neue"/>
              <a:cs typeface="Helvetica Neue"/>
            </a:endParaRPr>
          </a:p>
        </p:txBody>
      </p:sp>
      <p:sp>
        <p:nvSpPr>
          <p:cNvPr id="72" name="Text 55">
            <a:extLst xmlns:a="http://schemas.openxmlformats.org/drawingml/2006/main">
              <a:ext uri="{FF2B5EF4-FFF2-40B4-BE49-F238E27FC236}">
                <a16:creationId xmlns:a16="http://schemas.microsoft.com/office/drawing/2014/main" id="{7760A826-0EBC-434F-88B6-BD332141E7C3}"/>
              </a:ext>
            </a:extLst>
          </p:cNvPr>
          <p:cNvSpPr>
            <a:spLocks xmlns:a="http://schemas.openxmlformats.org/drawingml/2006/main" noGrp="1"/>
          </p:cNvSpPr>
          <p:nvPr/>
        </p:nvSpPr>
        <p:spPr>
          <a:xfrm xmlns:a="http://schemas.openxmlformats.org/drawingml/2006/main">
            <a:off x="6254496" y="4286250"/>
            <a:ext cx="2372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424242"/>
                </a:solidFill>
                <a:latin typeface="Helvetica Neue"/>
                <a:ea typeface="Helvetica Neue"/>
                <a:cs typeface="Helvetica Neue"/>
              </a:rPr>
              <a:t>Investigates yield and quality issues, material restrictions, and available supply.</a:t>
            </a:r>
            <a:endParaRPr sz="800">
              <a:latin typeface="Helvetica Neue"/>
              <a:ea typeface="Helvetica Neue"/>
              <a:cs typeface="Helvetica Neue"/>
            </a:endParaRPr>
          </a:p>
        </p:txBody>
      </p:sp>
      <p:sp>
        <p:nvSpPr>
          <p:cNvPr id="74" name="Shape 57">
            <a:extLst xmlns:a="http://schemas.openxmlformats.org/drawingml/2006/main">
              <a:ext uri="{FF2B5EF4-FFF2-40B4-BE49-F238E27FC236}">
                <a16:creationId xmlns:a16="http://schemas.microsoft.com/office/drawing/2014/main" id="{E7036922-AEE4-40F1-8A58-8333E8BC5F0D}"/>
              </a:ext>
            </a:extLst>
          </p:cNvPr>
          <p:cNvSpPr>
            <a:spLocks xmlns:a="http://schemas.openxmlformats.org/drawingml/2006/main" noGrp="1"/>
          </p:cNvSpPr>
          <p:nvPr/>
        </p:nvSpPr>
        <p:spPr>
          <a:xfrm xmlns:a="http://schemas.openxmlformats.org/drawingml/2006/main">
            <a:off x="8855964"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75" name="Shape 58">
            <a:extLst xmlns:a="http://schemas.openxmlformats.org/drawingml/2006/main">
              <a:ext uri="{FF2B5EF4-FFF2-40B4-BE49-F238E27FC236}">
                <a16:creationId xmlns:a16="http://schemas.microsoft.com/office/drawing/2014/main" id="{0C0F0B1C-AF3B-48D9-A1C8-45488B0EC008}"/>
              </a:ext>
            </a:extLst>
          </p:cNvPr>
          <p:cNvSpPr>
            <a:spLocks xmlns:a="http://schemas.openxmlformats.org/drawingml/2006/main" noGrp="1"/>
          </p:cNvSpPr>
          <p:nvPr/>
        </p:nvSpPr>
        <p:spPr>
          <a:xfrm xmlns:a="http://schemas.openxmlformats.org/drawingml/2006/main">
            <a:off x="8947404" y="3840480"/>
            <a:ext cx="658368"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76" name="Text 59">
            <a:extLst xmlns:a="http://schemas.openxmlformats.org/drawingml/2006/main">
              <a:ext uri="{FF2B5EF4-FFF2-40B4-BE49-F238E27FC236}">
                <a16:creationId xmlns:a16="http://schemas.microsoft.com/office/drawing/2014/main" id="{8283A108-21EF-4DEF-A0D3-36C9524C93E3}"/>
              </a:ext>
            </a:extLst>
          </p:cNvPr>
          <p:cNvSpPr>
            <a:spLocks xmlns:a="http://schemas.openxmlformats.org/drawingml/2006/main" noGrp="1"/>
          </p:cNvSpPr>
          <p:nvPr/>
        </p:nvSpPr>
        <p:spPr>
          <a:xfrm xmlns:a="http://schemas.openxmlformats.org/drawingml/2006/main">
            <a:off x="9038844" y="3840480"/>
            <a:ext cx="9144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00" b="0">
                <a:solidFill>
                  <a:srgbClr val="707070"/>
                </a:solidFill>
                <a:latin typeface="Helvetica Neue"/>
                <a:ea typeface="Helvetica Neue"/>
                <a:cs typeface="Helvetica Neue"/>
              </a:rPr>
              <a:t>Specialist</a:t>
            </a:r>
            <a:endParaRPr sz="800">
              <a:latin typeface="Helvetica Neue"/>
              <a:ea typeface="Helvetica Neue"/>
              <a:cs typeface="Helvetica Neue"/>
            </a:endParaRPr>
          </a:p>
        </p:txBody>
      </p:sp>
      <p:pic>
        <p:nvPicPr>
          <p:cNvPr id="228" name="Image 15"/>
          <p:cNvPicPr>
            <a:picLocks xmlns:a="http://schemas.openxmlformats.org/drawingml/2006/main" noChangeAspect="1"/>
          </p:cNvPicPr>
          <p:nvPr/>
        </p:nvPicPr>
        <p:blipFill>
          <a:blip xmlns:r="http://schemas.openxmlformats.org/officeDocument/2006/relationships" xmlns:a="http://schemas.openxmlformats.org/drawingml/2006/main" r:embed="Rd9747d4ee00642ad"/>
          <a:stretch xmlns:a="http://schemas.openxmlformats.org/drawingml/2006/main">
            <a:fillRect l="0" t="0" r="0" b="0"/>
          </a:stretch>
        </p:blipFill>
        <p:spPr>
          <a:xfrm xmlns:a="http://schemas.openxmlformats.org/drawingml/2006/main">
            <a:off x="8947404" y="4069080"/>
            <a:ext cx="173736" cy="173736"/>
          </a:xfrm>
          <a:prstGeom xmlns:a="http://schemas.openxmlformats.org/drawingml/2006/main" prst="rect">
            <a:avLst/>
          </a:prstGeom>
        </p:spPr>
      </p:pic>
      <p:sp>
        <p:nvSpPr>
          <p:cNvPr id="78" name="Text 60">
            <a:extLst xmlns:a="http://schemas.openxmlformats.org/drawingml/2006/main">
              <a:ext uri="{FF2B5EF4-FFF2-40B4-BE49-F238E27FC236}">
                <a16:creationId xmlns:a16="http://schemas.microsoft.com/office/drawing/2014/main" id="{B53AA34E-2D33-48E0-8D52-EB4280884171}"/>
              </a:ext>
            </a:extLst>
          </p:cNvPr>
          <p:cNvSpPr>
            <a:spLocks xmlns:a="http://schemas.openxmlformats.org/drawingml/2006/main" noGrp="1"/>
          </p:cNvSpPr>
          <p:nvPr/>
        </p:nvSpPr>
        <p:spPr>
          <a:xfrm xmlns:a="http://schemas.openxmlformats.org/drawingml/2006/main">
            <a:off x="9166860" y="4048125"/>
            <a:ext cx="2238375" cy="2381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Program and commercial</a:t>
            </a:r>
            <a:endParaRPr sz="1000">
              <a:latin typeface="Helvetica Neue"/>
              <a:ea typeface="Helvetica Neue"/>
              <a:cs typeface="Helvetica Neue"/>
            </a:endParaRPr>
          </a:p>
        </p:txBody>
      </p:sp>
      <p:sp>
        <p:nvSpPr>
          <p:cNvPr id="79" name="Text 61">
            <a:extLst xmlns:a="http://schemas.openxmlformats.org/drawingml/2006/main">
              <a:ext uri="{FF2B5EF4-FFF2-40B4-BE49-F238E27FC236}">
                <a16:creationId xmlns:a16="http://schemas.microsoft.com/office/drawing/2014/main" id="{D8BEB7EB-4FDC-4756-9569-EDA82BBC3F18}"/>
              </a:ext>
            </a:extLst>
          </p:cNvPr>
          <p:cNvSpPr>
            <a:spLocks xmlns:a="http://schemas.openxmlformats.org/drawingml/2006/main" noGrp="1"/>
          </p:cNvSpPr>
          <p:nvPr/>
        </p:nvSpPr>
        <p:spPr>
          <a:xfrm xmlns:a="http://schemas.openxmlformats.org/drawingml/2006/main">
            <a:off x="8947404" y="4286250"/>
            <a:ext cx="2372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424242"/>
                </a:solidFill>
                <a:latin typeface="Helvetica Neue"/>
                <a:ea typeface="Helvetica Neue"/>
                <a:cs typeface="Helvetica Neue"/>
              </a:rPr>
              <a:t>Weighs the impact on schedule, cost, and commitments, then compares response options.</a:t>
            </a:r>
            <a:endParaRPr sz="800">
              <a:latin typeface="Helvetica Neue"/>
              <a:ea typeface="Helvetica Neue"/>
              <a:cs typeface="Helvetica Neue"/>
            </a:endParaRPr>
          </a:p>
        </p:txBody>
      </p:sp>
      <p:sp>
        <p:nvSpPr>
          <p:cNvPr id="81" name="Text 63">
            <a:extLst xmlns:a="http://schemas.openxmlformats.org/drawingml/2006/main">
              <a:ext uri="{FF2B5EF4-FFF2-40B4-BE49-F238E27FC236}">
                <a16:creationId xmlns:a16="http://schemas.microsoft.com/office/drawing/2014/main" id="{293CBDC9-DB0C-4ECF-80CE-308225ED5823}"/>
              </a:ext>
            </a:extLst>
          </p:cNvPr>
          <p:cNvSpPr>
            <a:spLocks xmlns:a="http://schemas.openxmlformats.org/drawingml/2006/main" noGrp="1"/>
          </p:cNvSpPr>
          <p:nvPr/>
        </p:nvSpPr>
        <p:spPr>
          <a:xfrm xmlns:a="http://schemas.openxmlformats.org/drawingml/2006/main">
            <a:off x="777240" y="4764024"/>
            <a:ext cx="10634472"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850">
                <a:solidFill>
                  <a:srgbClr val="424242"/>
                </a:solidFill>
                <a:latin typeface="Helvetica Neue"/>
                <a:ea typeface="Helvetica Neue"/>
                <a:cs typeface="Helvetica Neue"/>
              </a:rPr>
              <a:t>Delegate  ·  Consult  ·  Reconcile  ·  Synthesize</a:t>
            </a:r>
            <a:endParaRPr sz="850">
              <a:latin typeface="Helvetica Neue"/>
              <a:ea typeface="Helvetica Neue"/>
              <a:cs typeface="Helvetica Neue"/>
            </a:endParaRPr>
          </a:p>
        </p:txBody>
      </p:sp>
      <p:pic>
        <p:nvPicPr>
          <p:cNvPr id="232" name="Image 16"/>
          <p:cNvPicPr>
            <a:picLocks xmlns:a="http://schemas.openxmlformats.org/drawingml/2006/main" noChangeAspect="1"/>
          </p:cNvPicPr>
          <p:nvPr/>
        </p:nvPicPr>
        <p:blipFill>
          <a:blip xmlns:r="http://schemas.openxmlformats.org/officeDocument/2006/relationships" xmlns:a="http://schemas.openxmlformats.org/drawingml/2006/main" r:embed="Rc0083e27c5b14170"/>
          <a:stretch xmlns:a="http://schemas.openxmlformats.org/drawingml/2006/main">
            <a:fillRect l="0" t="0" r="0" b="0"/>
          </a:stretch>
        </p:blipFill>
        <p:spPr>
          <a:xfrm xmlns:a="http://schemas.openxmlformats.org/drawingml/2006/main">
            <a:off x="1766621" y="5038344"/>
            <a:ext cx="182880" cy="182880"/>
          </a:xfrm>
          <a:prstGeom xmlns:a="http://schemas.openxmlformats.org/drawingml/2006/main" prst="rect">
            <a:avLst/>
          </a:prstGeom>
        </p:spPr>
      </p:pic>
      <p:sp>
        <p:nvSpPr>
          <p:cNvPr id="83" name="Text 64">
            <a:extLst xmlns:a="http://schemas.openxmlformats.org/drawingml/2006/main">
              <a:ext uri="{FF2B5EF4-FFF2-40B4-BE49-F238E27FC236}">
                <a16:creationId xmlns:a16="http://schemas.microsoft.com/office/drawing/2014/main" id="{6D1D5263-6545-48CB-BC22-C2ADBA9EF426}"/>
              </a:ext>
            </a:extLst>
          </p:cNvPr>
          <p:cNvSpPr>
            <a:spLocks xmlns:a="http://schemas.openxmlformats.org/drawingml/2006/main" noGrp="1"/>
          </p:cNvSpPr>
          <p:nvPr/>
        </p:nvSpPr>
        <p:spPr>
          <a:xfrm xmlns:a="http://schemas.openxmlformats.org/drawingml/2006/main">
            <a:off x="2004365" y="5010912"/>
            <a:ext cx="11301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Scoped tools</a:t>
            </a:r>
            <a:endParaRPr sz="1050">
              <a:latin typeface="Helvetica Neue"/>
              <a:ea typeface="Helvetica Neue"/>
              <a:cs typeface="Helvetica Neue"/>
            </a:endParaRPr>
          </a:p>
        </p:txBody>
      </p:sp>
      <p:sp>
        <p:nvSpPr>
          <p:cNvPr id="84" name="Text 65">
            <a:extLst xmlns:a="http://schemas.openxmlformats.org/drawingml/2006/main">
              <a:ext uri="{FF2B5EF4-FFF2-40B4-BE49-F238E27FC236}">
                <a16:creationId xmlns:a16="http://schemas.microsoft.com/office/drawing/2014/main" id="{54519A91-69B2-4D69-974B-D8F793DD66B3}"/>
              </a:ext>
            </a:extLst>
          </p:cNvPr>
          <p:cNvSpPr>
            <a:spLocks xmlns:a="http://schemas.openxmlformats.org/drawingml/2006/main" noGrp="1"/>
          </p:cNvSpPr>
          <p:nvPr/>
        </p:nvSpPr>
        <p:spPr>
          <a:xfrm xmlns:a="http://schemas.openxmlformats.org/drawingml/2006/main">
            <a:off x="502920" y="5248275"/>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800">
                <a:solidFill>
                  <a:srgbClr val="707070"/>
                </a:solidFill>
                <a:latin typeface="Helvetica Neue"/>
                <a:ea typeface="Helvetica Neue"/>
                <a:cs typeface="Helvetica Neue"/>
              </a:rPr>
              <a:t>Bounded read tools per specialist</a:t>
            </a:r>
            <a:endParaRPr sz="800">
              <a:latin typeface="Helvetica Neue"/>
              <a:ea typeface="Helvetica Neue"/>
              <a:cs typeface="Helvetica Neue"/>
            </a:endParaRPr>
          </a:p>
        </p:txBody>
      </p:sp>
      <p:pic>
        <p:nvPicPr>
          <p:cNvPr id="235" name="Image 17"/>
          <p:cNvPicPr>
            <a:picLocks xmlns:a="http://schemas.openxmlformats.org/drawingml/2006/main" noChangeAspect="1"/>
          </p:cNvPicPr>
          <p:nvPr/>
        </p:nvPicPr>
        <p:blipFill>
          <a:blip xmlns:r="http://schemas.openxmlformats.org/officeDocument/2006/relationships" xmlns:a="http://schemas.openxmlformats.org/drawingml/2006/main" r:embed="R61d56bbf824d41e7"/>
          <a:stretch xmlns:a="http://schemas.openxmlformats.org/drawingml/2006/main">
            <a:fillRect l="0" t="0" r="0" b="0"/>
          </a:stretch>
        </p:blipFill>
        <p:spPr>
          <a:xfrm xmlns:a="http://schemas.openxmlformats.org/drawingml/2006/main">
            <a:off x="5172761" y="5038344"/>
            <a:ext cx="182880" cy="182880"/>
          </a:xfrm>
          <a:prstGeom xmlns:a="http://schemas.openxmlformats.org/drawingml/2006/main" prst="rect">
            <a:avLst/>
          </a:prstGeom>
        </p:spPr>
      </p:pic>
      <p:sp>
        <p:nvSpPr>
          <p:cNvPr id="86" name="Text 66">
            <a:extLst xmlns:a="http://schemas.openxmlformats.org/drawingml/2006/main">
              <a:ext uri="{FF2B5EF4-FFF2-40B4-BE49-F238E27FC236}">
                <a16:creationId xmlns:a16="http://schemas.microsoft.com/office/drawing/2014/main" id="{A03C55A4-2EC5-47D6-AA9F-475E1F4E62C8}"/>
              </a:ext>
            </a:extLst>
          </p:cNvPr>
          <p:cNvSpPr>
            <a:spLocks xmlns:a="http://schemas.openxmlformats.org/drawingml/2006/main" noGrp="1"/>
          </p:cNvSpPr>
          <p:nvPr/>
        </p:nvSpPr>
        <p:spPr>
          <a:xfrm xmlns:a="http://schemas.openxmlformats.org/drawingml/2006/main">
            <a:off x="5410505" y="5010912"/>
            <a:ext cx="184343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Knowledge and evidence</a:t>
            </a:r>
            <a:endParaRPr sz="1050">
              <a:latin typeface="Helvetica Neue"/>
              <a:ea typeface="Helvetica Neue"/>
              <a:cs typeface="Helvetica Neue"/>
            </a:endParaRPr>
          </a:p>
        </p:txBody>
      </p:sp>
      <p:sp>
        <p:nvSpPr>
          <p:cNvPr id="87" name="Text 67">
            <a:extLst xmlns:a="http://schemas.openxmlformats.org/drawingml/2006/main">
              <a:ext uri="{FF2B5EF4-FFF2-40B4-BE49-F238E27FC236}">
                <a16:creationId xmlns:a16="http://schemas.microsoft.com/office/drawing/2014/main" id="{F3951E44-81D4-47AD-B7BA-E9084BF99B91}"/>
              </a:ext>
            </a:extLst>
          </p:cNvPr>
          <p:cNvSpPr>
            <a:spLocks xmlns:a="http://schemas.openxmlformats.org/drawingml/2006/main" noGrp="1"/>
          </p:cNvSpPr>
          <p:nvPr/>
        </p:nvSpPr>
        <p:spPr>
          <a:xfrm xmlns:a="http://schemas.openxmlformats.org/drawingml/2006/main">
            <a:off x="4265676" y="5248275"/>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800">
                <a:solidFill>
                  <a:srgbClr val="707070"/>
                </a:solidFill>
                <a:latin typeface="Helvetica Neue"/>
                <a:ea typeface="Helvetica Neue"/>
                <a:cs typeface="Helvetica Neue"/>
              </a:rPr>
              <a:t>Shared RAG with exact-source checks</a:t>
            </a:r>
            <a:endParaRPr sz="800">
              <a:latin typeface="Helvetica Neue"/>
              <a:ea typeface="Helvetica Neue"/>
              <a:cs typeface="Helvetica Neue"/>
            </a:endParaRPr>
          </a:p>
        </p:txBody>
      </p:sp>
      <p:pic>
        <p:nvPicPr>
          <p:cNvPr id="238" name="Image 18"/>
          <p:cNvPicPr>
            <a:picLocks xmlns:a="http://schemas.openxmlformats.org/drawingml/2006/main" noChangeAspect="1"/>
          </p:cNvPicPr>
          <p:nvPr/>
        </p:nvPicPr>
        <p:blipFill>
          <a:blip xmlns:r="http://schemas.openxmlformats.org/officeDocument/2006/relationships" xmlns:a="http://schemas.openxmlformats.org/drawingml/2006/main" r:embed="R1536c68346c64dc1"/>
          <a:stretch xmlns:a="http://schemas.openxmlformats.org/drawingml/2006/main">
            <a:fillRect l="0" t="0" r="0" b="0"/>
          </a:stretch>
        </p:blipFill>
        <p:spPr>
          <a:xfrm xmlns:a="http://schemas.openxmlformats.org/drawingml/2006/main">
            <a:off x="9078163" y="5038344"/>
            <a:ext cx="182880" cy="182880"/>
          </a:xfrm>
          <a:prstGeom xmlns:a="http://schemas.openxmlformats.org/drawingml/2006/main" prst="rect">
            <a:avLst/>
          </a:prstGeom>
        </p:spPr>
      </p:pic>
      <p:sp>
        <p:nvSpPr>
          <p:cNvPr id="89" name="Text 68">
            <a:extLst xmlns:a="http://schemas.openxmlformats.org/drawingml/2006/main">
              <a:ext uri="{FF2B5EF4-FFF2-40B4-BE49-F238E27FC236}">
                <a16:creationId xmlns:a16="http://schemas.microsoft.com/office/drawing/2014/main" id="{D4D70341-0C4A-41F9-84F9-62BD50D5275A}"/>
              </a:ext>
            </a:extLst>
          </p:cNvPr>
          <p:cNvSpPr>
            <a:spLocks xmlns:a="http://schemas.openxmlformats.org/drawingml/2006/main" noGrp="1"/>
          </p:cNvSpPr>
          <p:nvPr/>
        </p:nvSpPr>
        <p:spPr>
          <a:xfrm xmlns:a="http://schemas.openxmlformats.org/drawingml/2006/main">
            <a:off x="9315907" y="5010912"/>
            <a:ext cx="155813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Governed execution</a:t>
            </a:r>
            <a:endParaRPr sz="1050">
              <a:latin typeface="Helvetica Neue"/>
              <a:ea typeface="Helvetica Neue"/>
              <a:cs typeface="Helvetica Neue"/>
            </a:endParaRPr>
          </a:p>
        </p:txBody>
      </p:sp>
      <p:sp>
        <p:nvSpPr>
          <p:cNvPr id="90" name="Text 69">
            <a:extLst xmlns:a="http://schemas.openxmlformats.org/drawingml/2006/main">
              <a:ext uri="{FF2B5EF4-FFF2-40B4-BE49-F238E27FC236}">
                <a16:creationId xmlns:a16="http://schemas.microsoft.com/office/drawing/2014/main" id="{BD072330-B4A4-4618-A826-E8076AA7DE9C}"/>
              </a:ext>
            </a:extLst>
          </p:cNvPr>
          <p:cNvSpPr>
            <a:spLocks xmlns:a="http://schemas.openxmlformats.org/drawingml/2006/main" noGrp="1"/>
          </p:cNvSpPr>
          <p:nvPr/>
        </p:nvSpPr>
        <p:spPr>
          <a:xfrm xmlns:a="http://schemas.openxmlformats.org/drawingml/2006/main">
            <a:off x="8028432" y="5248275"/>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790">
                <a:solidFill>
                  <a:srgbClr val="707070"/>
                </a:solidFill>
                <a:latin typeface="Helvetica Neue"/>
                <a:ea typeface="Helvetica Neue"/>
                <a:cs typeface="Helvetica Neue"/>
              </a:rPr>
              <a:t>Policy gates and guardrails applied to determine touchless or human review</a:t>
            </a:r>
            <a:endParaRPr sz="790">
              <a:latin typeface="Helvetica Neue"/>
              <a:ea typeface="Helvetica Neue"/>
              <a:cs typeface="Helvetica Neue"/>
            </a:endParaRPr>
          </a:p>
        </p:txBody>
      </p:sp>
      <p:pic>
        <p:nvPicPr>
          <p:cNvPr id="241" name="Image 19"/>
          <p:cNvPicPr>
            <a:picLocks xmlns:a="http://schemas.openxmlformats.org/drawingml/2006/main" noChangeAspect="1"/>
          </p:cNvPicPr>
          <p:nvPr/>
        </p:nvPicPr>
        <p:blipFill>
          <a:blip xmlns:r="http://schemas.openxmlformats.org/officeDocument/2006/relationships" xmlns:a="http://schemas.openxmlformats.org/drawingml/2006/main" r:embed="Ra730c5effa814a34"/>
          <a:stretch xmlns:a="http://schemas.openxmlformats.org/drawingml/2006/main">
            <a:fillRect l="0" t="0" r="0" b="0"/>
          </a:stretch>
        </p:blipFill>
        <p:spPr>
          <a:xfrm xmlns:a="http://schemas.openxmlformats.org/drawingml/2006/main">
            <a:off x="1463040" y="5559552"/>
            <a:ext cx="237744" cy="237744"/>
          </a:xfrm>
          <a:prstGeom xmlns:a="http://schemas.openxmlformats.org/drawingml/2006/main" prst="rect">
            <a:avLst/>
          </a:prstGeom>
        </p:spPr>
      </p:pic>
      <p:sp>
        <p:nvSpPr>
          <p:cNvPr id="92" name="Text 70">
            <a:extLst xmlns:a="http://schemas.openxmlformats.org/drawingml/2006/main">
              <a:ext uri="{FF2B5EF4-FFF2-40B4-BE49-F238E27FC236}">
                <a16:creationId xmlns:a16="http://schemas.microsoft.com/office/drawing/2014/main" id="{B6559A39-956B-4D3E-9AAA-0B4BAF8BA993}"/>
              </a:ext>
            </a:extLst>
          </p:cNvPr>
          <p:cNvSpPr>
            <a:spLocks xmlns:a="http://schemas.openxmlformats.org/drawingml/2006/main" noGrp="1"/>
          </p:cNvSpPr>
          <p:nvPr/>
        </p:nvSpPr>
        <p:spPr>
          <a:xfrm xmlns:a="http://schemas.openxmlformats.org/drawingml/2006/main">
            <a:off x="1764792"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b="1">
                <a:solidFill>
                  <a:srgbClr val="285B88"/>
                </a:solidFill>
                <a:latin typeface="Helvetica Neue"/>
                <a:ea typeface="Helvetica Neue"/>
                <a:cs typeface="Helvetica Neue"/>
              </a:rPr>
              <a:t>Tool calls</a:t>
            </a:r>
            <a:endParaRPr sz="900">
              <a:latin typeface="Helvetica Neue"/>
              <a:ea typeface="Helvetica Neue"/>
              <a:cs typeface="Helvetica Neue"/>
            </a:endParaRPr>
          </a:p>
        </p:txBody>
      </p:sp>
      <p:sp>
        <p:nvSpPr>
          <p:cNvPr id="93" name="Text 71">
            <a:extLst xmlns:a="http://schemas.openxmlformats.org/drawingml/2006/main">
              <a:ext uri="{FF2B5EF4-FFF2-40B4-BE49-F238E27FC236}">
                <a16:creationId xmlns:a16="http://schemas.microsoft.com/office/drawing/2014/main" id="{3E0387D0-D81F-467B-8A7E-90C5986D4D8A}"/>
              </a:ext>
            </a:extLst>
          </p:cNvPr>
          <p:cNvSpPr>
            <a:spLocks xmlns:a="http://schemas.openxmlformats.org/drawingml/2006/main" noGrp="1"/>
          </p:cNvSpPr>
          <p:nvPr/>
        </p:nvSpPr>
        <p:spPr>
          <a:xfrm xmlns:a="http://schemas.openxmlformats.org/drawingml/2006/main">
            <a:off x="1764791" y="5676900"/>
            <a:ext cx="2069653"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707070"/>
                </a:solidFill>
                <a:latin typeface="Helvetica Neue"/>
                <a:ea typeface="Helvetica Neue"/>
                <a:cs typeface="Helvetica Neue"/>
              </a:rPr>
              <a:t>Execute API calls through Stratos MCP server</a:t>
            </a:r>
            <a:endParaRPr sz="800">
              <a:latin typeface="Helvetica Neue"/>
              <a:ea typeface="Helvetica Neue"/>
              <a:cs typeface="Helvetica Neue"/>
            </a:endParaRPr>
          </a:p>
        </p:txBody>
      </p:sp>
      <p:pic>
        <p:nvPicPr>
          <p:cNvPr id="244" name="Image 20"/>
          <p:cNvPicPr>
            <a:picLocks xmlns:a="http://schemas.openxmlformats.org/drawingml/2006/main" noChangeAspect="1"/>
          </p:cNvPicPr>
          <p:nvPr/>
        </p:nvPicPr>
        <p:blipFill>
          <a:blip xmlns:r="http://schemas.openxmlformats.org/officeDocument/2006/relationships" xmlns:a="http://schemas.openxmlformats.org/drawingml/2006/main" r:embed="Rfa260ebc86654c3d"/>
          <a:stretch xmlns:a="http://schemas.openxmlformats.org/drawingml/2006/main">
            <a:fillRect l="0" t="0" r="0" b="0"/>
          </a:stretch>
        </p:blipFill>
        <p:spPr>
          <a:xfrm xmlns:a="http://schemas.openxmlformats.org/drawingml/2006/main">
            <a:off x="5225796" y="5559552"/>
            <a:ext cx="237744" cy="237744"/>
          </a:xfrm>
          <a:prstGeom xmlns:a="http://schemas.openxmlformats.org/drawingml/2006/main" prst="rect">
            <a:avLst/>
          </a:prstGeom>
        </p:spPr>
      </p:pic>
      <p:sp>
        <p:nvSpPr>
          <p:cNvPr id="95" name="Text 72">
            <a:extLst xmlns:a="http://schemas.openxmlformats.org/drawingml/2006/main">
              <a:ext uri="{FF2B5EF4-FFF2-40B4-BE49-F238E27FC236}">
                <a16:creationId xmlns:a16="http://schemas.microsoft.com/office/drawing/2014/main" id="{77E53A4A-F470-44D6-BAF8-B7757CEA1B19}"/>
              </a:ext>
            </a:extLst>
          </p:cNvPr>
          <p:cNvSpPr>
            <a:spLocks xmlns:a="http://schemas.openxmlformats.org/drawingml/2006/main" noGrp="1"/>
          </p:cNvSpPr>
          <p:nvPr/>
        </p:nvSpPr>
        <p:spPr>
          <a:xfrm xmlns:a="http://schemas.openxmlformats.org/drawingml/2006/main">
            <a:off x="5527548"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b="1">
                <a:solidFill>
                  <a:srgbClr val="5C4B8A"/>
                </a:solidFill>
                <a:latin typeface="Helvetica Neue"/>
                <a:ea typeface="Helvetica Neue"/>
                <a:cs typeface="Helvetica Neue"/>
              </a:rPr>
              <a:t>Knowledge context</a:t>
            </a:r>
            <a:endParaRPr sz="900">
              <a:latin typeface="Helvetica Neue"/>
              <a:ea typeface="Helvetica Neue"/>
              <a:cs typeface="Helvetica Neue"/>
            </a:endParaRPr>
          </a:p>
        </p:txBody>
      </p:sp>
      <p:pic>
        <p:nvPicPr>
          <p:cNvPr id="246" name="Image 21"/>
          <p:cNvPicPr>
            <a:picLocks xmlns:a="http://schemas.openxmlformats.org/drawingml/2006/main" noChangeAspect="1"/>
          </p:cNvPicPr>
          <p:nvPr/>
        </p:nvPicPr>
        <p:blipFill>
          <a:blip xmlns:r="http://schemas.openxmlformats.org/officeDocument/2006/relationships" xmlns:a="http://schemas.openxmlformats.org/drawingml/2006/main" r:embed="R029125480ff541bb"/>
          <a:stretch xmlns:a="http://schemas.openxmlformats.org/drawingml/2006/main">
            <a:fillRect l="0" t="0" r="0" b="0"/>
          </a:stretch>
        </p:blipFill>
        <p:spPr>
          <a:xfrm xmlns:a="http://schemas.openxmlformats.org/drawingml/2006/main">
            <a:off x="8988552" y="5559552"/>
            <a:ext cx="237744" cy="237744"/>
          </a:xfrm>
          <a:prstGeom xmlns:a="http://schemas.openxmlformats.org/drawingml/2006/main" prst="rect">
            <a:avLst/>
          </a:prstGeom>
        </p:spPr>
      </p:pic>
      <p:sp>
        <p:nvSpPr>
          <p:cNvPr id="98" name="Text 74">
            <a:extLst xmlns:a="http://schemas.openxmlformats.org/drawingml/2006/main">
              <a:ext uri="{FF2B5EF4-FFF2-40B4-BE49-F238E27FC236}">
                <a16:creationId xmlns:a16="http://schemas.microsoft.com/office/drawing/2014/main" id="{90E28E62-FF09-477A-83A6-E38B2A3CF3C4}"/>
              </a:ext>
            </a:extLst>
          </p:cNvPr>
          <p:cNvSpPr>
            <a:spLocks xmlns:a="http://schemas.openxmlformats.org/drawingml/2006/main" noGrp="1"/>
          </p:cNvSpPr>
          <p:nvPr/>
        </p:nvSpPr>
        <p:spPr>
          <a:xfrm xmlns:a="http://schemas.openxmlformats.org/drawingml/2006/main">
            <a:off x="9290304"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b="1">
                <a:solidFill>
                  <a:srgbClr val="126A52"/>
                </a:solidFill>
                <a:latin typeface="Helvetica Neue"/>
                <a:ea typeface="Helvetica Neue"/>
                <a:cs typeface="Helvetica Neue"/>
              </a:rPr>
              <a:t>API updates</a:t>
            </a:r>
            <a:endParaRPr sz="900">
              <a:latin typeface="Helvetica Neue"/>
              <a:ea typeface="Helvetica Neue"/>
              <a:cs typeface="Helvetica Neue"/>
            </a:endParaRPr>
          </a:p>
        </p:txBody>
      </p:sp>
      <p:sp>
        <p:nvSpPr>
          <p:cNvPr id="99" name="Text 75">
            <a:extLst xmlns:a="http://schemas.openxmlformats.org/drawingml/2006/main">
              <a:ext uri="{FF2B5EF4-FFF2-40B4-BE49-F238E27FC236}">
                <a16:creationId xmlns:a16="http://schemas.microsoft.com/office/drawing/2014/main" id="{61286F53-F045-436F-B26D-41102C527049}"/>
              </a:ext>
            </a:extLst>
          </p:cNvPr>
          <p:cNvSpPr>
            <a:spLocks xmlns:a="http://schemas.openxmlformats.org/drawingml/2006/main" noGrp="1"/>
          </p:cNvSpPr>
          <p:nvPr/>
        </p:nvSpPr>
        <p:spPr>
          <a:xfrm xmlns:a="http://schemas.openxmlformats.org/drawingml/2006/main">
            <a:off x="9290303" y="5676900"/>
            <a:ext cx="2444191"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707070"/>
                </a:solidFill>
                <a:latin typeface="Helvetica Neue"/>
                <a:ea typeface="Helvetica Neue"/>
                <a:cs typeface="Helvetica Neue"/>
              </a:rPr>
              <a:t>Update source systems deterministically</a:t>
            </a:r>
            <a:endParaRPr sz="800">
              <a:latin typeface="Helvetica Neue"/>
              <a:ea typeface="Helvetica Neue"/>
              <a:cs typeface="Helvetica Neue"/>
            </a:endParaRPr>
          </a:p>
        </p:txBody>
      </p:sp>
      <p:sp>
        <p:nvSpPr>
          <p:cNvPr id="100" name="Shape 76">
            <a:extLst xmlns:a="http://schemas.openxmlformats.org/drawingml/2006/main">
              <a:ext uri="{FF2B5EF4-FFF2-40B4-BE49-F238E27FC236}">
                <a16:creationId xmlns:a16="http://schemas.microsoft.com/office/drawing/2014/main" id="{DD2B950B-FF1A-4B04-9ED5-3A7D492E478F}"/>
              </a:ext>
            </a:extLst>
          </p:cNvPr>
          <p:cNvSpPr>
            <a:spLocks xmlns:a="http://schemas.openxmlformats.org/drawingml/2006/main" noGrp="1"/>
          </p:cNvSpPr>
          <p:nvPr/>
        </p:nvSpPr>
        <p:spPr>
          <a:xfrm xmlns:a="http://schemas.openxmlformats.org/drawingml/2006/main">
            <a:off x="457200" y="5925312"/>
            <a:ext cx="11277295" cy="713232"/>
          </a:xfrm>
          <a:prstGeom xmlns:a="http://schemas.openxmlformats.org/drawingml/2006/main" prst="line">
            <a:avLst/>
          </a:prstGeom>
          <a:solidFill xmlns:a="http://schemas.openxmlformats.org/drawingml/2006/main">
            <a:srgbClr val="F7F7F7"/>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101" name="Text 77">
            <a:extLst xmlns:a="http://schemas.openxmlformats.org/drawingml/2006/main">
              <a:ext uri="{FF2B5EF4-FFF2-40B4-BE49-F238E27FC236}">
                <a16:creationId xmlns:a16="http://schemas.microsoft.com/office/drawing/2014/main" id="{4B888279-7003-4A7F-917B-D9937BA990C2}"/>
              </a:ext>
            </a:extLst>
          </p:cNvPr>
          <p:cNvSpPr>
            <a:spLocks xmlns:a="http://schemas.openxmlformats.org/drawingml/2006/main" noGrp="1"/>
          </p:cNvSpPr>
          <p:nvPr/>
        </p:nvSpPr>
        <p:spPr>
          <a:xfrm xmlns:a="http://schemas.openxmlformats.org/drawingml/2006/main">
            <a:off x="603504" y="5971032"/>
            <a:ext cx="5486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00" b="1">
                <a:solidFill>
                  <a:srgbClr val="101010"/>
                </a:solidFill>
                <a:latin typeface="Helvetica Neue"/>
                <a:ea typeface="Helvetica Neue"/>
                <a:cs typeface="Helvetica Neue"/>
              </a:rPr>
              <a:t>Source systems  </a:t>
            </a:r>
            <a:r>
              <a:rPr sz="850">
                <a:solidFill>
                  <a:srgbClr val="424242"/>
                </a:solidFill>
                <a:latin typeface="Helvetica Neue"/>
                <a:ea typeface="Helvetica Neue"/>
                <a:cs typeface="Helvetica Neue"/>
              </a:rPr>
              <a:t>five Stratos systems of record</a:t>
            </a:r>
            <a:endParaRPr sz="1000">
              <a:latin typeface="Helvetica Neue"/>
              <a:ea typeface="Helvetica Neue"/>
              <a:cs typeface="Helvetica Neue"/>
            </a:endParaRPr>
          </a:p>
        </p:txBody>
      </p:sp>
      <p:sp>
        <p:nvSpPr>
          <p:cNvPr id="102" name="Shape 78">
            <a:extLst xmlns:a="http://schemas.openxmlformats.org/drawingml/2006/main">
              <a:ext uri="{FF2B5EF4-FFF2-40B4-BE49-F238E27FC236}">
                <a16:creationId xmlns:a16="http://schemas.microsoft.com/office/drawing/2014/main" id="{6CBA9B96-3B0C-41C4-97E5-93F7FB3A4333}"/>
              </a:ext>
            </a:extLst>
          </p:cNvPr>
          <p:cNvSpPr>
            <a:spLocks xmlns:a="http://schemas.openxmlformats.org/drawingml/2006/main" noGrp="1"/>
          </p:cNvSpPr>
          <p:nvPr/>
        </p:nvSpPr>
        <p:spPr>
          <a:xfrm xmlns:a="http://schemas.openxmlformats.org/drawingml/2006/main">
            <a:off x="603504"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252" name="Image 22"/>
          <p:cNvPicPr>
            <a:picLocks xmlns:a="http://schemas.openxmlformats.org/drawingml/2006/main" noChangeAspect="1"/>
          </p:cNvPicPr>
          <p:nvPr/>
        </p:nvPicPr>
        <p:blipFill>
          <a:blip xmlns:r="http://schemas.openxmlformats.org/officeDocument/2006/relationships" xmlns:a="http://schemas.openxmlformats.org/drawingml/2006/main" r:embed="Rcf6a61fb5f5447e8"/>
          <a:stretch xmlns:a="http://schemas.openxmlformats.org/drawingml/2006/main">
            <a:fillRect l="0" t="0" r="0" b="0"/>
          </a:stretch>
        </p:blipFill>
        <p:spPr>
          <a:xfrm xmlns:a="http://schemas.openxmlformats.org/drawingml/2006/main">
            <a:off x="694944" y="6227064"/>
            <a:ext cx="155448" cy="155448"/>
          </a:xfrm>
          <a:prstGeom xmlns:a="http://schemas.openxmlformats.org/drawingml/2006/main" prst="rect">
            <a:avLst/>
          </a:prstGeom>
        </p:spPr>
      </p:pic>
      <p:sp>
        <p:nvSpPr>
          <p:cNvPr id="104" name="Text 79">
            <a:extLst xmlns:a="http://schemas.openxmlformats.org/drawingml/2006/main">
              <a:ext uri="{FF2B5EF4-FFF2-40B4-BE49-F238E27FC236}">
                <a16:creationId xmlns:a16="http://schemas.microsoft.com/office/drawing/2014/main" id="{6FBA6773-CE64-460F-8D02-F9A4490EA86E}"/>
              </a:ext>
            </a:extLst>
          </p:cNvPr>
          <p:cNvSpPr>
            <a:spLocks xmlns:a="http://schemas.openxmlformats.org/drawingml/2006/main" noGrp="1"/>
          </p:cNvSpPr>
          <p:nvPr/>
        </p:nvSpPr>
        <p:spPr>
          <a:xfrm xmlns:a="http://schemas.openxmlformats.org/drawingml/2006/main">
            <a:off x="896112"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PLM</a:t>
            </a:r>
            <a:endParaRPr sz="950">
              <a:latin typeface="Helvetica Neue"/>
              <a:ea typeface="Helvetica Neue"/>
              <a:cs typeface="Helvetica Neue"/>
            </a:endParaRPr>
          </a:p>
        </p:txBody>
      </p:sp>
      <p:sp>
        <p:nvSpPr>
          <p:cNvPr id="105" name="Text 80">
            <a:extLst xmlns:a="http://schemas.openxmlformats.org/drawingml/2006/main">
              <a:ext uri="{FF2B5EF4-FFF2-40B4-BE49-F238E27FC236}">
                <a16:creationId xmlns:a16="http://schemas.microsoft.com/office/drawing/2014/main" id="{82E9200D-75B3-443B-B909-C7E619334BB2}"/>
              </a:ext>
            </a:extLst>
          </p:cNvPr>
          <p:cNvSpPr>
            <a:spLocks xmlns:a="http://schemas.openxmlformats.org/drawingml/2006/main" noGrp="1"/>
          </p:cNvSpPr>
          <p:nvPr/>
        </p:nvSpPr>
        <p:spPr>
          <a:xfrm xmlns:a="http://schemas.openxmlformats.org/drawingml/2006/main">
            <a:off x="694944" y="6382512"/>
            <a:ext cx="192938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Engineering records</a:t>
            </a:r>
            <a:endParaRPr sz="850">
              <a:latin typeface="Helvetica Neue"/>
              <a:ea typeface="Helvetica Neue"/>
              <a:cs typeface="Helvetica Neue"/>
            </a:endParaRPr>
          </a:p>
        </p:txBody>
      </p:sp>
      <p:sp>
        <p:nvSpPr>
          <p:cNvPr id="106" name="Shape 81">
            <a:extLst xmlns:a="http://schemas.openxmlformats.org/drawingml/2006/main">
              <a:ext uri="{FF2B5EF4-FFF2-40B4-BE49-F238E27FC236}">
                <a16:creationId xmlns:a16="http://schemas.microsoft.com/office/drawing/2014/main" id="{F44EBB69-1A2A-41BC-A4B3-7CCADCD01871}"/>
              </a:ext>
            </a:extLst>
          </p:cNvPr>
          <p:cNvSpPr>
            <a:spLocks xmlns:a="http://schemas.openxmlformats.org/drawingml/2006/main" noGrp="1"/>
          </p:cNvSpPr>
          <p:nvPr/>
        </p:nvSpPr>
        <p:spPr>
          <a:xfrm xmlns:a="http://schemas.openxmlformats.org/drawingml/2006/main">
            <a:off x="2825496"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256" name="Image 23"/>
          <p:cNvPicPr>
            <a:picLocks xmlns:a="http://schemas.openxmlformats.org/drawingml/2006/main" noChangeAspect="1"/>
          </p:cNvPicPr>
          <p:nvPr/>
        </p:nvPicPr>
        <p:blipFill>
          <a:blip xmlns:r="http://schemas.openxmlformats.org/officeDocument/2006/relationships" xmlns:a="http://schemas.openxmlformats.org/drawingml/2006/main" r:embed="R3de403743e0b47a0"/>
          <a:stretch xmlns:a="http://schemas.openxmlformats.org/drawingml/2006/main">
            <a:fillRect l="0" t="0" r="0" b="0"/>
          </a:stretch>
        </p:blipFill>
        <p:spPr>
          <a:xfrm xmlns:a="http://schemas.openxmlformats.org/drawingml/2006/main">
            <a:off x="2916936" y="6227064"/>
            <a:ext cx="155448" cy="155448"/>
          </a:xfrm>
          <a:prstGeom xmlns:a="http://schemas.openxmlformats.org/drawingml/2006/main" prst="rect">
            <a:avLst/>
          </a:prstGeom>
        </p:spPr>
      </p:pic>
      <p:sp>
        <p:nvSpPr>
          <p:cNvPr id="108" name="Text 82">
            <a:extLst xmlns:a="http://schemas.openxmlformats.org/drawingml/2006/main">
              <a:ext uri="{FF2B5EF4-FFF2-40B4-BE49-F238E27FC236}">
                <a16:creationId xmlns:a16="http://schemas.microsoft.com/office/drawing/2014/main" id="{CC5C7C76-EE6D-4EA6-99BB-0FCE97971E8D}"/>
              </a:ext>
            </a:extLst>
          </p:cNvPr>
          <p:cNvSpPr>
            <a:spLocks xmlns:a="http://schemas.openxmlformats.org/drawingml/2006/main" noGrp="1"/>
          </p:cNvSpPr>
          <p:nvPr/>
        </p:nvSpPr>
        <p:spPr>
          <a:xfrm xmlns:a="http://schemas.openxmlformats.org/drawingml/2006/main">
            <a:off x="3118104"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TestOps</a:t>
            </a:r>
            <a:endParaRPr sz="950">
              <a:latin typeface="Helvetica Neue"/>
              <a:ea typeface="Helvetica Neue"/>
              <a:cs typeface="Helvetica Neue"/>
            </a:endParaRPr>
          </a:p>
        </p:txBody>
      </p:sp>
      <p:sp>
        <p:nvSpPr>
          <p:cNvPr id="109" name="Text 83">
            <a:extLst xmlns:a="http://schemas.openxmlformats.org/drawingml/2006/main">
              <a:ext uri="{FF2B5EF4-FFF2-40B4-BE49-F238E27FC236}">
                <a16:creationId xmlns:a16="http://schemas.microsoft.com/office/drawing/2014/main" id="{4E715036-7900-44DB-8DAB-46C0FEDC2E73}"/>
              </a:ext>
            </a:extLst>
          </p:cNvPr>
          <p:cNvSpPr>
            <a:spLocks xmlns:a="http://schemas.openxmlformats.org/drawingml/2006/main" noGrp="1"/>
          </p:cNvSpPr>
          <p:nvPr/>
        </p:nvSpPr>
        <p:spPr>
          <a:xfrm xmlns:a="http://schemas.openxmlformats.org/drawingml/2006/main">
            <a:off x="2916936" y="6382512"/>
            <a:ext cx="192938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Test evidence and jobs</a:t>
            </a:r>
            <a:endParaRPr sz="850">
              <a:latin typeface="Helvetica Neue"/>
              <a:ea typeface="Helvetica Neue"/>
              <a:cs typeface="Helvetica Neue"/>
            </a:endParaRPr>
          </a:p>
        </p:txBody>
      </p:sp>
      <p:sp>
        <p:nvSpPr>
          <p:cNvPr id="110" name="Shape 84">
            <a:extLst xmlns:a="http://schemas.openxmlformats.org/drawingml/2006/main">
              <a:ext uri="{FF2B5EF4-FFF2-40B4-BE49-F238E27FC236}">
                <a16:creationId xmlns:a16="http://schemas.microsoft.com/office/drawing/2014/main" id="{CDA6F843-9985-4478-BC82-BD592228E8A8}"/>
              </a:ext>
            </a:extLst>
          </p:cNvPr>
          <p:cNvSpPr>
            <a:spLocks xmlns:a="http://schemas.openxmlformats.org/drawingml/2006/main" noGrp="1"/>
          </p:cNvSpPr>
          <p:nvPr/>
        </p:nvSpPr>
        <p:spPr>
          <a:xfrm xmlns:a="http://schemas.openxmlformats.org/drawingml/2006/main">
            <a:off x="5047488"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260" name="Image 24"/>
          <p:cNvPicPr>
            <a:picLocks xmlns:a="http://schemas.openxmlformats.org/drawingml/2006/main" noChangeAspect="1"/>
          </p:cNvPicPr>
          <p:nvPr/>
        </p:nvPicPr>
        <p:blipFill>
          <a:blip xmlns:r="http://schemas.openxmlformats.org/officeDocument/2006/relationships" xmlns:a="http://schemas.openxmlformats.org/drawingml/2006/main" r:embed="R87ce9ae3e0314716"/>
          <a:stretch xmlns:a="http://schemas.openxmlformats.org/drawingml/2006/main">
            <a:fillRect l="0" t="0" r="0" b="0"/>
          </a:stretch>
        </p:blipFill>
        <p:spPr>
          <a:xfrm xmlns:a="http://schemas.openxmlformats.org/drawingml/2006/main">
            <a:off x="5138928" y="6227064"/>
            <a:ext cx="155448" cy="155448"/>
          </a:xfrm>
          <a:prstGeom xmlns:a="http://schemas.openxmlformats.org/drawingml/2006/main" prst="rect">
            <a:avLst/>
          </a:prstGeom>
        </p:spPr>
      </p:pic>
      <p:sp>
        <p:nvSpPr>
          <p:cNvPr id="112" name="Text 85">
            <a:extLst xmlns:a="http://schemas.openxmlformats.org/drawingml/2006/main">
              <a:ext uri="{FF2B5EF4-FFF2-40B4-BE49-F238E27FC236}">
                <a16:creationId xmlns:a16="http://schemas.microsoft.com/office/drawing/2014/main" id="{87FDAB33-AD41-41DB-B812-A6492B605747}"/>
              </a:ext>
            </a:extLst>
          </p:cNvPr>
          <p:cNvSpPr>
            <a:spLocks xmlns:a="http://schemas.openxmlformats.org/drawingml/2006/main" noGrp="1"/>
          </p:cNvSpPr>
          <p:nvPr/>
        </p:nvSpPr>
        <p:spPr>
          <a:xfrm xmlns:a="http://schemas.openxmlformats.org/drawingml/2006/main">
            <a:off x="5340096"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MES</a:t>
            </a:r>
            <a:endParaRPr sz="950">
              <a:latin typeface="Helvetica Neue"/>
              <a:ea typeface="Helvetica Neue"/>
              <a:cs typeface="Helvetica Neue"/>
            </a:endParaRPr>
          </a:p>
        </p:txBody>
      </p:sp>
      <p:sp>
        <p:nvSpPr>
          <p:cNvPr id="113" name="Text 86">
            <a:extLst xmlns:a="http://schemas.openxmlformats.org/drawingml/2006/main">
              <a:ext uri="{FF2B5EF4-FFF2-40B4-BE49-F238E27FC236}">
                <a16:creationId xmlns:a16="http://schemas.microsoft.com/office/drawing/2014/main" id="{60EBF8B0-35A5-4C37-B251-E2A2B7E9C6EA}"/>
              </a:ext>
            </a:extLst>
          </p:cNvPr>
          <p:cNvSpPr>
            <a:spLocks xmlns:a="http://schemas.openxmlformats.org/drawingml/2006/main" noGrp="1"/>
          </p:cNvSpPr>
          <p:nvPr/>
        </p:nvSpPr>
        <p:spPr>
          <a:xfrm xmlns:a="http://schemas.openxmlformats.org/drawingml/2006/main">
            <a:off x="5138928" y="6382512"/>
            <a:ext cx="192938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Quality and materials</a:t>
            </a:r>
            <a:endParaRPr sz="850">
              <a:latin typeface="Helvetica Neue"/>
              <a:ea typeface="Helvetica Neue"/>
              <a:cs typeface="Helvetica Neue"/>
            </a:endParaRPr>
          </a:p>
        </p:txBody>
      </p:sp>
      <p:sp>
        <p:nvSpPr>
          <p:cNvPr id="114" name="Shape 87">
            <a:extLst xmlns:a="http://schemas.openxmlformats.org/drawingml/2006/main">
              <a:ext uri="{FF2B5EF4-FFF2-40B4-BE49-F238E27FC236}">
                <a16:creationId xmlns:a16="http://schemas.microsoft.com/office/drawing/2014/main" id="{8D395620-D2C3-42B1-BA43-680EC0A8F24F}"/>
              </a:ext>
            </a:extLst>
          </p:cNvPr>
          <p:cNvSpPr>
            <a:spLocks xmlns:a="http://schemas.openxmlformats.org/drawingml/2006/main" noGrp="1"/>
          </p:cNvSpPr>
          <p:nvPr/>
        </p:nvSpPr>
        <p:spPr>
          <a:xfrm xmlns:a="http://schemas.openxmlformats.org/drawingml/2006/main">
            <a:off x="7269480"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264" name="Image 25"/>
          <p:cNvPicPr>
            <a:picLocks xmlns:a="http://schemas.openxmlformats.org/drawingml/2006/main" noChangeAspect="1"/>
          </p:cNvPicPr>
          <p:nvPr/>
        </p:nvPicPr>
        <p:blipFill>
          <a:blip xmlns:r="http://schemas.openxmlformats.org/officeDocument/2006/relationships" xmlns:a="http://schemas.openxmlformats.org/drawingml/2006/main" r:embed="Rf00d4cc98dbc4c6e"/>
          <a:stretch xmlns:a="http://schemas.openxmlformats.org/drawingml/2006/main">
            <a:fillRect l="0" t="0" r="0" b="0"/>
          </a:stretch>
        </p:blipFill>
        <p:spPr>
          <a:xfrm xmlns:a="http://schemas.openxmlformats.org/drawingml/2006/main">
            <a:off x="7360920" y="6227064"/>
            <a:ext cx="155448" cy="155448"/>
          </a:xfrm>
          <a:prstGeom xmlns:a="http://schemas.openxmlformats.org/drawingml/2006/main" prst="rect">
            <a:avLst/>
          </a:prstGeom>
        </p:spPr>
      </p:pic>
      <p:sp>
        <p:nvSpPr>
          <p:cNvPr id="116" name="Text 88">
            <a:extLst xmlns:a="http://schemas.openxmlformats.org/drawingml/2006/main">
              <a:ext uri="{FF2B5EF4-FFF2-40B4-BE49-F238E27FC236}">
                <a16:creationId xmlns:a16="http://schemas.microsoft.com/office/drawing/2014/main" id="{661F3BCC-5312-4FB8-BF93-445DF2B67623}"/>
              </a:ext>
            </a:extLst>
          </p:cNvPr>
          <p:cNvSpPr>
            <a:spLocks xmlns:a="http://schemas.openxmlformats.org/drawingml/2006/main" noGrp="1"/>
          </p:cNvSpPr>
          <p:nvPr/>
        </p:nvSpPr>
        <p:spPr>
          <a:xfrm xmlns:a="http://schemas.openxmlformats.org/drawingml/2006/main">
            <a:off x="7562088"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ERP</a:t>
            </a:r>
            <a:endParaRPr sz="950">
              <a:latin typeface="Helvetica Neue"/>
              <a:ea typeface="Helvetica Neue"/>
              <a:cs typeface="Helvetica Neue"/>
            </a:endParaRPr>
          </a:p>
        </p:txBody>
      </p:sp>
      <p:sp>
        <p:nvSpPr>
          <p:cNvPr id="117" name="Text 89">
            <a:extLst xmlns:a="http://schemas.openxmlformats.org/drawingml/2006/main">
              <a:ext uri="{FF2B5EF4-FFF2-40B4-BE49-F238E27FC236}">
                <a16:creationId xmlns:a16="http://schemas.microsoft.com/office/drawing/2014/main" id="{2D66288B-3306-4669-93C1-A968E8BE78EE}"/>
              </a:ext>
            </a:extLst>
          </p:cNvPr>
          <p:cNvSpPr>
            <a:spLocks xmlns:a="http://schemas.openxmlformats.org/drawingml/2006/main" noGrp="1"/>
          </p:cNvSpPr>
          <p:nvPr/>
        </p:nvSpPr>
        <p:spPr>
          <a:xfrm xmlns:a="http://schemas.openxmlformats.org/drawingml/2006/main">
            <a:off x="7360920" y="6382512"/>
            <a:ext cx="192938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Orders and commitments</a:t>
            </a:r>
            <a:endParaRPr sz="850">
              <a:latin typeface="Helvetica Neue"/>
              <a:ea typeface="Helvetica Neue"/>
              <a:cs typeface="Helvetica Neue"/>
            </a:endParaRPr>
          </a:p>
        </p:txBody>
      </p:sp>
      <p:sp>
        <p:nvSpPr>
          <p:cNvPr id="118" name="Shape 90">
            <a:extLst xmlns:a="http://schemas.openxmlformats.org/drawingml/2006/main">
              <a:ext uri="{FF2B5EF4-FFF2-40B4-BE49-F238E27FC236}">
                <a16:creationId xmlns:a16="http://schemas.microsoft.com/office/drawing/2014/main" id="{83397192-F699-4DC0-A2EB-C98E21A441C9}"/>
              </a:ext>
            </a:extLst>
          </p:cNvPr>
          <p:cNvSpPr>
            <a:spLocks xmlns:a="http://schemas.openxmlformats.org/drawingml/2006/main" noGrp="1"/>
          </p:cNvSpPr>
          <p:nvPr/>
        </p:nvSpPr>
        <p:spPr>
          <a:xfrm xmlns:a="http://schemas.openxmlformats.org/drawingml/2006/main">
            <a:off x="9491472"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268" name="Image 26"/>
          <p:cNvPicPr>
            <a:picLocks xmlns:a="http://schemas.openxmlformats.org/drawingml/2006/main" noChangeAspect="1"/>
          </p:cNvPicPr>
          <p:nvPr/>
        </p:nvPicPr>
        <p:blipFill>
          <a:blip xmlns:r="http://schemas.openxmlformats.org/officeDocument/2006/relationships" xmlns:a="http://schemas.openxmlformats.org/drawingml/2006/main" r:embed="R878f995244444081"/>
          <a:stretch xmlns:a="http://schemas.openxmlformats.org/drawingml/2006/main">
            <a:fillRect l="0" t="0" r="0" b="0"/>
          </a:stretch>
        </p:blipFill>
        <p:spPr>
          <a:xfrm xmlns:a="http://schemas.openxmlformats.org/drawingml/2006/main">
            <a:off x="9582912" y="6227064"/>
            <a:ext cx="155448" cy="155448"/>
          </a:xfrm>
          <a:prstGeom xmlns:a="http://schemas.openxmlformats.org/drawingml/2006/main" prst="rect">
            <a:avLst/>
          </a:prstGeom>
        </p:spPr>
      </p:pic>
      <p:sp>
        <p:nvSpPr>
          <p:cNvPr id="120" name="Text 91">
            <a:extLst xmlns:a="http://schemas.openxmlformats.org/drawingml/2006/main">
              <a:ext uri="{FF2B5EF4-FFF2-40B4-BE49-F238E27FC236}">
                <a16:creationId xmlns:a16="http://schemas.microsoft.com/office/drawing/2014/main" id="{2E1F1B3D-DD70-48AE-8162-FAC9FB7471DB}"/>
              </a:ext>
            </a:extLst>
          </p:cNvPr>
          <p:cNvSpPr>
            <a:spLocks xmlns:a="http://schemas.openxmlformats.org/drawingml/2006/main" noGrp="1"/>
          </p:cNvSpPr>
          <p:nvPr/>
        </p:nvSpPr>
        <p:spPr>
          <a:xfrm xmlns:a="http://schemas.openxmlformats.org/drawingml/2006/main">
            <a:off x="9784080"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ProgramOps</a:t>
            </a:r>
            <a:endParaRPr sz="950">
              <a:latin typeface="Helvetica Neue"/>
              <a:ea typeface="Helvetica Neue"/>
              <a:cs typeface="Helvetica Neue"/>
            </a:endParaRPr>
          </a:p>
        </p:txBody>
      </p:sp>
      <p:sp>
        <p:nvSpPr>
          <p:cNvPr id="121" name="Text 92">
            <a:extLst xmlns:a="http://schemas.openxmlformats.org/drawingml/2006/main">
              <a:ext uri="{FF2B5EF4-FFF2-40B4-BE49-F238E27FC236}">
                <a16:creationId xmlns:a16="http://schemas.microsoft.com/office/drawing/2014/main" id="{52327729-996C-4F06-A53A-9030421E82FB}"/>
              </a:ext>
            </a:extLst>
          </p:cNvPr>
          <p:cNvSpPr>
            <a:spLocks xmlns:a="http://schemas.openxmlformats.org/drawingml/2006/main" noGrp="1"/>
          </p:cNvSpPr>
          <p:nvPr/>
        </p:nvSpPr>
        <p:spPr>
          <a:xfrm xmlns:a="http://schemas.openxmlformats.org/drawingml/2006/main">
            <a:off x="9582912" y="6382512"/>
            <a:ext cx="192938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424242"/>
                </a:solidFill>
                <a:latin typeface="Helvetica Neue"/>
                <a:ea typeface="Helvetica Neue"/>
                <a:cs typeface="Helvetica Neue"/>
              </a:rPr>
              <a:t>Milestones and tasks</a:t>
            </a:r>
            <a:endParaRPr sz="850">
              <a:latin typeface="Helvetica Neue"/>
              <a:ea typeface="Helvetica Neue"/>
              <a:cs typeface="Helvetica Neue"/>
            </a:endParaRPr>
          </a:p>
        </p:txBody>
      </p:sp>
      <p:sp>
        <p:nvSpPr>
          <p:cNvPr id="124" name="Text 71">
            <a:extLst xmlns:a="http://schemas.openxmlformats.org/drawingml/2006/main">
              <a:ext uri="{FF2B5EF4-FFF2-40B4-BE49-F238E27FC236}">
                <a16:creationId xmlns:a16="http://schemas.microsoft.com/office/drawing/2014/main" id="{DABC4534-BCCA-0D7C-405D-7AE5EDEEFBB6}"/>
              </a:ext>
            </a:extLst>
          </p:cNvPr>
          <p:cNvSpPr>
            <a:spLocks xmlns:a="http://schemas.openxmlformats.org/drawingml/2006/main" noGrp="1"/>
          </p:cNvSpPr>
          <p:nvPr/>
        </p:nvSpPr>
        <p:spPr>
          <a:xfrm xmlns:a="http://schemas.openxmlformats.org/drawingml/2006/main">
            <a:off x="5531053" y="5676900"/>
            <a:ext cx="2544167"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00">
                <a:solidFill>
                  <a:srgbClr val="707070"/>
                </a:solidFill>
                <a:latin typeface="Helvetica Neue"/>
                <a:ea typeface="Helvetica Neue"/>
                <a:cs typeface="Helvetica Neue"/>
              </a:rPr>
              <a:t>Retrieve contextual information from vector database</a:t>
            </a:r>
            <a:endParaRPr sz="800">
              <a:latin typeface="Helvetica Neue"/>
              <a:ea typeface="Helvetica Neue"/>
              <a:cs typeface="Helvetica Neue"/>
            </a:endParaRPr>
          </a:p>
        </p:txBody>
      </p:sp>
      <p:sp>
        <p:nvSpPr>
          <p:cNvPr id="125" name="Text 7">
            <a:extLst xmlns:a="http://schemas.openxmlformats.org/drawingml/2006/main">
              <a:ext uri="{FF2B5EF4-FFF2-40B4-BE49-F238E27FC236}">
                <a16:creationId xmlns:a16="http://schemas.microsoft.com/office/drawing/2014/main" id="{BEEE4FF5-7010-6AAF-9E47-C7AB34E356D5}"/>
              </a:ext>
            </a:extLst>
          </p:cNvPr>
          <p:cNvSpPr>
            <a:spLocks xmlns:a="http://schemas.openxmlformats.org/drawingml/2006/main" noGrp="1"/>
          </p:cNvSpPr>
          <p:nvPr/>
        </p:nvSpPr>
        <p:spPr>
          <a:xfrm xmlns:a="http://schemas.openxmlformats.org/drawingml/2006/main">
            <a:off x="457200" y="895350"/>
            <a:ext cx="112776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200" b="0">
                <a:solidFill>
                  <a:srgbClr val="424242"/>
                </a:solidFill>
                <a:latin typeface="Helvetica Neue"/>
                <a:ea typeface="Helvetica Neue"/>
                <a:cs typeface="Helvetica Neue"/>
              </a:rPr>
              <a:t>The OpenAI demo solution built for our imaginary customer: Stratos Silicon </a:t>
            </a:r>
            <a:endParaRPr sz="1200">
              <a:latin typeface="Helvetica Neue"/>
              <a:ea typeface="Helvetica Neue"/>
              <a:cs typeface="Helvetica Neue"/>
            </a:endParaRPr>
          </a:p>
        </p:txBody>
      </p:sp>
      <p:sp>
        <p:nvSpPr>
          <p:cNvPr id="153" name="restyle-rule-5">
            <a:extLst xmlns:a="http://schemas.openxmlformats.org/drawingml/2006/main">
              <a:ext uri="{FF2B5EF4-FFF2-40B4-BE49-F238E27FC236}">
                <a16:creationId xmlns:a16="http://schemas.microsoft.com/office/drawing/2014/main" id="{9AF9815F-9BC3-4E5E-9274-310D81FB8CC1}"/>
              </a:ext>
            </a:extLst>
          </p:cNvPr>
          <p:cNvSpPr>
            <a:spLocks xmlns:a="http://schemas.openxmlformats.org/drawingml/2006/main" noGrp="1"/>
          </p:cNvSpPr>
          <p:nvPr/>
        </p:nvSpPr>
        <p:spPr>
          <a:xfrm xmlns:a="http://schemas.openxmlformats.org/drawingml/2006/main">
            <a:off x="777240" y="3767138"/>
            <a:ext cx="2555558"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54" name="restyle-rule-6">
            <a:extLst xmlns:a="http://schemas.openxmlformats.org/drawingml/2006/main">
              <a:ext uri="{FF2B5EF4-FFF2-40B4-BE49-F238E27FC236}">
                <a16:creationId xmlns:a16="http://schemas.microsoft.com/office/drawing/2014/main" id="{8AB8ADE9-67ED-46C0-BDC2-0E9585E040F4}"/>
              </a:ext>
            </a:extLst>
          </p:cNvPr>
          <p:cNvSpPr>
            <a:spLocks xmlns:a="http://schemas.openxmlformats.org/drawingml/2006/main" noGrp="1"/>
          </p:cNvSpPr>
          <p:nvPr/>
        </p:nvSpPr>
        <p:spPr>
          <a:xfrm xmlns:a="http://schemas.openxmlformats.org/drawingml/2006/main">
            <a:off x="3469958" y="3767138"/>
            <a:ext cx="2555558"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55" name="restyle-rule-7">
            <a:extLst xmlns:a="http://schemas.openxmlformats.org/drawingml/2006/main">
              <a:ext uri="{FF2B5EF4-FFF2-40B4-BE49-F238E27FC236}">
                <a16:creationId xmlns:a16="http://schemas.microsoft.com/office/drawing/2014/main" id="{84429FCE-783B-44E4-A322-083C5184998F}"/>
              </a:ext>
            </a:extLst>
          </p:cNvPr>
          <p:cNvSpPr>
            <a:spLocks xmlns:a="http://schemas.openxmlformats.org/drawingml/2006/main" noGrp="1"/>
          </p:cNvSpPr>
          <p:nvPr/>
        </p:nvSpPr>
        <p:spPr>
          <a:xfrm xmlns:a="http://schemas.openxmlformats.org/drawingml/2006/main">
            <a:off x="6162675" y="3767138"/>
            <a:ext cx="2555558"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56" name="restyle-rule-8">
            <a:extLst xmlns:a="http://schemas.openxmlformats.org/drawingml/2006/main">
              <a:ext uri="{FF2B5EF4-FFF2-40B4-BE49-F238E27FC236}">
                <a16:creationId xmlns:a16="http://schemas.microsoft.com/office/drawing/2014/main" id="{D5A81C2D-D730-4A94-9E1F-E409D1B48322}"/>
              </a:ext>
            </a:extLst>
          </p:cNvPr>
          <p:cNvSpPr>
            <a:spLocks xmlns:a="http://schemas.openxmlformats.org/drawingml/2006/main" noGrp="1"/>
          </p:cNvSpPr>
          <p:nvPr/>
        </p:nvSpPr>
        <p:spPr>
          <a:xfrm xmlns:a="http://schemas.openxmlformats.org/drawingml/2006/main">
            <a:off x="8856345" y="3767138"/>
            <a:ext cx="2555558"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Tree>
    <p:extLst>
      <p:ext uri="{BB962C8B-B14F-4D97-AF65-F5344CB8AC3E}">
        <p14:creationId xmlns:p14="http://schemas.microsoft.com/office/powerpoint/2010/main" val="2038160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6543D86C-1735-48E0-86FD-32F5ABC61087}"/>
              </a:ext>
            </a:extLst>
          </p:cNvPr>
          <p:cNvSpPr>
            <a:spLocks xmlns:a="http://schemas.openxmlformats.org/drawingml/2006/main" noGrp="1"/>
          </p:cNvSpPr>
          <p:nvPr/>
        </p:nvSpPr>
        <p:spPr>
          <a:xfrm xmlns:a="http://schemas.openxmlformats.org/drawingml/2006/main">
            <a:off x="457200" y="381000"/>
            <a:ext cx="11277600" cy="7905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500" b="0">
                <a:solidFill>
                  <a:srgbClr val="101010"/>
                </a:solidFill>
                <a:latin typeface="Helvetica Neue"/>
                <a:ea typeface="Helvetica Neue"/>
                <a:cs typeface="Helvetica Neue"/>
              </a:rPr>
              <a:t>Demo Use Cases: Turning Requirement Changes into Verified Actions Autonomously</a:t>
            </a:r>
            <a:endParaRPr sz="2500">
              <a:latin typeface="Helvetica Neue"/>
              <a:ea typeface="Helvetica Neue"/>
              <a:cs typeface="Helvetica Neue"/>
            </a:endParaRPr>
          </a:p>
        </p:txBody>
      </p:sp>
      <p:sp>
        <p:nvSpPr>
          <p:cNvPr id="4" name="Text 2">
            <a:extLst xmlns:a="http://schemas.openxmlformats.org/drawingml/2006/main">
              <a:ext uri="{FF2B5EF4-FFF2-40B4-BE49-F238E27FC236}">
                <a16:creationId xmlns:a16="http://schemas.microsoft.com/office/drawing/2014/main" id="{7094BE63-ECB7-446C-A831-860F6E507210}"/>
              </a:ext>
            </a:extLst>
          </p:cNvPr>
          <p:cNvSpPr>
            <a:spLocks xmlns:a="http://schemas.openxmlformats.org/drawingml/2006/main" noGrp="1"/>
          </p:cNvSpPr>
          <p:nvPr/>
        </p:nvSpPr>
        <p:spPr>
          <a:xfrm xmlns:a="http://schemas.openxmlformats.org/drawingml/2006/main">
            <a:off x="457200" y="1200150"/>
            <a:ext cx="112776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0">
                <a:solidFill>
                  <a:srgbClr val="707070"/>
                </a:solidFill>
                <a:latin typeface="Helvetica Neue"/>
                <a:ea typeface="Helvetica Neue"/>
                <a:cs typeface="Helvetica Neue"/>
              </a:rPr>
              <a:t>To-be flow: Agents autonomously process in the background and escalate to program approver when needed </a:t>
            </a:r>
            <a:endParaRPr sz="950">
              <a:latin typeface="Helvetica Neue"/>
              <a:ea typeface="Helvetica Neue"/>
              <a:cs typeface="Helvetica Neue"/>
            </a:endParaRPr>
          </a:p>
        </p:txBody>
      </p:sp>
      <p:sp>
        <p:nvSpPr>
          <p:cNvPr id="5" name="Shape 3">
            <a:extLst xmlns:a="http://schemas.openxmlformats.org/drawingml/2006/main">
              <a:ext uri="{FF2B5EF4-FFF2-40B4-BE49-F238E27FC236}">
                <a16:creationId xmlns:a16="http://schemas.microsoft.com/office/drawing/2014/main" id="{7335AB4A-1ADC-4B02-98B5-0744779A847C}"/>
              </a:ext>
            </a:extLst>
          </p:cNvPr>
          <p:cNvSpPr>
            <a:spLocks xmlns:a="http://schemas.openxmlformats.org/drawingml/2006/main" noGrp="1"/>
          </p:cNvSpPr>
          <p:nvPr/>
        </p:nvSpPr>
        <p:spPr>
          <a:xfrm xmlns:a="http://schemas.openxmlformats.org/drawingml/2006/main">
            <a:off x="1396975" y="1828800"/>
            <a:ext cx="5638648" cy="0"/>
          </a:xfrm>
          <a:prstGeom xmlns:a="http://schemas.openxmlformats.org/drawingml/2006/main" prst="line">
            <a:avLst/>
          </a:prstGeom>
          <a:noFill xmlns:a="http://schemas.openxmlformats.org/drawingml/2006/main"/>
          <a:ln xmlns:a="http://schemas.openxmlformats.org/drawingml/2006/main" w="190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 name="Shape 4">
            <a:extLst xmlns:a="http://schemas.openxmlformats.org/drawingml/2006/main">
              <a:ext uri="{FF2B5EF4-FFF2-40B4-BE49-F238E27FC236}">
                <a16:creationId xmlns:a16="http://schemas.microsoft.com/office/drawing/2014/main" id="{85741B82-77DB-47FA-AADC-0666C65C25A8}"/>
              </a:ext>
            </a:extLst>
          </p:cNvPr>
          <p:cNvSpPr>
            <a:spLocks xmlns:a="http://schemas.openxmlformats.org/drawingml/2006/main" noGrp="1"/>
          </p:cNvSpPr>
          <p:nvPr/>
        </p:nvSpPr>
        <p:spPr>
          <a:xfrm xmlns:a="http://schemas.openxmlformats.org/drawingml/2006/main">
            <a:off x="8915171" y="1828800"/>
            <a:ext cx="1879549" cy="0"/>
          </a:xfrm>
          <a:prstGeom xmlns:a="http://schemas.openxmlformats.org/drawingml/2006/main" prst="line">
            <a:avLst/>
          </a:prstGeom>
          <a:noFill xmlns:a="http://schemas.openxmlformats.org/drawingml/2006/main"/>
          <a:ln xmlns:a="http://schemas.openxmlformats.org/drawingml/2006/main" w="190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7" name="Shape 5">
            <a:extLst xmlns:a="http://schemas.openxmlformats.org/drawingml/2006/main">
              <a:ext uri="{FF2B5EF4-FFF2-40B4-BE49-F238E27FC236}">
                <a16:creationId xmlns:a16="http://schemas.microsoft.com/office/drawing/2014/main" id="{63D81AD0-2CF8-4337-8425-47409FF2B89E}"/>
              </a:ext>
            </a:extLst>
          </p:cNvPr>
          <p:cNvSpPr>
            <a:spLocks xmlns:a="http://schemas.openxmlformats.org/drawingml/2006/main" noGrp="1"/>
          </p:cNvSpPr>
          <p:nvPr/>
        </p:nvSpPr>
        <p:spPr>
          <a:xfrm xmlns:a="http://schemas.openxmlformats.org/drawingml/2006/main">
            <a:off x="7035622" y="1609344"/>
            <a:ext cx="1879549" cy="438912"/>
          </a:xfrm>
          <a:prstGeom xmlns:a="http://schemas.openxmlformats.org/drawingml/2006/main" prst="arc">
            <a:avLst>
              <a:gd name="adj1" fmla="val 10800000"/>
              <a:gd name="adj2" fmla="val 21600000"/>
            </a:avLst>
          </a:prstGeom>
          <a:noFill xmlns:a="http://schemas.openxmlformats.org/drawingml/2006/main"/>
          <a:ln xmlns:a="http://schemas.openxmlformats.org/drawingml/2006/main" w="19050">
            <a:solidFill>
              <a:srgbClr val="126A52"/>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8" name="Shape 6">
            <a:extLst xmlns:a="http://schemas.openxmlformats.org/drawingml/2006/main">
              <a:ext uri="{FF2B5EF4-FFF2-40B4-BE49-F238E27FC236}">
                <a16:creationId xmlns:a16="http://schemas.microsoft.com/office/drawing/2014/main" id="{ECD5F758-E79C-4E90-80D5-C995B69DF20E}"/>
              </a:ext>
            </a:extLst>
          </p:cNvPr>
          <p:cNvSpPr>
            <a:spLocks xmlns:a="http://schemas.openxmlformats.org/drawingml/2006/main" noGrp="1"/>
          </p:cNvSpPr>
          <p:nvPr/>
        </p:nvSpPr>
        <p:spPr>
          <a:xfrm xmlns:a="http://schemas.openxmlformats.org/drawingml/2006/main">
            <a:off x="7035622" y="1609344"/>
            <a:ext cx="1879549" cy="438912"/>
          </a:xfrm>
          <a:prstGeom xmlns:a="http://schemas.openxmlformats.org/drawingml/2006/main" prst="arc">
            <a:avLst>
              <a:gd name="adj1" fmla="val 0"/>
              <a:gd name="adj2" fmla="val 10800000"/>
            </a:avLst>
          </a:prstGeom>
          <a:noFill xmlns:a="http://schemas.openxmlformats.org/drawingml/2006/main"/>
          <a:ln xmlns:a="http://schemas.openxmlformats.org/drawingml/2006/main" w="19050">
            <a:solidFill>
              <a:srgbClr val="8A5A16"/>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9" name="Shape 7">
            <a:extLst xmlns:a="http://schemas.openxmlformats.org/drawingml/2006/main">
              <a:ext uri="{FF2B5EF4-FFF2-40B4-BE49-F238E27FC236}">
                <a16:creationId xmlns:a16="http://schemas.microsoft.com/office/drawing/2014/main" id="{7AD4049F-4EB2-472C-878F-335A85A38E40}"/>
              </a:ext>
            </a:extLst>
          </p:cNvPr>
          <p:cNvSpPr>
            <a:spLocks xmlns:a="http://schemas.openxmlformats.org/drawingml/2006/main" noGrp="1"/>
          </p:cNvSpPr>
          <p:nvPr/>
        </p:nvSpPr>
        <p:spPr>
          <a:xfrm xmlns:a="http://schemas.openxmlformats.org/drawingml/2006/main">
            <a:off x="1168375"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16" name="Image 0"/>
          <p:cNvPicPr>
            <a:picLocks xmlns:a="http://schemas.openxmlformats.org/drawingml/2006/main" noChangeAspect="1"/>
          </p:cNvPicPr>
          <p:nvPr/>
        </p:nvPicPr>
        <p:blipFill>
          <a:blip xmlns:r="http://schemas.openxmlformats.org/officeDocument/2006/relationships" xmlns:a="http://schemas.openxmlformats.org/drawingml/2006/main" r:embed="R522edb4982e34dd5"/>
          <a:stretch xmlns:a="http://schemas.openxmlformats.org/drawingml/2006/main">
            <a:fillRect l="0" t="0" r="0" b="0"/>
          </a:stretch>
        </p:blipFill>
        <p:spPr>
          <a:xfrm xmlns:a="http://schemas.openxmlformats.org/drawingml/2006/main">
            <a:off x="1278103" y="1709928"/>
            <a:ext cx="237744" cy="237744"/>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DEE0E6F6-0970-4C4C-80AD-C93CC31708B7}"/>
              </a:ext>
            </a:extLst>
          </p:cNvPr>
          <p:cNvSpPr>
            <a:spLocks xmlns:a="http://schemas.openxmlformats.org/drawingml/2006/main" noGrp="1"/>
          </p:cNvSpPr>
          <p:nvPr/>
        </p:nvSpPr>
        <p:spPr>
          <a:xfrm xmlns:a="http://schemas.openxmlformats.org/drawingml/2006/main">
            <a:off x="482575"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Trigger</a:t>
            </a:r>
            <a:endParaRPr sz="1100">
              <a:latin typeface="Helvetica Neue"/>
              <a:ea typeface="Helvetica Neue"/>
              <a:cs typeface="Helvetica Neue"/>
            </a:endParaRPr>
          </a:p>
        </p:txBody>
      </p:sp>
      <p:sp>
        <p:nvSpPr>
          <p:cNvPr id="12" name="Text 9">
            <a:extLst xmlns:a="http://schemas.openxmlformats.org/drawingml/2006/main">
              <a:ext uri="{FF2B5EF4-FFF2-40B4-BE49-F238E27FC236}">
                <a16:creationId xmlns:a16="http://schemas.microsoft.com/office/drawing/2014/main" id="{28D0B3EA-B9E2-4B42-9067-D60780AFD37D}"/>
              </a:ext>
            </a:extLst>
          </p:cNvPr>
          <p:cNvSpPr>
            <a:spLocks xmlns:a="http://schemas.openxmlformats.org/drawingml/2006/main" noGrp="1"/>
          </p:cNvSpPr>
          <p:nvPr/>
        </p:nvSpPr>
        <p:spPr>
          <a:xfrm xmlns:a="http://schemas.openxmlformats.org/drawingml/2006/main">
            <a:off x="528295"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900">
                <a:solidFill>
                  <a:srgbClr val="424242"/>
                </a:solidFill>
                <a:latin typeface="Helvetica Neue"/>
                <a:ea typeface="Helvetica Neue"/>
                <a:cs typeface="Helvetica Neue"/>
              </a:rPr>
              <a:t>Event, operator, Concierge, or schedule</a:t>
            </a:r>
            <a:endParaRPr sz="900">
              <a:latin typeface="Helvetica Neue"/>
              <a:ea typeface="Helvetica Neue"/>
              <a:cs typeface="Helvetica Neue"/>
            </a:endParaRPr>
          </a:p>
        </p:txBody>
      </p:sp>
      <p:sp>
        <p:nvSpPr>
          <p:cNvPr id="13" name="Shape 10">
            <a:extLst xmlns:a="http://schemas.openxmlformats.org/drawingml/2006/main">
              <a:ext uri="{FF2B5EF4-FFF2-40B4-BE49-F238E27FC236}">
                <a16:creationId xmlns:a16="http://schemas.microsoft.com/office/drawing/2014/main" id="{9FF25B3E-A5C9-4496-820D-AEFDCC680632}"/>
              </a:ext>
            </a:extLst>
          </p:cNvPr>
          <p:cNvSpPr>
            <a:spLocks xmlns:a="http://schemas.openxmlformats.org/drawingml/2006/main" noGrp="1"/>
          </p:cNvSpPr>
          <p:nvPr/>
        </p:nvSpPr>
        <p:spPr>
          <a:xfrm xmlns:a="http://schemas.openxmlformats.org/drawingml/2006/main">
            <a:off x="3047924"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fc91ce4269f24c72"/>
          <a:stretch xmlns:a="http://schemas.openxmlformats.org/drawingml/2006/main">
            <a:fillRect l="0" t="0" r="0" b="0"/>
          </a:stretch>
        </p:blipFill>
        <p:spPr>
          <a:xfrm xmlns:a="http://schemas.openxmlformats.org/drawingml/2006/main">
            <a:off x="3157652" y="1709928"/>
            <a:ext cx="237744" cy="237744"/>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C78734CA-FBB0-404A-B1D5-BDC1088BC2E0}"/>
              </a:ext>
            </a:extLst>
          </p:cNvPr>
          <p:cNvSpPr>
            <a:spLocks xmlns:a="http://schemas.openxmlformats.org/drawingml/2006/main" noGrp="1"/>
          </p:cNvSpPr>
          <p:nvPr/>
        </p:nvSpPr>
        <p:spPr>
          <a:xfrm xmlns:a="http://schemas.openxmlformats.org/drawingml/2006/main">
            <a:off x="2362124"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Investigate</a:t>
            </a:r>
            <a:endParaRPr sz="1100">
              <a:latin typeface="Helvetica Neue"/>
              <a:ea typeface="Helvetica Neue"/>
              <a:cs typeface="Helvetica Neue"/>
            </a:endParaRPr>
          </a:p>
        </p:txBody>
      </p:sp>
      <p:sp>
        <p:nvSpPr>
          <p:cNvPr id="16" name="Text 12">
            <a:extLst xmlns:a="http://schemas.openxmlformats.org/drawingml/2006/main">
              <a:ext uri="{FF2B5EF4-FFF2-40B4-BE49-F238E27FC236}">
                <a16:creationId xmlns:a16="http://schemas.microsoft.com/office/drawing/2014/main" id="{B0144AB6-B3DF-411F-87C5-9828210EDA6A}"/>
              </a:ext>
            </a:extLst>
          </p:cNvPr>
          <p:cNvSpPr>
            <a:spLocks xmlns:a="http://schemas.openxmlformats.org/drawingml/2006/main" noGrp="1"/>
          </p:cNvSpPr>
          <p:nvPr/>
        </p:nvSpPr>
        <p:spPr>
          <a:xfrm xmlns:a="http://schemas.openxmlformats.org/drawingml/2006/main">
            <a:off x="2407844"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900">
                <a:solidFill>
                  <a:srgbClr val="424242"/>
                </a:solidFill>
                <a:latin typeface="Helvetica Neue"/>
                <a:ea typeface="Helvetica Neue"/>
                <a:cs typeface="Helvetica Neue"/>
              </a:rPr>
              <a:t>Specialists pull facts from five systems</a:t>
            </a:r>
            <a:endParaRPr sz="900">
              <a:latin typeface="Helvetica Neue"/>
              <a:ea typeface="Helvetica Neue"/>
              <a:cs typeface="Helvetica Neue"/>
            </a:endParaRPr>
          </a:p>
        </p:txBody>
      </p:sp>
      <p:sp>
        <p:nvSpPr>
          <p:cNvPr id="17" name="Shape 13">
            <a:extLst xmlns:a="http://schemas.openxmlformats.org/drawingml/2006/main">
              <a:ext uri="{FF2B5EF4-FFF2-40B4-BE49-F238E27FC236}">
                <a16:creationId xmlns:a16="http://schemas.microsoft.com/office/drawing/2014/main" id="{098CA69B-C225-4AB5-B6D1-E823BC9FECD9}"/>
              </a:ext>
            </a:extLst>
          </p:cNvPr>
          <p:cNvSpPr>
            <a:spLocks xmlns:a="http://schemas.openxmlformats.org/drawingml/2006/main" noGrp="1"/>
          </p:cNvSpPr>
          <p:nvPr/>
        </p:nvSpPr>
        <p:spPr>
          <a:xfrm xmlns:a="http://schemas.openxmlformats.org/drawingml/2006/main">
            <a:off x="4927473"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24" name="Image 2"/>
          <p:cNvPicPr>
            <a:picLocks xmlns:a="http://schemas.openxmlformats.org/drawingml/2006/main" noChangeAspect="1"/>
          </p:cNvPicPr>
          <p:nvPr/>
        </p:nvPicPr>
        <p:blipFill>
          <a:blip xmlns:r="http://schemas.openxmlformats.org/officeDocument/2006/relationships" xmlns:a="http://schemas.openxmlformats.org/drawingml/2006/main" r:embed="R8e20111f99f54af0"/>
          <a:stretch xmlns:a="http://schemas.openxmlformats.org/drawingml/2006/main">
            <a:fillRect l="0" t="0" r="0" b="0"/>
          </a:stretch>
        </p:blipFill>
        <p:spPr>
          <a:xfrm xmlns:a="http://schemas.openxmlformats.org/drawingml/2006/main">
            <a:off x="5037201" y="1709928"/>
            <a:ext cx="237744" cy="237744"/>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FCA4BA05-19A0-48B4-B9E9-ABF4C31EAABD}"/>
              </a:ext>
            </a:extLst>
          </p:cNvPr>
          <p:cNvSpPr>
            <a:spLocks xmlns:a="http://schemas.openxmlformats.org/drawingml/2006/main" noGrp="1"/>
          </p:cNvSpPr>
          <p:nvPr/>
        </p:nvSpPr>
        <p:spPr>
          <a:xfrm xmlns:a="http://schemas.openxmlformats.org/drawingml/2006/main">
            <a:off x="4241673"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Recommend</a:t>
            </a:r>
            <a:endParaRPr sz="1100">
              <a:latin typeface="Helvetica Neue"/>
              <a:ea typeface="Helvetica Neue"/>
              <a:cs typeface="Helvetica Neue"/>
            </a:endParaRPr>
          </a:p>
        </p:txBody>
      </p:sp>
      <p:sp>
        <p:nvSpPr>
          <p:cNvPr id="20" name="Text 15">
            <a:extLst xmlns:a="http://schemas.openxmlformats.org/drawingml/2006/main">
              <a:ext uri="{FF2B5EF4-FFF2-40B4-BE49-F238E27FC236}">
                <a16:creationId xmlns:a16="http://schemas.microsoft.com/office/drawing/2014/main" id="{AF3E32D0-85D3-4DAF-BC1B-B70FFF407D50}"/>
              </a:ext>
            </a:extLst>
          </p:cNvPr>
          <p:cNvSpPr>
            <a:spLocks xmlns:a="http://schemas.openxmlformats.org/drawingml/2006/main" noGrp="1"/>
          </p:cNvSpPr>
          <p:nvPr/>
        </p:nvSpPr>
        <p:spPr>
          <a:xfrm xmlns:a="http://schemas.openxmlformats.org/drawingml/2006/main">
            <a:off x="4287393"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900">
                <a:solidFill>
                  <a:srgbClr val="424242"/>
                </a:solidFill>
                <a:latin typeface="Helvetica Neue"/>
                <a:ea typeface="Helvetica Neue"/>
                <a:cs typeface="Helvetica Neue"/>
              </a:rPr>
              <a:t>One recommendation with options and impact</a:t>
            </a:r>
            <a:endParaRPr sz="900">
              <a:latin typeface="Helvetica Neue"/>
              <a:ea typeface="Helvetica Neue"/>
              <a:cs typeface="Helvetica Neue"/>
            </a:endParaRPr>
          </a:p>
        </p:txBody>
      </p:sp>
      <p:sp>
        <p:nvSpPr>
          <p:cNvPr id="21" name="Shape 16">
            <a:extLst xmlns:a="http://schemas.openxmlformats.org/drawingml/2006/main">
              <a:ext uri="{FF2B5EF4-FFF2-40B4-BE49-F238E27FC236}">
                <a16:creationId xmlns:a16="http://schemas.microsoft.com/office/drawing/2014/main" id="{22306853-1C61-4062-80CB-D513376E1EA2}"/>
              </a:ext>
            </a:extLst>
          </p:cNvPr>
          <p:cNvSpPr>
            <a:spLocks xmlns:a="http://schemas.openxmlformats.org/drawingml/2006/main" noGrp="1"/>
          </p:cNvSpPr>
          <p:nvPr/>
        </p:nvSpPr>
        <p:spPr>
          <a:xfrm xmlns:a="http://schemas.openxmlformats.org/drawingml/2006/main">
            <a:off x="6807022"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101010"/>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28" name="Image 3"/>
          <p:cNvPicPr>
            <a:picLocks xmlns:a="http://schemas.openxmlformats.org/drawingml/2006/main" noChangeAspect="1"/>
          </p:cNvPicPr>
          <p:nvPr/>
        </p:nvPicPr>
        <p:blipFill>
          <a:blip xmlns:r="http://schemas.openxmlformats.org/officeDocument/2006/relationships" xmlns:a="http://schemas.openxmlformats.org/drawingml/2006/main" r:embed="R1b396e2255e5457a"/>
          <a:stretch xmlns:a="http://schemas.openxmlformats.org/drawingml/2006/main">
            <a:fillRect l="0" t="0" r="0" b="0"/>
          </a:stretch>
        </p:blipFill>
        <p:spPr>
          <a:xfrm xmlns:a="http://schemas.openxmlformats.org/drawingml/2006/main">
            <a:off x="6916750" y="1709928"/>
            <a:ext cx="237744" cy="237744"/>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B0BF0F37-0A4A-4D97-9841-8B4CA1ECC96E}"/>
              </a:ext>
            </a:extLst>
          </p:cNvPr>
          <p:cNvSpPr>
            <a:spLocks xmlns:a="http://schemas.openxmlformats.org/drawingml/2006/main" noGrp="1"/>
          </p:cNvSpPr>
          <p:nvPr/>
        </p:nvSpPr>
        <p:spPr>
          <a:xfrm xmlns:a="http://schemas.openxmlformats.org/drawingml/2006/main">
            <a:off x="6121222"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Policy gate</a:t>
            </a:r>
            <a:endParaRPr sz="1100">
              <a:latin typeface="Helvetica Neue"/>
              <a:ea typeface="Helvetica Neue"/>
              <a:cs typeface="Helvetica Neue"/>
            </a:endParaRPr>
          </a:p>
        </p:txBody>
      </p:sp>
      <p:sp>
        <p:nvSpPr>
          <p:cNvPr id="24" name="Shape 18">
            <a:extLst xmlns:a="http://schemas.openxmlformats.org/drawingml/2006/main">
              <a:ext uri="{FF2B5EF4-FFF2-40B4-BE49-F238E27FC236}">
                <a16:creationId xmlns:a16="http://schemas.microsoft.com/office/drawing/2014/main" id="{035BD757-97AB-4862-8D0D-003DA9E90343}"/>
              </a:ext>
            </a:extLst>
          </p:cNvPr>
          <p:cNvSpPr>
            <a:spLocks xmlns:a="http://schemas.openxmlformats.org/drawingml/2006/main" noGrp="1"/>
          </p:cNvSpPr>
          <p:nvPr/>
        </p:nvSpPr>
        <p:spPr>
          <a:xfrm xmlns:a="http://schemas.openxmlformats.org/drawingml/2006/main">
            <a:off x="6212662" y="2377440"/>
            <a:ext cx="16459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5" name="Text 19">
            <a:extLst xmlns:a="http://schemas.openxmlformats.org/drawingml/2006/main">
              <a:ext uri="{FF2B5EF4-FFF2-40B4-BE49-F238E27FC236}">
                <a16:creationId xmlns:a16="http://schemas.microsoft.com/office/drawing/2014/main" id="{8910E9F8-2BD9-4B17-A618-150AA2D8E9B4}"/>
              </a:ext>
            </a:extLst>
          </p:cNvPr>
          <p:cNvSpPr>
            <a:spLocks xmlns:a="http://schemas.openxmlformats.org/drawingml/2006/main" noGrp="1"/>
          </p:cNvSpPr>
          <p:nvPr/>
        </p:nvSpPr>
        <p:spPr>
          <a:xfrm xmlns:a="http://schemas.openxmlformats.org/drawingml/2006/main">
            <a:off x="6304102" y="2377440"/>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50">
                <a:solidFill>
                  <a:srgbClr val="126A52"/>
                </a:solidFill>
                <a:latin typeface="Helvetica Neue"/>
                <a:ea typeface="Helvetica Neue"/>
                <a:cs typeface="Helvetica Neue"/>
              </a:rPr>
              <a:t>Within policy: touchless</a:t>
            </a:r>
            <a:endParaRPr sz="850">
              <a:latin typeface="Helvetica Neue"/>
              <a:ea typeface="Helvetica Neue"/>
              <a:cs typeface="Helvetica Neue"/>
            </a:endParaRPr>
          </a:p>
        </p:txBody>
      </p:sp>
      <p:sp>
        <p:nvSpPr>
          <p:cNvPr id="26" name="Shape 20">
            <a:extLst xmlns:a="http://schemas.openxmlformats.org/drawingml/2006/main">
              <a:ext uri="{FF2B5EF4-FFF2-40B4-BE49-F238E27FC236}">
                <a16:creationId xmlns:a16="http://schemas.microsoft.com/office/drawing/2014/main" id="{A30CC424-6C3E-465E-A295-C4367CE1948F}"/>
              </a:ext>
            </a:extLst>
          </p:cNvPr>
          <p:cNvSpPr>
            <a:spLocks xmlns:a="http://schemas.openxmlformats.org/drawingml/2006/main" noGrp="1"/>
          </p:cNvSpPr>
          <p:nvPr/>
        </p:nvSpPr>
        <p:spPr>
          <a:xfrm xmlns:a="http://schemas.openxmlformats.org/drawingml/2006/main">
            <a:off x="6121222" y="2596896"/>
            <a:ext cx="182880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7" name="Text 21">
            <a:extLst xmlns:a="http://schemas.openxmlformats.org/drawingml/2006/main">
              <a:ext uri="{FF2B5EF4-FFF2-40B4-BE49-F238E27FC236}">
                <a16:creationId xmlns:a16="http://schemas.microsoft.com/office/drawing/2014/main" id="{44AB4B7D-3277-4E71-B5C8-6BFBC86DBD83}"/>
              </a:ext>
            </a:extLst>
          </p:cNvPr>
          <p:cNvSpPr>
            <a:spLocks xmlns:a="http://schemas.openxmlformats.org/drawingml/2006/main" noGrp="1"/>
          </p:cNvSpPr>
          <p:nvPr/>
        </p:nvSpPr>
        <p:spPr>
          <a:xfrm xmlns:a="http://schemas.openxmlformats.org/drawingml/2006/main">
            <a:off x="6212662" y="259689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850">
                <a:solidFill>
                  <a:srgbClr val="8A5A16"/>
                </a:solidFill>
                <a:latin typeface="Helvetica Neue"/>
                <a:ea typeface="Helvetica Neue"/>
                <a:cs typeface="Helvetica Neue"/>
              </a:rPr>
              <a:t>Out of Policy: person approves</a:t>
            </a:r>
            <a:endParaRPr sz="850">
              <a:latin typeface="Helvetica Neue"/>
              <a:ea typeface="Helvetica Neue"/>
              <a:cs typeface="Helvetica Neue"/>
            </a:endParaRPr>
          </a:p>
        </p:txBody>
      </p:sp>
      <p:sp>
        <p:nvSpPr>
          <p:cNvPr id="28" name="Shape 22">
            <a:extLst xmlns:a="http://schemas.openxmlformats.org/drawingml/2006/main">
              <a:ext uri="{FF2B5EF4-FFF2-40B4-BE49-F238E27FC236}">
                <a16:creationId xmlns:a16="http://schemas.microsoft.com/office/drawing/2014/main" id="{4E61DD5C-72C6-4D1F-8F88-75D12479F6CF}"/>
              </a:ext>
            </a:extLst>
          </p:cNvPr>
          <p:cNvSpPr>
            <a:spLocks xmlns:a="http://schemas.openxmlformats.org/drawingml/2006/main" noGrp="1"/>
          </p:cNvSpPr>
          <p:nvPr/>
        </p:nvSpPr>
        <p:spPr>
          <a:xfrm xmlns:a="http://schemas.openxmlformats.org/drawingml/2006/main">
            <a:off x="8686571"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35" name="Image 4"/>
          <p:cNvPicPr>
            <a:picLocks xmlns:a="http://schemas.openxmlformats.org/drawingml/2006/main" noChangeAspect="1"/>
          </p:cNvPicPr>
          <p:nvPr/>
        </p:nvPicPr>
        <p:blipFill>
          <a:blip xmlns:r="http://schemas.openxmlformats.org/officeDocument/2006/relationships" xmlns:a="http://schemas.openxmlformats.org/drawingml/2006/main" r:embed="R79791437e2f1468e"/>
          <a:stretch xmlns:a="http://schemas.openxmlformats.org/drawingml/2006/main">
            <a:fillRect l="0" t="0" r="0" b="0"/>
          </a:stretch>
        </p:blipFill>
        <p:spPr>
          <a:xfrm xmlns:a="http://schemas.openxmlformats.org/drawingml/2006/main">
            <a:off x="8796299" y="1709928"/>
            <a:ext cx="237744" cy="237744"/>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EF64E248-47E7-4D5A-82F9-5D142EEE6F20}"/>
              </a:ext>
            </a:extLst>
          </p:cNvPr>
          <p:cNvSpPr>
            <a:spLocks xmlns:a="http://schemas.openxmlformats.org/drawingml/2006/main" noGrp="1"/>
          </p:cNvSpPr>
          <p:nvPr/>
        </p:nvSpPr>
        <p:spPr>
          <a:xfrm xmlns:a="http://schemas.openxmlformats.org/drawingml/2006/main">
            <a:off x="8000771"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Execute</a:t>
            </a:r>
            <a:endParaRPr sz="1100">
              <a:latin typeface="Helvetica Neue"/>
              <a:ea typeface="Helvetica Neue"/>
              <a:cs typeface="Helvetica Neue"/>
            </a:endParaRPr>
          </a:p>
        </p:txBody>
      </p:sp>
      <p:sp>
        <p:nvSpPr>
          <p:cNvPr id="31" name="Text 24">
            <a:extLst xmlns:a="http://schemas.openxmlformats.org/drawingml/2006/main">
              <a:ext uri="{FF2B5EF4-FFF2-40B4-BE49-F238E27FC236}">
                <a16:creationId xmlns:a16="http://schemas.microsoft.com/office/drawing/2014/main" id="{101E3657-7678-4752-B7D9-5237ADC81C52}"/>
              </a:ext>
            </a:extLst>
          </p:cNvPr>
          <p:cNvSpPr>
            <a:spLocks xmlns:a="http://schemas.openxmlformats.org/drawingml/2006/main" noGrp="1"/>
          </p:cNvSpPr>
          <p:nvPr/>
        </p:nvSpPr>
        <p:spPr>
          <a:xfrm xmlns:a="http://schemas.openxmlformats.org/drawingml/2006/main">
            <a:off x="8046491"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900">
                <a:solidFill>
                  <a:srgbClr val="424242"/>
                </a:solidFill>
                <a:latin typeface="Helvetica Neue"/>
                <a:ea typeface="Helvetica Neue"/>
                <a:cs typeface="Helvetica Neue"/>
              </a:rPr>
              <a:t>Only the exact approved action runs</a:t>
            </a:r>
            <a:endParaRPr sz="900">
              <a:latin typeface="Helvetica Neue"/>
              <a:ea typeface="Helvetica Neue"/>
              <a:cs typeface="Helvetica Neue"/>
            </a:endParaRPr>
          </a:p>
        </p:txBody>
      </p:sp>
      <p:sp>
        <p:nvSpPr>
          <p:cNvPr id="32" name="Shape 25">
            <a:extLst xmlns:a="http://schemas.openxmlformats.org/drawingml/2006/main">
              <a:ext uri="{FF2B5EF4-FFF2-40B4-BE49-F238E27FC236}">
                <a16:creationId xmlns:a16="http://schemas.microsoft.com/office/drawing/2014/main" id="{64C176FD-ADE9-49E9-9754-7EFE699777F6}"/>
              </a:ext>
            </a:extLst>
          </p:cNvPr>
          <p:cNvSpPr>
            <a:spLocks xmlns:a="http://schemas.openxmlformats.org/drawingml/2006/main" noGrp="1"/>
          </p:cNvSpPr>
          <p:nvPr/>
        </p:nvSpPr>
        <p:spPr>
          <a:xfrm xmlns:a="http://schemas.openxmlformats.org/drawingml/2006/main">
            <a:off x="10566121"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39" name="Image 5"/>
          <p:cNvPicPr>
            <a:picLocks xmlns:a="http://schemas.openxmlformats.org/drawingml/2006/main" noChangeAspect="1"/>
          </p:cNvPicPr>
          <p:nvPr/>
        </p:nvPicPr>
        <p:blipFill>
          <a:blip xmlns:r="http://schemas.openxmlformats.org/officeDocument/2006/relationships" xmlns:a="http://schemas.openxmlformats.org/drawingml/2006/main" r:embed="Ra702a511cf394d64"/>
          <a:stretch xmlns:a="http://schemas.openxmlformats.org/drawingml/2006/main">
            <a:fillRect l="0" t="0" r="0" b="0"/>
          </a:stretch>
        </p:blipFill>
        <p:spPr>
          <a:xfrm xmlns:a="http://schemas.openxmlformats.org/drawingml/2006/main">
            <a:off x="10675849" y="1709928"/>
            <a:ext cx="237744" cy="237744"/>
          </a:xfrm>
          <a:prstGeom xmlns:a="http://schemas.openxmlformats.org/drawingml/2006/main" prst="rect">
            <a:avLst/>
          </a:prstGeom>
        </p:spPr>
      </p:pic>
      <p:sp>
        <p:nvSpPr>
          <p:cNvPr id="34" name="Text 26">
            <a:extLst xmlns:a="http://schemas.openxmlformats.org/drawingml/2006/main">
              <a:ext uri="{FF2B5EF4-FFF2-40B4-BE49-F238E27FC236}">
                <a16:creationId xmlns:a16="http://schemas.microsoft.com/office/drawing/2014/main" id="{E02DE8F7-654D-4B4B-86D6-90FC2F5500CE}"/>
              </a:ext>
            </a:extLst>
          </p:cNvPr>
          <p:cNvSpPr>
            <a:spLocks xmlns:a="http://schemas.openxmlformats.org/drawingml/2006/main" noGrp="1"/>
          </p:cNvSpPr>
          <p:nvPr/>
        </p:nvSpPr>
        <p:spPr>
          <a:xfrm xmlns:a="http://schemas.openxmlformats.org/drawingml/2006/main">
            <a:off x="9880321"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1100" b="1">
                <a:solidFill>
                  <a:srgbClr val="101010"/>
                </a:solidFill>
                <a:latin typeface="Helvetica Neue"/>
                <a:ea typeface="Helvetica Neue"/>
                <a:cs typeface="Helvetica Neue"/>
              </a:rPr>
              <a:t>Verify</a:t>
            </a:r>
            <a:endParaRPr sz="1100">
              <a:latin typeface="Helvetica Neue"/>
              <a:ea typeface="Helvetica Neue"/>
              <a:cs typeface="Helvetica Neue"/>
            </a:endParaRPr>
          </a:p>
        </p:txBody>
      </p:sp>
      <p:sp>
        <p:nvSpPr>
          <p:cNvPr id="35" name="Text 27">
            <a:extLst xmlns:a="http://schemas.openxmlformats.org/drawingml/2006/main">
              <a:ext uri="{FF2B5EF4-FFF2-40B4-BE49-F238E27FC236}">
                <a16:creationId xmlns:a16="http://schemas.microsoft.com/office/drawing/2014/main" id="{DB6ACF9A-982C-4297-AF0E-DC3756A4D1A1}"/>
              </a:ext>
            </a:extLst>
          </p:cNvPr>
          <p:cNvSpPr>
            <a:spLocks xmlns:a="http://schemas.openxmlformats.org/drawingml/2006/main" noGrp="1"/>
          </p:cNvSpPr>
          <p:nvPr/>
        </p:nvSpPr>
        <p:spPr>
          <a:xfrm xmlns:a="http://schemas.openxmlformats.org/drawingml/2006/main">
            <a:off x="9926041"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Helvetica Neue"/>
                <a:ea typeface="Helvetica Neue"/>
                <a:cs typeface="Helvetica Neue"/>
              </a:defRPr>
            </a:pPr>
            <a:r>
              <a:rPr sz="900">
                <a:solidFill>
                  <a:srgbClr val="424242"/>
                </a:solidFill>
                <a:latin typeface="Helvetica Neue"/>
                <a:ea typeface="Helvetica Neue"/>
                <a:cs typeface="Helvetica Neue"/>
              </a:rPr>
              <a:t>Read back from the source system</a:t>
            </a:r>
            <a:endParaRPr sz="900">
              <a:latin typeface="Helvetica Neue"/>
              <a:ea typeface="Helvetica Neue"/>
              <a:cs typeface="Helvetica Neue"/>
            </a:endParaRPr>
          </a:p>
        </p:txBody>
      </p:sp>
      <p:sp>
        <p:nvSpPr>
          <p:cNvPr id="36" name="Shape 28">
            <a:extLst xmlns:a="http://schemas.openxmlformats.org/drawingml/2006/main">
              <a:ext uri="{FF2B5EF4-FFF2-40B4-BE49-F238E27FC236}">
                <a16:creationId xmlns:a16="http://schemas.microsoft.com/office/drawing/2014/main" id="{C35DD7D0-F8DA-4ACA-9474-C4058DD11855}"/>
              </a:ext>
            </a:extLst>
          </p:cNvPr>
          <p:cNvSpPr>
            <a:spLocks xmlns:a="http://schemas.openxmlformats.org/drawingml/2006/main" noGrp="1"/>
          </p:cNvSpPr>
          <p:nvPr/>
        </p:nvSpPr>
        <p:spPr>
          <a:xfrm xmlns:a="http://schemas.openxmlformats.org/drawingml/2006/main">
            <a:off x="457200" y="3017520"/>
            <a:ext cx="7360920" cy="1737360"/>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7" name="Text 29">
            <a:extLst xmlns:a="http://schemas.openxmlformats.org/drawingml/2006/main">
              <a:ext uri="{FF2B5EF4-FFF2-40B4-BE49-F238E27FC236}">
                <a16:creationId xmlns:a16="http://schemas.microsoft.com/office/drawing/2014/main" id="{557EF194-1A5E-41F4-B87C-B7E82901FC21}"/>
              </a:ext>
            </a:extLst>
          </p:cNvPr>
          <p:cNvSpPr>
            <a:spLocks xmlns:a="http://schemas.openxmlformats.org/drawingml/2006/main" noGrp="1"/>
          </p:cNvSpPr>
          <p:nvPr/>
        </p:nvSpPr>
        <p:spPr>
          <a:xfrm xmlns:a="http://schemas.openxmlformats.org/drawingml/2006/main">
            <a:off x="603504" y="3090672"/>
            <a:ext cx="36576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Requirement changes</a:t>
            </a:r>
            <a:endParaRPr sz="1050">
              <a:latin typeface="Helvetica Neue"/>
              <a:ea typeface="Helvetica Neue"/>
              <a:cs typeface="Helvetica Neue"/>
            </a:endParaRPr>
          </a:p>
        </p:txBody>
      </p:sp>
      <p:sp>
        <p:nvSpPr>
          <p:cNvPr id="38" name="Shape 30">
            <a:extLst xmlns:a="http://schemas.openxmlformats.org/drawingml/2006/main">
              <a:ext uri="{FF2B5EF4-FFF2-40B4-BE49-F238E27FC236}">
                <a16:creationId xmlns:a16="http://schemas.microsoft.com/office/drawing/2014/main" id="{00624B02-54A8-4E70-A32F-7558B814E882}"/>
              </a:ext>
            </a:extLst>
          </p:cNvPr>
          <p:cNvSpPr>
            <a:spLocks xmlns:a="http://schemas.openxmlformats.org/drawingml/2006/main" noGrp="1"/>
          </p:cNvSpPr>
          <p:nvPr/>
        </p:nvSpPr>
        <p:spPr>
          <a:xfrm xmlns:a="http://schemas.openxmlformats.org/drawingml/2006/main">
            <a:off x="8028432" y="3017520"/>
            <a:ext cx="3703320" cy="1737360"/>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9" name="Text 31">
            <a:extLst xmlns:a="http://schemas.openxmlformats.org/drawingml/2006/main">
              <a:ext uri="{FF2B5EF4-FFF2-40B4-BE49-F238E27FC236}">
                <a16:creationId xmlns:a16="http://schemas.microsoft.com/office/drawing/2014/main" id="{8C26EE5B-5C0E-492B-AFB2-FC4C208F816E}"/>
              </a:ext>
            </a:extLst>
          </p:cNvPr>
          <p:cNvSpPr>
            <a:spLocks xmlns:a="http://schemas.openxmlformats.org/drawingml/2006/main" noGrp="1"/>
          </p:cNvSpPr>
          <p:nvPr/>
        </p:nvSpPr>
        <p:spPr>
          <a:xfrm xmlns:a="http://schemas.openxmlformats.org/drawingml/2006/main">
            <a:off x="8174736" y="3090672"/>
            <a:ext cx="2743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b="1">
                <a:solidFill>
                  <a:srgbClr val="101010"/>
                </a:solidFill>
                <a:latin typeface="Helvetica Neue"/>
                <a:ea typeface="Helvetica Neue"/>
                <a:cs typeface="Helvetica Neue"/>
              </a:rPr>
              <a:t>Yield and quality</a:t>
            </a:r>
            <a:endParaRPr sz="1050">
              <a:latin typeface="Helvetica Neue"/>
              <a:ea typeface="Helvetica Neue"/>
              <a:cs typeface="Helvetica Neue"/>
            </a:endParaRPr>
          </a:p>
        </p:txBody>
      </p:sp>
      <p:sp>
        <p:nvSpPr>
          <p:cNvPr id="40" name="Shape 32">
            <a:extLst xmlns:a="http://schemas.openxmlformats.org/drawingml/2006/main">
              <a:ext uri="{FF2B5EF4-FFF2-40B4-BE49-F238E27FC236}">
                <a16:creationId xmlns:a16="http://schemas.microsoft.com/office/drawing/2014/main" id="{F1623819-9816-48FC-8505-4E7BDB87089B}"/>
              </a:ext>
            </a:extLst>
          </p:cNvPr>
          <p:cNvSpPr>
            <a:spLocks xmlns:a="http://schemas.openxmlformats.org/drawingml/2006/main" noGrp="1"/>
          </p:cNvSpPr>
          <p:nvPr/>
        </p:nvSpPr>
        <p:spPr>
          <a:xfrm xmlns:a="http://schemas.openxmlformats.org/drawingml/2006/main">
            <a:off x="603504" y="3346704"/>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47" name="Image 6"/>
          <p:cNvPicPr>
            <a:picLocks xmlns:a="http://schemas.openxmlformats.org/drawingml/2006/main" noChangeAspect="1"/>
          </p:cNvPicPr>
          <p:nvPr/>
        </p:nvPicPr>
        <p:blipFill>
          <a:blip xmlns:r="http://schemas.openxmlformats.org/officeDocument/2006/relationships" xmlns:a="http://schemas.openxmlformats.org/drawingml/2006/main" r:embed="R7e5df53e33114787"/>
          <a:stretch xmlns:a="http://schemas.openxmlformats.org/drawingml/2006/main">
            <a:fillRect l="0" t="0" r="0" b="0"/>
          </a:stretch>
        </p:blipFill>
        <p:spPr>
          <a:xfrm xmlns:a="http://schemas.openxmlformats.org/drawingml/2006/main">
            <a:off x="713232" y="3438144"/>
            <a:ext cx="201168" cy="201168"/>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FB600CD7-BB8F-472E-B922-ED1E40C7E080}"/>
              </a:ext>
            </a:extLst>
          </p:cNvPr>
          <p:cNvSpPr>
            <a:spLocks xmlns:a="http://schemas.openxmlformats.org/drawingml/2006/main" noGrp="1"/>
          </p:cNvSpPr>
          <p:nvPr/>
        </p:nvSpPr>
        <p:spPr>
          <a:xfrm xmlns:a="http://schemas.openxmlformats.org/drawingml/2006/main">
            <a:off x="969264" y="3419475"/>
            <a:ext cx="2999232"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Standard requirement change</a:t>
            </a:r>
            <a:endParaRPr sz="1100">
              <a:latin typeface="Helvetica Neue"/>
              <a:ea typeface="Helvetica Neue"/>
              <a:cs typeface="Helvetica Neue"/>
            </a:endParaRPr>
          </a:p>
        </p:txBody>
      </p:sp>
      <p:sp>
        <p:nvSpPr>
          <p:cNvPr id="43" name="Text 34">
            <a:extLst xmlns:a="http://schemas.openxmlformats.org/drawingml/2006/main">
              <a:ext uri="{FF2B5EF4-FFF2-40B4-BE49-F238E27FC236}">
                <a16:creationId xmlns:a16="http://schemas.microsoft.com/office/drawing/2014/main" id="{1DA4406F-FC4C-473D-ADCD-BC5D2B7ABDFC}"/>
              </a:ext>
            </a:extLst>
          </p:cNvPr>
          <p:cNvSpPr>
            <a:spLocks xmlns:a="http://schemas.openxmlformats.org/drawingml/2006/main" noGrp="1"/>
          </p:cNvSpPr>
          <p:nvPr/>
        </p:nvSpPr>
        <p:spPr>
          <a:xfrm xmlns:a="http://schemas.openxmlformats.org/drawingml/2006/main">
            <a:off x="698269" y="3745596"/>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CR-019</a:t>
            </a:r>
            <a:endParaRPr sz="900">
              <a:latin typeface="Helvetica Neue"/>
              <a:ea typeface="Helvetica Neue"/>
              <a:cs typeface="Helvetica Neue"/>
            </a:endParaRPr>
          </a:p>
        </p:txBody>
      </p:sp>
      <p:sp>
        <p:nvSpPr>
          <p:cNvPr id="44" name="Shape 35">
            <a:extLst xmlns:a="http://schemas.openxmlformats.org/drawingml/2006/main">
              <a:ext uri="{FF2B5EF4-FFF2-40B4-BE49-F238E27FC236}">
                <a16:creationId xmlns:a16="http://schemas.microsoft.com/office/drawing/2014/main" id="{D7107C15-661B-4BD1-81C5-0E4DB2C792B0}"/>
              </a:ext>
            </a:extLst>
          </p:cNvPr>
          <p:cNvSpPr>
            <a:spLocks xmlns:a="http://schemas.openxmlformats.org/drawingml/2006/main" noGrp="1"/>
          </p:cNvSpPr>
          <p:nvPr/>
        </p:nvSpPr>
        <p:spPr>
          <a:xfrm xmlns:a="http://schemas.openxmlformats.org/drawingml/2006/main">
            <a:off x="1110534" y="3728496"/>
            <a:ext cx="740387"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5" name="Text 36">
            <a:extLst xmlns:a="http://schemas.openxmlformats.org/drawingml/2006/main">
              <a:ext uri="{FF2B5EF4-FFF2-40B4-BE49-F238E27FC236}">
                <a16:creationId xmlns:a16="http://schemas.microsoft.com/office/drawing/2014/main" id="{7CD0B909-0859-4F5B-8669-93B396E2D8D3}"/>
              </a:ext>
            </a:extLst>
          </p:cNvPr>
          <p:cNvSpPr>
            <a:spLocks xmlns:a="http://schemas.openxmlformats.org/drawingml/2006/main" noGrp="1"/>
          </p:cNvSpPr>
          <p:nvPr/>
        </p:nvSpPr>
        <p:spPr>
          <a:xfrm xmlns:a="http://schemas.openxmlformats.org/drawingml/2006/main">
            <a:off x="1201974" y="3728496"/>
            <a:ext cx="72329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850" b="1">
                <a:solidFill>
                  <a:srgbClr val="126A52"/>
                </a:solidFill>
                <a:latin typeface="Helvetica Neue"/>
                <a:ea typeface="Helvetica Neue"/>
                <a:cs typeface="Helvetica Neue"/>
              </a:rPr>
              <a:t>Autonomous</a:t>
            </a:r>
            <a:endParaRPr sz="850">
              <a:latin typeface="Helvetica Neue"/>
              <a:ea typeface="Helvetica Neue"/>
              <a:cs typeface="Helvetica Neue"/>
            </a:endParaRPr>
          </a:p>
        </p:txBody>
      </p:sp>
      <p:sp>
        <p:nvSpPr>
          <p:cNvPr id="46" name="Text 37">
            <a:extLst xmlns:a="http://schemas.openxmlformats.org/drawingml/2006/main">
              <a:ext uri="{FF2B5EF4-FFF2-40B4-BE49-F238E27FC236}">
                <a16:creationId xmlns:a16="http://schemas.microsoft.com/office/drawing/2014/main" id="{27E0D035-0CE7-4D67-A971-0FAD61A85662}"/>
              </a:ext>
            </a:extLst>
          </p:cNvPr>
          <p:cNvSpPr>
            <a:spLocks xmlns:a="http://schemas.openxmlformats.org/drawingml/2006/main" noGrp="1"/>
          </p:cNvSpPr>
          <p:nvPr/>
        </p:nvSpPr>
        <p:spPr>
          <a:xfrm xmlns:a="http://schemas.openxmlformats.org/drawingml/2006/main">
            <a:off x="713232" y="4010025"/>
            <a:ext cx="3236976" cy="638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A customer requests an update within an approved test profile. Agents reuse the matching evidence and route the validation package.</a:t>
            </a:r>
            <a:endParaRPr sz="900">
              <a:latin typeface="Helvetica Neue"/>
              <a:ea typeface="Helvetica Neue"/>
              <a:cs typeface="Helvetica Neue"/>
            </a:endParaRPr>
          </a:p>
        </p:txBody>
      </p:sp>
      <p:sp>
        <p:nvSpPr>
          <p:cNvPr id="49" name="Shape 40">
            <a:extLst xmlns:a="http://schemas.openxmlformats.org/drawingml/2006/main">
              <a:ext uri="{FF2B5EF4-FFF2-40B4-BE49-F238E27FC236}">
                <a16:creationId xmlns:a16="http://schemas.microsoft.com/office/drawing/2014/main" id="{A7E8D5A9-5F57-488A-B295-EABD04AB4107}"/>
              </a:ext>
            </a:extLst>
          </p:cNvPr>
          <p:cNvSpPr>
            <a:spLocks xmlns:a="http://schemas.openxmlformats.org/drawingml/2006/main" noGrp="1"/>
          </p:cNvSpPr>
          <p:nvPr/>
        </p:nvSpPr>
        <p:spPr>
          <a:xfrm xmlns:a="http://schemas.openxmlformats.org/drawingml/2006/main">
            <a:off x="4206240" y="3346704"/>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54" name="Image 7"/>
          <p:cNvPicPr>
            <a:picLocks xmlns:a="http://schemas.openxmlformats.org/drawingml/2006/main" noChangeAspect="1"/>
          </p:cNvPicPr>
          <p:nvPr/>
        </p:nvPicPr>
        <p:blipFill>
          <a:blip xmlns:r="http://schemas.openxmlformats.org/officeDocument/2006/relationships" xmlns:a="http://schemas.openxmlformats.org/drawingml/2006/main" r:embed="R124754410acc4827"/>
          <a:stretch xmlns:a="http://schemas.openxmlformats.org/drawingml/2006/main">
            <a:fillRect l="0" t="0" r="0" b="0"/>
          </a:stretch>
        </p:blipFill>
        <p:spPr>
          <a:xfrm xmlns:a="http://schemas.openxmlformats.org/drawingml/2006/main">
            <a:off x="4315968" y="3438144"/>
            <a:ext cx="201168" cy="201168"/>
          </a:xfrm>
          <a:prstGeom xmlns:a="http://schemas.openxmlformats.org/drawingml/2006/main" prst="rect">
            <a:avLst/>
          </a:prstGeom>
        </p:spPr>
      </p:pic>
      <p:sp>
        <p:nvSpPr>
          <p:cNvPr id="51" name="Text 41">
            <a:extLst xmlns:a="http://schemas.openxmlformats.org/drawingml/2006/main">
              <a:ext uri="{FF2B5EF4-FFF2-40B4-BE49-F238E27FC236}">
                <a16:creationId xmlns:a16="http://schemas.microsoft.com/office/drawing/2014/main" id="{2D113BE9-5699-44B7-AEB9-E56222463689}"/>
              </a:ext>
            </a:extLst>
          </p:cNvPr>
          <p:cNvSpPr>
            <a:spLocks xmlns:a="http://schemas.openxmlformats.org/drawingml/2006/main" noGrp="1"/>
          </p:cNvSpPr>
          <p:nvPr/>
        </p:nvSpPr>
        <p:spPr>
          <a:xfrm xmlns:a="http://schemas.openxmlformats.org/drawingml/2006/main">
            <a:off x="4572000" y="3419475"/>
            <a:ext cx="2999232"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Material requirement change</a:t>
            </a:r>
            <a:endParaRPr sz="1100">
              <a:latin typeface="Helvetica Neue"/>
              <a:ea typeface="Helvetica Neue"/>
              <a:cs typeface="Helvetica Neue"/>
            </a:endParaRPr>
          </a:p>
        </p:txBody>
      </p:sp>
      <p:sp>
        <p:nvSpPr>
          <p:cNvPr id="52" name="Text 42">
            <a:extLst xmlns:a="http://schemas.openxmlformats.org/drawingml/2006/main">
              <a:ext uri="{FF2B5EF4-FFF2-40B4-BE49-F238E27FC236}">
                <a16:creationId xmlns:a16="http://schemas.microsoft.com/office/drawing/2014/main" id="{EFED400B-74AE-4257-BE06-7924CEAA3241}"/>
              </a:ext>
            </a:extLst>
          </p:cNvPr>
          <p:cNvSpPr>
            <a:spLocks xmlns:a="http://schemas.openxmlformats.org/drawingml/2006/main" noGrp="1"/>
          </p:cNvSpPr>
          <p:nvPr/>
        </p:nvSpPr>
        <p:spPr>
          <a:xfrm xmlns:a="http://schemas.openxmlformats.org/drawingml/2006/main">
            <a:off x="4310066" y="3741440"/>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CR-017</a:t>
            </a:r>
            <a:endParaRPr sz="900">
              <a:latin typeface="Helvetica Neue"/>
              <a:ea typeface="Helvetica Neue"/>
              <a:cs typeface="Helvetica Neue"/>
            </a:endParaRPr>
          </a:p>
        </p:txBody>
      </p:sp>
      <p:sp>
        <p:nvSpPr>
          <p:cNvPr id="53" name="Shape 43">
            <a:extLst xmlns:a="http://schemas.openxmlformats.org/drawingml/2006/main">
              <a:ext uri="{FF2B5EF4-FFF2-40B4-BE49-F238E27FC236}">
                <a16:creationId xmlns:a16="http://schemas.microsoft.com/office/drawing/2014/main" id="{5B7B12EC-D2C9-45DF-9BE2-746A1920DFBC}"/>
              </a:ext>
            </a:extLst>
          </p:cNvPr>
          <p:cNvSpPr>
            <a:spLocks xmlns:a="http://schemas.openxmlformats.org/drawingml/2006/main" noGrp="1"/>
          </p:cNvSpPr>
          <p:nvPr/>
        </p:nvSpPr>
        <p:spPr>
          <a:xfrm xmlns:a="http://schemas.openxmlformats.org/drawingml/2006/main">
            <a:off x="4717426" y="3732296"/>
            <a:ext cx="1152144"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4" name="Text 44">
            <a:extLst xmlns:a="http://schemas.openxmlformats.org/drawingml/2006/main">
              <a:ext uri="{FF2B5EF4-FFF2-40B4-BE49-F238E27FC236}">
                <a16:creationId xmlns:a16="http://schemas.microsoft.com/office/drawing/2014/main" id="{F49585A9-0C01-43C7-A3D9-12DE1A5EAAEA}"/>
              </a:ext>
            </a:extLst>
          </p:cNvPr>
          <p:cNvSpPr>
            <a:spLocks xmlns:a="http://schemas.openxmlformats.org/drawingml/2006/main" noGrp="1"/>
          </p:cNvSpPr>
          <p:nvPr/>
        </p:nvSpPr>
        <p:spPr>
          <a:xfrm xmlns:a="http://schemas.openxmlformats.org/drawingml/2006/main">
            <a:off x="4808865" y="3732296"/>
            <a:ext cx="139171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850" b="1">
                <a:solidFill>
                  <a:srgbClr val="8A5A16"/>
                </a:solidFill>
                <a:latin typeface="Helvetica Neue"/>
                <a:ea typeface="Helvetica Neue"/>
                <a:cs typeface="Helvetica Neue"/>
              </a:rPr>
              <a:t>Engineering approval</a:t>
            </a:r>
            <a:endParaRPr sz="850">
              <a:latin typeface="Helvetica Neue"/>
              <a:ea typeface="Helvetica Neue"/>
              <a:cs typeface="Helvetica Neue"/>
            </a:endParaRPr>
          </a:p>
        </p:txBody>
      </p:sp>
      <p:sp>
        <p:nvSpPr>
          <p:cNvPr id="55" name="Text 45">
            <a:extLst xmlns:a="http://schemas.openxmlformats.org/drawingml/2006/main">
              <a:ext uri="{FF2B5EF4-FFF2-40B4-BE49-F238E27FC236}">
                <a16:creationId xmlns:a16="http://schemas.microsoft.com/office/drawing/2014/main" id="{1D7B8F06-A1E4-4417-80C6-73A240355D0C}"/>
              </a:ext>
            </a:extLst>
          </p:cNvPr>
          <p:cNvSpPr>
            <a:spLocks xmlns:a="http://schemas.openxmlformats.org/drawingml/2006/main" noGrp="1"/>
          </p:cNvSpPr>
          <p:nvPr/>
        </p:nvSpPr>
        <p:spPr>
          <a:xfrm xmlns:a="http://schemas.openxmlformats.org/drawingml/2006/main">
            <a:off x="4310066" y="4010025"/>
            <a:ext cx="3236976" cy="638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A customer requests a much broader workload than existing tests cover. Agents find the gaps, analyzed next best actions, routed to engineering, and updated plan to ensure on-time completion</a:t>
            </a:r>
            <a:endParaRPr sz="900">
              <a:latin typeface="Helvetica Neue"/>
              <a:ea typeface="Helvetica Neue"/>
              <a:cs typeface="Helvetica Neue"/>
            </a:endParaRPr>
          </a:p>
        </p:txBody>
      </p:sp>
      <p:sp>
        <p:nvSpPr>
          <p:cNvPr id="58" name="Shape 48">
            <a:extLst xmlns:a="http://schemas.openxmlformats.org/drawingml/2006/main">
              <a:ext uri="{FF2B5EF4-FFF2-40B4-BE49-F238E27FC236}">
                <a16:creationId xmlns:a16="http://schemas.microsoft.com/office/drawing/2014/main" id="{62A99D33-68D8-4D57-8912-F005BB3DDCBD}"/>
              </a:ext>
            </a:extLst>
          </p:cNvPr>
          <p:cNvSpPr>
            <a:spLocks xmlns:a="http://schemas.openxmlformats.org/drawingml/2006/main" noGrp="1"/>
          </p:cNvSpPr>
          <p:nvPr/>
        </p:nvSpPr>
        <p:spPr>
          <a:xfrm xmlns:a="http://schemas.openxmlformats.org/drawingml/2006/main">
            <a:off x="8174736" y="3346704"/>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61" name="Image 8"/>
          <p:cNvPicPr>
            <a:picLocks xmlns:a="http://schemas.openxmlformats.org/drawingml/2006/main" noChangeAspect="1"/>
          </p:cNvPicPr>
          <p:nvPr/>
        </p:nvPicPr>
        <p:blipFill>
          <a:blip xmlns:r="http://schemas.openxmlformats.org/officeDocument/2006/relationships" xmlns:a="http://schemas.openxmlformats.org/drawingml/2006/main" r:embed="R5fdaa73b87914174"/>
          <a:stretch xmlns:a="http://schemas.openxmlformats.org/drawingml/2006/main">
            <a:fillRect l="0" t="0" r="0" b="0"/>
          </a:stretch>
        </p:blipFill>
        <p:spPr>
          <a:xfrm xmlns:a="http://schemas.openxmlformats.org/drawingml/2006/main">
            <a:off x="8284464" y="3438144"/>
            <a:ext cx="201168" cy="201168"/>
          </a:xfrm>
          <a:prstGeom xmlns:a="http://schemas.openxmlformats.org/drawingml/2006/main" prst="rect">
            <a:avLst/>
          </a:prstGeom>
        </p:spPr>
      </p:pic>
      <p:sp>
        <p:nvSpPr>
          <p:cNvPr id="60" name="Text 49">
            <a:extLst xmlns:a="http://schemas.openxmlformats.org/drawingml/2006/main">
              <a:ext uri="{FF2B5EF4-FFF2-40B4-BE49-F238E27FC236}">
                <a16:creationId xmlns:a16="http://schemas.microsoft.com/office/drawing/2014/main" id="{FDD88DF1-88CB-4883-B311-1259DE4DB199}"/>
              </a:ext>
            </a:extLst>
          </p:cNvPr>
          <p:cNvSpPr>
            <a:spLocks xmlns:a="http://schemas.openxmlformats.org/drawingml/2006/main" noGrp="1"/>
          </p:cNvSpPr>
          <p:nvPr/>
        </p:nvSpPr>
        <p:spPr>
          <a:xfrm xmlns:a="http://schemas.openxmlformats.org/drawingml/2006/main">
            <a:off x="8540496" y="3419475"/>
            <a:ext cx="2999232" cy="27622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Yield and quality recovery</a:t>
            </a:r>
            <a:endParaRPr sz="1100">
              <a:latin typeface="Helvetica Neue"/>
              <a:ea typeface="Helvetica Neue"/>
              <a:cs typeface="Helvetica Neue"/>
            </a:endParaRPr>
          </a:p>
        </p:txBody>
      </p:sp>
      <p:sp>
        <p:nvSpPr>
          <p:cNvPr id="61" name="Text 50">
            <a:extLst xmlns:a="http://schemas.openxmlformats.org/drawingml/2006/main">
              <a:ext uri="{FF2B5EF4-FFF2-40B4-BE49-F238E27FC236}">
                <a16:creationId xmlns:a16="http://schemas.microsoft.com/office/drawing/2014/main" id="{140F8945-2C49-451F-BE8B-7BE42EFC5C70}"/>
              </a:ext>
            </a:extLst>
          </p:cNvPr>
          <p:cNvSpPr>
            <a:spLocks xmlns:a="http://schemas.openxmlformats.org/drawingml/2006/main" noGrp="1"/>
          </p:cNvSpPr>
          <p:nvPr/>
        </p:nvSpPr>
        <p:spPr>
          <a:xfrm xmlns:a="http://schemas.openxmlformats.org/drawingml/2006/main">
            <a:off x="8284464" y="3735680"/>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QE-004</a:t>
            </a:r>
            <a:endParaRPr sz="900">
              <a:latin typeface="Helvetica Neue"/>
              <a:ea typeface="Helvetica Neue"/>
              <a:cs typeface="Helvetica Neue"/>
            </a:endParaRPr>
          </a:p>
        </p:txBody>
      </p:sp>
      <p:sp>
        <p:nvSpPr>
          <p:cNvPr id="62" name="Shape 51">
            <a:extLst xmlns:a="http://schemas.openxmlformats.org/drawingml/2006/main">
              <a:ext uri="{FF2B5EF4-FFF2-40B4-BE49-F238E27FC236}">
                <a16:creationId xmlns:a16="http://schemas.microsoft.com/office/drawing/2014/main" id="{3852340B-3D96-4D20-A93E-B0EA933CD3D5}"/>
              </a:ext>
            </a:extLst>
          </p:cNvPr>
          <p:cNvSpPr>
            <a:spLocks xmlns:a="http://schemas.openxmlformats.org/drawingml/2006/main" noGrp="1"/>
          </p:cNvSpPr>
          <p:nvPr/>
        </p:nvSpPr>
        <p:spPr>
          <a:xfrm xmlns:a="http://schemas.openxmlformats.org/drawingml/2006/main">
            <a:off x="8715878" y="3726536"/>
            <a:ext cx="1338587"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63" name="Text 52">
            <a:extLst xmlns:a="http://schemas.openxmlformats.org/drawingml/2006/main">
              <a:ext uri="{FF2B5EF4-FFF2-40B4-BE49-F238E27FC236}">
                <a16:creationId xmlns:a16="http://schemas.microsoft.com/office/drawing/2014/main" id="{CD61864E-95F4-4195-A63B-36BC3E9A8DC3}"/>
              </a:ext>
            </a:extLst>
          </p:cNvPr>
          <p:cNvSpPr>
            <a:spLocks xmlns:a="http://schemas.openxmlformats.org/drawingml/2006/main" noGrp="1"/>
          </p:cNvSpPr>
          <p:nvPr/>
        </p:nvSpPr>
        <p:spPr>
          <a:xfrm xmlns:a="http://schemas.openxmlformats.org/drawingml/2006/main">
            <a:off x="8807318" y="3726536"/>
            <a:ext cx="152540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a:latin typeface="Helvetica Neue"/>
                <a:ea typeface="Helvetica Neue"/>
                <a:cs typeface="Helvetica Neue"/>
              </a:defRPr>
            </a:pPr>
            <a:r>
              <a:rPr sz="850" b="1">
                <a:solidFill>
                  <a:srgbClr val="5C4B8A"/>
                </a:solidFill>
                <a:latin typeface="Helvetica Neue"/>
                <a:ea typeface="Helvetica Neue"/>
                <a:cs typeface="Helvetica Neue"/>
              </a:rPr>
              <a:t>Program Owner approval</a:t>
            </a:r>
            <a:endParaRPr sz="850">
              <a:latin typeface="Helvetica Neue"/>
              <a:ea typeface="Helvetica Neue"/>
              <a:cs typeface="Helvetica Neue"/>
            </a:endParaRPr>
          </a:p>
        </p:txBody>
      </p:sp>
      <p:sp>
        <p:nvSpPr>
          <p:cNvPr id="64" name="Text 53">
            <a:extLst xmlns:a="http://schemas.openxmlformats.org/drawingml/2006/main">
              <a:ext uri="{FF2B5EF4-FFF2-40B4-BE49-F238E27FC236}">
                <a16:creationId xmlns:a16="http://schemas.microsoft.com/office/drawing/2014/main" id="{A7D74523-9B74-467A-BDA8-62CBE0830C99}"/>
              </a:ext>
            </a:extLst>
          </p:cNvPr>
          <p:cNvSpPr>
            <a:spLocks xmlns:a="http://schemas.openxmlformats.org/drawingml/2006/main" noGrp="1"/>
          </p:cNvSpPr>
          <p:nvPr/>
        </p:nvSpPr>
        <p:spPr>
          <a:xfrm xmlns:a="http://schemas.openxmlformats.org/drawingml/2006/main">
            <a:off x="8284464" y="4010025"/>
            <a:ext cx="3236976" cy="6381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A yield exception alert raises questions about usable supply and timing. Agents size the impact and recommends updated supply chain actions downstream</a:t>
            </a:r>
            <a:endParaRPr sz="900">
              <a:latin typeface="Helvetica Neue"/>
              <a:ea typeface="Helvetica Neue"/>
              <a:cs typeface="Helvetica Neue"/>
            </a:endParaRPr>
          </a:p>
        </p:txBody>
      </p:sp>
      <p:sp>
        <p:nvSpPr>
          <p:cNvPr id="67" name="Text 56">
            <a:extLst xmlns:a="http://schemas.openxmlformats.org/drawingml/2006/main">
              <a:ext uri="{FF2B5EF4-FFF2-40B4-BE49-F238E27FC236}">
                <a16:creationId xmlns:a16="http://schemas.microsoft.com/office/drawing/2014/main" id="{BD37400C-1AA3-44F4-8C03-9636F4EE8162}"/>
              </a:ext>
            </a:extLst>
          </p:cNvPr>
          <p:cNvSpPr>
            <a:spLocks xmlns:a="http://schemas.openxmlformats.org/drawingml/2006/main" noGrp="1"/>
          </p:cNvSpPr>
          <p:nvPr/>
        </p:nvSpPr>
        <p:spPr>
          <a:xfrm xmlns:a="http://schemas.openxmlformats.org/drawingml/2006/main">
            <a:off x="457200" y="4901184"/>
            <a:ext cx="5486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0">
                <a:solidFill>
                  <a:srgbClr val="707070"/>
                </a:solidFill>
                <a:latin typeface="Helvetica Neue"/>
                <a:ea typeface="Helvetica Neue"/>
                <a:cs typeface="Helvetica Neue"/>
              </a:rPr>
              <a:t>Business value drivers*</a:t>
            </a:r>
            <a:endParaRPr sz="950">
              <a:latin typeface="Helvetica Neue"/>
              <a:ea typeface="Helvetica Neue"/>
              <a:cs typeface="Helvetica Neue"/>
            </a:endParaRPr>
          </a:p>
        </p:txBody>
      </p:sp>
      <p:sp>
        <p:nvSpPr>
          <p:cNvPr id="69" name="Shape 58">
            <a:extLst xmlns:a="http://schemas.openxmlformats.org/drawingml/2006/main">
              <a:ext uri="{FF2B5EF4-FFF2-40B4-BE49-F238E27FC236}">
                <a16:creationId xmlns:a16="http://schemas.microsoft.com/office/drawing/2014/main" id="{A946E8C4-5C02-4794-B53C-FD77D599B796}"/>
              </a:ext>
            </a:extLst>
          </p:cNvPr>
          <p:cNvSpPr>
            <a:spLocks xmlns:a="http://schemas.openxmlformats.org/drawingml/2006/main" noGrp="1"/>
          </p:cNvSpPr>
          <p:nvPr/>
        </p:nvSpPr>
        <p:spPr>
          <a:xfrm xmlns:a="http://schemas.openxmlformats.org/drawingml/2006/main">
            <a:off x="457200"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69" name="Image 9"/>
          <p:cNvPicPr>
            <a:picLocks xmlns:a="http://schemas.openxmlformats.org/drawingml/2006/main" noChangeAspect="1"/>
          </p:cNvPicPr>
          <p:nvPr/>
        </p:nvPicPr>
        <p:blipFill>
          <a:blip xmlns:r="http://schemas.openxmlformats.org/officeDocument/2006/relationships" xmlns:a="http://schemas.openxmlformats.org/drawingml/2006/main" r:embed="R8b4bc078fc2c4783"/>
          <a:stretch xmlns:a="http://schemas.openxmlformats.org/drawingml/2006/main">
            <a:fillRect l="0" t="0" r="0" b="0"/>
          </a:stretch>
        </p:blipFill>
        <p:spPr>
          <a:xfrm xmlns:a="http://schemas.openxmlformats.org/drawingml/2006/main">
            <a:off x="566928" y="5212080"/>
            <a:ext cx="164592" cy="164592"/>
          </a:xfrm>
          <a:prstGeom xmlns:a="http://schemas.openxmlformats.org/drawingml/2006/main" prst="rect">
            <a:avLst/>
          </a:prstGeom>
        </p:spPr>
      </p:pic>
      <p:sp>
        <p:nvSpPr>
          <p:cNvPr id="71" name="Text 59">
            <a:extLst xmlns:a="http://schemas.openxmlformats.org/drawingml/2006/main">
              <a:ext uri="{FF2B5EF4-FFF2-40B4-BE49-F238E27FC236}">
                <a16:creationId xmlns:a16="http://schemas.microsoft.com/office/drawing/2014/main" id="{FABEE20A-EB65-4396-AE87-6ACCB1058556}"/>
              </a:ext>
            </a:extLst>
          </p:cNvPr>
          <p:cNvSpPr>
            <a:spLocks xmlns:a="http://schemas.openxmlformats.org/drawingml/2006/main" noGrp="1"/>
          </p:cNvSpPr>
          <p:nvPr/>
        </p:nvSpPr>
        <p:spPr>
          <a:xfrm xmlns:a="http://schemas.openxmlformats.org/drawingml/2006/main">
            <a:off x="777240"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Yield protected</a:t>
            </a:r>
            <a:endParaRPr sz="950">
              <a:latin typeface="Helvetica Neue"/>
              <a:ea typeface="Helvetica Neue"/>
              <a:cs typeface="Helvetica Neue"/>
            </a:endParaRPr>
          </a:p>
        </p:txBody>
      </p:sp>
      <p:sp>
        <p:nvSpPr>
          <p:cNvPr id="72" name="Text 60">
            <a:extLst xmlns:a="http://schemas.openxmlformats.org/drawingml/2006/main">
              <a:ext uri="{FF2B5EF4-FFF2-40B4-BE49-F238E27FC236}">
                <a16:creationId xmlns:a16="http://schemas.microsoft.com/office/drawing/2014/main" id="{3897A015-E246-4154-B302-CB5D8FC650A1}"/>
              </a:ext>
            </a:extLst>
          </p:cNvPr>
          <p:cNvSpPr>
            <a:spLocks xmlns:a="http://schemas.openxmlformats.org/drawingml/2006/main" noGrp="1"/>
          </p:cNvSpPr>
          <p:nvPr/>
        </p:nvSpPr>
        <p:spPr>
          <a:xfrm xmlns:a="http://schemas.openxmlformats.org/drawingml/2006/main">
            <a:off x="566928" y="5429250"/>
            <a:ext cx="2459736"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$20M</a:t>
            </a:r>
            <a:endParaRPr sz="2600">
              <a:latin typeface="Helvetica Neue"/>
              <a:ea typeface="Helvetica Neue"/>
              <a:cs typeface="Helvetica Neue"/>
            </a:endParaRPr>
          </a:p>
        </p:txBody>
      </p:sp>
      <p:sp>
        <p:nvSpPr>
          <p:cNvPr id="73" name="Text 61">
            <a:extLst xmlns:a="http://schemas.openxmlformats.org/drawingml/2006/main">
              <a:ext uri="{FF2B5EF4-FFF2-40B4-BE49-F238E27FC236}">
                <a16:creationId xmlns:a16="http://schemas.microsoft.com/office/drawing/2014/main" id="{AC72D158-E91F-4CE1-BFCB-FB9BF86D624B}"/>
              </a:ext>
            </a:extLst>
          </p:cNvPr>
          <p:cNvSpPr>
            <a:spLocks xmlns:a="http://schemas.openxmlformats.org/drawingml/2006/main" noGrp="1"/>
          </p:cNvSpPr>
          <p:nvPr/>
        </p:nvSpPr>
        <p:spPr>
          <a:xfrm xmlns:a="http://schemas.openxmlformats.org/drawingml/2006/main">
            <a:off x="566928" y="583882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of saleable output protected per year, for every yield point recovered</a:t>
            </a:r>
            <a:endParaRPr sz="900">
              <a:latin typeface="Helvetica Neue"/>
              <a:ea typeface="Helvetica Neue"/>
              <a:cs typeface="Helvetica Neue"/>
            </a:endParaRPr>
          </a:p>
        </p:txBody>
      </p:sp>
      <p:sp>
        <p:nvSpPr>
          <p:cNvPr id="74" name="Shape 62">
            <a:extLst xmlns:a="http://schemas.openxmlformats.org/drawingml/2006/main">
              <a:ext uri="{FF2B5EF4-FFF2-40B4-BE49-F238E27FC236}">
                <a16:creationId xmlns:a16="http://schemas.microsoft.com/office/drawing/2014/main" id="{74676872-C8B1-4E68-B097-229888B410A1}"/>
              </a:ext>
            </a:extLst>
          </p:cNvPr>
          <p:cNvSpPr>
            <a:spLocks xmlns:a="http://schemas.openxmlformats.org/drawingml/2006/main" noGrp="1"/>
          </p:cNvSpPr>
          <p:nvPr/>
        </p:nvSpPr>
        <p:spPr>
          <a:xfrm xmlns:a="http://schemas.openxmlformats.org/drawingml/2006/main">
            <a:off x="3319272"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74" name="Image 10"/>
          <p:cNvPicPr>
            <a:picLocks xmlns:a="http://schemas.openxmlformats.org/drawingml/2006/main" noChangeAspect="1"/>
          </p:cNvPicPr>
          <p:nvPr/>
        </p:nvPicPr>
        <p:blipFill>
          <a:blip xmlns:r="http://schemas.openxmlformats.org/officeDocument/2006/relationships" xmlns:a="http://schemas.openxmlformats.org/drawingml/2006/main" r:embed="Rae32d9fdfea5422c"/>
          <a:stretch xmlns:a="http://schemas.openxmlformats.org/drawingml/2006/main">
            <a:fillRect l="0" t="0" r="0" b="0"/>
          </a:stretch>
        </p:blipFill>
        <p:spPr>
          <a:xfrm xmlns:a="http://schemas.openxmlformats.org/drawingml/2006/main">
            <a:off x="3429000" y="5212080"/>
            <a:ext cx="164592" cy="164592"/>
          </a:xfrm>
          <a:prstGeom xmlns:a="http://schemas.openxmlformats.org/drawingml/2006/main" prst="rect">
            <a:avLst/>
          </a:prstGeom>
        </p:spPr>
      </p:pic>
      <p:sp>
        <p:nvSpPr>
          <p:cNvPr id="76" name="Text 63">
            <a:extLst xmlns:a="http://schemas.openxmlformats.org/drawingml/2006/main">
              <a:ext uri="{FF2B5EF4-FFF2-40B4-BE49-F238E27FC236}">
                <a16:creationId xmlns:a16="http://schemas.microsoft.com/office/drawing/2014/main" id="{DDC5F991-CD3D-4EA5-BEA3-4080334BE694}"/>
              </a:ext>
            </a:extLst>
          </p:cNvPr>
          <p:cNvSpPr>
            <a:spLocks xmlns:a="http://schemas.openxmlformats.org/drawingml/2006/main" noGrp="1"/>
          </p:cNvSpPr>
          <p:nvPr/>
        </p:nvSpPr>
        <p:spPr>
          <a:xfrm xmlns:a="http://schemas.openxmlformats.org/drawingml/2006/main">
            <a:off x="3639312"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Time to decision</a:t>
            </a:r>
            <a:endParaRPr sz="950">
              <a:latin typeface="Helvetica Neue"/>
              <a:ea typeface="Helvetica Neue"/>
              <a:cs typeface="Helvetica Neue"/>
            </a:endParaRPr>
          </a:p>
        </p:txBody>
      </p:sp>
      <p:sp>
        <p:nvSpPr>
          <p:cNvPr id="77" name="Text 64">
            <a:extLst xmlns:a="http://schemas.openxmlformats.org/drawingml/2006/main">
              <a:ext uri="{FF2B5EF4-FFF2-40B4-BE49-F238E27FC236}">
                <a16:creationId xmlns:a16="http://schemas.microsoft.com/office/drawing/2014/main" id="{FD9AE60F-20FA-4481-9F53-8FEA21B4190D}"/>
              </a:ext>
            </a:extLst>
          </p:cNvPr>
          <p:cNvSpPr>
            <a:spLocks xmlns:a="http://schemas.openxmlformats.org/drawingml/2006/main" noGrp="1"/>
          </p:cNvSpPr>
          <p:nvPr/>
        </p:nvSpPr>
        <p:spPr>
          <a:xfrm xmlns:a="http://schemas.openxmlformats.org/drawingml/2006/main">
            <a:off x="3429000" y="5429250"/>
            <a:ext cx="2459736"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5 days to 1</a:t>
            </a:r>
            <a:endParaRPr sz="2600">
              <a:latin typeface="Helvetica Neue"/>
              <a:ea typeface="Helvetica Neue"/>
              <a:cs typeface="Helvetica Neue"/>
            </a:endParaRPr>
          </a:p>
        </p:txBody>
      </p:sp>
      <p:sp>
        <p:nvSpPr>
          <p:cNvPr id="78" name="Text 65">
            <a:extLst xmlns:a="http://schemas.openxmlformats.org/drawingml/2006/main">
              <a:ext uri="{FF2B5EF4-FFF2-40B4-BE49-F238E27FC236}">
                <a16:creationId xmlns:a16="http://schemas.microsoft.com/office/drawing/2014/main" id="{83B4424C-446E-4056-8E61-3AB2755DC05E}"/>
              </a:ext>
            </a:extLst>
          </p:cNvPr>
          <p:cNvSpPr>
            <a:spLocks xmlns:a="http://schemas.openxmlformats.org/drawingml/2006/main" noGrp="1"/>
          </p:cNvSpPr>
          <p:nvPr/>
        </p:nvSpPr>
        <p:spPr>
          <a:xfrm xmlns:a="http://schemas.openxmlformats.org/drawingml/2006/main">
            <a:off x="3429000" y="583882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from detection to an actionable, evidence-backed decision</a:t>
            </a:r>
            <a:endParaRPr sz="900">
              <a:latin typeface="Helvetica Neue"/>
              <a:ea typeface="Helvetica Neue"/>
              <a:cs typeface="Helvetica Neue"/>
            </a:endParaRPr>
          </a:p>
        </p:txBody>
      </p:sp>
      <p:sp>
        <p:nvSpPr>
          <p:cNvPr id="79" name="Shape 66">
            <a:extLst xmlns:a="http://schemas.openxmlformats.org/drawingml/2006/main">
              <a:ext uri="{FF2B5EF4-FFF2-40B4-BE49-F238E27FC236}">
                <a16:creationId xmlns:a16="http://schemas.microsoft.com/office/drawing/2014/main" id="{E63980E8-1318-44C0-9068-5E3AC6425E27}"/>
              </a:ext>
            </a:extLst>
          </p:cNvPr>
          <p:cNvSpPr>
            <a:spLocks xmlns:a="http://schemas.openxmlformats.org/drawingml/2006/main" noGrp="1"/>
          </p:cNvSpPr>
          <p:nvPr/>
        </p:nvSpPr>
        <p:spPr>
          <a:xfrm xmlns:a="http://schemas.openxmlformats.org/drawingml/2006/main">
            <a:off x="6181344"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79" name="Image 11"/>
          <p:cNvPicPr>
            <a:picLocks xmlns:a="http://schemas.openxmlformats.org/drawingml/2006/main" noChangeAspect="1"/>
          </p:cNvPicPr>
          <p:nvPr/>
        </p:nvPicPr>
        <p:blipFill>
          <a:blip xmlns:r="http://schemas.openxmlformats.org/officeDocument/2006/relationships" xmlns:a="http://schemas.openxmlformats.org/drawingml/2006/main" r:embed="R126107159e4e44f3"/>
          <a:stretch xmlns:a="http://schemas.openxmlformats.org/drawingml/2006/main">
            <a:fillRect l="0" t="0" r="0" b="0"/>
          </a:stretch>
        </p:blipFill>
        <p:spPr>
          <a:xfrm xmlns:a="http://schemas.openxmlformats.org/drawingml/2006/main">
            <a:off x="6291072" y="5212080"/>
            <a:ext cx="164592" cy="164592"/>
          </a:xfrm>
          <a:prstGeom xmlns:a="http://schemas.openxmlformats.org/drawingml/2006/main" prst="rect">
            <a:avLst/>
          </a:prstGeom>
        </p:spPr>
      </p:pic>
      <p:sp>
        <p:nvSpPr>
          <p:cNvPr id="81" name="Text 67">
            <a:extLst xmlns:a="http://schemas.openxmlformats.org/drawingml/2006/main">
              <a:ext uri="{FF2B5EF4-FFF2-40B4-BE49-F238E27FC236}">
                <a16:creationId xmlns:a16="http://schemas.microsoft.com/office/drawing/2014/main" id="{3D269DD1-4251-4461-BC8A-155ADAB5ABCB}"/>
              </a:ext>
            </a:extLst>
          </p:cNvPr>
          <p:cNvSpPr>
            <a:spLocks xmlns:a="http://schemas.openxmlformats.org/drawingml/2006/main" noGrp="1"/>
          </p:cNvSpPr>
          <p:nvPr/>
        </p:nvSpPr>
        <p:spPr>
          <a:xfrm xmlns:a="http://schemas.openxmlformats.org/drawingml/2006/main">
            <a:off x="6501384"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Commitment reliability</a:t>
            </a:r>
            <a:endParaRPr sz="950">
              <a:latin typeface="Helvetica Neue"/>
              <a:ea typeface="Helvetica Neue"/>
              <a:cs typeface="Helvetica Neue"/>
            </a:endParaRPr>
          </a:p>
        </p:txBody>
      </p:sp>
      <p:sp>
        <p:nvSpPr>
          <p:cNvPr id="82" name="Text 68">
            <a:extLst xmlns:a="http://schemas.openxmlformats.org/drawingml/2006/main">
              <a:ext uri="{FF2B5EF4-FFF2-40B4-BE49-F238E27FC236}">
                <a16:creationId xmlns:a16="http://schemas.microsoft.com/office/drawing/2014/main" id="{3B951B0A-1688-48EF-BD0D-B31FB8C9369E}"/>
              </a:ext>
            </a:extLst>
          </p:cNvPr>
          <p:cNvSpPr>
            <a:spLocks xmlns:a="http://schemas.openxmlformats.org/drawingml/2006/main" noGrp="1"/>
          </p:cNvSpPr>
          <p:nvPr/>
        </p:nvSpPr>
        <p:spPr>
          <a:xfrm xmlns:a="http://schemas.openxmlformats.org/drawingml/2006/main">
            <a:off x="6291072" y="5429250"/>
            <a:ext cx="2459736"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$25M</a:t>
            </a:r>
            <a:endParaRPr sz="2600">
              <a:latin typeface="Helvetica Neue"/>
              <a:ea typeface="Helvetica Neue"/>
              <a:cs typeface="Helvetica Neue"/>
            </a:endParaRPr>
          </a:p>
        </p:txBody>
      </p:sp>
      <p:sp>
        <p:nvSpPr>
          <p:cNvPr id="83" name="Text 69">
            <a:extLst xmlns:a="http://schemas.openxmlformats.org/drawingml/2006/main">
              <a:ext uri="{FF2B5EF4-FFF2-40B4-BE49-F238E27FC236}">
                <a16:creationId xmlns:a16="http://schemas.microsoft.com/office/drawing/2014/main" id="{051F8D4B-3BB8-4703-BC22-233CF2476000}"/>
              </a:ext>
            </a:extLst>
          </p:cNvPr>
          <p:cNvSpPr>
            <a:spLocks xmlns:a="http://schemas.openxmlformats.org/drawingml/2006/main" noGrp="1"/>
          </p:cNvSpPr>
          <p:nvPr/>
        </p:nvSpPr>
        <p:spPr>
          <a:xfrm xmlns:a="http://schemas.openxmlformats.org/drawingml/2006/main">
            <a:off x="6291072" y="583882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of shipment value per year moved out of commitment risk</a:t>
            </a:r>
            <a:endParaRPr sz="900">
              <a:latin typeface="Helvetica Neue"/>
              <a:ea typeface="Helvetica Neue"/>
              <a:cs typeface="Helvetica Neue"/>
            </a:endParaRPr>
          </a:p>
        </p:txBody>
      </p:sp>
      <p:sp>
        <p:nvSpPr>
          <p:cNvPr id="84" name="Shape 70">
            <a:extLst xmlns:a="http://schemas.openxmlformats.org/drawingml/2006/main">
              <a:ext uri="{FF2B5EF4-FFF2-40B4-BE49-F238E27FC236}">
                <a16:creationId xmlns:a16="http://schemas.microsoft.com/office/drawing/2014/main" id="{F84856DE-D04B-4D57-8DCA-662A6881AB32}"/>
              </a:ext>
            </a:extLst>
          </p:cNvPr>
          <p:cNvSpPr>
            <a:spLocks xmlns:a="http://schemas.openxmlformats.org/drawingml/2006/main" noGrp="1"/>
          </p:cNvSpPr>
          <p:nvPr/>
        </p:nvSpPr>
        <p:spPr>
          <a:xfrm xmlns:a="http://schemas.openxmlformats.org/drawingml/2006/main">
            <a:off x="9043416"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184" name="Image 12"/>
          <p:cNvPicPr>
            <a:picLocks xmlns:a="http://schemas.openxmlformats.org/drawingml/2006/main" noChangeAspect="1"/>
          </p:cNvPicPr>
          <p:nvPr/>
        </p:nvPicPr>
        <p:blipFill>
          <a:blip xmlns:r="http://schemas.openxmlformats.org/officeDocument/2006/relationships" xmlns:a="http://schemas.openxmlformats.org/drawingml/2006/main" r:embed="R15174b947cbe4c19"/>
          <a:stretch xmlns:a="http://schemas.openxmlformats.org/drawingml/2006/main">
            <a:fillRect l="0" t="0" r="0" b="0"/>
          </a:stretch>
        </p:blipFill>
        <p:spPr>
          <a:xfrm xmlns:a="http://schemas.openxmlformats.org/drawingml/2006/main">
            <a:off x="9153144" y="5212080"/>
            <a:ext cx="164592" cy="164592"/>
          </a:xfrm>
          <a:prstGeom xmlns:a="http://schemas.openxmlformats.org/drawingml/2006/main" prst="rect">
            <a:avLst/>
          </a:prstGeom>
        </p:spPr>
      </p:pic>
      <p:sp>
        <p:nvSpPr>
          <p:cNvPr id="86" name="Text 71">
            <a:extLst xmlns:a="http://schemas.openxmlformats.org/drawingml/2006/main">
              <a:ext uri="{FF2B5EF4-FFF2-40B4-BE49-F238E27FC236}">
                <a16:creationId xmlns:a16="http://schemas.microsoft.com/office/drawing/2014/main" id="{FB543006-55B5-4E1B-94E3-C5948EBF3228}"/>
              </a:ext>
            </a:extLst>
          </p:cNvPr>
          <p:cNvSpPr>
            <a:spLocks xmlns:a="http://schemas.openxmlformats.org/drawingml/2006/main" noGrp="1"/>
          </p:cNvSpPr>
          <p:nvPr/>
        </p:nvSpPr>
        <p:spPr>
          <a:xfrm xmlns:a="http://schemas.openxmlformats.org/drawingml/2006/main">
            <a:off x="9363456"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950" b="1">
                <a:solidFill>
                  <a:srgbClr val="101010"/>
                </a:solidFill>
                <a:latin typeface="Helvetica Neue"/>
                <a:ea typeface="Helvetica Neue"/>
                <a:cs typeface="Helvetica Neue"/>
              </a:rPr>
              <a:t>Working capital</a:t>
            </a:r>
            <a:endParaRPr sz="950">
              <a:latin typeface="Helvetica Neue"/>
              <a:ea typeface="Helvetica Neue"/>
              <a:cs typeface="Helvetica Neue"/>
            </a:endParaRPr>
          </a:p>
        </p:txBody>
      </p:sp>
      <p:sp>
        <p:nvSpPr>
          <p:cNvPr id="87" name="Text 72">
            <a:extLst xmlns:a="http://schemas.openxmlformats.org/drawingml/2006/main">
              <a:ext uri="{FF2B5EF4-FFF2-40B4-BE49-F238E27FC236}">
                <a16:creationId xmlns:a16="http://schemas.microsoft.com/office/drawing/2014/main" id="{C76CC6D8-B5B9-44F6-9EC1-9C75B423AD2E}"/>
              </a:ext>
            </a:extLst>
          </p:cNvPr>
          <p:cNvSpPr>
            <a:spLocks xmlns:a="http://schemas.openxmlformats.org/drawingml/2006/main" noGrp="1"/>
          </p:cNvSpPr>
          <p:nvPr/>
        </p:nvSpPr>
        <p:spPr>
          <a:xfrm xmlns:a="http://schemas.openxmlformats.org/drawingml/2006/main">
            <a:off x="9153144" y="5429250"/>
            <a:ext cx="2459736"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$4.1M</a:t>
            </a:r>
            <a:endParaRPr sz="2600">
              <a:latin typeface="Helvetica Neue"/>
              <a:ea typeface="Helvetica Neue"/>
              <a:cs typeface="Helvetica Neue"/>
            </a:endParaRPr>
          </a:p>
        </p:txBody>
      </p:sp>
      <p:sp>
        <p:nvSpPr>
          <p:cNvPr id="88" name="Text 73">
            <a:extLst xmlns:a="http://schemas.openxmlformats.org/drawingml/2006/main">
              <a:ext uri="{FF2B5EF4-FFF2-40B4-BE49-F238E27FC236}">
                <a16:creationId xmlns:a16="http://schemas.microsoft.com/office/drawing/2014/main" id="{3963F4B9-2C31-43A1-86B9-52649BF30218}"/>
              </a:ext>
            </a:extLst>
          </p:cNvPr>
          <p:cNvSpPr>
            <a:spLocks xmlns:a="http://schemas.openxmlformats.org/drawingml/2006/main" noGrp="1"/>
          </p:cNvSpPr>
          <p:nvPr/>
        </p:nvSpPr>
        <p:spPr>
          <a:xfrm xmlns:a="http://schemas.openxmlformats.org/drawingml/2006/main">
            <a:off x="9153144" y="583882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424242"/>
                </a:solidFill>
                <a:latin typeface="Helvetica Neue"/>
                <a:ea typeface="Helvetica Neue"/>
                <a:cs typeface="Helvetica Neue"/>
              </a:rPr>
              <a:t>released from 10 fewer days of inventory waiting on decisions</a:t>
            </a:r>
            <a:endParaRPr sz="900">
              <a:latin typeface="Helvetica Neue"/>
              <a:ea typeface="Helvetica Neue"/>
              <a:cs typeface="Helvetica Neue"/>
            </a:endParaRPr>
          </a:p>
        </p:txBody>
      </p:sp>
      <p:sp>
        <p:nvSpPr>
          <p:cNvPr id="89" name="Text 74">
            <a:extLst xmlns:a="http://schemas.openxmlformats.org/drawingml/2006/main">
              <a:ext uri="{FF2B5EF4-FFF2-40B4-BE49-F238E27FC236}">
                <a16:creationId xmlns:a16="http://schemas.microsoft.com/office/drawing/2014/main" id="{B75675DF-9589-4B34-8113-67DE98CCE2F0}"/>
              </a:ext>
            </a:extLst>
          </p:cNvPr>
          <p:cNvSpPr>
            <a:spLocks xmlns:a="http://schemas.openxmlformats.org/drawingml/2006/main" noGrp="1"/>
          </p:cNvSpPr>
          <p:nvPr/>
        </p:nvSpPr>
        <p:spPr>
          <a:xfrm xmlns:a="http://schemas.openxmlformats.org/drawingml/2006/main">
            <a:off x="457200" y="6334125"/>
            <a:ext cx="11277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850">
                <a:solidFill>
                  <a:srgbClr val="707070"/>
                </a:solidFill>
                <a:latin typeface="Helvetica Neue"/>
                <a:ea typeface="Helvetica Neue"/>
                <a:cs typeface="Helvetica Neue"/>
              </a:rPr>
              <a:t>Demo data assumptions*: 7,500 wafers and 45 dies at $6K each; a $500M annual shipment run-rate; late commitments falling from 10% to 5%; $150M average inventory. To be validated in a pilot. Exposure removed from risk is not realized savings.</a:t>
            </a:r>
            <a:endParaRPr sz="850">
              <a:latin typeface="Helvetica Neue"/>
              <a:ea typeface="Helvetica Neue"/>
              <a:cs typeface="Helvetica Neue"/>
            </a:endParaRPr>
          </a:p>
        </p:txBody>
      </p:sp>
      <p:sp>
        <p:nvSpPr>
          <p:cNvPr id="103" name="restyle-rule-9">
            <a:extLst xmlns:a="http://schemas.openxmlformats.org/drawingml/2006/main">
              <a:ext uri="{FF2B5EF4-FFF2-40B4-BE49-F238E27FC236}">
                <a16:creationId xmlns:a16="http://schemas.microsoft.com/office/drawing/2014/main" id="{483C1459-60EB-40B7-BBE9-95B24D94B864}"/>
              </a:ext>
            </a:extLst>
          </p:cNvPr>
          <p:cNvSpPr>
            <a:spLocks xmlns:a="http://schemas.openxmlformats.org/drawingml/2006/main" noGrp="1"/>
          </p:cNvSpPr>
          <p:nvPr/>
        </p:nvSpPr>
        <p:spPr>
          <a:xfrm xmlns:a="http://schemas.openxmlformats.org/drawingml/2006/main">
            <a:off x="603885" y="3295650"/>
            <a:ext cx="7058025"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04" name="restyle-rule-10">
            <a:extLst xmlns:a="http://schemas.openxmlformats.org/drawingml/2006/main">
              <a:ext uri="{FF2B5EF4-FFF2-40B4-BE49-F238E27FC236}">
                <a16:creationId xmlns:a16="http://schemas.microsoft.com/office/drawing/2014/main" id="{7BFD9B85-DFDE-4AA4-A8AF-F3E8A73D618B}"/>
              </a:ext>
            </a:extLst>
          </p:cNvPr>
          <p:cNvSpPr>
            <a:spLocks xmlns:a="http://schemas.openxmlformats.org/drawingml/2006/main" noGrp="1"/>
          </p:cNvSpPr>
          <p:nvPr/>
        </p:nvSpPr>
        <p:spPr>
          <a:xfrm xmlns:a="http://schemas.openxmlformats.org/drawingml/2006/main">
            <a:off x="8174355" y="3295650"/>
            <a:ext cx="3457575"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05" name="restyle-rule-11">
            <a:extLst xmlns:a="http://schemas.openxmlformats.org/drawingml/2006/main">
              <a:ext uri="{FF2B5EF4-FFF2-40B4-BE49-F238E27FC236}">
                <a16:creationId xmlns:a16="http://schemas.microsoft.com/office/drawing/2014/main" id="{EEFBD420-6703-4087-8EA2-47FF2686AC52}"/>
              </a:ext>
            </a:extLst>
          </p:cNvPr>
          <p:cNvSpPr>
            <a:spLocks xmlns:a="http://schemas.openxmlformats.org/drawingml/2006/main" noGrp="1"/>
          </p:cNvSpPr>
          <p:nvPr/>
        </p:nvSpPr>
        <p:spPr>
          <a:xfrm xmlns:a="http://schemas.openxmlformats.org/drawingml/2006/main">
            <a:off x="457200" y="5120640"/>
            <a:ext cx="26793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06" name="restyle-rule-12">
            <a:extLst xmlns:a="http://schemas.openxmlformats.org/drawingml/2006/main">
              <a:ext uri="{FF2B5EF4-FFF2-40B4-BE49-F238E27FC236}">
                <a16:creationId xmlns:a16="http://schemas.microsoft.com/office/drawing/2014/main" id="{BC3FE8A3-E4C8-4F98-8A70-4E370B1B1A82}"/>
              </a:ext>
            </a:extLst>
          </p:cNvPr>
          <p:cNvSpPr>
            <a:spLocks xmlns:a="http://schemas.openxmlformats.org/drawingml/2006/main" noGrp="1"/>
          </p:cNvSpPr>
          <p:nvPr/>
        </p:nvSpPr>
        <p:spPr>
          <a:xfrm xmlns:a="http://schemas.openxmlformats.org/drawingml/2006/main">
            <a:off x="3319463" y="5120640"/>
            <a:ext cx="26793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07" name="restyle-rule-13">
            <a:extLst xmlns:a="http://schemas.openxmlformats.org/drawingml/2006/main">
              <a:ext uri="{FF2B5EF4-FFF2-40B4-BE49-F238E27FC236}">
                <a16:creationId xmlns:a16="http://schemas.microsoft.com/office/drawing/2014/main" id="{C21E060A-621D-4926-B474-CA182D80C158}"/>
              </a:ext>
            </a:extLst>
          </p:cNvPr>
          <p:cNvSpPr>
            <a:spLocks xmlns:a="http://schemas.openxmlformats.org/drawingml/2006/main" noGrp="1"/>
          </p:cNvSpPr>
          <p:nvPr/>
        </p:nvSpPr>
        <p:spPr>
          <a:xfrm xmlns:a="http://schemas.openxmlformats.org/drawingml/2006/main">
            <a:off x="6181725" y="5120640"/>
            <a:ext cx="26793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
        <p:nvSpPr>
          <p:cNvPr id="108" name="restyle-rule-14">
            <a:extLst xmlns:a="http://schemas.openxmlformats.org/drawingml/2006/main">
              <a:ext uri="{FF2B5EF4-FFF2-40B4-BE49-F238E27FC236}">
                <a16:creationId xmlns:a16="http://schemas.microsoft.com/office/drawing/2014/main" id="{06314A34-24E8-40AB-ABF3-BA452D3AB5DB}"/>
              </a:ext>
            </a:extLst>
          </p:cNvPr>
          <p:cNvSpPr>
            <a:spLocks xmlns:a="http://schemas.openxmlformats.org/drawingml/2006/main" noGrp="1"/>
          </p:cNvSpPr>
          <p:nvPr/>
        </p:nvSpPr>
        <p:spPr>
          <a:xfrm xmlns:a="http://schemas.openxmlformats.org/drawingml/2006/main">
            <a:off x="9043035" y="5120640"/>
            <a:ext cx="2679383" cy="0"/>
          </a:xfrm>
          <a:prstGeom xmlns:a="http://schemas.openxmlformats.org/drawingml/2006/main" prst="line">
            <a:avLst/>
          </a:prstGeom>
          <a:noFill xmlns:a="http://schemas.openxmlformats.org/drawingml/2006/main"/>
          <a:ln xmlns:a="http://schemas.openxmlformats.org/drawingml/2006/main" w="7144">
            <a:solidFill>
              <a:srgbClr val="DCDCDC"/>
            </a:solidFill>
            <a:prstDash val="solid"/>
          </a:ln>
        </p:spPr>
      </p:sp>
    </p:spTree>
    <p:extLst>
      <p:ext uri="{BB962C8B-B14F-4D97-AF65-F5344CB8AC3E}">
        <p14:creationId xmlns:p14="http://schemas.microsoft.com/office/powerpoint/2010/main" val="1556315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E77130-6A1F-4E5A-BAE4-77DFAF83469E}"/>
              </a:ext>
            </a:extLst>
          </p:cNvPr>
          <p:cNvSpPr>
            <a:spLocks xmlns:a="http://schemas.openxmlformats.org/drawingml/2006/main" noGrp="1"/>
          </p:cNvSpPr>
          <p:nvPr/>
        </p:nvSpPr>
        <p:spPr>
          <a:xfrm xmlns:a="http://schemas.openxmlformats.org/drawingml/2006/main">
            <a:off x="457200" y="292608"/>
            <a:ext cx="11277295"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00" b="0">
                <a:solidFill>
                  <a:srgbClr val="707070"/>
                </a:solidFill>
                <a:latin typeface="Helvetica Neue"/>
                <a:ea typeface="Helvetica Neue"/>
                <a:cs typeface="Helvetica Neue"/>
              </a:rPr>
              <a:t>Assumptions, design decisions, product judgments, and governance</a:t>
            </a:r>
            <a:endParaRPr sz="1000">
              <a:latin typeface="Helvetica Neue"/>
              <a:ea typeface="Helvetica Neue"/>
              <a:cs typeface="Helvetica Neue"/>
            </a:endParaRPr>
          </a:p>
        </p:txBody>
      </p:sp>
      <p:sp>
        <p:nvSpPr>
          <p:cNvPr id="3" name="Text 1">
            <a:extLst xmlns:a="http://schemas.openxmlformats.org/drawingml/2006/main">
              <a:ext uri="{FF2B5EF4-FFF2-40B4-BE49-F238E27FC236}">
                <a16:creationId xmlns:a16="http://schemas.microsoft.com/office/drawing/2014/main" id="{0F08DFBB-14C5-4F6C-A72F-1F70B18B6014}"/>
              </a:ext>
            </a:extLst>
          </p:cNvPr>
          <p:cNvSpPr>
            <a:spLocks xmlns:a="http://schemas.openxmlformats.org/drawingml/2006/main" noGrp="1"/>
          </p:cNvSpPr>
          <p:nvPr/>
        </p:nvSpPr>
        <p:spPr>
          <a:xfrm xmlns:a="http://schemas.openxmlformats.org/drawingml/2006/main">
            <a:off x="457200" y="514350"/>
            <a:ext cx="1127760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700" b="0">
                <a:solidFill>
                  <a:srgbClr val="101010"/>
                </a:solidFill>
                <a:latin typeface="Helvetica Neue"/>
                <a:ea typeface="Helvetica Neue"/>
                <a:cs typeface="Helvetica Neue"/>
              </a:rPr>
              <a:t>Eight enterprise design decisions behind the control plane</a:t>
            </a:r>
            <a:endParaRPr sz="2700">
              <a:latin typeface="Helvetica Neue"/>
              <a:ea typeface="Helvetica Neue"/>
              <a:cs typeface="Helvetica Neue"/>
            </a:endParaRPr>
          </a:p>
        </p:txBody>
      </p:sp>
      <p:sp>
        <p:nvSpPr>
          <p:cNvPr id="4" name="Text 2">
            <a:extLst xmlns:a="http://schemas.openxmlformats.org/drawingml/2006/main">
              <a:ext uri="{FF2B5EF4-FFF2-40B4-BE49-F238E27FC236}">
                <a16:creationId xmlns:a16="http://schemas.microsoft.com/office/drawing/2014/main" id="{76198710-F4FF-4A2E-B76E-E94DE03C6677}"/>
              </a:ext>
            </a:extLst>
          </p:cNvPr>
          <p:cNvSpPr>
            <a:spLocks xmlns:a="http://schemas.openxmlformats.org/drawingml/2006/main" noGrp="1"/>
          </p:cNvSpPr>
          <p:nvPr/>
        </p:nvSpPr>
        <p:spPr>
          <a:xfrm xmlns:a="http://schemas.openxmlformats.org/drawingml/2006/main">
            <a:off x="457200" y="11887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0">
                <a:solidFill>
                  <a:srgbClr val="707070"/>
                </a:solidFill>
                <a:latin typeface="Helvetica Neue"/>
                <a:ea typeface="Helvetica Neue"/>
                <a:cs typeface="Helvetica Neue"/>
              </a:rPr>
              <a:t>Category</a:t>
            </a:r>
            <a:endParaRPr sz="950">
              <a:latin typeface="Helvetica Neue"/>
              <a:ea typeface="Helvetica Neue"/>
              <a:cs typeface="Helvetica Neue"/>
            </a:endParaRPr>
          </a:p>
        </p:txBody>
      </p:sp>
      <p:sp>
        <p:nvSpPr>
          <p:cNvPr id="5" name="Text 3">
            <a:extLst xmlns:a="http://schemas.openxmlformats.org/drawingml/2006/main">
              <a:ext uri="{FF2B5EF4-FFF2-40B4-BE49-F238E27FC236}">
                <a16:creationId xmlns:a16="http://schemas.microsoft.com/office/drawing/2014/main" id="{03CA040C-548E-480E-BE66-1B1B051ABD89}"/>
              </a:ext>
            </a:extLst>
          </p:cNvPr>
          <p:cNvSpPr>
            <a:spLocks xmlns:a="http://schemas.openxmlformats.org/drawingml/2006/main" noGrp="1"/>
          </p:cNvSpPr>
          <p:nvPr/>
        </p:nvSpPr>
        <p:spPr>
          <a:xfrm xmlns:a="http://schemas.openxmlformats.org/drawingml/2006/main">
            <a:off x="4023360" y="1188720"/>
            <a:ext cx="5486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50" b="0">
                <a:solidFill>
                  <a:srgbClr val="707070"/>
                </a:solidFill>
                <a:latin typeface="Helvetica Neue"/>
                <a:ea typeface="Helvetica Neue"/>
                <a:cs typeface="Helvetica Neue"/>
              </a:rPr>
              <a:t>Enterprise design decision</a:t>
            </a:r>
            <a:endParaRPr sz="950">
              <a:latin typeface="Helvetica Neue"/>
              <a:ea typeface="Helvetica Neue"/>
              <a:cs typeface="Helvetica Neue"/>
            </a:endParaRPr>
          </a:p>
        </p:txBody>
      </p:sp>
      <p:sp>
        <p:nvSpPr>
          <p:cNvPr id="6" name="Shape 4">
            <a:extLst xmlns:a="http://schemas.openxmlformats.org/drawingml/2006/main">
              <a:ext uri="{FF2B5EF4-FFF2-40B4-BE49-F238E27FC236}">
                <a16:creationId xmlns:a16="http://schemas.microsoft.com/office/drawing/2014/main" id="{45172C10-4498-4E0E-96B4-012113595A8E}"/>
              </a:ext>
            </a:extLst>
          </p:cNvPr>
          <p:cNvSpPr>
            <a:spLocks xmlns:a="http://schemas.openxmlformats.org/drawingml/2006/main" noGrp="1"/>
          </p:cNvSpPr>
          <p:nvPr/>
        </p:nvSpPr>
        <p:spPr>
          <a:xfrm xmlns:a="http://schemas.openxmlformats.org/drawingml/2006/main">
            <a:off x="457200" y="1408176"/>
            <a:ext cx="11277295" cy="0"/>
          </a:xfrm>
          <a:prstGeom xmlns:a="http://schemas.openxmlformats.org/drawingml/2006/main" prst="line">
            <a:avLst/>
          </a:prstGeom>
          <a:noFill xmlns:a="http://schemas.openxmlformats.org/drawingml/2006/main"/>
          <a:ln xmlns:a="http://schemas.openxmlformats.org/drawingml/2006/main" w="9525">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7" name="Shape 5">
            <a:extLst xmlns:a="http://schemas.openxmlformats.org/drawingml/2006/main">
              <a:ext uri="{FF2B5EF4-FFF2-40B4-BE49-F238E27FC236}">
                <a16:creationId xmlns:a16="http://schemas.microsoft.com/office/drawing/2014/main" id="{E1F91BBE-F352-4F57-8BEF-4225857C9EF8}"/>
              </a:ext>
            </a:extLst>
          </p:cNvPr>
          <p:cNvSpPr>
            <a:spLocks xmlns:a="http://schemas.openxmlformats.org/drawingml/2006/main" noGrp="1"/>
          </p:cNvSpPr>
          <p:nvPr/>
        </p:nvSpPr>
        <p:spPr>
          <a:xfrm xmlns:a="http://schemas.openxmlformats.org/drawingml/2006/main">
            <a:off x="457200" y="155448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8" name="Text 6">
            <a:extLst xmlns:a="http://schemas.openxmlformats.org/drawingml/2006/main">
              <a:ext uri="{FF2B5EF4-FFF2-40B4-BE49-F238E27FC236}">
                <a16:creationId xmlns:a16="http://schemas.microsoft.com/office/drawing/2014/main" id="{1477FACC-56E2-4A27-9550-F5618398DA96}"/>
              </a:ext>
            </a:extLst>
          </p:cNvPr>
          <p:cNvSpPr>
            <a:spLocks xmlns:a="http://schemas.openxmlformats.org/drawingml/2006/main" noGrp="1"/>
          </p:cNvSpPr>
          <p:nvPr/>
        </p:nvSpPr>
        <p:spPr>
          <a:xfrm xmlns:a="http://schemas.openxmlformats.org/drawingml/2006/main">
            <a:off x="548640" y="155448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1</a:t>
            </a:r>
            <a:endParaRPr sz="1050">
              <a:latin typeface="Helvetica Neue"/>
              <a:ea typeface="Helvetica Neue"/>
              <a:cs typeface="Helvetica Neue"/>
            </a:endParaR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9948402464de456f"/>
          <a:stretch xmlns:a="http://schemas.openxmlformats.org/drawingml/2006/main">
            <a:fillRect l="0" t="0" r="0" b="0"/>
          </a:stretch>
        </p:blipFill>
        <p:spPr>
          <a:xfrm xmlns:a="http://schemas.openxmlformats.org/drawingml/2006/main">
            <a:off x="841248" y="1545336"/>
            <a:ext cx="201168" cy="20116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CDD272E-4C7B-4A9F-8434-93FCF6FCCE24}"/>
              </a:ext>
            </a:extLst>
          </p:cNvPr>
          <p:cNvSpPr>
            <a:spLocks xmlns:a="http://schemas.openxmlformats.org/drawingml/2006/main" noGrp="1"/>
          </p:cNvSpPr>
          <p:nvPr/>
        </p:nvSpPr>
        <p:spPr>
          <a:xfrm xmlns:a="http://schemas.openxmlformats.org/drawingml/2006/main">
            <a:off x="1133856" y="152704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Agent Architecture &amp; Orchestration</a:t>
            </a:r>
            <a:endParaRPr sz="1100">
              <a:latin typeface="Helvetica Neue"/>
              <a:ea typeface="Helvetica Neue"/>
              <a:cs typeface="Helvetica Neue"/>
            </a:endParaRPr>
          </a:p>
        </p:txBody>
      </p:sp>
      <p:sp>
        <p:nvSpPr>
          <p:cNvPr id="11" name="Text 8">
            <a:extLst xmlns:a="http://schemas.openxmlformats.org/drawingml/2006/main">
              <a:ext uri="{FF2B5EF4-FFF2-40B4-BE49-F238E27FC236}">
                <a16:creationId xmlns:a16="http://schemas.microsoft.com/office/drawing/2014/main" id="{165C1CBA-696E-46A1-9D80-4199939C8889}"/>
              </a:ext>
            </a:extLst>
          </p:cNvPr>
          <p:cNvSpPr>
            <a:spLocks xmlns:a="http://schemas.openxmlformats.org/drawingml/2006/main" noGrp="1"/>
          </p:cNvSpPr>
          <p:nvPr/>
        </p:nvSpPr>
        <p:spPr>
          <a:xfrm xmlns:a="http://schemas.openxmlformats.org/drawingml/2006/main">
            <a:off x="4023360" y="152704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A central coordinator delegates to domain specialists that run in parallel. Specialization and concurrency without an uncontrolled swarm.</a:t>
            </a:r>
            <a:endParaRPr sz="1050">
              <a:latin typeface="Helvetica Neue"/>
              <a:ea typeface="Helvetica Neue"/>
              <a:cs typeface="Helvetica Neue"/>
            </a:endParaRPr>
          </a:p>
        </p:txBody>
      </p:sp>
      <p:sp>
        <p:nvSpPr>
          <p:cNvPr id="12" name="Shape 9">
            <a:extLst xmlns:a="http://schemas.openxmlformats.org/drawingml/2006/main">
              <a:ext uri="{FF2B5EF4-FFF2-40B4-BE49-F238E27FC236}">
                <a16:creationId xmlns:a16="http://schemas.microsoft.com/office/drawing/2014/main" id="{20DBF872-BCFB-4E8B-9558-5BE3C26EA785}"/>
              </a:ext>
            </a:extLst>
          </p:cNvPr>
          <p:cNvSpPr>
            <a:spLocks xmlns:a="http://schemas.openxmlformats.org/drawingml/2006/main" noGrp="1"/>
          </p:cNvSpPr>
          <p:nvPr/>
        </p:nvSpPr>
        <p:spPr>
          <a:xfrm xmlns:a="http://schemas.openxmlformats.org/drawingml/2006/main">
            <a:off x="457200" y="210312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13" name="Shape 10">
            <a:extLst xmlns:a="http://schemas.openxmlformats.org/drawingml/2006/main">
              <a:ext uri="{FF2B5EF4-FFF2-40B4-BE49-F238E27FC236}">
                <a16:creationId xmlns:a16="http://schemas.microsoft.com/office/drawing/2014/main" id="{4798D0B5-EE4E-4BB0-8872-9F187F078AFB}"/>
              </a:ext>
            </a:extLst>
          </p:cNvPr>
          <p:cNvSpPr>
            <a:spLocks xmlns:a="http://schemas.openxmlformats.org/drawingml/2006/main" noGrp="1"/>
          </p:cNvSpPr>
          <p:nvPr/>
        </p:nvSpPr>
        <p:spPr>
          <a:xfrm xmlns:a="http://schemas.openxmlformats.org/drawingml/2006/main">
            <a:off x="457200" y="219456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14" name="Text 11">
            <a:extLst xmlns:a="http://schemas.openxmlformats.org/drawingml/2006/main">
              <a:ext uri="{FF2B5EF4-FFF2-40B4-BE49-F238E27FC236}">
                <a16:creationId xmlns:a16="http://schemas.microsoft.com/office/drawing/2014/main" id="{7C287EF0-047F-4408-9E76-86B5BFF7A758}"/>
              </a:ext>
            </a:extLst>
          </p:cNvPr>
          <p:cNvSpPr>
            <a:spLocks xmlns:a="http://schemas.openxmlformats.org/drawingml/2006/main" noGrp="1"/>
          </p:cNvSpPr>
          <p:nvPr/>
        </p:nvSpPr>
        <p:spPr>
          <a:xfrm xmlns:a="http://schemas.openxmlformats.org/drawingml/2006/main">
            <a:off x="548640" y="219456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2</a:t>
            </a:r>
            <a:endParaRPr sz="1050">
              <a:latin typeface="Helvetica Neue"/>
              <a:ea typeface="Helvetica Neue"/>
              <a:cs typeface="Helvetica Neue"/>
            </a:endParaR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184ddf81c2d64c50"/>
          <a:stretch xmlns:a="http://schemas.openxmlformats.org/drawingml/2006/main">
            <a:fillRect l="0" t="0" r="0" b="0"/>
          </a:stretch>
        </p:blipFill>
        <p:spPr>
          <a:xfrm xmlns:a="http://schemas.openxmlformats.org/drawingml/2006/main">
            <a:off x="841248" y="2185416"/>
            <a:ext cx="201168" cy="20116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0655385B-C1AD-49B5-AFCC-48C303C7790B}"/>
              </a:ext>
            </a:extLst>
          </p:cNvPr>
          <p:cNvSpPr>
            <a:spLocks xmlns:a="http://schemas.openxmlformats.org/drawingml/2006/main" noGrp="1"/>
          </p:cNvSpPr>
          <p:nvPr/>
        </p:nvSpPr>
        <p:spPr>
          <a:xfrm xmlns:a="http://schemas.openxmlformats.org/drawingml/2006/main">
            <a:off x="1133856" y="216712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Grounding &amp; Enterprise Knowledge</a:t>
            </a:r>
            <a:endParaRPr sz="1100">
              <a:latin typeface="Helvetica Neue"/>
              <a:ea typeface="Helvetica Neue"/>
              <a:cs typeface="Helvetica Neue"/>
            </a:endParaRPr>
          </a:p>
        </p:txBody>
      </p:sp>
      <p:sp>
        <p:nvSpPr>
          <p:cNvPr id="17" name="Text 13">
            <a:extLst xmlns:a="http://schemas.openxmlformats.org/drawingml/2006/main">
              <a:ext uri="{FF2B5EF4-FFF2-40B4-BE49-F238E27FC236}">
                <a16:creationId xmlns:a16="http://schemas.microsoft.com/office/drawing/2014/main" id="{6ECD4198-B310-4706-B6B9-D6D6F6DDC9AC}"/>
              </a:ext>
            </a:extLst>
          </p:cNvPr>
          <p:cNvSpPr>
            <a:spLocks xmlns:a="http://schemas.openxmlformats.org/drawingml/2006/main" noGrp="1"/>
          </p:cNvSpPr>
          <p:nvPr/>
        </p:nvSpPr>
        <p:spPr>
          <a:xfrm xmlns:a="http://schemas.openxmlformats.org/drawingml/2006/main">
            <a:off x="4023360" y="216712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Live facts come from APIs and MCP; institutional knowledge comes from RAG with specialist retrieval profiles and exact-source verification. Stale documents never override current state.</a:t>
            </a:r>
            <a:endParaRPr sz="1050">
              <a:latin typeface="Helvetica Neue"/>
              <a:ea typeface="Helvetica Neue"/>
              <a:cs typeface="Helvetica Neue"/>
            </a:endParaRPr>
          </a:p>
        </p:txBody>
      </p:sp>
      <p:sp>
        <p:nvSpPr>
          <p:cNvPr id="18" name="Shape 14">
            <a:extLst xmlns:a="http://schemas.openxmlformats.org/drawingml/2006/main">
              <a:ext uri="{FF2B5EF4-FFF2-40B4-BE49-F238E27FC236}">
                <a16:creationId xmlns:a16="http://schemas.microsoft.com/office/drawing/2014/main" id="{884D4D52-F565-4BA8-8BBE-A51091164EF2}"/>
              </a:ext>
            </a:extLst>
          </p:cNvPr>
          <p:cNvSpPr>
            <a:spLocks xmlns:a="http://schemas.openxmlformats.org/drawingml/2006/main" noGrp="1"/>
          </p:cNvSpPr>
          <p:nvPr/>
        </p:nvSpPr>
        <p:spPr>
          <a:xfrm xmlns:a="http://schemas.openxmlformats.org/drawingml/2006/main">
            <a:off x="457200" y="274320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19" name="Shape 15">
            <a:extLst xmlns:a="http://schemas.openxmlformats.org/drawingml/2006/main">
              <a:ext uri="{FF2B5EF4-FFF2-40B4-BE49-F238E27FC236}">
                <a16:creationId xmlns:a16="http://schemas.microsoft.com/office/drawing/2014/main" id="{2B61B7A9-05DD-423D-AEFF-0C63DD93753D}"/>
              </a:ext>
            </a:extLst>
          </p:cNvPr>
          <p:cNvSpPr>
            <a:spLocks xmlns:a="http://schemas.openxmlformats.org/drawingml/2006/main" noGrp="1"/>
          </p:cNvSpPr>
          <p:nvPr/>
        </p:nvSpPr>
        <p:spPr>
          <a:xfrm xmlns:a="http://schemas.openxmlformats.org/drawingml/2006/main">
            <a:off x="457200" y="283464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0" name="Text 16">
            <a:extLst xmlns:a="http://schemas.openxmlformats.org/drawingml/2006/main">
              <a:ext uri="{FF2B5EF4-FFF2-40B4-BE49-F238E27FC236}">
                <a16:creationId xmlns:a16="http://schemas.microsoft.com/office/drawing/2014/main" id="{595A250B-6DBB-442B-B5A4-0DE8903CDD28}"/>
              </a:ext>
            </a:extLst>
          </p:cNvPr>
          <p:cNvSpPr>
            <a:spLocks xmlns:a="http://schemas.openxmlformats.org/drawingml/2006/main" noGrp="1"/>
          </p:cNvSpPr>
          <p:nvPr/>
        </p:nvSpPr>
        <p:spPr>
          <a:xfrm xmlns:a="http://schemas.openxmlformats.org/drawingml/2006/main">
            <a:off x="548640" y="283464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3</a:t>
            </a:r>
            <a:endParaRPr sz="1050">
              <a:latin typeface="Helvetica Neue"/>
              <a:ea typeface="Helvetica Neue"/>
              <a:cs typeface="Helvetica Neue"/>
            </a:endParaR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334ae7431fb0439a"/>
          <a:stretch xmlns:a="http://schemas.openxmlformats.org/drawingml/2006/main">
            <a:fillRect l="0" t="0" r="0" b="0"/>
          </a:stretch>
        </p:blipFill>
        <p:spPr>
          <a:xfrm xmlns:a="http://schemas.openxmlformats.org/drawingml/2006/main">
            <a:off x="841248" y="2825496"/>
            <a:ext cx="201168" cy="20116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802647E3-60F7-4AD3-B50A-504D9CE4800E}"/>
              </a:ext>
            </a:extLst>
          </p:cNvPr>
          <p:cNvSpPr>
            <a:spLocks xmlns:a="http://schemas.openxmlformats.org/drawingml/2006/main" noGrp="1"/>
          </p:cNvSpPr>
          <p:nvPr/>
        </p:nvSpPr>
        <p:spPr>
          <a:xfrm xmlns:a="http://schemas.openxmlformats.org/drawingml/2006/main">
            <a:off x="1133856" y="280720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Tooling &amp; System Integration</a:t>
            </a:r>
            <a:endParaRPr sz="1100">
              <a:latin typeface="Helvetica Neue"/>
              <a:ea typeface="Helvetica Neue"/>
              <a:cs typeface="Helvetica Neue"/>
            </a:endParaRPr>
          </a:p>
        </p:txBody>
      </p:sp>
      <p:sp>
        <p:nvSpPr>
          <p:cNvPr id="23" name="Text 18">
            <a:extLst xmlns:a="http://schemas.openxmlformats.org/drawingml/2006/main">
              <a:ext uri="{FF2B5EF4-FFF2-40B4-BE49-F238E27FC236}">
                <a16:creationId xmlns:a16="http://schemas.microsoft.com/office/drawing/2014/main" id="{E865512A-2347-4CA5-BE40-A9942C542C9B}"/>
              </a:ext>
            </a:extLst>
          </p:cNvPr>
          <p:cNvSpPr>
            <a:spLocks xmlns:a="http://schemas.openxmlformats.org/drawingml/2006/main" noGrp="1"/>
          </p:cNvSpPr>
          <p:nvPr/>
        </p:nvSpPr>
        <p:spPr>
          <a:xfrm xmlns:a="http://schemas.openxmlformats.org/drawingml/2006/main">
            <a:off x="4023360" y="280720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Agents reach PLM, TestOps, MES, ERP, and ProgramOps only through typed tools and controlled APIs. Source systems stay authoritative; the control plane orchestrates across them.</a:t>
            </a:r>
            <a:endParaRPr sz="1050">
              <a:latin typeface="Helvetica Neue"/>
              <a:ea typeface="Helvetica Neue"/>
              <a:cs typeface="Helvetica Neue"/>
            </a:endParaRPr>
          </a:p>
        </p:txBody>
      </p:sp>
      <p:sp>
        <p:nvSpPr>
          <p:cNvPr id="24" name="Shape 19">
            <a:extLst xmlns:a="http://schemas.openxmlformats.org/drawingml/2006/main">
              <a:ext uri="{FF2B5EF4-FFF2-40B4-BE49-F238E27FC236}">
                <a16:creationId xmlns:a16="http://schemas.microsoft.com/office/drawing/2014/main" id="{6F494043-B6F8-4CF7-B4F0-21F89F218E21}"/>
              </a:ext>
            </a:extLst>
          </p:cNvPr>
          <p:cNvSpPr>
            <a:spLocks xmlns:a="http://schemas.openxmlformats.org/drawingml/2006/main" noGrp="1"/>
          </p:cNvSpPr>
          <p:nvPr/>
        </p:nvSpPr>
        <p:spPr>
          <a:xfrm xmlns:a="http://schemas.openxmlformats.org/drawingml/2006/main">
            <a:off x="457200" y="338328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5" name="Shape 20">
            <a:extLst xmlns:a="http://schemas.openxmlformats.org/drawingml/2006/main">
              <a:ext uri="{FF2B5EF4-FFF2-40B4-BE49-F238E27FC236}">
                <a16:creationId xmlns:a16="http://schemas.microsoft.com/office/drawing/2014/main" id="{F74AEA52-5BCA-4BD0-B1AC-9FD760ABF388}"/>
              </a:ext>
            </a:extLst>
          </p:cNvPr>
          <p:cNvSpPr>
            <a:spLocks xmlns:a="http://schemas.openxmlformats.org/drawingml/2006/main" noGrp="1"/>
          </p:cNvSpPr>
          <p:nvPr/>
        </p:nvSpPr>
        <p:spPr>
          <a:xfrm xmlns:a="http://schemas.openxmlformats.org/drawingml/2006/main">
            <a:off x="457200" y="347472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6" name="Text 21">
            <a:extLst xmlns:a="http://schemas.openxmlformats.org/drawingml/2006/main">
              <a:ext uri="{FF2B5EF4-FFF2-40B4-BE49-F238E27FC236}">
                <a16:creationId xmlns:a16="http://schemas.microsoft.com/office/drawing/2014/main" id="{211536A5-D60E-4D12-9B05-CF9DD4CCE047}"/>
              </a:ext>
            </a:extLst>
          </p:cNvPr>
          <p:cNvSpPr>
            <a:spLocks xmlns:a="http://schemas.openxmlformats.org/drawingml/2006/main" noGrp="1"/>
          </p:cNvSpPr>
          <p:nvPr/>
        </p:nvSpPr>
        <p:spPr>
          <a:xfrm xmlns:a="http://schemas.openxmlformats.org/drawingml/2006/main">
            <a:off x="548640" y="347472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4</a:t>
            </a:r>
            <a:endParaRPr sz="1050">
              <a:latin typeface="Helvetica Neue"/>
              <a:ea typeface="Helvetica Neue"/>
              <a:cs typeface="Helvetica Neue"/>
            </a:endParaR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d64f131c26b4407e"/>
          <a:stretch xmlns:a="http://schemas.openxmlformats.org/drawingml/2006/main">
            <a:fillRect l="0" t="0" r="0" b="0"/>
          </a:stretch>
        </p:blipFill>
        <p:spPr>
          <a:xfrm xmlns:a="http://schemas.openxmlformats.org/drawingml/2006/main">
            <a:off x="841248" y="3465576"/>
            <a:ext cx="201168" cy="20116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0D6DC86-3F45-4CBD-A7B5-228ACEB28688}"/>
              </a:ext>
            </a:extLst>
          </p:cNvPr>
          <p:cNvSpPr>
            <a:spLocks xmlns:a="http://schemas.openxmlformats.org/drawingml/2006/main" noGrp="1"/>
          </p:cNvSpPr>
          <p:nvPr/>
        </p:nvSpPr>
        <p:spPr>
          <a:xfrm xmlns:a="http://schemas.openxmlformats.org/drawingml/2006/main">
            <a:off x="1133856" y="344728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Governance, Permissions &amp; Human Authority</a:t>
            </a:r>
            <a:endParaRPr sz="1100">
              <a:latin typeface="Helvetica Neue"/>
              <a:ea typeface="Helvetica Neue"/>
              <a:cs typeface="Helvetica Neue"/>
            </a:endParaRPr>
          </a:p>
        </p:txBody>
      </p:sp>
      <p:sp>
        <p:nvSpPr>
          <p:cNvPr id="29" name="Text 23">
            <a:extLst xmlns:a="http://schemas.openxmlformats.org/drawingml/2006/main">
              <a:ext uri="{FF2B5EF4-FFF2-40B4-BE49-F238E27FC236}">
                <a16:creationId xmlns:a16="http://schemas.microsoft.com/office/drawing/2014/main" id="{CD0D3246-9075-40AC-A285-9B643AAD092E}"/>
              </a:ext>
            </a:extLst>
          </p:cNvPr>
          <p:cNvSpPr>
            <a:spLocks xmlns:a="http://schemas.openxmlformats.org/drawingml/2006/main" noGrp="1"/>
          </p:cNvSpPr>
          <p:nvPr/>
        </p:nvSpPr>
        <p:spPr>
          <a:xfrm xmlns:a="http://schemas.openxmlformats.org/drawingml/2006/main">
            <a:off x="4023360" y="344728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Deterministic policy gates decide what runs touchless and what needs approval. Engineering, quality, allocation, and customer commitments stay human-owned, backed by least-privilege tools and persona-aware RBAC.</a:t>
            </a:r>
            <a:endParaRPr sz="1050">
              <a:latin typeface="Helvetica Neue"/>
              <a:ea typeface="Helvetica Neue"/>
              <a:cs typeface="Helvetica Neue"/>
            </a:endParaRPr>
          </a:p>
        </p:txBody>
      </p:sp>
      <p:sp>
        <p:nvSpPr>
          <p:cNvPr id="30" name="Shape 24">
            <a:extLst xmlns:a="http://schemas.openxmlformats.org/drawingml/2006/main">
              <a:ext uri="{FF2B5EF4-FFF2-40B4-BE49-F238E27FC236}">
                <a16:creationId xmlns:a16="http://schemas.microsoft.com/office/drawing/2014/main" id="{4745E421-11BF-4AE1-9960-815D50617B9F}"/>
              </a:ext>
            </a:extLst>
          </p:cNvPr>
          <p:cNvSpPr>
            <a:spLocks xmlns:a="http://schemas.openxmlformats.org/drawingml/2006/main" noGrp="1"/>
          </p:cNvSpPr>
          <p:nvPr/>
        </p:nvSpPr>
        <p:spPr>
          <a:xfrm xmlns:a="http://schemas.openxmlformats.org/drawingml/2006/main">
            <a:off x="457200" y="402336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1" name="Shape 25">
            <a:extLst xmlns:a="http://schemas.openxmlformats.org/drawingml/2006/main">
              <a:ext uri="{FF2B5EF4-FFF2-40B4-BE49-F238E27FC236}">
                <a16:creationId xmlns:a16="http://schemas.microsoft.com/office/drawing/2014/main" id="{8E3161F2-A7D3-4EC0-A452-AE74C0DDF5E2}"/>
              </a:ext>
            </a:extLst>
          </p:cNvPr>
          <p:cNvSpPr>
            <a:spLocks xmlns:a="http://schemas.openxmlformats.org/drawingml/2006/main" noGrp="1"/>
          </p:cNvSpPr>
          <p:nvPr/>
        </p:nvSpPr>
        <p:spPr>
          <a:xfrm xmlns:a="http://schemas.openxmlformats.org/drawingml/2006/main">
            <a:off x="457200" y="411480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2" name="Text 26">
            <a:extLst xmlns:a="http://schemas.openxmlformats.org/drawingml/2006/main">
              <a:ext uri="{FF2B5EF4-FFF2-40B4-BE49-F238E27FC236}">
                <a16:creationId xmlns:a16="http://schemas.microsoft.com/office/drawing/2014/main" id="{3F40817A-87A3-4BDA-9F43-F9CDAF9272DC}"/>
              </a:ext>
            </a:extLst>
          </p:cNvPr>
          <p:cNvSpPr>
            <a:spLocks xmlns:a="http://schemas.openxmlformats.org/drawingml/2006/main" noGrp="1"/>
          </p:cNvSpPr>
          <p:nvPr/>
        </p:nvSpPr>
        <p:spPr>
          <a:xfrm xmlns:a="http://schemas.openxmlformats.org/drawingml/2006/main">
            <a:off x="548640" y="411480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5</a:t>
            </a:r>
            <a:endParaRPr sz="1050">
              <a:latin typeface="Helvetica Neue"/>
              <a:ea typeface="Helvetica Neue"/>
              <a:cs typeface="Helvetica Neue"/>
            </a:endParaRPr>
          </a:p>
        </p:txBody>
      </p:sp>
      <p:pic>
        <p:nvPicPr>
          <p:cNvPr id="93" name="Image 4"/>
          <p:cNvPicPr>
            <a:picLocks xmlns:a="http://schemas.openxmlformats.org/drawingml/2006/main" noChangeAspect="1"/>
          </p:cNvPicPr>
          <p:nvPr/>
        </p:nvPicPr>
        <p:blipFill>
          <a:blip xmlns:r="http://schemas.openxmlformats.org/officeDocument/2006/relationships" xmlns:a="http://schemas.openxmlformats.org/drawingml/2006/main" r:embed="R231249f861d242a4"/>
          <a:stretch xmlns:a="http://schemas.openxmlformats.org/drawingml/2006/main">
            <a:fillRect l="0" t="0" r="0" b="0"/>
          </a:stretch>
        </p:blipFill>
        <p:spPr>
          <a:xfrm xmlns:a="http://schemas.openxmlformats.org/drawingml/2006/main">
            <a:off x="841248" y="4105656"/>
            <a:ext cx="201168" cy="201168"/>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56DC445D-B669-481B-9629-64AA42F297C2}"/>
              </a:ext>
            </a:extLst>
          </p:cNvPr>
          <p:cNvSpPr>
            <a:spLocks xmlns:a="http://schemas.openxmlformats.org/drawingml/2006/main" noGrp="1"/>
          </p:cNvSpPr>
          <p:nvPr/>
        </p:nvSpPr>
        <p:spPr>
          <a:xfrm xmlns:a="http://schemas.openxmlformats.org/drawingml/2006/main">
            <a:off x="1133856" y="408736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State, Execution Safety &amp; Reliability</a:t>
            </a:r>
            <a:endParaRPr sz="1100">
              <a:latin typeface="Helvetica Neue"/>
              <a:ea typeface="Helvetica Neue"/>
              <a:cs typeface="Helvetica Neue"/>
            </a:endParaRPr>
          </a:p>
        </p:txBody>
      </p:sp>
      <p:sp>
        <p:nvSpPr>
          <p:cNvPr id="35" name="Text 28">
            <a:extLst xmlns:a="http://schemas.openxmlformats.org/drawingml/2006/main">
              <a:ext uri="{FF2B5EF4-FFF2-40B4-BE49-F238E27FC236}">
                <a16:creationId xmlns:a16="http://schemas.microsoft.com/office/drawing/2014/main" id="{BE2CA30B-089C-49F8-A90C-204A57E5D869}"/>
              </a:ext>
            </a:extLst>
          </p:cNvPr>
          <p:cNvSpPr>
            <a:spLocks xmlns:a="http://schemas.openxmlformats.org/drawingml/2006/main" noGrp="1"/>
          </p:cNvSpPr>
          <p:nvPr/>
        </p:nvSpPr>
        <p:spPr>
          <a:xfrm xmlns:a="http://schemas.openxmlformats.org/drawingml/2006/main">
            <a:off x="4023360" y="408736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Approval, execution, and verified state are separate steps. Versioned proposals, stale-state checks, idempotency, and source readback make autonomous and concurrent execution safe.</a:t>
            </a:r>
            <a:endParaRPr sz="1050">
              <a:latin typeface="Helvetica Neue"/>
              <a:ea typeface="Helvetica Neue"/>
              <a:cs typeface="Helvetica Neue"/>
            </a:endParaRPr>
          </a:p>
        </p:txBody>
      </p:sp>
      <p:sp>
        <p:nvSpPr>
          <p:cNvPr id="36" name="Shape 29">
            <a:extLst xmlns:a="http://schemas.openxmlformats.org/drawingml/2006/main">
              <a:ext uri="{FF2B5EF4-FFF2-40B4-BE49-F238E27FC236}">
                <a16:creationId xmlns:a16="http://schemas.microsoft.com/office/drawing/2014/main" id="{A7DEE165-4DCC-48A8-B7EA-2011BC52F8F3}"/>
              </a:ext>
            </a:extLst>
          </p:cNvPr>
          <p:cNvSpPr>
            <a:spLocks xmlns:a="http://schemas.openxmlformats.org/drawingml/2006/main" noGrp="1"/>
          </p:cNvSpPr>
          <p:nvPr/>
        </p:nvSpPr>
        <p:spPr>
          <a:xfrm xmlns:a="http://schemas.openxmlformats.org/drawingml/2006/main">
            <a:off x="457200" y="466344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7" name="Shape 30">
            <a:extLst xmlns:a="http://schemas.openxmlformats.org/drawingml/2006/main">
              <a:ext uri="{FF2B5EF4-FFF2-40B4-BE49-F238E27FC236}">
                <a16:creationId xmlns:a16="http://schemas.microsoft.com/office/drawing/2014/main" id="{F169123A-340E-4A02-B7A3-8D0DE20E3EF1}"/>
              </a:ext>
            </a:extLst>
          </p:cNvPr>
          <p:cNvSpPr>
            <a:spLocks xmlns:a="http://schemas.openxmlformats.org/drawingml/2006/main" noGrp="1"/>
          </p:cNvSpPr>
          <p:nvPr/>
        </p:nvSpPr>
        <p:spPr>
          <a:xfrm xmlns:a="http://schemas.openxmlformats.org/drawingml/2006/main">
            <a:off x="457200" y="475488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8" name="Text 31">
            <a:extLst xmlns:a="http://schemas.openxmlformats.org/drawingml/2006/main">
              <a:ext uri="{FF2B5EF4-FFF2-40B4-BE49-F238E27FC236}">
                <a16:creationId xmlns:a16="http://schemas.microsoft.com/office/drawing/2014/main" id="{9F7D813C-E833-41A4-896D-934EB8921396}"/>
              </a:ext>
            </a:extLst>
          </p:cNvPr>
          <p:cNvSpPr>
            <a:spLocks xmlns:a="http://schemas.openxmlformats.org/drawingml/2006/main" noGrp="1"/>
          </p:cNvSpPr>
          <p:nvPr/>
        </p:nvSpPr>
        <p:spPr>
          <a:xfrm xmlns:a="http://schemas.openxmlformats.org/drawingml/2006/main">
            <a:off x="548640" y="475488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6</a:t>
            </a:r>
            <a:endParaRPr sz="1050">
              <a:latin typeface="Helvetica Neue"/>
              <a:ea typeface="Helvetica Neue"/>
              <a:cs typeface="Helvetica Neue"/>
            </a:endParaRPr>
          </a:p>
        </p:txBody>
      </p:sp>
      <p:pic>
        <p:nvPicPr>
          <p:cNvPr id="99" name="Image 5"/>
          <p:cNvPicPr>
            <a:picLocks xmlns:a="http://schemas.openxmlformats.org/drawingml/2006/main" noChangeAspect="1"/>
          </p:cNvPicPr>
          <p:nvPr/>
        </p:nvPicPr>
        <p:blipFill>
          <a:blip xmlns:r="http://schemas.openxmlformats.org/officeDocument/2006/relationships" xmlns:a="http://schemas.openxmlformats.org/drawingml/2006/main" r:embed="R14c4d59cf04b428c"/>
          <a:stretch xmlns:a="http://schemas.openxmlformats.org/drawingml/2006/main">
            <a:fillRect l="0" t="0" r="0" b="0"/>
          </a:stretch>
        </p:blipFill>
        <p:spPr>
          <a:xfrm xmlns:a="http://schemas.openxmlformats.org/drawingml/2006/main">
            <a:off x="841248" y="4745736"/>
            <a:ext cx="201168" cy="201168"/>
          </a:xfrm>
          <a:prstGeom xmlns:a="http://schemas.openxmlformats.org/drawingml/2006/main" prst="rect">
            <a:avLst/>
          </a:prstGeom>
        </p:spPr>
      </p:pic>
      <p:sp>
        <p:nvSpPr>
          <p:cNvPr id="40" name="Text 32">
            <a:extLst xmlns:a="http://schemas.openxmlformats.org/drawingml/2006/main">
              <a:ext uri="{FF2B5EF4-FFF2-40B4-BE49-F238E27FC236}">
                <a16:creationId xmlns:a16="http://schemas.microsoft.com/office/drawing/2014/main" id="{C508DD34-8108-4A74-98EC-460CB4B906C9}"/>
              </a:ext>
            </a:extLst>
          </p:cNvPr>
          <p:cNvSpPr>
            <a:spLocks xmlns:a="http://schemas.openxmlformats.org/drawingml/2006/main" noGrp="1"/>
          </p:cNvSpPr>
          <p:nvPr/>
        </p:nvSpPr>
        <p:spPr>
          <a:xfrm xmlns:a="http://schemas.openxmlformats.org/drawingml/2006/main">
            <a:off x="1133856" y="472744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Evals, Observability &amp; Auditability</a:t>
            </a:r>
            <a:endParaRPr sz="1100">
              <a:latin typeface="Helvetica Neue"/>
              <a:ea typeface="Helvetica Neue"/>
              <a:cs typeface="Helvetica Neue"/>
            </a:endParaRPr>
          </a:p>
        </p:txBody>
      </p:sp>
      <p:sp>
        <p:nvSpPr>
          <p:cNvPr id="41" name="Text 33">
            <a:extLst xmlns:a="http://schemas.openxmlformats.org/drawingml/2006/main">
              <a:ext uri="{FF2B5EF4-FFF2-40B4-BE49-F238E27FC236}">
                <a16:creationId xmlns:a16="http://schemas.microsoft.com/office/drawing/2014/main" id="{F50E6B34-DEDA-44D8-8F6F-E91E32D7BE08}"/>
              </a:ext>
            </a:extLst>
          </p:cNvPr>
          <p:cNvSpPr>
            <a:spLocks xmlns:a="http://schemas.openxmlformats.org/drawingml/2006/main" noGrp="1"/>
          </p:cNvSpPr>
          <p:nvPr/>
        </p:nvSpPr>
        <p:spPr>
          <a:xfrm xmlns:a="http://schemas.openxmlformats.org/drawingml/2006/main">
            <a:off x="4023360" y="472744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Behavioral evals test workflow correctness, retrieval, authority boundaries, and calculations. Traces link agents, tools, evidence, decisions, actions, and outcomes for reliability and audit.</a:t>
            </a:r>
            <a:endParaRPr sz="1050">
              <a:latin typeface="Helvetica Neue"/>
              <a:ea typeface="Helvetica Neue"/>
              <a:cs typeface="Helvetica Neue"/>
            </a:endParaRPr>
          </a:p>
        </p:txBody>
      </p:sp>
      <p:sp>
        <p:nvSpPr>
          <p:cNvPr id="42" name="Shape 34">
            <a:extLst xmlns:a="http://schemas.openxmlformats.org/drawingml/2006/main">
              <a:ext uri="{FF2B5EF4-FFF2-40B4-BE49-F238E27FC236}">
                <a16:creationId xmlns:a16="http://schemas.microsoft.com/office/drawing/2014/main" id="{0EFDFAD5-28D6-40DD-9E1F-87A993E0586D}"/>
              </a:ext>
            </a:extLst>
          </p:cNvPr>
          <p:cNvSpPr>
            <a:spLocks xmlns:a="http://schemas.openxmlformats.org/drawingml/2006/main" noGrp="1"/>
          </p:cNvSpPr>
          <p:nvPr/>
        </p:nvSpPr>
        <p:spPr>
          <a:xfrm xmlns:a="http://schemas.openxmlformats.org/drawingml/2006/main">
            <a:off x="457200" y="530352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3" name="Shape 35">
            <a:extLst xmlns:a="http://schemas.openxmlformats.org/drawingml/2006/main">
              <a:ext uri="{FF2B5EF4-FFF2-40B4-BE49-F238E27FC236}">
                <a16:creationId xmlns:a16="http://schemas.microsoft.com/office/drawing/2014/main" id="{405AEADB-4FE6-4256-BE19-3E410F83D917}"/>
              </a:ext>
            </a:extLst>
          </p:cNvPr>
          <p:cNvSpPr>
            <a:spLocks xmlns:a="http://schemas.openxmlformats.org/drawingml/2006/main" noGrp="1"/>
          </p:cNvSpPr>
          <p:nvPr/>
        </p:nvSpPr>
        <p:spPr>
          <a:xfrm xmlns:a="http://schemas.openxmlformats.org/drawingml/2006/main">
            <a:off x="457200" y="539496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4" name="Text 36">
            <a:extLst xmlns:a="http://schemas.openxmlformats.org/drawingml/2006/main">
              <a:ext uri="{FF2B5EF4-FFF2-40B4-BE49-F238E27FC236}">
                <a16:creationId xmlns:a16="http://schemas.microsoft.com/office/drawing/2014/main" id="{BAB8DA99-097B-4959-84BC-F613182D7B29}"/>
              </a:ext>
            </a:extLst>
          </p:cNvPr>
          <p:cNvSpPr>
            <a:spLocks xmlns:a="http://schemas.openxmlformats.org/drawingml/2006/main" noGrp="1"/>
          </p:cNvSpPr>
          <p:nvPr/>
        </p:nvSpPr>
        <p:spPr>
          <a:xfrm xmlns:a="http://schemas.openxmlformats.org/drawingml/2006/main">
            <a:off x="548640" y="539496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7</a:t>
            </a:r>
            <a:endParaRPr sz="1050">
              <a:latin typeface="Helvetica Neue"/>
              <a:ea typeface="Helvetica Neue"/>
              <a:cs typeface="Helvetica Neue"/>
            </a:endParaRPr>
          </a:p>
        </p:txBody>
      </p:sp>
      <p:pic>
        <p:nvPicPr>
          <p:cNvPr id="105" name="Image 6"/>
          <p:cNvPicPr>
            <a:picLocks xmlns:a="http://schemas.openxmlformats.org/drawingml/2006/main" noChangeAspect="1"/>
          </p:cNvPicPr>
          <p:nvPr/>
        </p:nvPicPr>
        <p:blipFill>
          <a:blip xmlns:r="http://schemas.openxmlformats.org/officeDocument/2006/relationships" xmlns:a="http://schemas.openxmlformats.org/drawingml/2006/main" r:embed="R5581e6005ea54e51"/>
          <a:stretch xmlns:a="http://schemas.openxmlformats.org/drawingml/2006/main">
            <a:fillRect l="0" t="0" r="0" b="0"/>
          </a:stretch>
        </p:blipFill>
        <p:spPr>
          <a:xfrm xmlns:a="http://schemas.openxmlformats.org/drawingml/2006/main">
            <a:off x="841248" y="5385816"/>
            <a:ext cx="201168" cy="201168"/>
          </a:xfrm>
          <a:prstGeom xmlns:a="http://schemas.openxmlformats.org/drawingml/2006/main" prst="rect">
            <a:avLst/>
          </a:prstGeom>
        </p:spPr>
      </p:pic>
      <p:sp>
        <p:nvSpPr>
          <p:cNvPr id="46" name="Text 37">
            <a:extLst xmlns:a="http://schemas.openxmlformats.org/drawingml/2006/main">
              <a:ext uri="{FF2B5EF4-FFF2-40B4-BE49-F238E27FC236}">
                <a16:creationId xmlns:a16="http://schemas.microsoft.com/office/drawing/2014/main" id="{10655B5C-66C7-44F5-8098-6E960C402B14}"/>
              </a:ext>
            </a:extLst>
          </p:cNvPr>
          <p:cNvSpPr>
            <a:spLocks xmlns:a="http://schemas.openxmlformats.org/drawingml/2006/main" noGrp="1"/>
          </p:cNvSpPr>
          <p:nvPr/>
        </p:nvSpPr>
        <p:spPr>
          <a:xfrm xmlns:a="http://schemas.openxmlformats.org/drawingml/2006/main">
            <a:off x="1133856" y="536752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Performance, Cost &amp; Scalability</a:t>
            </a:r>
            <a:endParaRPr sz="1100">
              <a:latin typeface="Helvetica Neue"/>
              <a:ea typeface="Helvetica Neue"/>
              <a:cs typeface="Helvetica Neue"/>
            </a:endParaRPr>
          </a:p>
        </p:txBody>
      </p:sp>
      <p:sp>
        <p:nvSpPr>
          <p:cNvPr id="47" name="Text 38">
            <a:extLst xmlns:a="http://schemas.openxmlformats.org/drawingml/2006/main">
              <a:ext uri="{FF2B5EF4-FFF2-40B4-BE49-F238E27FC236}">
                <a16:creationId xmlns:a16="http://schemas.microsoft.com/office/drawing/2014/main" id="{8F626A8B-B71C-437B-80AC-091AA5C7ACFC}"/>
              </a:ext>
            </a:extLst>
          </p:cNvPr>
          <p:cNvSpPr>
            <a:spLocks xmlns:a="http://schemas.openxmlformats.org/drawingml/2006/main" noGrp="1"/>
          </p:cNvSpPr>
          <p:nvPr/>
        </p:nvSpPr>
        <p:spPr>
          <a:xfrm xmlns:a="http://schemas.openxmlformats.org/drawingml/2006/main">
            <a:off x="4023360" y="536752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Models handle ambiguous reasoning; deterministic code handles calculations, policy, and routine operations. Isolated, bounded runs scale toward queues and worker pools without wasting inference.</a:t>
            </a:r>
            <a:endParaRPr sz="1050">
              <a:latin typeface="Helvetica Neue"/>
              <a:ea typeface="Helvetica Neue"/>
              <a:cs typeface="Helvetica Neue"/>
            </a:endParaRPr>
          </a:p>
        </p:txBody>
      </p:sp>
      <p:sp>
        <p:nvSpPr>
          <p:cNvPr id="48" name="Shape 39">
            <a:extLst xmlns:a="http://schemas.openxmlformats.org/drawingml/2006/main">
              <a:ext uri="{FF2B5EF4-FFF2-40B4-BE49-F238E27FC236}">
                <a16:creationId xmlns:a16="http://schemas.microsoft.com/office/drawing/2014/main" id="{A1D22906-2D7C-4F5C-BE25-382C7295A6B9}"/>
              </a:ext>
            </a:extLst>
          </p:cNvPr>
          <p:cNvSpPr>
            <a:spLocks xmlns:a="http://schemas.openxmlformats.org/drawingml/2006/main" noGrp="1"/>
          </p:cNvSpPr>
          <p:nvPr/>
        </p:nvSpPr>
        <p:spPr>
          <a:xfrm xmlns:a="http://schemas.openxmlformats.org/drawingml/2006/main">
            <a:off x="457200" y="5943600"/>
            <a:ext cx="11277295" cy="0"/>
          </a:xfrm>
          <a:prstGeom xmlns:a="http://schemas.openxmlformats.org/drawingml/2006/main" prst="line">
            <a:avLst/>
          </a:prstGeom>
          <a:noFill xmlns:a="http://schemas.openxmlformats.org/drawingml/2006/main"/>
          <a:ln xmlns:a="http://schemas.openxmlformats.org/drawingml/2006/main" w="6350">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49" name="Shape 40">
            <a:extLst xmlns:a="http://schemas.openxmlformats.org/drawingml/2006/main">
              <a:ext uri="{FF2B5EF4-FFF2-40B4-BE49-F238E27FC236}">
                <a16:creationId xmlns:a16="http://schemas.microsoft.com/office/drawing/2014/main" id="{60661FE1-610A-4CE1-BCB3-8EA8EE0825BD}"/>
              </a:ext>
            </a:extLst>
          </p:cNvPr>
          <p:cNvSpPr>
            <a:spLocks xmlns:a="http://schemas.openxmlformats.org/drawingml/2006/main" noGrp="1"/>
          </p:cNvSpPr>
          <p:nvPr/>
        </p:nvSpPr>
        <p:spPr>
          <a:xfrm xmlns:a="http://schemas.openxmlformats.org/drawingml/2006/main">
            <a:off x="457200" y="603504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0" name="Text 41">
            <a:extLst xmlns:a="http://schemas.openxmlformats.org/drawingml/2006/main">
              <a:ext uri="{FF2B5EF4-FFF2-40B4-BE49-F238E27FC236}">
                <a16:creationId xmlns:a16="http://schemas.microsoft.com/office/drawing/2014/main" id="{814CBF82-CA1A-44C3-9E8F-7C4595166743}"/>
              </a:ext>
            </a:extLst>
          </p:cNvPr>
          <p:cNvSpPr>
            <a:spLocks xmlns:a="http://schemas.openxmlformats.org/drawingml/2006/main" noGrp="1"/>
          </p:cNvSpPr>
          <p:nvPr/>
        </p:nvSpPr>
        <p:spPr>
          <a:xfrm xmlns:a="http://schemas.openxmlformats.org/drawingml/2006/main">
            <a:off x="548640" y="6035040"/>
            <a:ext cx="91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Helvetica Neue"/>
                <a:ea typeface="Helvetica Neue"/>
                <a:cs typeface="Helvetica Neue"/>
              </a:defRPr>
            </a:pPr>
            <a:r>
              <a:rPr sz="1050" b="0">
                <a:solidFill>
                  <a:srgbClr val="707070"/>
                </a:solidFill>
                <a:latin typeface="Helvetica Neue"/>
                <a:ea typeface="Helvetica Neue"/>
                <a:cs typeface="Helvetica Neue"/>
              </a:rPr>
              <a:t>8</a:t>
            </a:r>
            <a:endParaRPr sz="1050">
              <a:latin typeface="Helvetica Neue"/>
              <a:ea typeface="Helvetica Neue"/>
              <a:cs typeface="Helvetica Neue"/>
            </a:endParaRPr>
          </a:p>
        </p:txBody>
      </p:sp>
      <p:pic>
        <p:nvPicPr>
          <p:cNvPr id="111" name="Image 7"/>
          <p:cNvPicPr>
            <a:picLocks xmlns:a="http://schemas.openxmlformats.org/drawingml/2006/main" noChangeAspect="1"/>
          </p:cNvPicPr>
          <p:nvPr/>
        </p:nvPicPr>
        <p:blipFill>
          <a:blip xmlns:r="http://schemas.openxmlformats.org/officeDocument/2006/relationships" xmlns:a="http://schemas.openxmlformats.org/drawingml/2006/main" r:embed="R0a89bc63f7c541aa"/>
          <a:stretch xmlns:a="http://schemas.openxmlformats.org/drawingml/2006/main">
            <a:fillRect l="0" t="0" r="0" b="0"/>
          </a:stretch>
        </p:blipFill>
        <p:spPr>
          <a:xfrm xmlns:a="http://schemas.openxmlformats.org/drawingml/2006/main">
            <a:off x="841248" y="6025896"/>
            <a:ext cx="201168" cy="201168"/>
          </a:xfrm>
          <a:prstGeom xmlns:a="http://schemas.openxmlformats.org/drawingml/2006/main" prst="rect">
            <a:avLst/>
          </a:prstGeom>
        </p:spPr>
      </p:pic>
      <p:sp>
        <p:nvSpPr>
          <p:cNvPr id="52" name="Text 42">
            <a:extLst xmlns:a="http://schemas.openxmlformats.org/drawingml/2006/main">
              <a:ext uri="{FF2B5EF4-FFF2-40B4-BE49-F238E27FC236}">
                <a16:creationId xmlns:a16="http://schemas.microsoft.com/office/drawing/2014/main" id="{47AD059B-F308-486A-B152-D45C9BDB9109}"/>
              </a:ext>
            </a:extLst>
          </p:cNvPr>
          <p:cNvSpPr>
            <a:spLocks xmlns:a="http://schemas.openxmlformats.org/drawingml/2006/main" noGrp="1"/>
          </p:cNvSpPr>
          <p:nvPr/>
        </p:nvSpPr>
        <p:spPr>
          <a:xfrm xmlns:a="http://schemas.openxmlformats.org/drawingml/2006/main">
            <a:off x="1133856" y="600760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Product UX &amp; Operating Model</a:t>
            </a:r>
            <a:endParaRPr sz="1100">
              <a:latin typeface="Helvetica Neue"/>
              <a:ea typeface="Helvetica Neue"/>
              <a:cs typeface="Helvetica Neue"/>
            </a:endParaRPr>
          </a:p>
        </p:txBody>
      </p:sp>
      <p:sp>
        <p:nvSpPr>
          <p:cNvPr id="53" name="Text 43">
            <a:extLst xmlns:a="http://schemas.openxmlformats.org/drawingml/2006/main">
              <a:ext uri="{FF2B5EF4-FFF2-40B4-BE49-F238E27FC236}">
                <a16:creationId xmlns:a16="http://schemas.microsoft.com/office/drawing/2014/main" id="{B4460F1E-6599-4E42-9052-3ADD697DADA4}"/>
              </a:ext>
            </a:extLst>
          </p:cNvPr>
          <p:cNvSpPr>
            <a:spLocks xmlns:a="http://schemas.openxmlformats.org/drawingml/2006/main" noGrp="1"/>
          </p:cNvSpPr>
          <p:nvPr/>
        </p:nvSpPr>
        <p:spPr>
          <a:xfrm xmlns:a="http://schemas.openxmlformats.org/drawingml/2006/main">
            <a:off x="4023360" y="600760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Manual, conversational, and event-driven starts share one governed runtime. Persona-tailored screens show autonomy, handoffs, evidence, and business state, not raw agent mechanics.</a:t>
            </a:r>
            <a:endParaRPr sz="1050">
              <a:latin typeface="Helvetica Neue"/>
              <a:ea typeface="Helvetica Neue"/>
              <a:cs typeface="Helvetica Neue"/>
            </a:endParaRPr>
          </a:p>
        </p:txBody>
      </p:sp>
    </p:spTree>
    <p:extLst>
      <p:ext uri="{BB962C8B-B14F-4D97-AF65-F5344CB8AC3E}">
        <p14:creationId xmlns:p14="http://schemas.microsoft.com/office/powerpoint/2010/main" val="13704496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EBB3AC-A269-44CF-9339-3FC5A93949C6}"/>
              </a:ext>
            </a:extLst>
          </p:cNvPr>
          <p:cNvSpPr>
            <a:spLocks xmlns:a="http://schemas.openxmlformats.org/drawingml/2006/main" noGrp="1"/>
          </p:cNvSpPr>
          <p:nvPr/>
        </p:nvSpPr>
        <p:spPr>
          <a:xfrm xmlns:a="http://schemas.openxmlformats.org/drawingml/2006/main">
            <a:off x="457200" y="292608"/>
            <a:ext cx="11277295"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00" b="0">
                <a:solidFill>
                  <a:srgbClr val="707070"/>
                </a:solidFill>
                <a:latin typeface="Helvetica Neue"/>
                <a:ea typeface="Helvetica Neue"/>
                <a:cs typeface="Helvetica Neue"/>
              </a:rPr>
              <a:t>Production and future expansion</a:t>
            </a:r>
            <a:endParaRPr sz="1000">
              <a:latin typeface="Helvetica Neue"/>
              <a:ea typeface="Helvetica Neue"/>
              <a:cs typeface="Helvetica Neue"/>
            </a:endParaRPr>
          </a:p>
        </p:txBody>
      </p:sp>
      <p:sp>
        <p:nvSpPr>
          <p:cNvPr id="3" name="Text 1">
            <a:extLst xmlns:a="http://schemas.openxmlformats.org/drawingml/2006/main">
              <a:ext uri="{FF2B5EF4-FFF2-40B4-BE49-F238E27FC236}">
                <a16:creationId xmlns:a16="http://schemas.microsoft.com/office/drawing/2014/main" id="{13D73194-C898-4F11-AE27-FF0F4BBDD5C4}"/>
              </a:ext>
            </a:extLst>
          </p:cNvPr>
          <p:cNvSpPr>
            <a:spLocks xmlns:a="http://schemas.openxmlformats.org/drawingml/2006/main" noGrp="1"/>
          </p:cNvSpPr>
          <p:nvPr/>
        </p:nvSpPr>
        <p:spPr>
          <a:xfrm xmlns:a="http://schemas.openxmlformats.org/drawingml/2006/main">
            <a:off x="457200" y="514350"/>
            <a:ext cx="1127760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2600" b="0">
                <a:solidFill>
                  <a:srgbClr val="101010"/>
                </a:solidFill>
                <a:latin typeface="Helvetica Neue"/>
                <a:ea typeface="Helvetica Neue"/>
                <a:cs typeface="Helvetica Neue"/>
              </a:rPr>
              <a:t>Production hardens the same architecture. Autonomy expands only as measured results allow.</a:t>
            </a:r>
            <a:endParaRPr sz="2600">
              <a:latin typeface="Helvetica Neue"/>
              <a:ea typeface="Helvetica Neue"/>
              <a:cs typeface="Helvetica Neue"/>
            </a:endParaRPr>
          </a:p>
        </p:txBody>
      </p:sp>
      <p:sp>
        <p:nvSpPr>
          <p:cNvPr id="4" name="Shape 2">
            <a:extLst xmlns:a="http://schemas.openxmlformats.org/drawingml/2006/main">
              <a:ext uri="{FF2B5EF4-FFF2-40B4-BE49-F238E27FC236}">
                <a16:creationId xmlns:a16="http://schemas.microsoft.com/office/drawing/2014/main" id="{FCFB864D-5987-48EF-9F02-139A9426C22E}"/>
              </a:ext>
            </a:extLst>
          </p:cNvPr>
          <p:cNvSpPr>
            <a:spLocks xmlns:a="http://schemas.openxmlformats.org/drawingml/2006/main" noGrp="1"/>
          </p:cNvSpPr>
          <p:nvPr/>
        </p:nvSpPr>
        <p:spPr>
          <a:xfrm xmlns:a="http://schemas.openxmlformats.org/drawingml/2006/main">
            <a:off x="457200" y="1371600"/>
            <a:ext cx="11277295" cy="0"/>
          </a:xfrm>
          <a:prstGeom xmlns:a="http://schemas.openxmlformats.org/drawingml/2006/main" prst="line">
            <a:avLst/>
          </a:prstGeom>
          <a:noFill xmlns:a="http://schemas.openxmlformats.org/drawingml/2006/main"/>
          <a:ln xmlns:a="http://schemas.openxmlformats.org/drawingml/2006/main" w="9525">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5" name="Text 3">
            <a:extLst xmlns:a="http://schemas.openxmlformats.org/drawingml/2006/main">
              <a:ext uri="{FF2B5EF4-FFF2-40B4-BE49-F238E27FC236}">
                <a16:creationId xmlns:a16="http://schemas.microsoft.com/office/drawing/2014/main" id="{D0FE81F4-F546-405B-8691-A84E31596E19}"/>
              </a:ext>
            </a:extLst>
          </p:cNvPr>
          <p:cNvSpPr>
            <a:spLocks xmlns:a="http://schemas.openxmlformats.org/drawingml/2006/main" noGrp="1"/>
          </p:cNvSpPr>
          <p:nvPr/>
        </p:nvSpPr>
        <p:spPr>
          <a:xfrm xmlns:a="http://schemas.openxmlformats.org/drawingml/2006/main">
            <a:off x="457200" y="1536192"/>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300" b="0">
                <a:solidFill>
                  <a:srgbClr val="101010"/>
                </a:solidFill>
                <a:latin typeface="Helvetica Neue"/>
                <a:ea typeface="Helvetica Neue"/>
                <a:cs typeface="Helvetica Neue"/>
              </a:rPr>
              <a:t>Connect and secure</a:t>
            </a:r>
            <a:endParaRPr sz="1300">
              <a:latin typeface="Helvetica Neue"/>
              <a:ea typeface="Helvetica Neue"/>
              <a:cs typeface="Helvetica Neue"/>
            </a:endParaRPr>
          </a:p>
        </p:txBody>
      </p:sp>
      <p:sp>
        <p:nvSpPr>
          <p:cNvPr id="6" name="Text 4">
            <a:extLst xmlns:a="http://schemas.openxmlformats.org/drawingml/2006/main">
              <a:ext uri="{FF2B5EF4-FFF2-40B4-BE49-F238E27FC236}">
                <a16:creationId xmlns:a16="http://schemas.microsoft.com/office/drawing/2014/main" id="{00B19C6B-2856-4309-AA45-1C8C634DC543}"/>
              </a:ext>
            </a:extLst>
          </p:cNvPr>
          <p:cNvSpPr>
            <a:spLocks xmlns:a="http://schemas.openxmlformats.org/drawingml/2006/main" noGrp="1"/>
          </p:cNvSpPr>
          <p:nvPr/>
        </p:nvSpPr>
        <p:spPr>
          <a:xfrm xmlns:a="http://schemas.openxmlformats.org/drawingml/2006/main">
            <a:off x="457200" y="1773936"/>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707070"/>
                </a:solidFill>
                <a:latin typeface="Helvetica Neue"/>
                <a:ea typeface="Helvetica Neue"/>
                <a:cs typeface="Helvetica Neue"/>
              </a:rPr>
              <a:t>Identity, real systems, data</a:t>
            </a:r>
            <a:endParaRPr sz="900">
              <a:latin typeface="Helvetica Neue"/>
              <a:ea typeface="Helvetica Neue"/>
              <a:cs typeface="Helvetica Neue"/>
            </a:endParaRPr>
          </a:p>
        </p:txBody>
      </p:sp>
      <p:sp>
        <p:nvSpPr>
          <p:cNvPr id="7" name="Shape 5">
            <a:extLst xmlns:a="http://schemas.openxmlformats.org/drawingml/2006/main">
              <a:ext uri="{FF2B5EF4-FFF2-40B4-BE49-F238E27FC236}">
                <a16:creationId xmlns:a16="http://schemas.microsoft.com/office/drawing/2014/main" id="{7FD63448-8396-4B01-A01B-42CE2796BF4C}"/>
              </a:ext>
            </a:extLst>
          </p:cNvPr>
          <p:cNvSpPr>
            <a:spLocks xmlns:a="http://schemas.openxmlformats.org/drawingml/2006/main" noGrp="1"/>
          </p:cNvSpPr>
          <p:nvPr/>
        </p:nvSpPr>
        <p:spPr>
          <a:xfrm xmlns:a="http://schemas.openxmlformats.org/drawingml/2006/main">
            <a:off x="2560320"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6c4b6493a77a4203"/>
          <a:stretch xmlns:a="http://schemas.openxmlformats.org/drawingml/2006/main">
            <a:fillRect l="0" t="0" r="0" b="0"/>
          </a:stretch>
        </p:blipFill>
        <p:spPr>
          <a:xfrm xmlns:a="http://schemas.openxmlformats.org/drawingml/2006/main">
            <a:off x="2688336" y="1664208"/>
            <a:ext cx="201168" cy="201168"/>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799C4BB8-EE30-405C-A112-A4CD2DB46423}"/>
              </a:ext>
            </a:extLst>
          </p:cNvPr>
          <p:cNvSpPr>
            <a:spLocks xmlns:a="http://schemas.openxmlformats.org/drawingml/2006/main" noGrp="1"/>
          </p:cNvSpPr>
          <p:nvPr/>
        </p:nvSpPr>
        <p:spPr>
          <a:xfrm xmlns:a="http://schemas.openxmlformats.org/drawingml/2006/main">
            <a:off x="2962656"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Authentication, SSO &amp; RBAC</a:t>
            </a:r>
            <a:endParaRPr sz="1100">
              <a:latin typeface="Helvetica Neue"/>
              <a:ea typeface="Helvetica Neue"/>
              <a:cs typeface="Helvetica Neue"/>
            </a:endParaRPr>
          </a:p>
        </p:txBody>
      </p:sp>
      <p:sp>
        <p:nvSpPr>
          <p:cNvPr id="10" name="Text 7">
            <a:extLst xmlns:a="http://schemas.openxmlformats.org/drawingml/2006/main">
              <a:ext uri="{FF2B5EF4-FFF2-40B4-BE49-F238E27FC236}">
                <a16:creationId xmlns:a16="http://schemas.microsoft.com/office/drawing/2014/main" id="{CC21894F-527A-418B-9A2B-E32EB0EE1475}"/>
              </a:ext>
            </a:extLst>
          </p:cNvPr>
          <p:cNvSpPr>
            <a:spLocks xmlns:a="http://schemas.openxmlformats.org/drawingml/2006/main" noGrp="1"/>
          </p:cNvSpPr>
          <p:nvPr/>
        </p:nvSpPr>
        <p:spPr>
          <a:xfrm xmlns:a="http://schemas.openxmlformats.org/drawingml/2006/main">
            <a:off x="2688336"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Integrate with enterprise identity providers for user authentication/SSO, map roles and groups to RBAC, and enforce least-privilege access to agents, tools, data, and actions.</a:t>
            </a:r>
            <a:endParaRPr sz="1050">
              <a:latin typeface="Helvetica Neue"/>
              <a:ea typeface="Helvetica Neue"/>
              <a:cs typeface="Helvetica Neue"/>
            </a:endParaRPr>
          </a:p>
        </p:txBody>
      </p:sp>
      <p:sp>
        <p:nvSpPr>
          <p:cNvPr id="11" name="Shape 8">
            <a:extLst xmlns:a="http://schemas.openxmlformats.org/drawingml/2006/main">
              <a:ext uri="{FF2B5EF4-FFF2-40B4-BE49-F238E27FC236}">
                <a16:creationId xmlns:a16="http://schemas.microsoft.com/office/drawing/2014/main" id="{A477A53D-588A-4AF7-A373-AC805F320B7D}"/>
              </a:ext>
            </a:extLst>
          </p:cNvPr>
          <p:cNvSpPr>
            <a:spLocks xmlns:a="http://schemas.openxmlformats.org/drawingml/2006/main" noGrp="1"/>
          </p:cNvSpPr>
          <p:nvPr/>
        </p:nvSpPr>
        <p:spPr>
          <a:xfrm xmlns:a="http://schemas.openxmlformats.org/drawingml/2006/main">
            <a:off x="5678424"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31056fd939dd4757"/>
          <a:stretch xmlns:a="http://schemas.openxmlformats.org/drawingml/2006/main">
            <a:fillRect l="0" t="0" r="0" b="0"/>
          </a:stretch>
        </p:blipFill>
        <p:spPr>
          <a:xfrm xmlns:a="http://schemas.openxmlformats.org/drawingml/2006/main">
            <a:off x="5806440" y="1664208"/>
            <a:ext cx="201168" cy="201168"/>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A428FD95-0183-418D-AF39-CB04C5282028}"/>
              </a:ext>
            </a:extLst>
          </p:cNvPr>
          <p:cNvSpPr>
            <a:spLocks xmlns:a="http://schemas.openxmlformats.org/drawingml/2006/main" noGrp="1"/>
          </p:cNvSpPr>
          <p:nvPr/>
        </p:nvSpPr>
        <p:spPr>
          <a:xfrm xmlns:a="http://schemas.openxmlformats.org/drawingml/2006/main">
            <a:off x="6080760"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Real Enterprise Integrations</a:t>
            </a:r>
            <a:endParaRPr sz="1100">
              <a:latin typeface="Helvetica Neue"/>
              <a:ea typeface="Helvetica Neue"/>
              <a:cs typeface="Helvetica Neue"/>
            </a:endParaRPr>
          </a:p>
        </p:txBody>
      </p:sp>
      <p:sp>
        <p:nvSpPr>
          <p:cNvPr id="14" name="Text 10">
            <a:extLst xmlns:a="http://schemas.openxmlformats.org/drawingml/2006/main">
              <a:ext uri="{FF2B5EF4-FFF2-40B4-BE49-F238E27FC236}">
                <a16:creationId xmlns:a16="http://schemas.microsoft.com/office/drawing/2014/main" id="{3612CA30-3F9D-4F8B-9D75-8A4F9DB9F6BF}"/>
              </a:ext>
            </a:extLst>
          </p:cNvPr>
          <p:cNvSpPr>
            <a:spLocks xmlns:a="http://schemas.openxmlformats.org/drawingml/2006/main" noGrp="1"/>
          </p:cNvSpPr>
          <p:nvPr/>
        </p:nvSpPr>
        <p:spPr>
          <a:xfrm xmlns:a="http://schemas.openxmlformats.org/drawingml/2006/main">
            <a:off x="5806440"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Connect production PLM, MES, ERP, TestOps, planning, and internal systems while keeping those systems authoritative.</a:t>
            </a:r>
            <a:endParaRPr sz="1050">
              <a:latin typeface="Helvetica Neue"/>
              <a:ea typeface="Helvetica Neue"/>
              <a:cs typeface="Helvetica Neue"/>
            </a:endParaRPr>
          </a:p>
        </p:txBody>
      </p:sp>
      <p:sp>
        <p:nvSpPr>
          <p:cNvPr id="15" name="Shape 11">
            <a:extLst xmlns:a="http://schemas.openxmlformats.org/drawingml/2006/main">
              <a:ext uri="{FF2B5EF4-FFF2-40B4-BE49-F238E27FC236}">
                <a16:creationId xmlns:a16="http://schemas.microsoft.com/office/drawing/2014/main" id="{18E898E8-01C7-4A5C-9B13-7EAEC93E8203}"/>
              </a:ext>
            </a:extLst>
          </p:cNvPr>
          <p:cNvSpPr>
            <a:spLocks xmlns:a="http://schemas.openxmlformats.org/drawingml/2006/main" noGrp="1"/>
          </p:cNvSpPr>
          <p:nvPr/>
        </p:nvSpPr>
        <p:spPr>
          <a:xfrm xmlns:a="http://schemas.openxmlformats.org/drawingml/2006/main">
            <a:off x="8796528"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fa540226a8c84a0d"/>
          <a:stretch xmlns:a="http://schemas.openxmlformats.org/drawingml/2006/main">
            <a:fillRect l="0" t="0" r="0" b="0"/>
          </a:stretch>
        </p:blipFill>
        <p:spPr>
          <a:xfrm xmlns:a="http://schemas.openxmlformats.org/drawingml/2006/main">
            <a:off x="8924544" y="1664208"/>
            <a:ext cx="201168" cy="201168"/>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B039F34A-EC3E-4CA9-8487-542B699F2F89}"/>
              </a:ext>
            </a:extLst>
          </p:cNvPr>
          <p:cNvSpPr>
            <a:spLocks xmlns:a="http://schemas.openxmlformats.org/drawingml/2006/main" noGrp="1"/>
          </p:cNvSpPr>
          <p:nvPr/>
        </p:nvSpPr>
        <p:spPr>
          <a:xfrm xmlns:a="http://schemas.openxmlformats.org/drawingml/2006/main">
            <a:off x="9198864"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Security &amp; Data Governance</a:t>
            </a:r>
            <a:endParaRPr sz="1100">
              <a:latin typeface="Helvetica Neue"/>
              <a:ea typeface="Helvetica Neue"/>
              <a:cs typeface="Helvetica Neue"/>
            </a:endParaRPr>
          </a:p>
        </p:txBody>
      </p:sp>
      <p:sp>
        <p:nvSpPr>
          <p:cNvPr id="18" name="Text 13">
            <a:extLst xmlns:a="http://schemas.openxmlformats.org/drawingml/2006/main">
              <a:ext uri="{FF2B5EF4-FFF2-40B4-BE49-F238E27FC236}">
                <a16:creationId xmlns:a16="http://schemas.microsoft.com/office/drawing/2014/main" id="{B10B20F7-D573-4AE9-997E-023D7DA136AB}"/>
              </a:ext>
            </a:extLst>
          </p:cNvPr>
          <p:cNvSpPr>
            <a:spLocks xmlns:a="http://schemas.openxmlformats.org/drawingml/2006/main" noGrp="1"/>
          </p:cNvSpPr>
          <p:nvPr/>
        </p:nvSpPr>
        <p:spPr>
          <a:xfrm xmlns:a="http://schemas.openxmlformats.org/drawingml/2006/main">
            <a:off x="8924544"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Add secrets management, encryption, data isolation, retention policies, audit logging, and prompt/tool abuse protections.</a:t>
            </a:r>
            <a:endParaRPr sz="1050">
              <a:latin typeface="Helvetica Neue"/>
              <a:ea typeface="Helvetica Neue"/>
              <a:cs typeface="Helvetica Neue"/>
            </a:endParaRPr>
          </a:p>
        </p:txBody>
      </p:sp>
      <p:sp>
        <p:nvSpPr>
          <p:cNvPr id="19" name="Shape 14">
            <a:extLst xmlns:a="http://schemas.openxmlformats.org/drawingml/2006/main">
              <a:ext uri="{FF2B5EF4-FFF2-40B4-BE49-F238E27FC236}">
                <a16:creationId xmlns:a16="http://schemas.microsoft.com/office/drawing/2014/main" id="{DE2A6CA4-E057-444A-B9EB-5BD57D24CAAA}"/>
              </a:ext>
            </a:extLst>
          </p:cNvPr>
          <p:cNvSpPr>
            <a:spLocks xmlns:a="http://schemas.openxmlformats.org/drawingml/2006/main" noGrp="1"/>
          </p:cNvSpPr>
          <p:nvPr/>
        </p:nvSpPr>
        <p:spPr>
          <a:xfrm xmlns:a="http://schemas.openxmlformats.org/drawingml/2006/main">
            <a:off x="457200" y="3108960"/>
            <a:ext cx="11277295" cy="0"/>
          </a:xfrm>
          <a:prstGeom xmlns:a="http://schemas.openxmlformats.org/drawingml/2006/main" prst="line">
            <a:avLst/>
          </a:prstGeom>
          <a:noFill xmlns:a="http://schemas.openxmlformats.org/drawingml/2006/main"/>
          <a:ln xmlns:a="http://schemas.openxmlformats.org/drawingml/2006/main" w="9525">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20" name="Text 15">
            <a:extLst xmlns:a="http://schemas.openxmlformats.org/drawingml/2006/main">
              <a:ext uri="{FF2B5EF4-FFF2-40B4-BE49-F238E27FC236}">
                <a16:creationId xmlns:a16="http://schemas.microsoft.com/office/drawing/2014/main" id="{3C37B6BD-639C-47A6-825F-C4BDE12EAE6E}"/>
              </a:ext>
            </a:extLst>
          </p:cNvPr>
          <p:cNvSpPr>
            <a:spLocks xmlns:a="http://schemas.openxmlformats.org/drawingml/2006/main" noGrp="1"/>
          </p:cNvSpPr>
          <p:nvPr/>
        </p:nvSpPr>
        <p:spPr>
          <a:xfrm xmlns:a="http://schemas.openxmlformats.org/drawingml/2006/main">
            <a:off x="457200" y="3273552"/>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300" b="0">
                <a:solidFill>
                  <a:srgbClr val="101010"/>
                </a:solidFill>
                <a:latin typeface="Helvetica Neue"/>
                <a:ea typeface="Helvetica Neue"/>
                <a:cs typeface="Helvetica Neue"/>
              </a:rPr>
              <a:t>Run reliably at scale</a:t>
            </a:r>
            <a:endParaRPr sz="1300">
              <a:latin typeface="Helvetica Neue"/>
              <a:ea typeface="Helvetica Neue"/>
              <a:cs typeface="Helvetica Neue"/>
            </a:endParaRPr>
          </a:p>
        </p:txBody>
      </p:sp>
      <p:sp>
        <p:nvSpPr>
          <p:cNvPr id="21" name="Text 16">
            <a:extLst xmlns:a="http://schemas.openxmlformats.org/drawingml/2006/main">
              <a:ext uri="{FF2B5EF4-FFF2-40B4-BE49-F238E27FC236}">
                <a16:creationId xmlns:a16="http://schemas.microsoft.com/office/drawing/2014/main" id="{5AE59BDD-C70C-442C-91DF-AF6DB253907B}"/>
              </a:ext>
            </a:extLst>
          </p:cNvPr>
          <p:cNvSpPr>
            <a:spLocks xmlns:a="http://schemas.openxmlformats.org/drawingml/2006/main" noGrp="1"/>
          </p:cNvSpPr>
          <p:nvPr/>
        </p:nvSpPr>
        <p:spPr>
          <a:xfrm xmlns:a="http://schemas.openxmlformats.org/drawingml/2006/main">
            <a:off x="457200" y="3511296"/>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707070"/>
                </a:solidFill>
                <a:latin typeface="Helvetica Neue"/>
                <a:ea typeface="Helvetica Neue"/>
                <a:cs typeface="Helvetica Neue"/>
              </a:rPr>
              <a:t>Routing, runtime, safe execution</a:t>
            </a:r>
            <a:endParaRPr sz="900">
              <a:latin typeface="Helvetica Neue"/>
              <a:ea typeface="Helvetica Neue"/>
              <a:cs typeface="Helvetica Neue"/>
            </a:endParaRPr>
          </a:p>
        </p:txBody>
      </p:sp>
      <p:sp>
        <p:nvSpPr>
          <p:cNvPr id="22" name="Shape 17">
            <a:extLst xmlns:a="http://schemas.openxmlformats.org/drawingml/2006/main">
              <a:ext uri="{FF2B5EF4-FFF2-40B4-BE49-F238E27FC236}">
                <a16:creationId xmlns:a16="http://schemas.microsoft.com/office/drawing/2014/main" id="{3A201A54-5F41-4D92-BB47-E1D218B5C84B}"/>
              </a:ext>
            </a:extLst>
          </p:cNvPr>
          <p:cNvSpPr>
            <a:spLocks xmlns:a="http://schemas.openxmlformats.org/drawingml/2006/main" noGrp="1"/>
          </p:cNvSpPr>
          <p:nvPr/>
        </p:nvSpPr>
        <p:spPr>
          <a:xfrm xmlns:a="http://schemas.openxmlformats.org/drawingml/2006/main">
            <a:off x="2560320"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ce9f6c6e56d34f82"/>
          <a:stretch xmlns:a="http://schemas.openxmlformats.org/drawingml/2006/main">
            <a:fillRect l="0" t="0" r="0" b="0"/>
          </a:stretch>
        </p:blipFill>
        <p:spPr>
          <a:xfrm xmlns:a="http://schemas.openxmlformats.org/drawingml/2006/main">
            <a:off x="2688336" y="3401568"/>
            <a:ext cx="201168" cy="201168"/>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46ADA35C-4A9C-4B31-BDA3-13793AFDC4C1}"/>
              </a:ext>
            </a:extLst>
          </p:cNvPr>
          <p:cNvSpPr>
            <a:spLocks xmlns:a="http://schemas.openxmlformats.org/drawingml/2006/main" noGrp="1"/>
          </p:cNvSpPr>
          <p:nvPr/>
        </p:nvSpPr>
        <p:spPr>
          <a:xfrm xmlns:a="http://schemas.openxmlformats.org/drawingml/2006/main">
            <a:off x="2962656"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Dynamic Model Routing</a:t>
            </a:r>
            <a:endParaRPr sz="1100">
              <a:latin typeface="Helvetica Neue"/>
              <a:ea typeface="Helvetica Neue"/>
              <a:cs typeface="Helvetica Neue"/>
            </a:endParaRPr>
          </a:p>
        </p:txBody>
      </p:sp>
      <p:sp>
        <p:nvSpPr>
          <p:cNvPr id="25" name="Text 19">
            <a:extLst xmlns:a="http://schemas.openxmlformats.org/drawingml/2006/main">
              <a:ext uri="{FF2B5EF4-FFF2-40B4-BE49-F238E27FC236}">
                <a16:creationId xmlns:a16="http://schemas.microsoft.com/office/drawing/2014/main" id="{6BFB8F6B-DC88-4CE4-A76D-57D1EC592099}"/>
              </a:ext>
            </a:extLst>
          </p:cNvPr>
          <p:cNvSpPr>
            <a:spLocks xmlns:a="http://schemas.openxmlformats.org/drawingml/2006/main" noGrp="1"/>
          </p:cNvSpPr>
          <p:nvPr/>
        </p:nvSpPr>
        <p:spPr>
          <a:xfrm xmlns:a="http://schemas.openxmlformats.org/drawingml/2006/main">
            <a:off x="2688336"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Route each task to the right model based on required quality, complexity, latency, and cost, with fallback/escalation when needed.</a:t>
            </a:r>
            <a:endParaRPr sz="1050">
              <a:latin typeface="Helvetica Neue"/>
              <a:ea typeface="Helvetica Neue"/>
              <a:cs typeface="Helvetica Neue"/>
            </a:endParaRPr>
          </a:p>
        </p:txBody>
      </p:sp>
      <p:sp>
        <p:nvSpPr>
          <p:cNvPr id="26" name="Shape 20">
            <a:extLst xmlns:a="http://schemas.openxmlformats.org/drawingml/2006/main">
              <a:ext uri="{FF2B5EF4-FFF2-40B4-BE49-F238E27FC236}">
                <a16:creationId xmlns:a16="http://schemas.microsoft.com/office/drawing/2014/main" id="{6C78D851-9CAF-430B-8315-E44C1F6299A2}"/>
              </a:ext>
            </a:extLst>
          </p:cNvPr>
          <p:cNvSpPr>
            <a:spLocks xmlns:a="http://schemas.openxmlformats.org/drawingml/2006/main" noGrp="1"/>
          </p:cNvSpPr>
          <p:nvPr/>
        </p:nvSpPr>
        <p:spPr>
          <a:xfrm xmlns:a="http://schemas.openxmlformats.org/drawingml/2006/main">
            <a:off x="5678424"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78" name="Image 4"/>
          <p:cNvPicPr>
            <a:picLocks xmlns:a="http://schemas.openxmlformats.org/drawingml/2006/main" noChangeAspect="1"/>
          </p:cNvPicPr>
          <p:nvPr/>
        </p:nvPicPr>
        <p:blipFill>
          <a:blip xmlns:r="http://schemas.openxmlformats.org/officeDocument/2006/relationships" xmlns:a="http://schemas.openxmlformats.org/drawingml/2006/main" r:embed="R6e8263ea42134f58"/>
          <a:stretch xmlns:a="http://schemas.openxmlformats.org/drawingml/2006/main">
            <a:fillRect l="0" t="0" r="0" b="0"/>
          </a:stretch>
        </p:blipFill>
        <p:spPr>
          <a:xfrm xmlns:a="http://schemas.openxmlformats.org/drawingml/2006/main">
            <a:off x="5806440" y="3401568"/>
            <a:ext cx="201168" cy="201168"/>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3DB40A8C-B92E-4473-B7EB-F78CE7FF49A9}"/>
              </a:ext>
            </a:extLst>
          </p:cNvPr>
          <p:cNvSpPr>
            <a:spLocks xmlns:a="http://schemas.openxmlformats.org/drawingml/2006/main" noGrp="1"/>
          </p:cNvSpPr>
          <p:nvPr/>
        </p:nvSpPr>
        <p:spPr>
          <a:xfrm xmlns:a="http://schemas.openxmlformats.org/drawingml/2006/main">
            <a:off x="6080760"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Durable Runtime &amp; Horizontal Scale</a:t>
            </a:r>
            <a:endParaRPr sz="1100">
              <a:latin typeface="Helvetica Neue"/>
              <a:ea typeface="Helvetica Neue"/>
              <a:cs typeface="Helvetica Neue"/>
            </a:endParaRPr>
          </a:p>
        </p:txBody>
      </p:sp>
      <p:sp>
        <p:nvSpPr>
          <p:cNvPr id="29" name="Text 22">
            <a:extLst xmlns:a="http://schemas.openxmlformats.org/drawingml/2006/main">
              <a:ext uri="{FF2B5EF4-FFF2-40B4-BE49-F238E27FC236}">
                <a16:creationId xmlns:a16="http://schemas.microsoft.com/office/drawing/2014/main" id="{65DDA9E8-83D8-46B2-B42F-8C0D3A85A32E}"/>
              </a:ext>
            </a:extLst>
          </p:cNvPr>
          <p:cNvSpPr>
            <a:spLocks xmlns:a="http://schemas.openxmlformats.org/drawingml/2006/main" noGrp="1"/>
          </p:cNvSpPr>
          <p:nvPr/>
        </p:nvSpPr>
        <p:spPr>
          <a:xfrm xmlns:a="http://schemas.openxmlformats.org/drawingml/2006/main">
            <a:off x="5806440"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Add durable queues/workflow orchestration, stateless workers, checkpoints, retries, and support for many concurrent cases.</a:t>
            </a:r>
            <a:endParaRPr sz="1050">
              <a:latin typeface="Helvetica Neue"/>
              <a:ea typeface="Helvetica Neue"/>
              <a:cs typeface="Helvetica Neue"/>
            </a:endParaRPr>
          </a:p>
        </p:txBody>
      </p:sp>
      <p:sp>
        <p:nvSpPr>
          <p:cNvPr id="30" name="Shape 23">
            <a:extLst xmlns:a="http://schemas.openxmlformats.org/drawingml/2006/main">
              <a:ext uri="{FF2B5EF4-FFF2-40B4-BE49-F238E27FC236}">
                <a16:creationId xmlns:a16="http://schemas.microsoft.com/office/drawing/2014/main" id="{694C547D-E78A-4709-883E-E11278094E8E}"/>
              </a:ext>
            </a:extLst>
          </p:cNvPr>
          <p:cNvSpPr>
            <a:spLocks xmlns:a="http://schemas.openxmlformats.org/drawingml/2006/main" noGrp="1"/>
          </p:cNvSpPr>
          <p:nvPr/>
        </p:nvSpPr>
        <p:spPr>
          <a:xfrm xmlns:a="http://schemas.openxmlformats.org/drawingml/2006/main">
            <a:off x="8796528"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82" name="Image 5"/>
          <p:cNvPicPr>
            <a:picLocks xmlns:a="http://schemas.openxmlformats.org/drawingml/2006/main" noChangeAspect="1"/>
          </p:cNvPicPr>
          <p:nvPr/>
        </p:nvPicPr>
        <p:blipFill>
          <a:blip xmlns:r="http://schemas.openxmlformats.org/officeDocument/2006/relationships" xmlns:a="http://schemas.openxmlformats.org/drawingml/2006/main" r:embed="R2b15e9c7d25e452b"/>
          <a:stretch xmlns:a="http://schemas.openxmlformats.org/drawingml/2006/main">
            <a:fillRect l="0" t="0" r="0" b="0"/>
          </a:stretch>
        </p:blipFill>
        <p:spPr>
          <a:xfrm xmlns:a="http://schemas.openxmlformats.org/drawingml/2006/main">
            <a:off x="8924544" y="3401568"/>
            <a:ext cx="201168" cy="201168"/>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54A8F4A6-5327-475F-A670-B8068BFDE899}"/>
              </a:ext>
            </a:extLst>
          </p:cNvPr>
          <p:cNvSpPr>
            <a:spLocks xmlns:a="http://schemas.openxmlformats.org/drawingml/2006/main" noGrp="1"/>
          </p:cNvSpPr>
          <p:nvPr/>
        </p:nvSpPr>
        <p:spPr>
          <a:xfrm xmlns:a="http://schemas.openxmlformats.org/drawingml/2006/main">
            <a:off x="9198864"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Execution Safety &amp; Resilience</a:t>
            </a:r>
            <a:endParaRPr sz="1100">
              <a:latin typeface="Helvetica Neue"/>
              <a:ea typeface="Helvetica Neue"/>
              <a:cs typeface="Helvetica Neue"/>
            </a:endParaRPr>
          </a:p>
        </p:txBody>
      </p:sp>
      <p:sp>
        <p:nvSpPr>
          <p:cNvPr id="33" name="Text 25">
            <a:extLst xmlns:a="http://schemas.openxmlformats.org/drawingml/2006/main">
              <a:ext uri="{FF2B5EF4-FFF2-40B4-BE49-F238E27FC236}">
                <a16:creationId xmlns:a16="http://schemas.microsoft.com/office/drawing/2014/main" id="{54E6273D-BE1B-4C12-BC86-B7F4034BB060}"/>
              </a:ext>
            </a:extLst>
          </p:cNvPr>
          <p:cNvSpPr>
            <a:spLocks xmlns:a="http://schemas.openxmlformats.org/drawingml/2006/main" noGrp="1"/>
          </p:cNvSpPr>
          <p:nvPr/>
        </p:nvSpPr>
        <p:spPr>
          <a:xfrm xmlns:a="http://schemas.openxmlformats.org/drawingml/2006/main">
            <a:off x="8924544"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Preserve idempotency, version checks, stale-state protection, partial-failure handling, retries, and source readback verification.</a:t>
            </a:r>
            <a:endParaRPr sz="1050">
              <a:latin typeface="Helvetica Neue"/>
              <a:ea typeface="Helvetica Neue"/>
              <a:cs typeface="Helvetica Neue"/>
            </a:endParaRPr>
          </a:p>
        </p:txBody>
      </p:sp>
      <p:sp>
        <p:nvSpPr>
          <p:cNvPr id="34" name="Shape 26">
            <a:extLst xmlns:a="http://schemas.openxmlformats.org/drawingml/2006/main">
              <a:ext uri="{FF2B5EF4-FFF2-40B4-BE49-F238E27FC236}">
                <a16:creationId xmlns:a16="http://schemas.microsoft.com/office/drawing/2014/main" id="{AE50CF5D-F5DA-4036-A37E-AB9942F0E7BB}"/>
              </a:ext>
            </a:extLst>
          </p:cNvPr>
          <p:cNvSpPr>
            <a:spLocks xmlns:a="http://schemas.openxmlformats.org/drawingml/2006/main" noGrp="1"/>
          </p:cNvSpPr>
          <p:nvPr/>
        </p:nvSpPr>
        <p:spPr>
          <a:xfrm xmlns:a="http://schemas.openxmlformats.org/drawingml/2006/main">
            <a:off x="457200" y="4846320"/>
            <a:ext cx="11277295" cy="0"/>
          </a:xfrm>
          <a:prstGeom xmlns:a="http://schemas.openxmlformats.org/drawingml/2006/main" prst="line">
            <a:avLst/>
          </a:prstGeom>
          <a:noFill xmlns:a="http://schemas.openxmlformats.org/drawingml/2006/main"/>
          <a:ln xmlns:a="http://schemas.openxmlformats.org/drawingml/2006/main" w="9525">
            <a:solidFill>
              <a:srgbClr val="DCDCDC"/>
            </a:solid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sp>
        <p:nvSpPr>
          <p:cNvPr id="35" name="Text 27">
            <a:extLst xmlns:a="http://schemas.openxmlformats.org/drawingml/2006/main">
              <a:ext uri="{FF2B5EF4-FFF2-40B4-BE49-F238E27FC236}">
                <a16:creationId xmlns:a16="http://schemas.microsoft.com/office/drawing/2014/main" id="{9E8ED14F-FDE5-45C0-B6ED-2B31AAB2625C}"/>
              </a:ext>
            </a:extLst>
          </p:cNvPr>
          <p:cNvSpPr>
            <a:spLocks xmlns:a="http://schemas.openxmlformats.org/drawingml/2006/main" noGrp="1"/>
          </p:cNvSpPr>
          <p:nvPr/>
        </p:nvSpPr>
        <p:spPr>
          <a:xfrm xmlns:a="http://schemas.openxmlformats.org/drawingml/2006/main">
            <a:off x="457200" y="5010912"/>
            <a:ext cx="1920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300" b="0">
                <a:solidFill>
                  <a:srgbClr val="101010"/>
                </a:solidFill>
                <a:latin typeface="Helvetica Neue"/>
                <a:ea typeface="Helvetica Neue"/>
                <a:cs typeface="Helvetica Neue"/>
              </a:rPr>
              <a:t>Improve and expand</a:t>
            </a:r>
            <a:endParaRPr sz="1300">
              <a:latin typeface="Helvetica Neue"/>
              <a:ea typeface="Helvetica Neue"/>
              <a:cs typeface="Helvetica Neue"/>
            </a:endParaRPr>
          </a:p>
        </p:txBody>
      </p:sp>
      <p:sp>
        <p:nvSpPr>
          <p:cNvPr id="36" name="Text 28">
            <a:extLst xmlns:a="http://schemas.openxmlformats.org/drawingml/2006/main">
              <a:ext uri="{FF2B5EF4-FFF2-40B4-BE49-F238E27FC236}">
                <a16:creationId xmlns:a16="http://schemas.microsoft.com/office/drawing/2014/main" id="{430FD407-F7B6-413E-A630-7FDAD4C3B161}"/>
              </a:ext>
            </a:extLst>
          </p:cNvPr>
          <p:cNvSpPr>
            <a:spLocks xmlns:a="http://schemas.openxmlformats.org/drawingml/2006/main" noGrp="1"/>
          </p:cNvSpPr>
          <p:nvPr/>
        </p:nvSpPr>
        <p:spPr>
          <a:xfrm xmlns:a="http://schemas.openxmlformats.org/drawingml/2006/main">
            <a:off x="457200" y="5248656"/>
            <a:ext cx="1920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900">
                <a:solidFill>
                  <a:srgbClr val="707070"/>
                </a:solidFill>
                <a:latin typeface="Helvetica Neue"/>
                <a:ea typeface="Helvetica Neue"/>
                <a:cs typeface="Helvetica Neue"/>
              </a:rPr>
              <a:t>Monitoring, evals, earned autonomy</a:t>
            </a:r>
            <a:endParaRPr sz="900">
              <a:latin typeface="Helvetica Neue"/>
              <a:ea typeface="Helvetica Neue"/>
              <a:cs typeface="Helvetica Neue"/>
            </a:endParaRPr>
          </a:p>
        </p:txBody>
      </p:sp>
      <p:sp>
        <p:nvSpPr>
          <p:cNvPr id="37" name="Shape 29">
            <a:extLst xmlns:a="http://schemas.openxmlformats.org/drawingml/2006/main">
              <a:ext uri="{FF2B5EF4-FFF2-40B4-BE49-F238E27FC236}">
                <a16:creationId xmlns:a16="http://schemas.microsoft.com/office/drawing/2014/main" id="{F150E0F3-6591-4BE1-8BDA-12F92856DB52}"/>
              </a:ext>
            </a:extLst>
          </p:cNvPr>
          <p:cNvSpPr>
            <a:spLocks xmlns:a="http://schemas.openxmlformats.org/drawingml/2006/main" noGrp="1"/>
          </p:cNvSpPr>
          <p:nvPr/>
        </p:nvSpPr>
        <p:spPr>
          <a:xfrm xmlns:a="http://schemas.openxmlformats.org/drawingml/2006/main">
            <a:off x="2560320" y="5010912"/>
            <a:ext cx="4494276"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0469e9f83d284cbf"/>
          <a:stretch xmlns:a="http://schemas.openxmlformats.org/drawingml/2006/main">
            <a:fillRect l="0" t="0" r="0" b="0"/>
          </a:stretch>
        </p:blipFill>
        <p:spPr>
          <a:xfrm xmlns:a="http://schemas.openxmlformats.org/drawingml/2006/main">
            <a:off x="2688336" y="5138928"/>
            <a:ext cx="201168" cy="201168"/>
          </a:xfrm>
          <a:prstGeom xmlns:a="http://schemas.openxmlformats.org/drawingml/2006/main" prst="rect">
            <a:avLst/>
          </a:prstGeom>
        </p:spPr>
      </p:pic>
      <p:sp>
        <p:nvSpPr>
          <p:cNvPr id="39" name="Text 30">
            <a:extLst xmlns:a="http://schemas.openxmlformats.org/drawingml/2006/main">
              <a:ext uri="{FF2B5EF4-FFF2-40B4-BE49-F238E27FC236}">
                <a16:creationId xmlns:a16="http://schemas.microsoft.com/office/drawing/2014/main" id="{F4487E6C-90B7-4B90-B507-1FF073DFDEB5}"/>
              </a:ext>
            </a:extLst>
          </p:cNvPr>
          <p:cNvSpPr>
            <a:spLocks xmlns:a="http://schemas.openxmlformats.org/drawingml/2006/main" noGrp="1"/>
          </p:cNvSpPr>
          <p:nvPr/>
        </p:nvSpPr>
        <p:spPr>
          <a:xfrm xmlns:a="http://schemas.openxmlformats.org/drawingml/2006/main">
            <a:off x="2962656" y="5102352"/>
            <a:ext cx="3982212"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Observability &amp; Evaluation-Driven Improvement</a:t>
            </a:r>
            <a:endParaRPr sz="1100">
              <a:latin typeface="Helvetica Neue"/>
              <a:ea typeface="Helvetica Neue"/>
              <a:cs typeface="Helvetica Neue"/>
            </a:endParaRPr>
          </a:p>
        </p:txBody>
      </p:sp>
      <p:sp>
        <p:nvSpPr>
          <p:cNvPr id="40" name="Text 31">
            <a:extLst xmlns:a="http://schemas.openxmlformats.org/drawingml/2006/main">
              <a:ext uri="{FF2B5EF4-FFF2-40B4-BE49-F238E27FC236}">
                <a16:creationId xmlns:a16="http://schemas.microsoft.com/office/drawing/2014/main" id="{FBC37289-5728-4430-AAA3-15078D11198A}"/>
              </a:ext>
            </a:extLst>
          </p:cNvPr>
          <p:cNvSpPr>
            <a:spLocks xmlns:a="http://schemas.openxmlformats.org/drawingml/2006/main" noGrp="1"/>
          </p:cNvSpPr>
          <p:nvPr/>
        </p:nvSpPr>
        <p:spPr>
          <a:xfrm xmlns:a="http://schemas.openxmlformats.org/drawingml/2006/main">
            <a:off x="2688336" y="5449824"/>
            <a:ext cx="4238244"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Use OpenAI Platform telemetry for traces, usage, latency, and cost, then add Stratos workflow outcomes, RAG/tool quality, and regression evals to continuously improve reliability.</a:t>
            </a:r>
            <a:endParaRPr sz="1050">
              <a:latin typeface="Helvetica Neue"/>
              <a:ea typeface="Helvetica Neue"/>
              <a:cs typeface="Helvetica Neue"/>
            </a:endParaRPr>
          </a:p>
        </p:txBody>
      </p:sp>
      <p:sp>
        <p:nvSpPr>
          <p:cNvPr id="41" name="Shape 32">
            <a:extLst xmlns:a="http://schemas.openxmlformats.org/drawingml/2006/main">
              <a:ext uri="{FF2B5EF4-FFF2-40B4-BE49-F238E27FC236}">
                <a16:creationId xmlns:a16="http://schemas.microsoft.com/office/drawing/2014/main" id="{DDB08B75-09ED-43C9-9DE5-7E017ECE9F9F}"/>
              </a:ext>
            </a:extLst>
          </p:cNvPr>
          <p:cNvSpPr>
            <a:spLocks xmlns:a="http://schemas.openxmlformats.org/drawingml/2006/main" noGrp="1"/>
          </p:cNvSpPr>
          <p:nvPr/>
        </p:nvSpPr>
        <p:spPr>
          <a:xfrm xmlns:a="http://schemas.openxmlformats.org/drawingml/2006/main">
            <a:off x="7237476" y="5010912"/>
            <a:ext cx="4494276"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Helvetica Neue"/>
                <a:ea typeface="Helvetica Neue"/>
                <a:cs typeface="Helvetica Neue"/>
              </a:defRPr>
            </a:pPr>
            <a:endParaRPr>
              <a:latin typeface="Helvetica Neue"/>
              <a:ea typeface="Helvetica Neue"/>
              <a:cs typeface="Helvetica Neue"/>
            </a:endParaRPr>
          </a:p>
        </p:txBody>
      </p:sp>
      <p:pic>
        <p:nvPicPr>
          <p:cNvPr id="93" name="Image 7"/>
          <p:cNvPicPr>
            <a:picLocks xmlns:a="http://schemas.openxmlformats.org/drawingml/2006/main" noChangeAspect="1"/>
          </p:cNvPicPr>
          <p:nvPr/>
        </p:nvPicPr>
        <p:blipFill>
          <a:blip xmlns:r="http://schemas.openxmlformats.org/officeDocument/2006/relationships" xmlns:a="http://schemas.openxmlformats.org/drawingml/2006/main" r:embed="R7e53c2fe7f9143c6"/>
          <a:stretch xmlns:a="http://schemas.openxmlformats.org/drawingml/2006/main">
            <a:fillRect l="0" t="0" r="0" b="0"/>
          </a:stretch>
        </p:blipFill>
        <p:spPr>
          <a:xfrm xmlns:a="http://schemas.openxmlformats.org/drawingml/2006/main">
            <a:off x="7365492" y="5138928"/>
            <a:ext cx="201168" cy="201168"/>
          </a:xfrm>
          <a:prstGeom xmlns:a="http://schemas.openxmlformats.org/drawingml/2006/main" prst="rect">
            <a:avLst/>
          </a:prstGeom>
        </p:spPr>
      </p:pic>
      <p:sp>
        <p:nvSpPr>
          <p:cNvPr id="43" name="Text 33">
            <a:extLst xmlns:a="http://schemas.openxmlformats.org/drawingml/2006/main">
              <a:ext uri="{FF2B5EF4-FFF2-40B4-BE49-F238E27FC236}">
                <a16:creationId xmlns:a16="http://schemas.microsoft.com/office/drawing/2014/main" id="{0E46B8A3-0AFF-4733-8D83-A156E318E9CD}"/>
              </a:ext>
            </a:extLst>
          </p:cNvPr>
          <p:cNvSpPr>
            <a:spLocks xmlns:a="http://schemas.openxmlformats.org/drawingml/2006/main" noGrp="1"/>
          </p:cNvSpPr>
          <p:nvPr/>
        </p:nvSpPr>
        <p:spPr>
          <a:xfrm xmlns:a="http://schemas.openxmlformats.org/drawingml/2006/main">
            <a:off x="7639812" y="5102352"/>
            <a:ext cx="3982212" cy="381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Helvetica Neue"/>
                <a:ea typeface="Helvetica Neue"/>
                <a:cs typeface="Helvetica Neue"/>
              </a:defRPr>
            </a:pPr>
            <a:r>
              <a:rPr sz="1100" b="1">
                <a:solidFill>
                  <a:srgbClr val="101010"/>
                </a:solidFill>
                <a:latin typeface="Helvetica Neue"/>
                <a:ea typeface="Helvetica Neue"/>
                <a:cs typeface="Helvetica Neue"/>
              </a:rPr>
              <a:t>Measured Expansion of Autonomy</a:t>
            </a:r>
            <a:endParaRPr sz="1100">
              <a:latin typeface="Helvetica Neue"/>
              <a:ea typeface="Helvetica Neue"/>
              <a:cs typeface="Helvetica Neue"/>
            </a:endParaRPr>
          </a:p>
        </p:txBody>
      </p:sp>
      <p:sp>
        <p:nvSpPr>
          <p:cNvPr id="44" name="Text 34">
            <a:extLst xmlns:a="http://schemas.openxmlformats.org/drawingml/2006/main">
              <a:ext uri="{FF2B5EF4-FFF2-40B4-BE49-F238E27FC236}">
                <a16:creationId xmlns:a16="http://schemas.microsoft.com/office/drawing/2014/main" id="{6A1486D7-567E-422F-95CF-3EF4556F10E3}"/>
              </a:ext>
            </a:extLst>
          </p:cNvPr>
          <p:cNvSpPr>
            <a:spLocks xmlns:a="http://schemas.openxmlformats.org/drawingml/2006/main" noGrp="1"/>
          </p:cNvSpPr>
          <p:nvPr/>
        </p:nvSpPr>
        <p:spPr>
          <a:xfrm xmlns:a="http://schemas.openxmlformats.org/drawingml/2006/main">
            <a:off x="7365492" y="5449824"/>
            <a:ext cx="4238244"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Helvetica Neue"/>
                <a:ea typeface="Helvetica Neue"/>
                <a:cs typeface="Helvetica Neue"/>
              </a:defRPr>
            </a:pPr>
            <a:r>
              <a:rPr sz="1050">
                <a:solidFill>
                  <a:srgbClr val="424242"/>
                </a:solidFill>
                <a:latin typeface="Helvetica Neue"/>
                <a:ea typeface="Helvetica Neue"/>
                <a:cs typeface="Helvetica Neue"/>
              </a:rPr>
              <a:t>Use those technical and business signals to decide when a workflow can safely move from assistive to touchless execution, based on predefined safety, quality, and business-value thresholds.</a:t>
            </a:r>
            <a:endParaRPr sz="1050">
              <a:latin typeface="Helvetica Neue"/>
              <a:ea typeface="Helvetica Neue"/>
              <a:cs typeface="Helvetica Neue"/>
            </a:endParaRPr>
          </a:p>
        </p:txBody>
      </p:sp>
    </p:spTree>
    <p:extLst>
      <p:ext uri="{BB962C8B-B14F-4D97-AF65-F5344CB8AC3E}">
        <p14:creationId xmlns:p14="http://schemas.microsoft.com/office/powerpoint/2010/main" val="210564195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ajorFont>
      <a:minorFont>
        <a:latin typeface="Calibri"/>
        <a:ea typeface=""/>
        <a:cs typeface=""/>
        <a:font script="Jpan" typeface="Helvetica Neue"/>
        <a:font script="Hang" typeface="Helvetica Neue"/>
        <a:font script="Hans" typeface="Helvetica Neue"/>
        <a:font script="Hant" typeface="Helvetica Neue"/>
        <a:font script="Arab" typeface="Helvetica Neue"/>
        <a:font script="Hebr" typeface="Helvetica Neue"/>
        <a:font script="Thai" typeface="Helvetica Neue"/>
        <a:font script="Ethi" typeface="Helvetica Neue"/>
        <a:font script="Beng" typeface="Helvetica Neue"/>
        <a:font script="Gujr" typeface="Helvetica Neue"/>
        <a:font script="Khmr" typeface="Helvetica Neue"/>
        <a:font script="Knda" typeface="Helvetica Neue"/>
        <a:font script="Guru" typeface="Helvetica Neue"/>
        <a:font script="Cans" typeface="Helvetica Neue"/>
        <a:font script="Cher" typeface="Helvetica Neue"/>
        <a:font script="Yiii" typeface="Helvetica Neue"/>
        <a:font script="Tibt" typeface="Helvetica Neue"/>
        <a:font script="Thaa" typeface="Helvetica Neue"/>
        <a:font script="Deva" typeface="Helvetica Neue"/>
        <a:font script="Telu" typeface="Helvetica Neue"/>
        <a:font script="Taml" typeface="Helvetica Neue"/>
        <a:font script="Syrc" typeface="Helvetica Neue"/>
        <a:font script="Orya" typeface="Helvetica Neue"/>
        <a:font script="Mlym" typeface="Helvetica Neue"/>
        <a:font script="Laoo" typeface="Helvetica Neue"/>
        <a:font script="Sinh" typeface="Helvetica Neue"/>
        <a:font script="Mong" typeface="Helvetica Neue"/>
        <a:font script="Viet" typeface="Helvetica Neue"/>
        <a:font script="Uigh" typeface="Helvetica Neue"/>
        <a:font script="Geor" typeface="Helvetica Neue"/>
        <a:font script="Armn" typeface="Helvetica Neue"/>
        <a:font script="Bugi" typeface="Helvetica Neue"/>
        <a:font script="Bopo" typeface="Helvetica Neue"/>
        <a:font script="Java" typeface="Helvetica Neue"/>
        <a:font script="Lisu" typeface="Helvetica Neue"/>
        <a:font script="Mymr" typeface="Helvetica Neue"/>
        <a:font script="Nkoo" typeface="Helvetica Neue"/>
        <a:font script="Olck" typeface="Helvetica Neue"/>
        <a:font script="Osma" typeface="Helvetica Neue"/>
        <a:font script="Phag" typeface="Helvetica Neue"/>
        <a:font script="Syrn" typeface="Helvetica Neue"/>
        <a:font script="Syrj" typeface="Helvetica Neue"/>
        <a:font script="Syre" typeface="Helvetica Neue"/>
        <a:font script="Sora" typeface="Helvetica Neue"/>
        <a:font script="Tale" typeface="Helvetica Neue"/>
        <a:font script="Talu" typeface="Helvetica Neue"/>
        <a:font script="Tfng" typeface="Helvetica Neu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2026-09-14T00:40:02.4690000Z</dcterms:created>
  <dcterms:modified xsi:type="dcterms:W3CDTF">2026-09-14T00:40:02.4690000Z</dcterms:modified>
</coreProperties>
</file>